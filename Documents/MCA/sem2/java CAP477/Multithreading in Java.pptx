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49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75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43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83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01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7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03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33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3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66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68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2449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39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75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366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72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6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C934A-CF1E-49FB-8DDF-7E673A87F2C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5554-F2C3-4C73-92CD-9A2128A68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187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7A61-DF17-FBBE-40BA-DEF3E3B6A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161" y="3038509"/>
            <a:ext cx="8144134" cy="1373070"/>
          </a:xfrm>
        </p:spPr>
        <p:txBody>
          <a:bodyPr/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Multithreading in Java</a:t>
            </a:r>
            <a:br>
              <a:rPr lang="en-IN" b="0" i="0" dirty="0">
                <a:effectLst/>
                <a:latin typeface="verdana" panose="020B060403050404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04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5813-7727-EFB0-1D63-A9FC43476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. .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4F727-84C5-F5A6-E0BE-3EEDF280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2238579"/>
            <a:ext cx="6351639" cy="4162221"/>
          </a:xfrm>
        </p:spPr>
        <p:txBody>
          <a:bodyPr/>
          <a:lstStyle/>
          <a:p>
            <a:pPr algn="just">
              <a:buNone/>
            </a:pPr>
            <a:r>
              <a:rPr lang="en-US" b="1" dirty="0"/>
              <a:t>Multithreading</a:t>
            </a:r>
            <a:r>
              <a:rPr lang="en-US" dirty="0"/>
              <a:t> is a programming technique where multiple threads (smaller units of a process) are executed concurrently within a single process. Each thread runs independently but shares the same memory space of the parent process, allowing for efficient communication and resource sharing.</a:t>
            </a:r>
            <a:endParaRPr lang="en-IN" dirty="0"/>
          </a:p>
        </p:txBody>
      </p:sp>
      <p:pic>
        <p:nvPicPr>
          <p:cNvPr id="1026" name="Picture 2" descr="MULTITHREAD">
            <a:extLst>
              <a:ext uri="{FF2B5EF4-FFF2-40B4-BE49-F238E27FC236}">
                <a16:creationId xmlns:a16="http://schemas.microsoft.com/office/drawing/2014/main" id="{54E6A939-9B85-9429-0E02-CEF350B00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328" y="2105202"/>
            <a:ext cx="5387182" cy="303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60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C6A0-90EE-A95A-5A40-B3CF639AC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70D4-8346-0ABE-57FF-3306EF978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2661367"/>
            <a:ext cx="5346290" cy="1792646"/>
          </a:xfrm>
        </p:spPr>
        <p:txBody>
          <a:bodyPr>
            <a:normAutofit/>
          </a:bodyPr>
          <a:lstStyle/>
          <a:p>
            <a:r>
              <a:rPr lang="en-US" b="1" dirty="0"/>
              <a:t>Thread</a:t>
            </a:r>
            <a:r>
              <a:rPr lang="en-US" dirty="0"/>
              <a:t>: A lightweight sub-process, the smallest unit of execution.</a:t>
            </a:r>
            <a:endParaRPr lang="en-IN" dirty="0"/>
          </a:p>
        </p:txBody>
      </p:sp>
      <p:pic>
        <p:nvPicPr>
          <p:cNvPr id="2050" name="Picture 2" descr="Creating Multiple Threads in Java - Scientech Easy">
            <a:extLst>
              <a:ext uri="{FF2B5EF4-FFF2-40B4-BE49-F238E27FC236}">
                <a16:creationId xmlns:a16="http://schemas.microsoft.com/office/drawing/2014/main" id="{05758DF2-E373-9D0E-3C8A-210129516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94772"/>
            <a:ext cx="5836674" cy="389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81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7CB1-A907-C6B5-F153-F1A15909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95" y="1067860"/>
            <a:ext cx="9613861" cy="692114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Advantages of Java Multithreading</a:t>
            </a:r>
            <a:br>
              <a:rPr lang="en-IN" b="0" i="0" dirty="0">
                <a:effectLst/>
                <a:latin typeface="verdana" panose="020B0604030504040204" pitchFamily="34" charset="0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642C5-73D1-E8D1-F05F-76853D10D0E6}"/>
              </a:ext>
            </a:extLst>
          </p:cNvPr>
          <p:cNvSpPr txBox="1"/>
          <p:nvPr/>
        </p:nvSpPr>
        <p:spPr>
          <a:xfrm>
            <a:off x="433470" y="4271042"/>
            <a:ext cx="11099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Enhanced Responsiveness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 user interfaces (like desktop or mobile apps), multithreading keeps the UI responsive while background tasks (like file loading or network requests) run.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F84C2-6CA5-FB80-C3EF-D6FC28BDB05D}"/>
              </a:ext>
            </a:extLst>
          </p:cNvPr>
          <p:cNvSpPr txBox="1"/>
          <p:nvPr/>
        </p:nvSpPr>
        <p:spPr>
          <a:xfrm>
            <a:off x="334297" y="2230678"/>
            <a:ext cx="1158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Improved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Threads can run concurrently, making better use of CPU resources, especially on multi-core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Tasks like I/O operations can be done in parallel with computation-heavy tasks.</a:t>
            </a:r>
          </a:p>
        </p:txBody>
      </p:sp>
    </p:spTree>
    <p:extLst>
      <p:ext uri="{BB962C8B-B14F-4D97-AF65-F5344CB8AC3E}">
        <p14:creationId xmlns:p14="http://schemas.microsoft.com/office/powerpoint/2010/main" val="342755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682F-C6A7-8EBC-3AC7-AA18EB53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. .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E3A8C-C32B-3993-4A16-16608205DFE7}"/>
              </a:ext>
            </a:extLst>
          </p:cNvPr>
          <p:cNvSpPr txBox="1"/>
          <p:nvPr/>
        </p:nvSpPr>
        <p:spPr>
          <a:xfrm>
            <a:off x="680321" y="2526494"/>
            <a:ext cx="108529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Efficient Resource Sharing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Threads share the same memory space, which makes communication between them faster and more efficient than between separate processes.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4151C-3AAF-710B-989E-9E534344673C}"/>
              </a:ext>
            </a:extLst>
          </p:cNvPr>
          <p:cNvSpPr txBox="1"/>
          <p:nvPr/>
        </p:nvSpPr>
        <p:spPr>
          <a:xfrm>
            <a:off x="680321" y="4228322"/>
            <a:ext cx="10557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Better System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Multithreading helps in utilizing the full potential of modern processors by running multiple tasks in parallel.</a:t>
            </a:r>
          </a:p>
        </p:txBody>
      </p:sp>
    </p:spTree>
    <p:extLst>
      <p:ext uri="{BB962C8B-B14F-4D97-AF65-F5344CB8AC3E}">
        <p14:creationId xmlns:p14="http://schemas.microsoft.com/office/powerpoint/2010/main" val="312316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D191-68BF-100B-83CC-0810EE06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 . .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3B9D8-A5DB-62A8-7D65-B25C6F07D5BF}"/>
              </a:ext>
            </a:extLst>
          </p:cNvPr>
          <p:cNvSpPr txBox="1"/>
          <p:nvPr/>
        </p:nvSpPr>
        <p:spPr>
          <a:xfrm>
            <a:off x="680321" y="2398674"/>
            <a:ext cx="9712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Applications can scale better with more processors/cores by assigning different threads to different cores.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34BAF-C2CF-6F91-4C25-AD5CAA8E9C48}"/>
              </a:ext>
            </a:extLst>
          </p:cNvPr>
          <p:cNvSpPr txBox="1"/>
          <p:nvPr/>
        </p:nvSpPr>
        <p:spPr>
          <a:xfrm>
            <a:off x="589935" y="4384791"/>
            <a:ext cx="9712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Cost-Effective Context Switching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Switching between threads is generally faster and uses fewer resources compared to switching between full processes.</a:t>
            </a:r>
          </a:p>
        </p:txBody>
      </p:sp>
    </p:spTree>
    <p:extLst>
      <p:ext uri="{BB962C8B-B14F-4D97-AF65-F5344CB8AC3E}">
        <p14:creationId xmlns:p14="http://schemas.microsoft.com/office/powerpoint/2010/main" val="184535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3BEF-44E3-0436-03EA-2225C842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1147951"/>
            <a:ext cx="9613861" cy="631687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Java Thread class</a:t>
            </a:r>
            <a:br>
              <a:rPr lang="en-IN" b="0" i="0" dirty="0">
                <a:effectLst/>
                <a:latin typeface="verdan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51DB-17C6-159A-8FDB-DEBE7E8B0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effectLst/>
                <a:latin typeface="Inter-Regular"/>
              </a:rPr>
              <a:t>Java provides the </a:t>
            </a:r>
            <a:r>
              <a:rPr lang="en-US" b="1" i="0" dirty="0">
                <a:effectLst/>
                <a:latin typeface="Inter-Regular"/>
              </a:rPr>
              <a:t>Thread class</a:t>
            </a:r>
            <a:r>
              <a:rPr lang="en-US" b="0" i="0" dirty="0">
                <a:effectLst/>
                <a:latin typeface="Inter-Regular"/>
              </a:rPr>
              <a:t> to achieve thread programming. The Thread class provides </a:t>
            </a:r>
            <a:r>
              <a:rPr lang="en-US" b="0" i="0" u="none" strike="noStrike" dirty="0">
                <a:effectLst/>
                <a:latin typeface="Inter-Regular"/>
              </a:rPr>
              <a:t>constructors</a:t>
            </a:r>
            <a:r>
              <a:rPr lang="en-US" b="0" i="0" dirty="0">
                <a:effectLst/>
                <a:latin typeface="Inter-Regular"/>
              </a:rPr>
              <a:t> and methods to create and perform operations on a thread. The Thread class extends the </a:t>
            </a:r>
            <a:r>
              <a:rPr lang="en-US" b="0" i="0" u="none" strike="noStrike" dirty="0">
                <a:effectLst/>
                <a:latin typeface="Inter-Regular"/>
              </a:rPr>
              <a:t>Object class</a:t>
            </a:r>
            <a:r>
              <a:rPr lang="en-US" b="0" i="0" dirty="0">
                <a:effectLst/>
                <a:latin typeface="Inter-Regular"/>
              </a:rPr>
              <a:t> and implements the Runnable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32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B829-F189-72B1-9602-335DB296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verdana" panose="020B0604030504040204" pitchFamily="34" charset="0"/>
              </a:rPr>
              <a:t>Thread Life Cycle in Java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69557-05D7-1D30-B6C4-3105672EA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2336873"/>
            <a:ext cx="5460897" cy="359931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800" b="0" i="0" dirty="0">
                <a:effectLst/>
                <a:latin typeface="Inter-Regular"/>
              </a:rPr>
              <a:t>In Java, a thread always exists in any one of the following states. </a:t>
            </a:r>
          </a:p>
          <a:p>
            <a:pPr algn="just">
              <a:buNone/>
            </a:pPr>
            <a:endParaRPr lang="en-US" sz="2800" b="0" i="0" dirty="0"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sz="2800" b="0" i="0" dirty="0">
                <a:effectLst/>
                <a:latin typeface="Inter-Regular"/>
              </a:rPr>
              <a:t>New</a:t>
            </a:r>
          </a:p>
          <a:p>
            <a:pPr algn="just">
              <a:buFont typeface="+mj-lt"/>
              <a:buAutoNum type="arabicPeriod"/>
            </a:pPr>
            <a:r>
              <a:rPr lang="en-US" sz="2800" b="0" i="0" dirty="0">
                <a:effectLst/>
                <a:latin typeface="Inter-Regular"/>
              </a:rPr>
              <a:t>Active</a:t>
            </a:r>
          </a:p>
          <a:p>
            <a:pPr algn="just">
              <a:buFont typeface="+mj-lt"/>
              <a:buAutoNum type="arabicPeriod"/>
            </a:pPr>
            <a:r>
              <a:rPr lang="en-US" sz="2800" b="0" i="0" dirty="0">
                <a:effectLst/>
                <a:latin typeface="Inter-Regular"/>
              </a:rPr>
              <a:t>Blocked / Waiting</a:t>
            </a:r>
          </a:p>
          <a:p>
            <a:pPr algn="just">
              <a:buFont typeface="+mj-lt"/>
              <a:buAutoNum type="arabicPeriod"/>
            </a:pPr>
            <a:r>
              <a:rPr lang="en-US" sz="2800" b="0" i="0" dirty="0">
                <a:effectLst/>
                <a:latin typeface="Inter-Regular"/>
              </a:rPr>
              <a:t>Timed Waiting</a:t>
            </a:r>
          </a:p>
          <a:p>
            <a:pPr algn="just">
              <a:buFont typeface="+mj-lt"/>
              <a:buAutoNum type="arabicPeriod"/>
            </a:pPr>
            <a:r>
              <a:rPr lang="en-US" sz="2800" b="0" i="0" dirty="0">
                <a:effectLst/>
                <a:latin typeface="Inter-Regular"/>
              </a:rPr>
              <a:t>Terminated</a:t>
            </a:r>
          </a:p>
          <a:p>
            <a:endParaRPr lang="en-IN" sz="2800" dirty="0"/>
          </a:p>
        </p:txBody>
      </p:sp>
      <p:pic>
        <p:nvPicPr>
          <p:cNvPr id="3074" name="Picture 2" descr="Java Thread States – Life Cycle of Java Threads – Developers Corner – Java  Web Development Tutorials">
            <a:extLst>
              <a:ext uri="{FF2B5EF4-FFF2-40B4-BE49-F238E27FC236}">
                <a16:creationId xmlns:a16="http://schemas.microsoft.com/office/drawing/2014/main" id="{0CF8D83C-4DDD-5DBE-9EEA-A4CD204CA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467" y="1976284"/>
            <a:ext cx="6370532" cy="488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4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B189-81B6-090B-6812-68BBF07B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verdana" panose="020B0604030504040204" pitchFamily="34" charset="0"/>
              </a:rPr>
              <a:t>How to Create a Thread in Java?</a:t>
            </a:r>
            <a:endParaRPr lang="en-IN" dirty="0"/>
          </a:p>
        </p:txBody>
      </p:sp>
      <p:pic>
        <p:nvPicPr>
          <p:cNvPr id="4098" name="Picture 2" descr="Creating Threads in Java - Scientech Easy">
            <a:extLst>
              <a:ext uri="{FF2B5EF4-FFF2-40B4-BE49-F238E27FC236}">
                <a16:creationId xmlns:a16="http://schemas.microsoft.com/office/drawing/2014/main" id="{EF3BC985-B682-1075-980B-FA4EBD17A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950" y="2045109"/>
            <a:ext cx="7095203" cy="473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14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201D-8336-6AE8-5294-3261BC32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Thread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FB1FB-8E21-1C7E-86F2-DE3C2383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1066"/>
            <a:ext cx="3549445" cy="976598"/>
          </a:xfrm>
        </p:spPr>
        <p:txBody>
          <a:bodyPr/>
          <a:lstStyle/>
          <a:p>
            <a:r>
              <a:rPr lang="en-US" b="1" i="0" dirty="0">
                <a:effectLst/>
                <a:latin typeface="Inter-Regular"/>
              </a:rPr>
              <a:t>Creating Thread by Extending Thread Class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92598-607E-56D6-2401-3ACC9E8B4BDB}"/>
              </a:ext>
            </a:extLst>
          </p:cNvPr>
          <p:cNvSpPr txBox="1"/>
          <p:nvPr/>
        </p:nvSpPr>
        <p:spPr>
          <a:xfrm>
            <a:off x="5712541" y="2091066"/>
            <a:ext cx="61791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0" i="0" dirty="0">
                <a:effectLst/>
                <a:latin typeface="Inter-Regular"/>
              </a:rPr>
              <a:t>class Multi </a:t>
            </a:r>
            <a:r>
              <a:rPr lang="en-IN" sz="2400" b="1" i="0" dirty="0">
                <a:effectLst/>
                <a:latin typeface="Inter-Regular"/>
              </a:rPr>
              <a:t>extends</a:t>
            </a:r>
            <a:r>
              <a:rPr lang="en-IN" sz="2400" b="0" i="0" dirty="0">
                <a:effectLst/>
                <a:latin typeface="Inter-Regular"/>
              </a:rPr>
              <a:t> Thread{  </a:t>
            </a:r>
          </a:p>
          <a:p>
            <a:pPr algn="just"/>
            <a:r>
              <a:rPr lang="en-IN" sz="2400" b="1" i="0" dirty="0">
                <a:effectLst/>
                <a:latin typeface="Inter-Regular"/>
              </a:rPr>
              <a:t>         public</a:t>
            </a:r>
            <a:r>
              <a:rPr lang="en-IN" sz="2400" b="0" i="0" dirty="0">
                <a:effectLst/>
                <a:latin typeface="Inter-Regular"/>
              </a:rPr>
              <a:t> </a:t>
            </a:r>
            <a:r>
              <a:rPr lang="en-IN" sz="2400" b="1" i="0" dirty="0">
                <a:effectLst/>
                <a:latin typeface="Inter-Regular"/>
              </a:rPr>
              <a:t>void</a:t>
            </a:r>
            <a:r>
              <a:rPr lang="en-IN" sz="2400" b="0" i="0" dirty="0">
                <a:effectLst/>
                <a:latin typeface="Inter-Regular"/>
              </a:rPr>
              <a:t> run()</a:t>
            </a:r>
          </a:p>
          <a:p>
            <a:pPr algn="just"/>
            <a:r>
              <a:rPr lang="en-IN" sz="2400" dirty="0">
                <a:latin typeface="Inter-Regular"/>
              </a:rPr>
              <a:t>         </a:t>
            </a:r>
            <a:r>
              <a:rPr lang="en-IN" sz="2400" b="0" i="0" dirty="0">
                <a:effectLst/>
                <a:latin typeface="Inter-Regular"/>
              </a:rPr>
              <a:t>{  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             </a:t>
            </a:r>
            <a:r>
              <a:rPr lang="en-IN" sz="2400" b="0" i="0" dirty="0" err="1">
                <a:effectLst/>
                <a:latin typeface="Inter-Regular"/>
              </a:rPr>
              <a:t>System.out.println</a:t>
            </a:r>
            <a:r>
              <a:rPr lang="en-IN" sz="2400" b="0" i="0" dirty="0">
                <a:effectLst/>
                <a:latin typeface="Inter-Regular"/>
              </a:rPr>
              <a:t>("thread is running...");  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        }  </a:t>
            </a:r>
          </a:p>
          <a:p>
            <a:pPr algn="just"/>
            <a:r>
              <a:rPr lang="en-IN" sz="2400" b="1" i="0" dirty="0">
                <a:effectLst/>
                <a:latin typeface="Inter-Regular"/>
              </a:rPr>
              <a:t>       public</a:t>
            </a:r>
            <a:r>
              <a:rPr lang="en-IN" sz="2400" b="0" i="0" dirty="0">
                <a:effectLst/>
                <a:latin typeface="Inter-Regular"/>
              </a:rPr>
              <a:t> </a:t>
            </a:r>
            <a:r>
              <a:rPr lang="en-IN" sz="2400" b="1" i="0" dirty="0">
                <a:effectLst/>
                <a:latin typeface="Inter-Regular"/>
              </a:rPr>
              <a:t>static</a:t>
            </a:r>
            <a:r>
              <a:rPr lang="en-IN" sz="2400" b="0" i="0" dirty="0">
                <a:effectLst/>
                <a:latin typeface="Inter-Regular"/>
              </a:rPr>
              <a:t> </a:t>
            </a:r>
            <a:r>
              <a:rPr lang="en-IN" sz="2400" b="1" i="0" dirty="0">
                <a:effectLst/>
                <a:latin typeface="Inter-Regular"/>
              </a:rPr>
              <a:t>void</a:t>
            </a:r>
            <a:r>
              <a:rPr lang="en-IN" sz="2400" b="0" i="0" dirty="0">
                <a:effectLst/>
                <a:latin typeface="Inter-Regular"/>
              </a:rPr>
              <a:t> main(String </a:t>
            </a:r>
            <a:r>
              <a:rPr lang="en-IN" sz="2400" b="0" i="0" dirty="0" err="1">
                <a:effectLst/>
                <a:latin typeface="Inter-Regular"/>
              </a:rPr>
              <a:t>args</a:t>
            </a:r>
            <a:r>
              <a:rPr lang="en-IN" sz="2400" b="0" i="0" dirty="0">
                <a:effectLst/>
                <a:latin typeface="Inter-Regular"/>
              </a:rPr>
              <a:t>[])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       {  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                   Multi t1=</a:t>
            </a:r>
            <a:r>
              <a:rPr lang="en-IN" sz="2400" b="1" i="0" dirty="0">
                <a:effectLst/>
                <a:latin typeface="Inter-Regular"/>
              </a:rPr>
              <a:t>new</a:t>
            </a:r>
            <a:r>
              <a:rPr lang="en-IN" sz="2400" b="0" i="0" dirty="0">
                <a:effectLst/>
                <a:latin typeface="Inter-Regular"/>
              </a:rPr>
              <a:t> Multi();  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                   t1.start();  </a:t>
            </a:r>
          </a:p>
          <a:p>
            <a:pPr algn="just"/>
            <a:r>
              <a:rPr lang="en-IN" sz="2400" b="0" i="0" dirty="0">
                <a:effectLst/>
                <a:latin typeface="Inter-Regular"/>
              </a:rPr>
              <a:t>       }</a:t>
            </a:r>
          </a:p>
          <a:p>
            <a:pPr algn="just"/>
            <a:r>
              <a:rPr lang="en-IN" sz="2400" b="0" i="0">
                <a:effectLst/>
                <a:latin typeface="Inter-Regular"/>
              </a:rPr>
              <a:t>  }  </a:t>
            </a:r>
            <a:endParaRPr lang="en-IN" sz="2400" b="0" i="0" dirty="0">
              <a:effectLst/>
              <a:latin typeface="Inter-Regular"/>
            </a:endParaRPr>
          </a:p>
        </p:txBody>
      </p:sp>
      <p:pic>
        <p:nvPicPr>
          <p:cNvPr id="7" name="Picture 2" descr="Creating Threads in Java - Scientech Easy">
            <a:extLst>
              <a:ext uri="{FF2B5EF4-FFF2-40B4-BE49-F238E27FC236}">
                <a16:creationId xmlns:a16="http://schemas.microsoft.com/office/drawing/2014/main" id="{987AAFDC-00ED-80A9-E549-44F894A66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t="23281" r="11780" b="8747"/>
          <a:stretch/>
        </p:blipFill>
        <p:spPr bwMode="auto">
          <a:xfrm>
            <a:off x="0" y="3175818"/>
            <a:ext cx="5614219" cy="321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09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aemon thread in java">
            <a:extLst>
              <a:ext uri="{FF2B5EF4-FFF2-40B4-BE49-F238E27FC236}">
                <a16:creationId xmlns:a16="http://schemas.microsoft.com/office/drawing/2014/main" id="{B2D6B2DA-03A3-9540-8690-534D122DA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684"/>
            <a:ext cx="12113988" cy="641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277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1686-8747-E33A-3EC7-0120E148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verdana" panose="020B0604030504040204" pitchFamily="34" charset="0"/>
              </a:rPr>
              <a:t>Thread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325CC-2CB8-2BF5-9574-39715C7F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73" y="2189390"/>
            <a:ext cx="4756918" cy="888107"/>
          </a:xfrm>
        </p:spPr>
        <p:txBody>
          <a:bodyPr>
            <a:normAutofit/>
          </a:bodyPr>
          <a:lstStyle/>
          <a:p>
            <a:r>
              <a:rPr lang="en-US" sz="2000" b="0" i="0" dirty="0">
                <a:effectLst/>
                <a:latin typeface="verdana" panose="020B0604030504040204" pitchFamily="34" charset="0"/>
              </a:rPr>
              <a:t>Java Thread Example by implementing Runnable interface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01DB8-0F90-D809-CF67-9B142754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77" y="2110610"/>
            <a:ext cx="7315623" cy="3994162"/>
          </a:xfrm>
          <a:prstGeom prst="rect">
            <a:avLst/>
          </a:prstGeom>
        </p:spPr>
      </p:pic>
      <p:pic>
        <p:nvPicPr>
          <p:cNvPr id="6" name="Picture 2" descr="Creating Threads in Java - Scientech Easy">
            <a:extLst>
              <a:ext uri="{FF2B5EF4-FFF2-40B4-BE49-F238E27FC236}">
                <a16:creationId xmlns:a16="http://schemas.microsoft.com/office/drawing/2014/main" id="{62C7A025-CD78-36E2-AF01-C2AF823DD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t="23281" r="11780" b="8747"/>
          <a:stretch/>
        </p:blipFill>
        <p:spPr bwMode="auto">
          <a:xfrm>
            <a:off x="0" y="3175819"/>
            <a:ext cx="4429569" cy="253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84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191F-D7F8-2741-D251-3896C49F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63" y="985387"/>
            <a:ext cx="8031060" cy="553811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verdana" panose="020B0604030504040204" pitchFamily="34" charset="0"/>
              </a:rPr>
              <a:t>Using the Thread Class: Thread(String Name)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3785D-46DE-A933-C324-B7190E20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214" y="1605566"/>
            <a:ext cx="7515827" cy="5161347"/>
          </a:xfrm>
          <a:prstGeom prst="rect">
            <a:avLst/>
          </a:prstGeom>
        </p:spPr>
      </p:pic>
      <p:pic>
        <p:nvPicPr>
          <p:cNvPr id="6" name="Picture 2" descr="Creating Threads in Java - Scientech Easy">
            <a:extLst>
              <a:ext uri="{FF2B5EF4-FFF2-40B4-BE49-F238E27FC236}">
                <a16:creationId xmlns:a16="http://schemas.microsoft.com/office/drawing/2014/main" id="{14428C26-6AD3-DF1B-7D2F-9C29E168F6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t="23281" r="11780" b="8747"/>
          <a:stretch/>
        </p:blipFill>
        <p:spPr bwMode="auto">
          <a:xfrm>
            <a:off x="49959" y="2684499"/>
            <a:ext cx="4429569" cy="253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33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3A8B-B63B-50AA-DEBF-43D788C5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2892"/>
            <a:ext cx="6174659" cy="1080938"/>
          </a:xfrm>
        </p:spPr>
        <p:txBody>
          <a:bodyPr>
            <a:noAutofit/>
          </a:bodyPr>
          <a:lstStyle/>
          <a:p>
            <a:r>
              <a:rPr lang="en-US" sz="2400" b="0" i="0" dirty="0">
                <a:effectLst/>
                <a:latin typeface="verdana" panose="020B0604030504040204" pitchFamily="34" charset="0"/>
              </a:rPr>
              <a:t>Using the Thread Class: Thread(Runnable r, String name)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BC4C7-2979-3418-45EE-44BCB59C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10" y="0"/>
            <a:ext cx="6982690" cy="6858000"/>
          </a:xfrm>
          <a:prstGeom prst="rect">
            <a:avLst/>
          </a:prstGeom>
        </p:spPr>
      </p:pic>
      <p:pic>
        <p:nvPicPr>
          <p:cNvPr id="6" name="Picture 2" descr="Creating Threads in Java - Scientech Easy">
            <a:extLst>
              <a:ext uri="{FF2B5EF4-FFF2-40B4-BE49-F238E27FC236}">
                <a16:creationId xmlns:a16="http://schemas.microsoft.com/office/drawing/2014/main" id="{6B9BF227-7446-59B0-7166-5854F1BFB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t="23281" r="11780" b="8747"/>
          <a:stretch/>
        </p:blipFill>
        <p:spPr bwMode="auto">
          <a:xfrm>
            <a:off x="389871" y="2979174"/>
            <a:ext cx="4429569" cy="253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139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6A83-CB98-50C3-2369-619576C3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7EFAE-EFB3-831C-FEF0-F8BBB828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37" y="2912831"/>
            <a:ext cx="6973273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76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A5A8-DB9B-69CB-FAE4-5EDFE208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6ADE9-09CE-F4B2-94D1-3E216ED81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92" y="3309096"/>
            <a:ext cx="8249801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94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7259-6547-05FD-AE9A-651BAEF5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6399E-79F9-469B-7497-095096E3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10" y="3204306"/>
            <a:ext cx="7935432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57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7A0F-1D2F-6957-8F02-6630F308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1CE1C-C8C0-D412-F125-4C7FC8615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06" y="2981963"/>
            <a:ext cx="6687483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7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D56D-EDF7-2CC6-8167-6F6B5CA2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DD7362C-0A90-DDC8-0607-B3DF3A18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026" y="1982936"/>
            <a:ext cx="6114825" cy="478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63892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105</TotalTime>
  <Words>403</Words>
  <Application>Microsoft Office PowerPoint</Application>
  <PresentationFormat>Widescreen</PresentationFormat>
  <Paragraphs>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Inter-Regular</vt:lpstr>
      <vt:lpstr>Trebuchet MS</vt:lpstr>
      <vt:lpstr>verdana</vt:lpstr>
      <vt:lpstr>Berlin</vt:lpstr>
      <vt:lpstr>Multithreading in Java </vt:lpstr>
      <vt:lpstr>Definition . . .</vt:lpstr>
      <vt:lpstr>Thread?</vt:lpstr>
      <vt:lpstr>Advantages of Java Multithreading </vt:lpstr>
      <vt:lpstr>Continue . . .</vt:lpstr>
      <vt:lpstr>Continue . . .</vt:lpstr>
      <vt:lpstr>Java Thread class </vt:lpstr>
      <vt:lpstr>Thread Life Cycle in Java</vt:lpstr>
      <vt:lpstr>How to Create a Thread in Java?</vt:lpstr>
      <vt:lpstr>Thread Creation</vt:lpstr>
      <vt:lpstr>PowerPoint Presentation</vt:lpstr>
      <vt:lpstr>Thread Creation</vt:lpstr>
      <vt:lpstr>PowerPoint Presentation</vt:lpstr>
      <vt:lpstr>Using the Thread Class: Thread(Runnable r, String name)</vt:lpstr>
      <vt:lpstr>REVISION</vt:lpstr>
      <vt:lpstr>REVISION</vt:lpstr>
      <vt:lpstr>REVISION</vt:lpstr>
      <vt:lpstr>REVISION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Kumar</dc:creator>
  <cp:lastModifiedBy>Girish Kumar</cp:lastModifiedBy>
  <cp:revision>18</cp:revision>
  <dcterms:created xsi:type="dcterms:W3CDTF">2025-04-07T06:04:18Z</dcterms:created>
  <dcterms:modified xsi:type="dcterms:W3CDTF">2025-04-07T11:07:19Z</dcterms:modified>
</cp:coreProperties>
</file>