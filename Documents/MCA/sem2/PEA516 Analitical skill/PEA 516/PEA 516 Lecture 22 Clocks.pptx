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7"/>
  </p:notesMasterIdLst>
  <p:sldIdLst>
    <p:sldId id="256" r:id="rId2"/>
    <p:sldId id="257" r:id="rId3"/>
    <p:sldId id="266" r:id="rId4"/>
    <p:sldId id="267" r:id="rId5"/>
    <p:sldId id="268" r:id="rId6"/>
    <p:sldId id="269"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97" r:id="rId24"/>
    <p:sldId id="298" r:id="rId25"/>
    <p:sldId id="299" r:id="rId2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6" d="100"/>
          <a:sy n="76" d="100"/>
        </p:scale>
        <p:origin x="-1194" y="1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12689427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22ae4f70d8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22ae4f70d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8" name="Google Shape;258;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8" name="Google Shape;278;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8" name="Google Shape;288;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8" name="Google Shape;298;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3" name="Google Shape;303;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 name="Google Shape;13;p2"/>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 name="Google Shape;14;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 name="Google Shape;19;p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5" name="Google Shape;25;p4"/>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 name="Google Shape;26;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1" name="Google Shape;31;p5"/>
          <p:cNvSpPr>
            <a:spLocks noGrp="1"/>
          </p:cNvSpPr>
          <p:nvPr>
            <p:ph type="pic" idx="2"/>
          </p:nvPr>
        </p:nvSpPr>
        <p:spPr>
          <a:xfrm>
            <a:off x="1792288" y="612775"/>
            <a:ext cx="5486400" cy="4114800"/>
          </a:xfrm>
          <a:prstGeom prst="rect">
            <a:avLst/>
          </a:prstGeom>
          <a:noFill/>
          <a:ln>
            <a:noFill/>
          </a:ln>
        </p:spPr>
      </p:sp>
      <p:sp>
        <p:nvSpPr>
          <p:cNvPr id="32" name="Google Shape;32;p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33" name="Google Shape;33;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39" name="Google Shape;39;p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40" name="Google Shape;40;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3"/>
        <p:cNvGrpSpPr/>
        <p:nvPr/>
      </p:nvGrpSpPr>
      <p:grpSpPr>
        <a:xfrm>
          <a:off x="0" y="0"/>
          <a:ext cx="0" cy="0"/>
          <a:chOff x="0" y="0"/>
          <a:chExt cx="0" cy="0"/>
        </a:xfrm>
      </p:grpSpPr>
      <p:sp>
        <p:nvSpPr>
          <p:cNvPr id="44" name="Google Shape;44;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9" name="Google Shape;49;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2"/>
        <p:cNvGrpSpPr/>
        <p:nvPr/>
      </p:nvGrpSpPr>
      <p:grpSpPr>
        <a:xfrm>
          <a:off x="0" y="0"/>
          <a:ext cx="0" cy="0"/>
          <a:chOff x="0" y="0"/>
          <a:chExt cx="0" cy="0"/>
        </a:xfrm>
      </p:grpSpPr>
      <p:sp>
        <p:nvSpPr>
          <p:cNvPr id="53" name="Google Shape;53;p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4" name="Google Shape;54;p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5" name="Google Shape;55;p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6" name="Google Shape;56;p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7" name="Google Shape;57;p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3" name="Google Shape;63;p1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64" name="Google Shape;64;p1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0" name="Google Shape;70;p1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4"/>
        <p:cNvGrpSpPr/>
        <p:nvPr/>
      </p:nvGrpSpPr>
      <p:grpSpPr>
        <a:xfrm>
          <a:off x="0" y="0"/>
          <a:ext cx="0" cy="0"/>
          <a:chOff x="0" y="0"/>
          <a:chExt cx="0" cy="0"/>
        </a:xfrm>
      </p:grpSpPr>
      <p:sp>
        <p:nvSpPr>
          <p:cNvPr id="75" name="Google Shape;75;p1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6" name="Google Shape;76;p1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7" name="Google Shape;7;p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https://www.mexperience.com/wp-content/uploads/Time-Spiral-680x340-1436399501.jpg"/>
          <p:cNvPicPr preferRelativeResize="0"/>
          <p:nvPr/>
        </p:nvPicPr>
        <p:blipFill rotWithShape="1">
          <a:blip r:embed="rId3">
            <a:alphaModFix/>
          </a:blip>
          <a:srcRect/>
          <a:stretch/>
        </p:blipFill>
        <p:spPr>
          <a:xfrm>
            <a:off x="0" y="14287"/>
            <a:ext cx="9126537" cy="6843712"/>
          </a:xfrm>
          <a:prstGeom prst="rect">
            <a:avLst/>
          </a:prstGeom>
          <a:noFill/>
          <a:ln>
            <a:noFill/>
          </a:ln>
        </p:spPr>
      </p:pic>
      <p:pic>
        <p:nvPicPr>
          <p:cNvPr id="85" name="Google Shape;85;p13" descr="C:\Users\acer pc\Desktop\images.png"/>
          <p:cNvPicPr preferRelativeResize="0"/>
          <p:nvPr/>
        </p:nvPicPr>
        <p:blipFill rotWithShape="1">
          <a:blip r:embed="rId4">
            <a:alphaModFix/>
          </a:blip>
          <a:srcRect/>
          <a:stretch/>
        </p:blipFill>
        <p:spPr>
          <a:xfrm>
            <a:off x="6845300" y="14287"/>
            <a:ext cx="2281237" cy="1087437"/>
          </a:xfrm>
          <a:prstGeom prst="rect">
            <a:avLst/>
          </a:prstGeom>
          <a:noFill/>
          <a:ln>
            <a:noFill/>
          </a:ln>
        </p:spPr>
      </p:pic>
      <p:sp>
        <p:nvSpPr>
          <p:cNvPr id="86" name="Google Shape;86;p13"/>
          <p:cNvSpPr txBox="1"/>
          <p:nvPr/>
        </p:nvSpPr>
        <p:spPr>
          <a:xfrm>
            <a:off x="0" y="6488112"/>
            <a:ext cx="3373437"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 Department of Analytical Skills</a:t>
            </a:r>
            <a:endParaRPr/>
          </a:p>
        </p:txBody>
      </p:sp>
      <p:sp>
        <p:nvSpPr>
          <p:cNvPr id="87" name="Google Shape;87;p13"/>
          <p:cNvSpPr txBox="1"/>
          <p:nvPr/>
        </p:nvSpPr>
        <p:spPr>
          <a:xfrm>
            <a:off x="2020887" y="228600"/>
            <a:ext cx="4789487"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800"/>
              <a:buFont typeface="Calibri"/>
              <a:buNone/>
            </a:pPr>
            <a:r>
              <a:rPr lang="en-US" sz="4800" b="1" i="0" u="none" strike="noStrike" cap="none">
                <a:solidFill>
                  <a:schemeClr val="dk1"/>
                </a:solidFill>
                <a:latin typeface="Calibri"/>
                <a:ea typeface="Calibri"/>
                <a:cs typeface="Calibri"/>
                <a:sym typeface="Calibri"/>
              </a:rPr>
              <a:t>CLOCKS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457200" y="274637"/>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t>Table of content</a:t>
            </a:r>
            <a:endParaRPr/>
          </a:p>
        </p:txBody>
      </p:sp>
      <p:sp>
        <p:nvSpPr>
          <p:cNvPr id="93" name="Google Shape;93;p14"/>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Autofit/>
          </a:bodyPr>
          <a:lstStyle/>
          <a:p>
            <a:pPr marL="914400" lvl="0" indent="0" algn="l" rtl="0">
              <a:spcBef>
                <a:spcPts val="0"/>
              </a:spcBef>
              <a:spcAft>
                <a:spcPts val="0"/>
              </a:spcAft>
              <a:buNone/>
            </a:pPr>
            <a:endParaRPr dirty="0"/>
          </a:p>
          <a:p>
            <a:pPr marL="914400" lvl="0" indent="-342900" algn="l" rtl="0">
              <a:spcBef>
                <a:spcPts val="0"/>
              </a:spcBef>
              <a:spcAft>
                <a:spcPts val="0"/>
              </a:spcAft>
              <a:buSzPts val="1800"/>
              <a:buChar char="➢"/>
            </a:pPr>
            <a:r>
              <a:rPr lang="en-US" dirty="0"/>
              <a:t>loss or gain in time</a:t>
            </a:r>
            <a:endParaRPr dirty="0"/>
          </a:p>
          <a:p>
            <a:pPr marL="914400" lvl="0" indent="0" algn="l" rtl="0">
              <a:spcBef>
                <a:spcPts val="0"/>
              </a:spcBef>
              <a:spcAft>
                <a:spcPts val="0"/>
              </a:spcAft>
              <a:buNone/>
            </a:pPr>
            <a:endParaRPr dirty="0"/>
          </a:p>
          <a:p>
            <a:pPr marL="914400" lvl="0" indent="-342900" algn="l" rtl="0">
              <a:spcBef>
                <a:spcPts val="0"/>
              </a:spcBef>
              <a:spcAft>
                <a:spcPts val="0"/>
              </a:spcAft>
              <a:buSzPts val="1800"/>
              <a:buChar char="➢"/>
            </a:pPr>
            <a:r>
              <a:rPr lang="en-US" dirty="0"/>
              <a:t>mirror image of a clock</a:t>
            </a:r>
            <a:endParaRPr dirty="0"/>
          </a:p>
          <a:p>
            <a:pPr marL="914400" lvl="0" indent="0" algn="l" rtl="0">
              <a:spcBef>
                <a:spcPts val="360"/>
              </a:spcBef>
              <a:spcAft>
                <a:spcPts val="0"/>
              </a:spcAft>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3"/>
          <p:cNvSpPr txBox="1">
            <a:spLocks noGrp="1"/>
          </p:cNvSpPr>
          <p:nvPr>
            <p:ph type="body" idx="1"/>
          </p:nvPr>
        </p:nvSpPr>
        <p:spPr>
          <a:xfrm>
            <a:off x="228600" y="533400"/>
            <a:ext cx="8686800" cy="6172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500"/>
              <a:buFont typeface="Arial"/>
              <a:buNone/>
            </a:pPr>
            <a:endParaRPr sz="2500" b="1"/>
          </a:p>
          <a:p>
            <a:pPr marL="0" marR="0" lvl="0" indent="0" algn="l" rtl="0">
              <a:lnSpc>
                <a:spcPct val="100000"/>
              </a:lnSpc>
              <a:spcBef>
                <a:spcPts val="0"/>
              </a:spcBef>
              <a:spcAft>
                <a:spcPts val="0"/>
              </a:spcAft>
              <a:buClr>
                <a:schemeClr val="dk1"/>
              </a:buClr>
              <a:buSzPts val="2500"/>
              <a:buFont typeface="Arial"/>
              <a:buNone/>
            </a:pPr>
            <a:endParaRPr sz="2500" b="1"/>
          </a:p>
          <a:p>
            <a:pPr marL="0" marR="0" lvl="0" indent="0" algn="l" rtl="0">
              <a:lnSpc>
                <a:spcPct val="100000"/>
              </a:lnSpc>
              <a:spcBef>
                <a:spcPts val="0"/>
              </a:spcBef>
              <a:spcAft>
                <a:spcPts val="0"/>
              </a:spcAft>
              <a:buClr>
                <a:schemeClr val="dk1"/>
              </a:buClr>
              <a:buSzPts val="2500"/>
              <a:buFont typeface="Arial"/>
              <a:buNone/>
            </a:pPr>
            <a:r>
              <a:rPr lang="en-US" sz="2800" b="1" i="0" u="none">
                <a:solidFill>
                  <a:schemeClr val="dk1"/>
                </a:solidFill>
                <a:latin typeface="Calibri"/>
                <a:ea typeface="Calibri"/>
                <a:cs typeface="Calibri"/>
                <a:sym typeface="Calibri"/>
              </a:rPr>
              <a:t>GAIN AND LOSS OF TIME IN AN INCORRECT CLOCK: </a:t>
            </a:r>
            <a:endParaRPr sz="2800" b="1" i="0"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800" b="1"/>
          </a:p>
          <a:p>
            <a:pPr marL="0" marR="0" lvl="0" indent="0" algn="l" rtl="0">
              <a:lnSpc>
                <a:spcPct val="100000"/>
              </a:lnSpc>
              <a:spcBef>
                <a:spcPts val="0"/>
              </a:spcBef>
              <a:spcAft>
                <a:spcPts val="0"/>
              </a:spcAft>
              <a:buClr>
                <a:schemeClr val="dk1"/>
              </a:buClr>
              <a:buSzPts val="2500"/>
              <a:buFont typeface="Arial"/>
              <a:buNone/>
            </a:pPr>
            <a:endParaRPr sz="2800" b="1"/>
          </a:p>
          <a:p>
            <a:pPr marL="457200" marR="0" lvl="0" indent="-406400" algn="l" rtl="0">
              <a:lnSpc>
                <a:spcPct val="100000"/>
              </a:lnSpc>
              <a:spcBef>
                <a:spcPts val="500"/>
              </a:spcBef>
              <a:spcAft>
                <a:spcPts val="0"/>
              </a:spcAft>
              <a:buSzPts val="2800"/>
              <a:buChar char="➢"/>
            </a:pPr>
            <a:r>
              <a:rPr lang="en-US" sz="2800"/>
              <a:t>W</a:t>
            </a:r>
            <a:r>
              <a:rPr lang="en-US" sz="2800" b="0" i="0" u="none">
                <a:solidFill>
                  <a:schemeClr val="dk1"/>
                </a:solidFill>
                <a:latin typeface="Calibri"/>
                <a:ea typeface="Calibri"/>
                <a:cs typeface="Calibri"/>
                <a:sym typeface="Calibri"/>
              </a:rPr>
              <a:t>hen the speed of the hands of the clock increases they complete their rotation for a day sooner. </a:t>
            </a:r>
            <a:endParaRPr sz="2800" b="0" i="0" u="none">
              <a:solidFill>
                <a:schemeClr val="dk1"/>
              </a:solidFill>
              <a:latin typeface="Calibri"/>
              <a:ea typeface="Calibri"/>
              <a:cs typeface="Calibri"/>
              <a:sym typeface="Calibri"/>
            </a:endParaRPr>
          </a:p>
          <a:p>
            <a:pPr marL="0" marR="0" lvl="0" indent="0" algn="l" rtl="0">
              <a:lnSpc>
                <a:spcPct val="100000"/>
              </a:lnSpc>
              <a:spcBef>
                <a:spcPts val="500"/>
              </a:spcBef>
              <a:spcAft>
                <a:spcPts val="0"/>
              </a:spcAft>
              <a:buNone/>
            </a:pPr>
            <a:endParaRPr sz="2800"/>
          </a:p>
          <a:p>
            <a:pPr marL="0" marR="0" lvl="0" indent="0" algn="l" rtl="0">
              <a:lnSpc>
                <a:spcPct val="100000"/>
              </a:lnSpc>
              <a:spcBef>
                <a:spcPts val="500"/>
              </a:spcBef>
              <a:spcAft>
                <a:spcPts val="0"/>
              </a:spcAft>
              <a:buNone/>
            </a:pPr>
            <a:endParaRPr sz="2800"/>
          </a:p>
          <a:p>
            <a:pPr marL="457200" marR="0" lvl="0" indent="-406400" algn="l" rtl="0">
              <a:lnSpc>
                <a:spcPct val="100000"/>
              </a:lnSpc>
              <a:spcBef>
                <a:spcPts val="500"/>
              </a:spcBef>
              <a:spcAft>
                <a:spcPts val="0"/>
              </a:spcAft>
              <a:buSzPts val="2800"/>
              <a:buChar char="➢"/>
            </a:pPr>
            <a:r>
              <a:rPr lang="en-US" sz="2800"/>
              <a:t>W</a:t>
            </a:r>
            <a:r>
              <a:rPr lang="en-US" sz="2800" b="0" i="0" u="none">
                <a:solidFill>
                  <a:schemeClr val="dk1"/>
                </a:solidFill>
                <a:latin typeface="Calibri"/>
                <a:ea typeface="Calibri"/>
                <a:cs typeface="Calibri"/>
                <a:sym typeface="Calibri"/>
              </a:rPr>
              <a:t>hen the hands of the clock move slower than usual, they take more time to complete the rotations for a day. </a:t>
            </a:r>
            <a:endParaRPr sz="3500"/>
          </a:p>
          <a:p>
            <a:pPr marL="342900" marR="0" lvl="0" indent="0" algn="l" rtl="0">
              <a:lnSpc>
                <a:spcPct val="100000"/>
              </a:lnSpc>
              <a:spcBef>
                <a:spcPts val="50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4"/>
          <p:cNvSpPr txBox="1">
            <a:spLocks noGrp="1"/>
          </p:cNvSpPr>
          <p:nvPr>
            <p:ph type="body" idx="1"/>
          </p:nvPr>
        </p:nvSpPr>
        <p:spPr>
          <a:xfrm>
            <a:off x="457200" y="609600"/>
            <a:ext cx="8229600" cy="5867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None/>
            </a:pPr>
            <a:endParaRPr b="1"/>
          </a:p>
          <a:p>
            <a:pPr marL="0" marR="0" lvl="0" indent="0" algn="l" rtl="0">
              <a:lnSpc>
                <a:spcPct val="100000"/>
              </a:lnSpc>
              <a:spcBef>
                <a:spcPts val="0"/>
              </a:spcBef>
              <a:spcAft>
                <a:spcPts val="0"/>
              </a:spcAft>
              <a:buClr>
                <a:schemeClr val="dk1"/>
              </a:buClr>
              <a:buSzPts val="3200"/>
              <a:buFont typeface="Arial"/>
              <a:buNone/>
            </a:pPr>
            <a:r>
              <a:rPr lang="en-US" sz="3200" b="1" i="0" u="none">
                <a:solidFill>
                  <a:schemeClr val="dk1"/>
                </a:solidFill>
                <a:latin typeface="Calibri"/>
                <a:ea typeface="Calibri"/>
                <a:cs typeface="Calibri"/>
                <a:sym typeface="Calibri"/>
              </a:rPr>
              <a:t>KEY POINTS</a:t>
            </a:r>
            <a:endParaRPr sz="3200" b="1" i="0"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3200"/>
              <a:buFont typeface="Arial"/>
              <a:buNone/>
            </a:pPr>
            <a:endParaRPr b="1"/>
          </a:p>
          <a:p>
            <a:pPr marL="457200" marR="0" lvl="0" indent="-431800" algn="just" rtl="0">
              <a:lnSpc>
                <a:spcPct val="100000"/>
              </a:lnSpc>
              <a:spcBef>
                <a:spcPts val="640"/>
              </a:spcBef>
              <a:spcAft>
                <a:spcPts val="0"/>
              </a:spcAft>
              <a:buClr>
                <a:schemeClr val="dk1"/>
              </a:buClr>
              <a:buSzPts val="3200"/>
              <a:buFont typeface="Calibri"/>
              <a:buChar char="➢"/>
            </a:pPr>
            <a:r>
              <a:rPr lang="en-US" sz="3200" b="0" i="0" u="none">
                <a:solidFill>
                  <a:schemeClr val="dk1"/>
                </a:solidFill>
                <a:latin typeface="Calibri"/>
                <a:ea typeface="Calibri"/>
                <a:cs typeface="Calibri"/>
                <a:sym typeface="Calibri"/>
              </a:rPr>
              <a:t>The hands are in the same straight line when they are coincident or opposite to each other</a:t>
            </a:r>
            <a:endParaRPr sz="3200" b="0" i="0" u="none">
              <a:solidFill>
                <a:schemeClr val="dk1"/>
              </a:solidFill>
              <a:latin typeface="Calibri"/>
              <a:ea typeface="Calibri"/>
              <a:cs typeface="Calibri"/>
              <a:sym typeface="Calibri"/>
            </a:endParaRPr>
          </a:p>
          <a:p>
            <a:pPr marL="457200" marR="0" lvl="0" indent="0" algn="just" rtl="0">
              <a:lnSpc>
                <a:spcPct val="100000"/>
              </a:lnSpc>
              <a:spcBef>
                <a:spcPts val="640"/>
              </a:spcBef>
              <a:spcAft>
                <a:spcPts val="0"/>
              </a:spcAft>
              <a:buNone/>
            </a:pPr>
            <a:endParaRPr/>
          </a:p>
          <a:p>
            <a:pPr marL="457200" marR="0" lvl="0" indent="0" algn="just" rtl="0">
              <a:lnSpc>
                <a:spcPct val="100000"/>
              </a:lnSpc>
              <a:spcBef>
                <a:spcPts val="640"/>
              </a:spcBef>
              <a:spcAft>
                <a:spcPts val="0"/>
              </a:spcAft>
              <a:buNone/>
            </a:pPr>
            <a:r>
              <a:rPr lang="en-US" sz="3200" b="0" i="0" u="none">
                <a:solidFill>
                  <a:schemeClr val="dk1"/>
                </a:solidFill>
                <a:latin typeface="Calibri"/>
                <a:ea typeface="Calibri"/>
                <a:cs typeface="Calibri"/>
                <a:sym typeface="Calibri"/>
              </a:rPr>
              <a:t> </a:t>
            </a:r>
            <a:endParaRPr/>
          </a:p>
          <a:p>
            <a:pPr marL="457200" marR="0" lvl="0" indent="-431800" algn="just" rtl="0">
              <a:lnSpc>
                <a:spcPct val="100000"/>
              </a:lnSpc>
              <a:spcBef>
                <a:spcPts val="640"/>
              </a:spcBef>
              <a:spcAft>
                <a:spcPts val="0"/>
              </a:spcAft>
              <a:buClr>
                <a:schemeClr val="dk1"/>
              </a:buClr>
              <a:buSzPts val="3200"/>
              <a:buFont typeface="Calibri"/>
              <a:buChar char="➢"/>
            </a:pPr>
            <a:r>
              <a:rPr lang="en-US" sz="3200" b="0" i="0" u="none">
                <a:solidFill>
                  <a:schemeClr val="dk1"/>
                </a:solidFill>
                <a:latin typeface="Calibri"/>
                <a:ea typeface="Calibri"/>
                <a:cs typeface="Calibri"/>
                <a:sym typeface="Calibri"/>
              </a:rPr>
              <a:t>When the two hands are at right angles, they are 15 minute spaces apart </a:t>
            </a:r>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5"/>
          <p:cNvSpPr txBox="1">
            <a:spLocks noGrp="1"/>
          </p:cNvSpPr>
          <p:nvPr>
            <p:ph type="body" idx="1"/>
          </p:nvPr>
        </p:nvSpPr>
        <p:spPr>
          <a:xfrm>
            <a:off x="457200" y="685800"/>
            <a:ext cx="8229600" cy="5440362"/>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3200"/>
              <a:buFont typeface="Arial"/>
              <a:buNone/>
            </a:pPr>
            <a:endParaRPr/>
          </a:p>
          <a:p>
            <a:pPr marL="457200" marR="0" lvl="0" indent="-342900" algn="just" rtl="0">
              <a:lnSpc>
                <a:spcPct val="100000"/>
              </a:lnSpc>
              <a:spcBef>
                <a:spcPts val="0"/>
              </a:spcBef>
              <a:spcAft>
                <a:spcPts val="0"/>
              </a:spcAft>
              <a:buSzPts val="1800"/>
              <a:buChar char="➢"/>
            </a:pPr>
            <a:r>
              <a:rPr lang="en-US" sz="3200" b="0" i="0" u="none">
                <a:solidFill>
                  <a:schemeClr val="dk1"/>
                </a:solidFill>
                <a:latin typeface="Calibri"/>
                <a:ea typeface="Calibri"/>
                <a:cs typeface="Calibri"/>
                <a:sym typeface="Calibri"/>
              </a:rPr>
              <a:t>When the hands are in opposite directions, they are </a:t>
            </a:r>
            <a:r>
              <a:rPr lang="en-US"/>
              <a:t>180 degree</a:t>
            </a:r>
            <a:r>
              <a:rPr lang="en-US" sz="3200" b="0" i="0" u="none">
                <a:solidFill>
                  <a:schemeClr val="dk1"/>
                </a:solidFill>
                <a:latin typeface="Calibri"/>
                <a:ea typeface="Calibri"/>
                <a:cs typeface="Calibri"/>
                <a:sym typeface="Calibri"/>
              </a:rPr>
              <a:t> apart </a:t>
            </a:r>
            <a:endParaRPr sz="3200" b="0" i="0" u="none">
              <a:solidFill>
                <a:schemeClr val="dk1"/>
              </a:solidFill>
              <a:latin typeface="Calibri"/>
              <a:ea typeface="Calibri"/>
              <a:cs typeface="Calibri"/>
              <a:sym typeface="Calibri"/>
            </a:endParaRPr>
          </a:p>
          <a:p>
            <a:pPr marL="457200" marR="0" lvl="0" indent="0" algn="just" rtl="0">
              <a:lnSpc>
                <a:spcPct val="100000"/>
              </a:lnSpc>
              <a:spcBef>
                <a:spcPts val="0"/>
              </a:spcBef>
              <a:spcAft>
                <a:spcPts val="0"/>
              </a:spcAft>
              <a:buNone/>
            </a:pPr>
            <a:endParaRPr/>
          </a:p>
          <a:p>
            <a:pPr marL="457200" marR="0" lvl="0" indent="-431800" algn="just" rtl="0">
              <a:lnSpc>
                <a:spcPct val="100000"/>
              </a:lnSpc>
              <a:spcBef>
                <a:spcPts val="640"/>
              </a:spcBef>
              <a:spcAft>
                <a:spcPts val="0"/>
              </a:spcAft>
              <a:buClr>
                <a:schemeClr val="dk1"/>
              </a:buClr>
              <a:buSzPts val="3200"/>
              <a:buFont typeface="Calibri"/>
              <a:buChar char="➢"/>
            </a:pPr>
            <a:r>
              <a:rPr lang="en-US" sz="3200" b="0" i="0" u="none">
                <a:solidFill>
                  <a:schemeClr val="dk1"/>
                </a:solidFill>
                <a:latin typeface="Calibri"/>
                <a:ea typeface="Calibri"/>
                <a:cs typeface="Calibri"/>
                <a:sym typeface="Calibri"/>
              </a:rPr>
              <a:t>The hands of the clock form an angle of 0° or 180° − 22 times a day </a:t>
            </a:r>
            <a:endParaRPr sz="3200" b="0" i="0" u="none">
              <a:solidFill>
                <a:schemeClr val="dk1"/>
              </a:solidFill>
              <a:latin typeface="Calibri"/>
              <a:ea typeface="Calibri"/>
              <a:cs typeface="Calibri"/>
              <a:sym typeface="Calibri"/>
            </a:endParaRPr>
          </a:p>
          <a:p>
            <a:pPr marL="457200" marR="0" lvl="0" indent="0" algn="just" rtl="0">
              <a:lnSpc>
                <a:spcPct val="100000"/>
              </a:lnSpc>
              <a:spcBef>
                <a:spcPts val="640"/>
              </a:spcBef>
              <a:spcAft>
                <a:spcPts val="0"/>
              </a:spcAft>
              <a:buNone/>
            </a:pPr>
            <a:endParaRPr/>
          </a:p>
          <a:p>
            <a:pPr marL="457200" marR="0" lvl="0" indent="-431800" algn="just" rtl="0">
              <a:lnSpc>
                <a:spcPct val="100000"/>
              </a:lnSpc>
              <a:spcBef>
                <a:spcPts val="640"/>
              </a:spcBef>
              <a:spcAft>
                <a:spcPts val="0"/>
              </a:spcAft>
              <a:buClr>
                <a:schemeClr val="dk1"/>
              </a:buClr>
              <a:buSzPts val="3200"/>
              <a:buFont typeface="Calibri"/>
              <a:buChar char="➢"/>
            </a:pPr>
            <a:r>
              <a:rPr lang="en-US" sz="3200" b="0" i="0" u="none">
                <a:solidFill>
                  <a:schemeClr val="dk1"/>
                </a:solidFill>
                <a:latin typeface="Calibri"/>
                <a:ea typeface="Calibri"/>
                <a:cs typeface="Calibri"/>
                <a:sym typeface="Calibri"/>
              </a:rPr>
              <a:t>The hands of the clock form an angle of 1° to 179° − 44 times a day </a:t>
            </a:r>
            <a:endParaRPr/>
          </a:p>
          <a:p>
            <a:pPr marL="0" marR="0" lvl="0" indent="0" algn="just" rtl="0">
              <a:lnSpc>
                <a:spcPct val="100000"/>
              </a:lnSpc>
              <a:spcBef>
                <a:spcPts val="640"/>
              </a:spcBef>
              <a:spcAft>
                <a:spcPts val="0"/>
              </a:spcAft>
              <a:buClr>
                <a:schemeClr val="dk1"/>
              </a:buClr>
              <a:buSzPts val="3200"/>
              <a:buFont typeface="Arial"/>
              <a:buNone/>
            </a:pPr>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6"/>
          <p:cNvSpPr txBox="1">
            <a:spLocks noGrp="1"/>
          </p:cNvSpPr>
          <p:nvPr>
            <p:ph type="title"/>
          </p:nvPr>
        </p:nvSpPr>
        <p:spPr>
          <a:xfrm>
            <a:off x="609600" y="2438400"/>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PRACTICE QUESTIONS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8"/>
          <p:cNvSpPr txBox="1">
            <a:spLocks noGrp="1"/>
          </p:cNvSpPr>
          <p:nvPr>
            <p:ph type="body" idx="1"/>
          </p:nvPr>
        </p:nvSpPr>
        <p:spPr>
          <a:xfrm>
            <a:off x="457200" y="533400"/>
            <a:ext cx="8229600" cy="55927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None/>
            </a:pPr>
            <a:r>
              <a:rPr lang="en-US" sz="3200" b="0" i="0" u="none" dirty="0" smtClean="0">
                <a:solidFill>
                  <a:schemeClr val="dk1"/>
                </a:solidFill>
                <a:latin typeface="Calibri"/>
                <a:ea typeface="Calibri"/>
                <a:cs typeface="Calibri"/>
                <a:sym typeface="Calibri"/>
              </a:rPr>
              <a:t>1. </a:t>
            </a:r>
            <a:r>
              <a:rPr lang="en-US" sz="3200" b="0" i="0" u="none" dirty="0">
                <a:solidFill>
                  <a:schemeClr val="dk1"/>
                </a:solidFill>
                <a:latin typeface="Calibri"/>
                <a:ea typeface="Calibri"/>
                <a:cs typeface="Calibri"/>
                <a:sym typeface="Calibri"/>
              </a:rPr>
              <a:t>How much does a watch gain per day, if its hands coincide every 64 minutes? 	</a:t>
            </a:r>
            <a:endParaRPr dirty="0"/>
          </a:p>
          <a:p>
            <a:pPr marL="0" marR="0" lvl="0" indent="-203200" algn="l" rtl="0">
              <a:lnSpc>
                <a:spcPct val="100000"/>
              </a:lnSpc>
              <a:spcBef>
                <a:spcPts val="640"/>
              </a:spcBef>
              <a:spcAft>
                <a:spcPts val="0"/>
              </a:spcAft>
              <a:buClr>
                <a:schemeClr val="dk1"/>
              </a:buClr>
              <a:buSzPts val="3200"/>
              <a:buFont typeface="Arial"/>
              <a:buAutoNum type="alphaLcParenBoth"/>
            </a:pPr>
            <a:r>
              <a:rPr lang="en-US" sz="3200" b="0" i="0" u="none" dirty="0">
                <a:solidFill>
                  <a:schemeClr val="dk1"/>
                </a:solidFill>
                <a:latin typeface="Calibri"/>
                <a:ea typeface="Calibri"/>
                <a:cs typeface="Calibri"/>
                <a:sym typeface="Calibri"/>
              </a:rPr>
              <a:t>32  8/11 min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(b) 36  5/11 min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(c) 90 min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(d) 96 min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err="1">
                <a:solidFill>
                  <a:schemeClr val="dk1"/>
                </a:solidFill>
                <a:latin typeface="Calibri"/>
                <a:ea typeface="Calibri"/>
                <a:cs typeface="Calibri"/>
                <a:sym typeface="Calibri"/>
              </a:rPr>
              <a:t>Ans</a:t>
            </a:r>
            <a:r>
              <a:rPr lang="en-US" sz="3200" b="0" i="0" u="none" dirty="0">
                <a:solidFill>
                  <a:schemeClr val="dk1"/>
                </a:solidFill>
                <a:latin typeface="Calibri"/>
                <a:ea typeface="Calibri"/>
                <a:cs typeface="Calibri"/>
                <a:sym typeface="Calibri"/>
              </a:rPr>
              <a:t>: A</a:t>
            </a:r>
            <a:endParaRPr sz="3200" b="0" i="0" u="none" dirty="0">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9"/>
          <p:cNvSpPr txBox="1">
            <a:spLocks noGrp="1"/>
          </p:cNvSpPr>
          <p:nvPr>
            <p:ph type="body" idx="1"/>
          </p:nvPr>
        </p:nvSpPr>
        <p:spPr>
          <a:xfrm>
            <a:off x="457200" y="533400"/>
            <a:ext cx="8229600" cy="55927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None/>
            </a:pPr>
            <a:r>
              <a:rPr lang="en-US" dirty="0"/>
              <a:t>2</a:t>
            </a:r>
            <a:r>
              <a:rPr lang="en-US" sz="3200" b="0" i="0" u="none" dirty="0" smtClean="0">
                <a:solidFill>
                  <a:schemeClr val="dk1"/>
                </a:solidFill>
                <a:latin typeface="Calibri"/>
                <a:ea typeface="Calibri"/>
                <a:cs typeface="Calibri"/>
                <a:sym typeface="Calibri"/>
              </a:rPr>
              <a:t>. </a:t>
            </a:r>
            <a:r>
              <a:rPr lang="en-US" sz="3200" b="0" i="0" u="none" dirty="0">
                <a:solidFill>
                  <a:schemeClr val="dk1"/>
                </a:solidFill>
                <a:latin typeface="Calibri"/>
                <a:ea typeface="Calibri"/>
                <a:cs typeface="Calibri"/>
                <a:sym typeface="Calibri"/>
              </a:rPr>
              <a:t>How many minutes is it until six o’clock if fifty minutes ago it was four times as many minutes past three o’clock? 	</a:t>
            </a:r>
            <a:endParaRPr dirty="0"/>
          </a:p>
          <a:p>
            <a:pPr marL="0" marR="0" lvl="0" indent="-203200" algn="l" rtl="0">
              <a:lnSpc>
                <a:spcPct val="100000"/>
              </a:lnSpc>
              <a:spcBef>
                <a:spcPts val="640"/>
              </a:spcBef>
              <a:spcAft>
                <a:spcPts val="0"/>
              </a:spcAft>
              <a:buClr>
                <a:schemeClr val="dk1"/>
              </a:buClr>
              <a:buSzPts val="3200"/>
              <a:buFont typeface="Arial"/>
              <a:buAutoNum type="alphaLcParenBoth"/>
            </a:pPr>
            <a:r>
              <a:rPr lang="en-US" sz="3200" b="0" i="0" u="none" dirty="0">
                <a:solidFill>
                  <a:schemeClr val="dk1"/>
                </a:solidFill>
                <a:latin typeface="Calibri"/>
                <a:ea typeface="Calibri"/>
                <a:cs typeface="Calibri"/>
                <a:sym typeface="Calibri"/>
              </a:rPr>
              <a:t>26 min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(b) 27 min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(c) 30 min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(d) None of these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err="1">
                <a:solidFill>
                  <a:schemeClr val="dk1"/>
                </a:solidFill>
                <a:latin typeface="Calibri"/>
                <a:ea typeface="Calibri"/>
                <a:cs typeface="Calibri"/>
                <a:sym typeface="Calibri"/>
              </a:rPr>
              <a:t>Ans</a:t>
            </a:r>
            <a:r>
              <a:rPr lang="en-US" sz="3200" b="0" i="0" u="none" dirty="0">
                <a:solidFill>
                  <a:schemeClr val="dk1"/>
                </a:solidFill>
                <a:latin typeface="Calibri"/>
                <a:ea typeface="Calibri"/>
                <a:cs typeface="Calibri"/>
                <a:sym typeface="Calibri"/>
              </a:rPr>
              <a:t>: A</a:t>
            </a:r>
            <a:endParaRPr sz="3200" b="0" i="0" u="none" dirty="0">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40"/>
          <p:cNvSpPr txBox="1">
            <a:spLocks noGrp="1"/>
          </p:cNvSpPr>
          <p:nvPr>
            <p:ph type="body" idx="1"/>
          </p:nvPr>
        </p:nvSpPr>
        <p:spPr>
          <a:xfrm>
            <a:off x="457200" y="533400"/>
            <a:ext cx="8229600" cy="55927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None/>
            </a:pPr>
            <a:r>
              <a:rPr lang="en-US" dirty="0"/>
              <a:t>3</a:t>
            </a:r>
            <a:r>
              <a:rPr lang="en-US" sz="3200" b="0" i="0" u="none" dirty="0" smtClean="0">
                <a:solidFill>
                  <a:schemeClr val="dk1"/>
                </a:solidFill>
                <a:latin typeface="Calibri"/>
                <a:ea typeface="Calibri"/>
                <a:cs typeface="Calibri"/>
                <a:sym typeface="Calibri"/>
              </a:rPr>
              <a:t>. </a:t>
            </a:r>
            <a:r>
              <a:rPr lang="en-US" sz="3200" b="0" i="0" u="none" dirty="0">
                <a:solidFill>
                  <a:schemeClr val="dk1"/>
                </a:solidFill>
                <a:latin typeface="Calibri"/>
                <a:ea typeface="Calibri"/>
                <a:cs typeface="Calibri"/>
                <a:sym typeface="Calibri"/>
              </a:rPr>
              <a:t>A man who went out between 3 and 4 and returned between 8 and 9, found that the hands of the watch had exactly changed places. When did he return? 	</a:t>
            </a:r>
            <a:endParaRPr dirty="0"/>
          </a:p>
          <a:p>
            <a:pPr marL="0" marR="0" lvl="0" indent="-203200" algn="l" rtl="0">
              <a:lnSpc>
                <a:spcPct val="100000"/>
              </a:lnSpc>
              <a:spcBef>
                <a:spcPts val="640"/>
              </a:spcBef>
              <a:spcAft>
                <a:spcPts val="0"/>
              </a:spcAft>
              <a:buClr>
                <a:schemeClr val="dk1"/>
              </a:buClr>
              <a:buSzPts val="3200"/>
              <a:buFont typeface="Arial"/>
              <a:buAutoNum type="alphaLcParenBoth"/>
            </a:pPr>
            <a:r>
              <a:rPr lang="en-US" sz="3200" b="0" i="0" u="none" dirty="0">
                <a:solidFill>
                  <a:schemeClr val="dk1"/>
                </a:solidFill>
                <a:latin typeface="Calibri"/>
                <a:ea typeface="Calibri"/>
                <a:cs typeface="Calibri"/>
                <a:sym typeface="Calibri"/>
              </a:rPr>
              <a:t>14 min past 8</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(b) 21  1/3min past 8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(c) 19  2/3 min past 8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(d) 18  6/13 min past 8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err="1">
                <a:solidFill>
                  <a:schemeClr val="dk1"/>
                </a:solidFill>
                <a:latin typeface="Calibri"/>
                <a:ea typeface="Calibri"/>
                <a:cs typeface="Calibri"/>
                <a:sym typeface="Calibri"/>
              </a:rPr>
              <a:t>Ans</a:t>
            </a:r>
            <a:r>
              <a:rPr lang="en-US" sz="3200" b="0" i="0" u="none" dirty="0">
                <a:solidFill>
                  <a:schemeClr val="dk1"/>
                </a:solidFill>
                <a:latin typeface="Calibri"/>
                <a:ea typeface="Calibri"/>
                <a:cs typeface="Calibri"/>
                <a:sym typeface="Calibri"/>
              </a:rPr>
              <a:t>: D</a:t>
            </a:r>
            <a:endParaRPr sz="3200" b="0" i="0" u="none" dirty="0">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41"/>
          <p:cNvSpPr txBox="1">
            <a:spLocks noGrp="1"/>
          </p:cNvSpPr>
          <p:nvPr>
            <p:ph type="body" idx="1"/>
          </p:nvPr>
        </p:nvSpPr>
        <p:spPr>
          <a:xfrm>
            <a:off x="457200" y="685800"/>
            <a:ext cx="8229600" cy="54403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None/>
            </a:pPr>
            <a:r>
              <a:rPr lang="en-US" dirty="0"/>
              <a:t>4</a:t>
            </a:r>
            <a:r>
              <a:rPr lang="en-US" sz="3200" b="0" i="0" u="none" dirty="0" smtClean="0">
                <a:solidFill>
                  <a:schemeClr val="dk1"/>
                </a:solidFill>
                <a:latin typeface="Calibri"/>
                <a:ea typeface="Calibri"/>
                <a:cs typeface="Calibri"/>
                <a:sym typeface="Calibri"/>
              </a:rPr>
              <a:t>. </a:t>
            </a:r>
            <a:r>
              <a:rPr lang="en-US" sz="3200" b="0" i="0" u="none" dirty="0">
                <a:solidFill>
                  <a:schemeClr val="dk1"/>
                </a:solidFill>
                <a:latin typeface="Calibri"/>
                <a:ea typeface="Calibri"/>
                <a:cs typeface="Calibri"/>
                <a:sym typeface="Calibri"/>
              </a:rPr>
              <a:t>My watch was 8 minutes behind at 8 p.m. on Sunday but it was 7 minutes ahead of time at 8 p.m. on Wednesday. During this period, at which time has this watch shown the correct time? </a:t>
            </a:r>
            <a:endParaRPr dirty="0"/>
          </a:p>
          <a:p>
            <a:pPr marL="0" marR="0" lvl="0" indent="-203200" algn="l" rtl="0">
              <a:lnSpc>
                <a:spcPct val="100000"/>
              </a:lnSpc>
              <a:spcBef>
                <a:spcPts val="640"/>
              </a:spcBef>
              <a:spcAft>
                <a:spcPts val="0"/>
              </a:spcAft>
              <a:buClr>
                <a:schemeClr val="dk1"/>
              </a:buClr>
              <a:buSzPts val="3200"/>
              <a:buFont typeface="Arial"/>
              <a:buAutoNum type="alphaLcParenBoth"/>
            </a:pPr>
            <a:r>
              <a:rPr lang="en-US" sz="3200" b="0" i="0" u="none" dirty="0">
                <a:solidFill>
                  <a:schemeClr val="dk1"/>
                </a:solidFill>
                <a:latin typeface="Calibri"/>
                <a:ea typeface="Calibri"/>
                <a:cs typeface="Calibri"/>
                <a:sym typeface="Calibri"/>
              </a:rPr>
              <a:t>Tuesday 10.24 a.m.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(b) Wednesday 9.16 p.m.</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(c) Tuesday 10.24 p.m.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(d) Wednesday 9.16 a.m.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err="1">
                <a:solidFill>
                  <a:schemeClr val="dk1"/>
                </a:solidFill>
                <a:latin typeface="Calibri"/>
                <a:ea typeface="Calibri"/>
                <a:cs typeface="Calibri"/>
                <a:sym typeface="Calibri"/>
              </a:rPr>
              <a:t>Ans</a:t>
            </a:r>
            <a:r>
              <a:rPr lang="en-US" sz="3200" b="0" i="0" u="none" dirty="0">
                <a:solidFill>
                  <a:schemeClr val="dk1"/>
                </a:solidFill>
                <a:latin typeface="Calibri"/>
                <a:ea typeface="Calibri"/>
                <a:cs typeface="Calibri"/>
                <a:sym typeface="Calibri"/>
              </a:rPr>
              <a:t>: A</a:t>
            </a:r>
            <a:endParaRPr sz="3200" b="0" i="0" u="none" dirty="0">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42"/>
          <p:cNvSpPr txBox="1">
            <a:spLocks noGrp="1"/>
          </p:cNvSpPr>
          <p:nvPr>
            <p:ph type="body" idx="1"/>
          </p:nvPr>
        </p:nvSpPr>
        <p:spPr>
          <a:xfrm>
            <a:off x="457200" y="609600"/>
            <a:ext cx="8229600" cy="55165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None/>
            </a:pPr>
            <a:r>
              <a:rPr lang="en-US" dirty="0"/>
              <a:t>5</a:t>
            </a:r>
            <a:r>
              <a:rPr lang="en-US" sz="3200" b="0" i="0" u="none" dirty="0" smtClean="0">
                <a:solidFill>
                  <a:schemeClr val="dk1"/>
                </a:solidFill>
                <a:latin typeface="Calibri"/>
                <a:ea typeface="Calibri"/>
                <a:cs typeface="Calibri"/>
                <a:sym typeface="Calibri"/>
              </a:rPr>
              <a:t>. </a:t>
            </a:r>
            <a:r>
              <a:rPr lang="en-US" sz="3200" b="0" i="0" u="none" dirty="0">
                <a:solidFill>
                  <a:schemeClr val="dk1"/>
                </a:solidFill>
                <a:latin typeface="Calibri"/>
                <a:ea typeface="Calibri"/>
                <a:cs typeface="Calibri"/>
                <a:sym typeface="Calibri"/>
              </a:rPr>
              <a:t>A friend of mine invented a new clock. It times an entire day in 10 hours, each hour in 100 minutes and each minute in 100 seconds. What normal time is it when it reads 5:41? 	</a:t>
            </a:r>
            <a:endParaRPr dirty="0"/>
          </a:p>
          <a:p>
            <a:pPr marL="0" marR="0" lvl="0" indent="-203200" algn="l" rtl="0">
              <a:lnSpc>
                <a:spcPct val="100000"/>
              </a:lnSpc>
              <a:spcBef>
                <a:spcPts val="640"/>
              </a:spcBef>
              <a:spcAft>
                <a:spcPts val="0"/>
              </a:spcAft>
              <a:buClr>
                <a:schemeClr val="dk1"/>
              </a:buClr>
              <a:buSzPts val="3200"/>
              <a:buFont typeface="Arial"/>
              <a:buAutoNum type="alphaLcParenBoth"/>
            </a:pPr>
            <a:r>
              <a:rPr lang="en-US" sz="3200" b="0" i="0" u="none" dirty="0">
                <a:solidFill>
                  <a:schemeClr val="dk1"/>
                </a:solidFill>
                <a:latin typeface="Calibri"/>
                <a:ea typeface="Calibri"/>
                <a:cs typeface="Calibri"/>
                <a:sym typeface="Calibri"/>
              </a:rPr>
              <a:t>12:59:02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(b) 12:59:01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(c) 11:59:02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(d) None of these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err="1">
                <a:solidFill>
                  <a:schemeClr val="dk1"/>
                </a:solidFill>
                <a:latin typeface="Calibri"/>
                <a:ea typeface="Calibri"/>
                <a:cs typeface="Calibri"/>
                <a:sym typeface="Calibri"/>
              </a:rPr>
              <a:t>Ans</a:t>
            </a:r>
            <a:r>
              <a:rPr lang="en-US" sz="3200" b="0" i="0" u="none" dirty="0">
                <a:solidFill>
                  <a:schemeClr val="dk1"/>
                </a:solidFill>
                <a:latin typeface="Calibri"/>
                <a:ea typeface="Calibri"/>
                <a:cs typeface="Calibri"/>
                <a:sym typeface="Calibri"/>
              </a:rPr>
              <a:t>: A</a:t>
            </a:r>
            <a:endParaRPr sz="3200" b="0" i="0" u="none" dirty="0">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43"/>
          <p:cNvSpPr txBox="1">
            <a:spLocks noGrp="1"/>
          </p:cNvSpPr>
          <p:nvPr>
            <p:ph type="body" idx="1"/>
          </p:nvPr>
        </p:nvSpPr>
        <p:spPr>
          <a:xfrm>
            <a:off x="457200" y="609600"/>
            <a:ext cx="8229600" cy="55165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None/>
            </a:pPr>
            <a:r>
              <a:rPr lang="en-US" dirty="0"/>
              <a:t>6</a:t>
            </a:r>
            <a:r>
              <a:rPr lang="en-US" sz="3200" b="0" i="0" u="none" dirty="0" smtClean="0">
                <a:solidFill>
                  <a:schemeClr val="dk1"/>
                </a:solidFill>
                <a:latin typeface="Calibri"/>
                <a:ea typeface="Calibri"/>
                <a:cs typeface="Calibri"/>
                <a:sym typeface="Calibri"/>
              </a:rPr>
              <a:t>. </a:t>
            </a:r>
            <a:r>
              <a:rPr lang="en-US" sz="3200" b="0" i="0" u="none" dirty="0">
                <a:solidFill>
                  <a:schemeClr val="dk1"/>
                </a:solidFill>
                <a:latin typeface="Calibri"/>
                <a:ea typeface="Calibri"/>
                <a:cs typeface="Calibri"/>
                <a:sym typeface="Calibri"/>
              </a:rPr>
              <a:t>The minute hand of a clock overtakes the hour hand at intervals of 65 minutes of the correct time. How much a day does the clock gain or lose in minutes? 	</a:t>
            </a:r>
            <a:endParaRPr dirty="0"/>
          </a:p>
          <a:p>
            <a:pPr marL="0" marR="0" lvl="0" indent="-203200" algn="l" rtl="0">
              <a:lnSpc>
                <a:spcPct val="100000"/>
              </a:lnSpc>
              <a:spcBef>
                <a:spcPts val="640"/>
              </a:spcBef>
              <a:spcAft>
                <a:spcPts val="0"/>
              </a:spcAft>
              <a:buClr>
                <a:schemeClr val="dk1"/>
              </a:buClr>
              <a:buSzPts val="3200"/>
              <a:buFont typeface="Arial"/>
              <a:buAutoNum type="alphaLcParenBoth"/>
            </a:pPr>
            <a:r>
              <a:rPr lang="en-US" sz="3200" b="0" i="0" u="none" dirty="0">
                <a:solidFill>
                  <a:schemeClr val="dk1"/>
                </a:solidFill>
                <a:latin typeface="Calibri"/>
                <a:ea typeface="Calibri"/>
                <a:cs typeface="Calibri"/>
                <a:sym typeface="Calibri"/>
              </a:rPr>
              <a:t>1440/143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(b) 1444/143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(c) 1400/143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(d) 4440/143 	</a:t>
            </a:r>
            <a:endParaRPr dirty="0"/>
          </a:p>
          <a:p>
            <a:pPr marL="0" marR="0" lvl="0" indent="0" algn="l" rtl="0">
              <a:lnSpc>
                <a:spcPct val="100000"/>
              </a:lnSpc>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err="1">
                <a:solidFill>
                  <a:schemeClr val="dk1"/>
                </a:solidFill>
                <a:latin typeface="Calibri"/>
                <a:ea typeface="Calibri"/>
                <a:cs typeface="Calibri"/>
                <a:sym typeface="Calibri"/>
              </a:rPr>
              <a:t>Ans</a:t>
            </a:r>
            <a:r>
              <a:rPr lang="en-US" sz="3200" b="0" i="0" u="none" dirty="0">
                <a:solidFill>
                  <a:schemeClr val="dk1"/>
                </a:solidFill>
                <a:latin typeface="Calibri"/>
                <a:ea typeface="Calibri"/>
                <a:cs typeface="Calibri"/>
                <a:sym typeface="Calibri"/>
              </a:rPr>
              <a:t>: A</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44"/>
          <p:cNvSpPr txBox="1">
            <a:spLocks noGrp="1"/>
          </p:cNvSpPr>
          <p:nvPr>
            <p:ph type="body" idx="1"/>
          </p:nvPr>
        </p:nvSpPr>
        <p:spPr>
          <a:xfrm>
            <a:off x="457200" y="533400"/>
            <a:ext cx="8229600" cy="55927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None/>
            </a:pPr>
            <a:r>
              <a:rPr lang="en-US" dirty="0"/>
              <a:t>7</a:t>
            </a:r>
            <a:r>
              <a:rPr lang="en-US" sz="3200" b="0" i="0" u="none" dirty="0" smtClean="0">
                <a:solidFill>
                  <a:schemeClr val="dk1"/>
                </a:solidFill>
                <a:latin typeface="Calibri"/>
                <a:ea typeface="Calibri"/>
                <a:cs typeface="Calibri"/>
                <a:sym typeface="Calibri"/>
              </a:rPr>
              <a:t>. </a:t>
            </a:r>
            <a:r>
              <a:rPr lang="en-US" sz="3200" b="0" i="0" u="none" dirty="0">
                <a:solidFill>
                  <a:schemeClr val="dk1"/>
                </a:solidFill>
                <a:latin typeface="Calibri"/>
                <a:ea typeface="Calibri"/>
                <a:cs typeface="Calibri"/>
                <a:sym typeface="Calibri"/>
              </a:rPr>
              <a:t>Between 11 o'clock and 12 o'clock, how often will the difference between the positions of the minute and hour hands of a clock have an integral number of minutes? 	</a:t>
            </a:r>
            <a:endParaRPr dirty="0"/>
          </a:p>
          <a:p>
            <a:pPr marL="0" marR="0" lvl="0" indent="-203200" algn="l" rtl="0">
              <a:lnSpc>
                <a:spcPct val="100000"/>
              </a:lnSpc>
              <a:spcBef>
                <a:spcPts val="640"/>
              </a:spcBef>
              <a:spcAft>
                <a:spcPts val="0"/>
              </a:spcAft>
              <a:buClr>
                <a:schemeClr val="dk1"/>
              </a:buClr>
              <a:buSzPts val="3200"/>
              <a:buFont typeface="Arial"/>
              <a:buAutoNum type="alphaLcParenBoth"/>
            </a:pPr>
            <a:r>
              <a:rPr lang="en-US" sz="3200" b="0" i="0" u="none" dirty="0">
                <a:solidFill>
                  <a:schemeClr val="dk1"/>
                </a:solidFill>
                <a:latin typeface="Calibri"/>
                <a:ea typeface="Calibri"/>
                <a:cs typeface="Calibri"/>
                <a:sym typeface="Calibri"/>
              </a:rPr>
              <a:t>4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(b) 6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(c) 3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(d) 5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err="1">
                <a:solidFill>
                  <a:schemeClr val="dk1"/>
                </a:solidFill>
                <a:latin typeface="Calibri"/>
                <a:ea typeface="Calibri"/>
                <a:cs typeface="Calibri"/>
                <a:sym typeface="Calibri"/>
              </a:rPr>
              <a:t>Ans</a:t>
            </a:r>
            <a:r>
              <a:rPr lang="en-US" sz="3200" b="0" i="0" u="none" dirty="0">
                <a:solidFill>
                  <a:schemeClr val="dk1"/>
                </a:solidFill>
                <a:latin typeface="Calibri"/>
                <a:ea typeface="Calibri"/>
                <a:cs typeface="Calibri"/>
                <a:sym typeface="Calibri"/>
              </a:rPr>
              <a:t>: D</a:t>
            </a:r>
            <a:endParaRPr sz="3200" b="0" i="0" u="none" dirty="0">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5"/>
          <p:cNvSpPr txBox="1">
            <a:spLocks noGrp="1"/>
          </p:cNvSpPr>
          <p:nvPr>
            <p:ph type="body" idx="1"/>
          </p:nvPr>
        </p:nvSpPr>
        <p:spPr>
          <a:xfrm>
            <a:off x="457200" y="604837"/>
            <a:ext cx="8229600" cy="64055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None/>
            </a:pPr>
            <a:r>
              <a:rPr lang="en-US" dirty="0"/>
              <a:t>8</a:t>
            </a:r>
            <a:r>
              <a:rPr lang="en-US" sz="3200" b="0" i="0" u="none" dirty="0" smtClean="0">
                <a:solidFill>
                  <a:schemeClr val="dk1"/>
                </a:solidFill>
                <a:latin typeface="Calibri"/>
                <a:ea typeface="Calibri"/>
                <a:cs typeface="Calibri"/>
                <a:sym typeface="Calibri"/>
              </a:rPr>
              <a:t>. </a:t>
            </a:r>
            <a:r>
              <a:rPr lang="en-US" sz="3200" b="0" i="0" u="none" dirty="0">
                <a:solidFill>
                  <a:schemeClr val="dk1"/>
                </a:solidFill>
                <a:latin typeface="Calibri"/>
                <a:ea typeface="Calibri"/>
                <a:cs typeface="Calibri"/>
                <a:sym typeface="Calibri"/>
              </a:rPr>
              <a:t>A clock loses 1% time during the first week and then gains 2% time during the next one week. If the clock was set right at 12 noon on a Sunday, what will be the time shown by the clock exactly after 14 days from the time it was set right? 	</a:t>
            </a:r>
            <a:endParaRPr dirty="0"/>
          </a:p>
          <a:p>
            <a:pPr marL="0" marR="0" lvl="0" indent="-203200" algn="l" rtl="0">
              <a:lnSpc>
                <a:spcPct val="100000"/>
              </a:lnSpc>
              <a:spcBef>
                <a:spcPts val="640"/>
              </a:spcBef>
              <a:spcAft>
                <a:spcPts val="0"/>
              </a:spcAft>
              <a:buClr>
                <a:schemeClr val="dk1"/>
              </a:buClr>
              <a:buSzPts val="3200"/>
              <a:buFont typeface="Arial"/>
              <a:buAutoNum type="alphaLcParenBoth"/>
            </a:pPr>
            <a:r>
              <a:rPr lang="en-US" sz="3200" b="0" i="0" u="none" dirty="0">
                <a:solidFill>
                  <a:schemeClr val="dk1"/>
                </a:solidFill>
                <a:latin typeface="Calibri"/>
                <a:ea typeface="Calibri"/>
                <a:cs typeface="Calibri"/>
                <a:sym typeface="Calibri"/>
              </a:rPr>
              <a:t>1 : 40 : 48 p.m.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(b) 1 : 40 : 28 p.m.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(c) 1 : 40 : 46 p.m.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(d) 1 : 40 : 26 p.m.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err="1">
                <a:solidFill>
                  <a:schemeClr val="dk1"/>
                </a:solidFill>
                <a:latin typeface="Calibri"/>
                <a:ea typeface="Calibri"/>
                <a:cs typeface="Calibri"/>
                <a:sym typeface="Calibri"/>
              </a:rPr>
              <a:t>Ans</a:t>
            </a:r>
            <a:r>
              <a:rPr lang="en-US" sz="3200" b="0" i="0" u="none" dirty="0">
                <a:solidFill>
                  <a:schemeClr val="dk1"/>
                </a:solidFill>
                <a:latin typeface="Calibri"/>
                <a:ea typeface="Calibri"/>
                <a:cs typeface="Calibri"/>
                <a:sym typeface="Calibri"/>
              </a:rPr>
              <a:t>: A</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6"/>
          <p:cNvSpPr txBox="1">
            <a:spLocks noGrp="1"/>
          </p:cNvSpPr>
          <p:nvPr>
            <p:ph type="body" idx="1"/>
          </p:nvPr>
        </p:nvSpPr>
        <p:spPr>
          <a:xfrm>
            <a:off x="457200" y="533400"/>
            <a:ext cx="8229600" cy="55927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None/>
            </a:pPr>
            <a:r>
              <a:rPr lang="en-US" dirty="0"/>
              <a:t>9</a:t>
            </a:r>
            <a:r>
              <a:rPr lang="en-US" sz="3200" b="0" i="0" u="none" dirty="0" smtClean="0">
                <a:solidFill>
                  <a:schemeClr val="dk1"/>
                </a:solidFill>
                <a:latin typeface="Calibri"/>
                <a:ea typeface="Calibri"/>
                <a:cs typeface="Calibri"/>
                <a:sym typeface="Calibri"/>
              </a:rPr>
              <a:t>. </a:t>
            </a:r>
            <a:r>
              <a:rPr lang="en-US" sz="3200" b="0" i="0" u="none" dirty="0">
                <a:solidFill>
                  <a:schemeClr val="dk1"/>
                </a:solidFill>
                <a:latin typeface="Calibri"/>
                <a:ea typeface="Calibri"/>
                <a:cs typeface="Calibri"/>
                <a:sym typeface="Calibri"/>
              </a:rPr>
              <a:t>A clock is set right at 8 a.m. The clock gains 10 minutes in 24 hours. What will be the true time when the clock indicates 1 p.m. on the following day? 	</a:t>
            </a:r>
            <a:endParaRPr dirty="0"/>
          </a:p>
          <a:p>
            <a:pPr marL="0" marR="0" lvl="0" indent="-203200" algn="l" rtl="0">
              <a:lnSpc>
                <a:spcPct val="100000"/>
              </a:lnSpc>
              <a:spcBef>
                <a:spcPts val="640"/>
              </a:spcBef>
              <a:spcAft>
                <a:spcPts val="0"/>
              </a:spcAft>
              <a:buClr>
                <a:schemeClr val="dk1"/>
              </a:buClr>
              <a:buSzPts val="3200"/>
              <a:buFont typeface="Arial"/>
              <a:buAutoNum type="alphaLcParenBoth"/>
            </a:pPr>
            <a:r>
              <a:rPr lang="en-US" sz="3200" b="0" i="0" u="none" dirty="0">
                <a:solidFill>
                  <a:schemeClr val="dk1"/>
                </a:solidFill>
                <a:latin typeface="Calibri"/>
                <a:ea typeface="Calibri"/>
                <a:cs typeface="Calibri"/>
                <a:sym typeface="Calibri"/>
              </a:rPr>
              <a:t>48 min past 12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(b) 48 min past 11</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(c) 45 min past 12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(d) 45 min past 11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err="1">
                <a:solidFill>
                  <a:schemeClr val="dk1"/>
                </a:solidFill>
                <a:latin typeface="Calibri"/>
                <a:ea typeface="Calibri"/>
                <a:cs typeface="Calibri"/>
                <a:sym typeface="Calibri"/>
              </a:rPr>
              <a:t>Ans</a:t>
            </a:r>
            <a:r>
              <a:rPr lang="en-US" sz="3200" b="0" i="0" u="none" dirty="0">
                <a:solidFill>
                  <a:schemeClr val="dk1"/>
                </a:solidFill>
                <a:latin typeface="Calibri"/>
                <a:ea typeface="Calibri"/>
                <a:cs typeface="Calibri"/>
                <a:sym typeface="Calibri"/>
              </a:rPr>
              <a:t>: A</a:t>
            </a:r>
            <a:endParaRPr sz="3200" b="0" i="0" u="none" dirty="0">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47"/>
          <p:cNvSpPr txBox="1">
            <a:spLocks noGrp="1"/>
          </p:cNvSpPr>
          <p:nvPr>
            <p:ph type="body" idx="1"/>
          </p:nvPr>
        </p:nvSpPr>
        <p:spPr>
          <a:xfrm>
            <a:off x="457200" y="609600"/>
            <a:ext cx="8229600" cy="55165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None/>
            </a:pPr>
            <a:r>
              <a:rPr lang="en-US" dirty="0" smtClean="0"/>
              <a:t>10</a:t>
            </a:r>
            <a:r>
              <a:rPr lang="en-US" sz="3200" b="0" i="0" u="none" dirty="0" smtClean="0">
                <a:solidFill>
                  <a:schemeClr val="dk1"/>
                </a:solidFill>
                <a:latin typeface="Calibri"/>
                <a:ea typeface="Calibri"/>
                <a:cs typeface="Calibri"/>
                <a:sym typeface="Calibri"/>
              </a:rPr>
              <a:t>. </a:t>
            </a:r>
            <a:r>
              <a:rPr lang="en-US" sz="3200" b="0" i="0" u="none" dirty="0">
                <a:solidFill>
                  <a:schemeClr val="dk1"/>
                </a:solidFill>
                <a:latin typeface="Calibri"/>
                <a:ea typeface="Calibri"/>
                <a:cs typeface="Calibri"/>
                <a:sym typeface="Calibri"/>
              </a:rPr>
              <a:t>At what time between 4 and 5 o'clock, will the hands of a watch point in opposite directions?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(a) 54 min past 4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(b) 53 7/11 min past 4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(c) 54 7/11 min past 4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(d) 54 6/11 min past 4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err="1">
                <a:solidFill>
                  <a:schemeClr val="dk1"/>
                </a:solidFill>
                <a:latin typeface="Calibri"/>
                <a:ea typeface="Calibri"/>
                <a:cs typeface="Calibri"/>
                <a:sym typeface="Calibri"/>
              </a:rPr>
              <a:t>Ans</a:t>
            </a:r>
            <a:r>
              <a:rPr lang="en-US" sz="3200" b="0" i="0" u="none" dirty="0">
                <a:solidFill>
                  <a:schemeClr val="dk1"/>
                </a:solidFill>
                <a:latin typeface="Calibri"/>
                <a:ea typeface="Calibri"/>
                <a:cs typeface="Calibri"/>
                <a:sym typeface="Calibri"/>
              </a:rPr>
              <a:t>: C</a:t>
            </a:r>
            <a:endParaRPr dirty="0"/>
          </a:p>
          <a:p>
            <a:pPr marL="342900" marR="0" lvl="0" indent="-139700" algn="l" rtl="0">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8"/>
          <p:cNvSpPr txBox="1">
            <a:spLocks noGrp="1"/>
          </p:cNvSpPr>
          <p:nvPr>
            <p:ph type="body" idx="1"/>
          </p:nvPr>
        </p:nvSpPr>
        <p:spPr>
          <a:xfrm>
            <a:off x="457200" y="609600"/>
            <a:ext cx="8229600" cy="55165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None/>
            </a:pPr>
            <a:r>
              <a:rPr lang="en-US" dirty="0" smtClean="0"/>
              <a:t>11</a:t>
            </a:r>
            <a:r>
              <a:rPr lang="en-US" sz="3200" b="0" i="0" u="none" dirty="0" smtClean="0">
                <a:solidFill>
                  <a:schemeClr val="dk1"/>
                </a:solidFill>
                <a:latin typeface="Calibri"/>
                <a:ea typeface="Calibri"/>
                <a:cs typeface="Calibri"/>
                <a:sym typeface="Calibri"/>
              </a:rPr>
              <a:t>. </a:t>
            </a:r>
            <a:r>
              <a:rPr lang="en-US" sz="3200" b="0" i="0" u="none" dirty="0">
                <a:solidFill>
                  <a:schemeClr val="dk1"/>
                </a:solidFill>
                <a:latin typeface="Calibri"/>
                <a:ea typeface="Calibri"/>
                <a:cs typeface="Calibri"/>
                <a:sym typeface="Calibri"/>
              </a:rPr>
              <a:t>A watch which gains 5 seconds in 3 minutes was set right at 7 a.m. In the afternoon of the same day, when the watch indicated quarter past 4 o'clock, the true time is 	</a:t>
            </a:r>
            <a:endParaRPr dirty="0"/>
          </a:p>
          <a:p>
            <a:pPr marL="0" marR="0" lvl="0" indent="-203200" algn="l" rtl="0">
              <a:lnSpc>
                <a:spcPct val="100000"/>
              </a:lnSpc>
              <a:spcBef>
                <a:spcPts val="640"/>
              </a:spcBef>
              <a:spcAft>
                <a:spcPts val="0"/>
              </a:spcAft>
              <a:buClr>
                <a:schemeClr val="dk1"/>
              </a:buClr>
              <a:buSzPts val="3200"/>
              <a:buFont typeface="Arial"/>
              <a:buAutoNum type="alphaLcParenBoth"/>
            </a:pPr>
            <a:r>
              <a:rPr lang="en-US" sz="3200" b="0" i="0" u="none" dirty="0">
                <a:solidFill>
                  <a:schemeClr val="dk1"/>
                </a:solidFill>
                <a:latin typeface="Calibri"/>
                <a:ea typeface="Calibri"/>
                <a:cs typeface="Calibri"/>
                <a:sym typeface="Calibri"/>
              </a:rPr>
              <a:t>3:59:35 p.m.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(b) 6 p.m.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(c) 5 p.m.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(d) 7 p.m. 	</a:t>
            </a:r>
            <a:endParaRPr dirty="0"/>
          </a:p>
          <a:p>
            <a:pPr marL="0" marR="0" lvl="0" indent="0" algn="l" rtl="0">
              <a:lnSpc>
                <a:spcPct val="100000"/>
              </a:lnSpc>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err="1">
                <a:solidFill>
                  <a:schemeClr val="dk1"/>
                </a:solidFill>
                <a:latin typeface="Calibri"/>
                <a:ea typeface="Calibri"/>
                <a:cs typeface="Calibri"/>
                <a:sym typeface="Calibri"/>
              </a:rPr>
              <a:t>Ans</a:t>
            </a:r>
            <a:r>
              <a:rPr lang="en-US" sz="3200" b="0" i="0" u="none" dirty="0">
                <a:solidFill>
                  <a:schemeClr val="dk1"/>
                </a:solidFill>
                <a:latin typeface="Calibri"/>
                <a:ea typeface="Calibri"/>
                <a:cs typeface="Calibri"/>
                <a:sym typeface="Calibri"/>
              </a:rPr>
              <a:t>: A</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9"/>
          <p:cNvSpPr txBox="1">
            <a:spLocks noGrp="1"/>
          </p:cNvSpPr>
          <p:nvPr>
            <p:ph type="body" idx="1"/>
          </p:nvPr>
        </p:nvSpPr>
        <p:spPr>
          <a:xfrm>
            <a:off x="457200" y="609600"/>
            <a:ext cx="8229600" cy="55165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None/>
            </a:pPr>
            <a:r>
              <a:rPr lang="en-US" dirty="0" smtClean="0"/>
              <a:t>12</a:t>
            </a:r>
            <a:r>
              <a:rPr lang="en-US" sz="3200" b="0" i="0" u="none" dirty="0" smtClean="0">
                <a:solidFill>
                  <a:schemeClr val="dk1"/>
                </a:solidFill>
                <a:latin typeface="Calibri"/>
                <a:ea typeface="Calibri"/>
                <a:cs typeface="Calibri"/>
                <a:sym typeface="Calibri"/>
              </a:rPr>
              <a:t>. </a:t>
            </a:r>
            <a:r>
              <a:rPr lang="en-US" sz="3200" b="0" i="0" u="none" dirty="0">
                <a:solidFill>
                  <a:schemeClr val="dk1"/>
                </a:solidFill>
                <a:latin typeface="Calibri"/>
                <a:ea typeface="Calibri"/>
                <a:cs typeface="Calibri"/>
                <a:sym typeface="Calibri"/>
              </a:rPr>
              <a:t>At what time between 5.30 and 6 o' clock, will the hands of a clock be at right angles? 	</a:t>
            </a:r>
            <a:endParaRPr dirty="0"/>
          </a:p>
          <a:p>
            <a:pPr marL="0" marR="0" lvl="0" indent="-203200" algn="l" rtl="0">
              <a:lnSpc>
                <a:spcPct val="100000"/>
              </a:lnSpc>
              <a:spcBef>
                <a:spcPts val="640"/>
              </a:spcBef>
              <a:spcAft>
                <a:spcPts val="0"/>
              </a:spcAft>
              <a:buClr>
                <a:schemeClr val="dk1"/>
              </a:buClr>
              <a:buSzPts val="3200"/>
              <a:buFont typeface="Arial"/>
              <a:buAutoNum type="alphaLcParenBoth"/>
            </a:pPr>
            <a:r>
              <a:rPr lang="en-US" sz="3200" b="0" i="0" u="none" dirty="0">
                <a:solidFill>
                  <a:schemeClr val="dk1"/>
                </a:solidFill>
                <a:latin typeface="Calibri"/>
                <a:ea typeface="Calibri"/>
                <a:cs typeface="Calibri"/>
                <a:sym typeface="Calibri"/>
              </a:rPr>
              <a:t>43  5/11 min past 5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(b) 43  7/11 min past 5</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(c) 5 p.m.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(d) 7 p.m.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err="1">
                <a:solidFill>
                  <a:schemeClr val="dk1"/>
                </a:solidFill>
                <a:latin typeface="Calibri"/>
                <a:ea typeface="Calibri"/>
                <a:cs typeface="Calibri"/>
                <a:sym typeface="Calibri"/>
              </a:rPr>
              <a:t>Ans</a:t>
            </a:r>
            <a:r>
              <a:rPr lang="en-US" sz="3200" b="0" i="0" u="none" dirty="0">
                <a:solidFill>
                  <a:schemeClr val="dk1"/>
                </a:solidFill>
                <a:latin typeface="Calibri"/>
                <a:ea typeface="Calibri"/>
                <a:cs typeface="Calibri"/>
                <a:sym typeface="Calibri"/>
              </a:rPr>
              <a:t>: B</a:t>
            </a:r>
            <a:endParaRPr dirty="0"/>
          </a:p>
          <a:p>
            <a:pPr marL="342900" marR="0" lvl="0" indent="-139700" algn="l" rtl="0">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50"/>
          <p:cNvSpPr txBox="1">
            <a:spLocks noGrp="1"/>
          </p:cNvSpPr>
          <p:nvPr>
            <p:ph type="body" idx="1"/>
          </p:nvPr>
        </p:nvSpPr>
        <p:spPr>
          <a:xfrm>
            <a:off x="457200" y="609600"/>
            <a:ext cx="8229600" cy="55165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None/>
            </a:pPr>
            <a:r>
              <a:rPr lang="en-US" dirty="0" smtClean="0"/>
              <a:t>13</a:t>
            </a:r>
            <a:r>
              <a:rPr lang="en-US" sz="3200" b="0" i="0" u="none" dirty="0" smtClean="0">
                <a:solidFill>
                  <a:schemeClr val="dk1"/>
                </a:solidFill>
                <a:latin typeface="Calibri"/>
                <a:ea typeface="Calibri"/>
                <a:cs typeface="Calibri"/>
                <a:sym typeface="Calibri"/>
              </a:rPr>
              <a:t>. </a:t>
            </a:r>
            <a:r>
              <a:rPr lang="en-US" sz="3200" b="0" i="0" u="none" dirty="0">
                <a:solidFill>
                  <a:schemeClr val="dk1"/>
                </a:solidFill>
                <a:latin typeface="Calibri"/>
                <a:ea typeface="Calibri"/>
                <a:cs typeface="Calibri"/>
                <a:sym typeface="Calibri"/>
              </a:rPr>
              <a:t>Find the reflex angle between the hour hand and the minute hand of a clock when the time is 11:25. 	</a:t>
            </a:r>
            <a:endParaRPr dirty="0"/>
          </a:p>
          <a:p>
            <a:pPr marL="0" marR="0" lvl="0" indent="-203200" algn="l" rtl="0">
              <a:lnSpc>
                <a:spcPct val="100000"/>
              </a:lnSpc>
              <a:spcBef>
                <a:spcPts val="640"/>
              </a:spcBef>
              <a:spcAft>
                <a:spcPts val="0"/>
              </a:spcAft>
              <a:buClr>
                <a:schemeClr val="dk1"/>
              </a:buClr>
              <a:buSzPts val="3200"/>
              <a:buFont typeface="Arial"/>
              <a:buAutoNum type="alphaLcParenBoth"/>
            </a:pPr>
            <a:r>
              <a:rPr lang="en-US" sz="3200" b="0" i="0" u="none" dirty="0">
                <a:solidFill>
                  <a:schemeClr val="dk1"/>
                </a:solidFill>
                <a:latin typeface="Calibri"/>
                <a:ea typeface="Calibri"/>
                <a:cs typeface="Calibri"/>
                <a:sym typeface="Calibri"/>
              </a:rPr>
              <a:t>192.5 ⁰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(b) 230 ⁰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(c) 45 ⁰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(d) 72 ⁰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err="1">
                <a:solidFill>
                  <a:schemeClr val="dk1"/>
                </a:solidFill>
                <a:latin typeface="Calibri"/>
                <a:ea typeface="Calibri"/>
                <a:cs typeface="Calibri"/>
                <a:sym typeface="Calibri"/>
              </a:rPr>
              <a:t>Ans</a:t>
            </a:r>
            <a:r>
              <a:rPr lang="en-US" sz="3200" b="0" i="0" u="none" dirty="0">
                <a:solidFill>
                  <a:schemeClr val="dk1"/>
                </a:solidFill>
                <a:latin typeface="Calibri"/>
                <a:ea typeface="Calibri"/>
                <a:cs typeface="Calibri"/>
                <a:sym typeface="Calibri"/>
              </a:rPr>
              <a:t>: A</a:t>
            </a:r>
            <a:endParaRPr dirty="0"/>
          </a:p>
          <a:p>
            <a:pPr marL="342900" marR="0" lvl="0" indent="-139700" algn="l" rtl="0">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51"/>
          <p:cNvSpPr txBox="1">
            <a:spLocks noGrp="1"/>
          </p:cNvSpPr>
          <p:nvPr>
            <p:ph type="body" idx="1"/>
          </p:nvPr>
        </p:nvSpPr>
        <p:spPr>
          <a:xfrm>
            <a:off x="457200" y="609600"/>
            <a:ext cx="8229600" cy="55165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None/>
            </a:pPr>
            <a:r>
              <a:rPr lang="en-US" dirty="0" smtClean="0"/>
              <a:t>14</a:t>
            </a:r>
            <a:r>
              <a:rPr lang="en-US" sz="3200" b="0" i="0" u="none" dirty="0" smtClean="0">
                <a:solidFill>
                  <a:schemeClr val="dk1"/>
                </a:solidFill>
                <a:latin typeface="Calibri"/>
                <a:ea typeface="Calibri"/>
                <a:cs typeface="Calibri"/>
                <a:sym typeface="Calibri"/>
              </a:rPr>
              <a:t>. </a:t>
            </a:r>
            <a:r>
              <a:rPr lang="en-US" sz="3200" b="0" i="0" u="none" dirty="0">
                <a:solidFill>
                  <a:schemeClr val="dk1"/>
                </a:solidFill>
                <a:latin typeface="Calibri"/>
                <a:ea typeface="Calibri"/>
                <a:cs typeface="Calibri"/>
                <a:sym typeface="Calibri"/>
              </a:rPr>
              <a:t>Three clocks were set to true time. First runs with exact time. Second slows one minute per day. Third gains one minute per day. After how many days will they show the same time? 	</a:t>
            </a:r>
            <a:endParaRPr dirty="0"/>
          </a:p>
          <a:p>
            <a:pPr marL="0" marR="0" lvl="0" indent="-203200" algn="l" rtl="0">
              <a:lnSpc>
                <a:spcPct val="100000"/>
              </a:lnSpc>
              <a:spcBef>
                <a:spcPts val="640"/>
              </a:spcBef>
              <a:spcAft>
                <a:spcPts val="0"/>
              </a:spcAft>
              <a:buClr>
                <a:schemeClr val="dk1"/>
              </a:buClr>
              <a:buSzPts val="3200"/>
              <a:buFont typeface="Arial"/>
              <a:buAutoNum type="alphaLcParenBoth"/>
            </a:pPr>
            <a:r>
              <a:rPr lang="en-US" sz="3200" b="0" i="0" u="none" dirty="0">
                <a:solidFill>
                  <a:schemeClr val="dk1"/>
                </a:solidFill>
                <a:latin typeface="Calibri"/>
                <a:ea typeface="Calibri"/>
                <a:cs typeface="Calibri"/>
                <a:sym typeface="Calibri"/>
              </a:rPr>
              <a:t>150 days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(b) 550 days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(c) 1440 days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(d) 2220 days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err="1">
                <a:solidFill>
                  <a:schemeClr val="dk1"/>
                </a:solidFill>
                <a:latin typeface="Calibri"/>
                <a:ea typeface="Calibri"/>
                <a:cs typeface="Calibri"/>
                <a:sym typeface="Calibri"/>
              </a:rPr>
              <a:t>Ans</a:t>
            </a:r>
            <a:r>
              <a:rPr lang="en-US" sz="3200" b="0" i="0" u="none" dirty="0">
                <a:solidFill>
                  <a:schemeClr val="dk1"/>
                </a:solidFill>
                <a:latin typeface="Calibri"/>
                <a:ea typeface="Calibri"/>
                <a:cs typeface="Calibri"/>
                <a:sym typeface="Calibri"/>
              </a:rPr>
              <a:t>: C</a:t>
            </a:r>
            <a:endParaRPr sz="3200" b="0" i="0" u="none" dirty="0">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52"/>
          <p:cNvSpPr txBox="1">
            <a:spLocks noGrp="1"/>
          </p:cNvSpPr>
          <p:nvPr>
            <p:ph type="body" idx="1"/>
          </p:nvPr>
        </p:nvSpPr>
        <p:spPr>
          <a:xfrm>
            <a:off x="457200" y="533400"/>
            <a:ext cx="8229600" cy="55927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None/>
            </a:pPr>
            <a:r>
              <a:rPr lang="en-US" dirty="0" smtClean="0"/>
              <a:t>15</a:t>
            </a:r>
            <a:r>
              <a:rPr lang="en-US" sz="3200" b="0" i="0" u="none" dirty="0" smtClean="0">
                <a:solidFill>
                  <a:schemeClr val="dk1"/>
                </a:solidFill>
                <a:latin typeface="Calibri"/>
                <a:ea typeface="Calibri"/>
                <a:cs typeface="Calibri"/>
                <a:sym typeface="Calibri"/>
              </a:rPr>
              <a:t>. </a:t>
            </a:r>
            <a:r>
              <a:rPr lang="en-US" sz="3200" b="0" i="0" u="none" dirty="0">
                <a:solidFill>
                  <a:schemeClr val="dk1"/>
                </a:solidFill>
                <a:latin typeface="Calibri"/>
                <a:ea typeface="Calibri"/>
                <a:cs typeface="Calibri"/>
                <a:sym typeface="Calibri"/>
              </a:rPr>
              <a:t>A clock showing 6 o'clock takes 30 </a:t>
            </a:r>
            <a:r>
              <a:rPr lang="en-US" sz="3200" b="0" i="0" u="none" dirty="0" err="1">
                <a:solidFill>
                  <a:schemeClr val="dk1"/>
                </a:solidFill>
                <a:latin typeface="Calibri"/>
                <a:ea typeface="Calibri"/>
                <a:cs typeface="Calibri"/>
                <a:sym typeface="Calibri"/>
              </a:rPr>
              <a:t>secs</a:t>
            </a:r>
            <a:r>
              <a:rPr lang="en-US" sz="3200" b="0" i="0" u="none" dirty="0">
                <a:solidFill>
                  <a:schemeClr val="dk1"/>
                </a:solidFill>
                <a:latin typeface="Calibri"/>
                <a:ea typeface="Calibri"/>
                <a:cs typeface="Calibri"/>
                <a:sym typeface="Calibri"/>
              </a:rPr>
              <a:t> to strike 6 times. How long will it take to strike 12 at midnight? 	</a:t>
            </a:r>
            <a:endParaRPr dirty="0"/>
          </a:p>
          <a:p>
            <a:pPr marL="0" marR="0" lvl="0" indent="-203200" algn="l" rtl="0">
              <a:lnSpc>
                <a:spcPct val="100000"/>
              </a:lnSpc>
              <a:spcBef>
                <a:spcPts val="640"/>
              </a:spcBef>
              <a:spcAft>
                <a:spcPts val="0"/>
              </a:spcAft>
              <a:buClr>
                <a:schemeClr val="dk1"/>
              </a:buClr>
              <a:buSzPts val="3200"/>
              <a:buFont typeface="Arial"/>
              <a:buAutoNum type="alphaLcParenBoth"/>
            </a:pPr>
            <a:r>
              <a:rPr lang="en-US" sz="3200" b="0" i="0" u="none" dirty="0">
                <a:solidFill>
                  <a:schemeClr val="dk1"/>
                </a:solidFill>
                <a:latin typeface="Calibri"/>
                <a:ea typeface="Calibri"/>
                <a:cs typeface="Calibri"/>
                <a:sym typeface="Calibri"/>
              </a:rPr>
              <a:t>45 </a:t>
            </a:r>
            <a:r>
              <a:rPr lang="en-US" sz="3200" b="0" i="0" u="none" dirty="0" err="1">
                <a:solidFill>
                  <a:schemeClr val="dk1"/>
                </a:solidFill>
                <a:latin typeface="Calibri"/>
                <a:ea typeface="Calibri"/>
                <a:cs typeface="Calibri"/>
                <a:sym typeface="Calibri"/>
              </a:rPr>
              <a:t>secs</a:t>
            </a:r>
            <a:r>
              <a:rPr lang="en-US" sz="3200" b="0" i="0" u="none" dirty="0">
                <a:solidFill>
                  <a:schemeClr val="dk1"/>
                </a:solidFill>
                <a:latin typeface="Calibri"/>
                <a:ea typeface="Calibri"/>
                <a:cs typeface="Calibri"/>
                <a:sym typeface="Calibri"/>
              </a:rPr>
              <a:t>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(b) 40 </a:t>
            </a:r>
            <a:r>
              <a:rPr lang="en-US" sz="3200" b="0" i="0" u="none" dirty="0" err="1">
                <a:solidFill>
                  <a:schemeClr val="dk1"/>
                </a:solidFill>
                <a:latin typeface="Calibri"/>
                <a:ea typeface="Calibri"/>
                <a:cs typeface="Calibri"/>
                <a:sym typeface="Calibri"/>
              </a:rPr>
              <a:t>secs</a:t>
            </a:r>
            <a:r>
              <a:rPr lang="en-US" sz="3200" b="0" i="0" u="none" dirty="0">
                <a:solidFill>
                  <a:schemeClr val="dk1"/>
                </a:solidFill>
                <a:latin typeface="Calibri"/>
                <a:ea typeface="Calibri"/>
                <a:cs typeface="Calibri"/>
                <a:sym typeface="Calibri"/>
              </a:rPr>
              <a:t>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(c) 66 </a:t>
            </a:r>
            <a:r>
              <a:rPr lang="en-US" sz="3200" b="0" i="0" u="none" dirty="0" err="1">
                <a:solidFill>
                  <a:schemeClr val="dk1"/>
                </a:solidFill>
                <a:latin typeface="Calibri"/>
                <a:ea typeface="Calibri"/>
                <a:cs typeface="Calibri"/>
                <a:sym typeface="Calibri"/>
              </a:rPr>
              <a:t>secs</a:t>
            </a:r>
            <a:r>
              <a:rPr lang="en-US" sz="3200" b="0" i="0" u="none" dirty="0">
                <a:solidFill>
                  <a:schemeClr val="dk1"/>
                </a:solidFill>
                <a:latin typeface="Calibri"/>
                <a:ea typeface="Calibri"/>
                <a:cs typeface="Calibri"/>
                <a:sym typeface="Calibri"/>
              </a:rPr>
              <a:t>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(d) 60 </a:t>
            </a:r>
            <a:r>
              <a:rPr lang="en-US" sz="3200" b="0" i="0" u="none" dirty="0" err="1">
                <a:solidFill>
                  <a:schemeClr val="dk1"/>
                </a:solidFill>
                <a:latin typeface="Calibri"/>
                <a:ea typeface="Calibri"/>
                <a:cs typeface="Calibri"/>
                <a:sym typeface="Calibri"/>
              </a:rPr>
              <a:t>secs</a:t>
            </a:r>
            <a:r>
              <a:rPr lang="en-US" sz="3200" b="0" i="0" u="none" dirty="0">
                <a:solidFill>
                  <a:schemeClr val="dk1"/>
                </a:solidFill>
                <a:latin typeface="Calibri"/>
                <a:ea typeface="Calibri"/>
                <a:cs typeface="Calibri"/>
                <a:sym typeface="Calibri"/>
              </a:rPr>
              <a:t>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err="1">
                <a:solidFill>
                  <a:schemeClr val="dk1"/>
                </a:solidFill>
                <a:latin typeface="Calibri"/>
                <a:ea typeface="Calibri"/>
                <a:cs typeface="Calibri"/>
                <a:sym typeface="Calibri"/>
              </a:rPr>
              <a:t>Ans</a:t>
            </a:r>
            <a:r>
              <a:rPr lang="en-US" sz="3200" b="0" i="0" u="none" dirty="0">
                <a:solidFill>
                  <a:schemeClr val="dk1"/>
                </a:solidFill>
                <a:latin typeface="Calibri"/>
                <a:ea typeface="Calibri"/>
                <a:cs typeface="Calibri"/>
                <a:sym typeface="Calibri"/>
              </a:rPr>
              <a:t>: C</a:t>
            </a:r>
            <a:endParaRPr sz="3200" b="0" i="0" u="none" dirty="0">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53"/>
          <p:cNvSpPr txBox="1">
            <a:spLocks noGrp="1"/>
          </p:cNvSpPr>
          <p:nvPr>
            <p:ph type="body" idx="1"/>
          </p:nvPr>
        </p:nvSpPr>
        <p:spPr>
          <a:xfrm>
            <a:off x="457200" y="685800"/>
            <a:ext cx="8229600" cy="54403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None/>
            </a:pPr>
            <a:r>
              <a:rPr lang="en-US" dirty="0" smtClean="0"/>
              <a:t>16</a:t>
            </a:r>
            <a:r>
              <a:rPr lang="en-US" sz="3200" b="0" i="0" u="none" dirty="0" smtClean="0">
                <a:solidFill>
                  <a:schemeClr val="dk1"/>
                </a:solidFill>
                <a:latin typeface="Calibri"/>
                <a:ea typeface="Calibri"/>
                <a:cs typeface="Calibri"/>
                <a:sym typeface="Calibri"/>
              </a:rPr>
              <a:t>. </a:t>
            </a:r>
            <a:r>
              <a:rPr lang="en-US" sz="3200" b="0" i="0" u="none" dirty="0">
                <a:solidFill>
                  <a:schemeClr val="dk1"/>
                </a:solidFill>
                <a:latin typeface="Calibri"/>
                <a:ea typeface="Calibri"/>
                <a:cs typeface="Calibri"/>
                <a:sym typeface="Calibri"/>
              </a:rPr>
              <a:t>Light glows for every 12 seconds. How many times did it glow between 2:58:59 a.m. and 4:10:23 a.m.? 	</a:t>
            </a:r>
            <a:endParaRPr dirty="0"/>
          </a:p>
          <a:p>
            <a:pPr marL="0" marR="0" lvl="0" indent="-203200" algn="l" rtl="0">
              <a:lnSpc>
                <a:spcPct val="100000"/>
              </a:lnSpc>
              <a:spcBef>
                <a:spcPts val="640"/>
              </a:spcBef>
              <a:spcAft>
                <a:spcPts val="0"/>
              </a:spcAft>
              <a:buClr>
                <a:schemeClr val="dk1"/>
              </a:buClr>
              <a:buSzPts val="3200"/>
              <a:buFont typeface="Arial"/>
              <a:buAutoNum type="alphaLcParenBoth"/>
            </a:pPr>
            <a:r>
              <a:rPr lang="en-US" sz="3200" b="0" i="0" u="none" dirty="0">
                <a:solidFill>
                  <a:schemeClr val="dk1"/>
                </a:solidFill>
                <a:latin typeface="Calibri"/>
                <a:ea typeface="Calibri"/>
                <a:cs typeface="Calibri"/>
                <a:sym typeface="Calibri"/>
              </a:rPr>
              <a:t>384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(b) 357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(c) 383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(d) 380 	</a:t>
            </a:r>
            <a:endParaRPr dirty="0"/>
          </a:p>
          <a:p>
            <a:pPr marL="0" marR="0" lvl="0" indent="0" algn="l" rtl="0">
              <a:lnSpc>
                <a:spcPct val="100000"/>
              </a:lnSpc>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err="1">
                <a:solidFill>
                  <a:schemeClr val="dk1"/>
                </a:solidFill>
                <a:latin typeface="Calibri"/>
                <a:ea typeface="Calibri"/>
                <a:cs typeface="Calibri"/>
                <a:sym typeface="Calibri"/>
              </a:rPr>
              <a:t>Ans</a:t>
            </a:r>
            <a:r>
              <a:rPr lang="en-US" sz="3200" b="0" i="0" u="none" dirty="0">
                <a:solidFill>
                  <a:schemeClr val="dk1"/>
                </a:solidFill>
                <a:latin typeface="Calibri"/>
                <a:ea typeface="Calibri"/>
                <a:cs typeface="Calibri"/>
                <a:sym typeface="Calibri"/>
              </a:rPr>
              <a:t>: A</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54"/>
          <p:cNvSpPr txBox="1">
            <a:spLocks noGrp="1"/>
          </p:cNvSpPr>
          <p:nvPr>
            <p:ph type="body" idx="1"/>
          </p:nvPr>
        </p:nvSpPr>
        <p:spPr>
          <a:xfrm>
            <a:off x="457200" y="609600"/>
            <a:ext cx="8229600" cy="55165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None/>
            </a:pPr>
            <a:r>
              <a:rPr lang="en-US" dirty="0" smtClean="0"/>
              <a:t>17</a:t>
            </a:r>
            <a:r>
              <a:rPr lang="en-US" sz="3200" b="0" i="0" u="none" dirty="0" smtClean="0">
                <a:solidFill>
                  <a:schemeClr val="dk1"/>
                </a:solidFill>
                <a:latin typeface="Calibri"/>
                <a:ea typeface="Calibri"/>
                <a:cs typeface="Calibri"/>
                <a:sym typeface="Calibri"/>
              </a:rPr>
              <a:t>. </a:t>
            </a:r>
            <a:r>
              <a:rPr lang="en-US" sz="3200" b="0" i="0" u="none" dirty="0">
                <a:solidFill>
                  <a:schemeClr val="dk1"/>
                </a:solidFill>
                <a:latin typeface="Calibri"/>
                <a:ea typeface="Calibri"/>
                <a:cs typeface="Calibri"/>
                <a:sym typeface="Calibri"/>
              </a:rPr>
              <a:t>Three cuckoo clocks are such that the cuckoos chime after every 10 minutes, 20 minutes and 35 minutes respectively. If the 3 clocks chime simultaneously at 2pm, at what time will they chime together again? 	</a:t>
            </a:r>
            <a:endParaRPr dirty="0"/>
          </a:p>
          <a:p>
            <a:pPr marL="0" marR="0" lvl="0" indent="-203200" algn="l" rtl="0">
              <a:lnSpc>
                <a:spcPct val="100000"/>
              </a:lnSpc>
              <a:spcBef>
                <a:spcPts val="640"/>
              </a:spcBef>
              <a:spcAft>
                <a:spcPts val="0"/>
              </a:spcAft>
              <a:buClr>
                <a:schemeClr val="dk1"/>
              </a:buClr>
              <a:buSzPts val="3200"/>
              <a:buFont typeface="Arial"/>
              <a:buAutoNum type="alphaLcParenBoth"/>
            </a:pPr>
            <a:r>
              <a:rPr lang="en-US" sz="3200" b="0" i="0" u="none" dirty="0">
                <a:solidFill>
                  <a:schemeClr val="dk1"/>
                </a:solidFill>
                <a:latin typeface="Calibri"/>
                <a:ea typeface="Calibri"/>
                <a:cs typeface="Calibri"/>
                <a:sym typeface="Calibri"/>
              </a:rPr>
              <a:t>3 p.m.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(b) 1:40 p.m.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(c) 3.20 p.m.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(d) 4:20 p.m.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err="1">
                <a:solidFill>
                  <a:schemeClr val="dk1"/>
                </a:solidFill>
                <a:latin typeface="Calibri"/>
                <a:ea typeface="Calibri"/>
                <a:cs typeface="Calibri"/>
                <a:sym typeface="Calibri"/>
              </a:rPr>
              <a:t>Ans</a:t>
            </a:r>
            <a:r>
              <a:rPr lang="en-US" sz="3200" b="0" i="0" u="none" dirty="0">
                <a:solidFill>
                  <a:schemeClr val="dk1"/>
                </a:solidFill>
                <a:latin typeface="Calibri"/>
                <a:ea typeface="Calibri"/>
                <a:cs typeface="Calibri"/>
                <a:sym typeface="Calibri"/>
              </a:rPr>
              <a:t>: D	</a:t>
            </a:r>
            <a:endParaRPr dirty="0"/>
          </a:p>
          <a:p>
            <a:pPr marL="342900" marR="0" lvl="0" indent="-139700" algn="l" rtl="0">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55"/>
          <p:cNvSpPr txBox="1">
            <a:spLocks noGrp="1"/>
          </p:cNvSpPr>
          <p:nvPr>
            <p:ph type="body" idx="1"/>
          </p:nvPr>
        </p:nvSpPr>
        <p:spPr>
          <a:xfrm>
            <a:off x="457200" y="609600"/>
            <a:ext cx="8229600" cy="6172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US" sz="2800" dirty="0" smtClean="0"/>
              <a:t>18</a:t>
            </a:r>
            <a:r>
              <a:rPr lang="en-US" sz="2800" b="0" i="0" u="none" dirty="0" smtClean="0">
                <a:solidFill>
                  <a:schemeClr val="dk1"/>
                </a:solidFill>
                <a:latin typeface="Calibri"/>
                <a:ea typeface="Calibri"/>
                <a:cs typeface="Calibri"/>
                <a:sym typeface="Calibri"/>
              </a:rPr>
              <a:t>. </a:t>
            </a:r>
            <a:r>
              <a:rPr lang="en-US" sz="2800" b="0" i="0" u="none" dirty="0">
                <a:solidFill>
                  <a:schemeClr val="dk1"/>
                </a:solidFill>
                <a:latin typeface="Calibri"/>
                <a:ea typeface="Calibri"/>
                <a:cs typeface="Calibri"/>
                <a:sym typeface="Calibri"/>
              </a:rPr>
              <a:t>A certain clock marks every hour by striking a number of times equal to the hour and the time required for a stroke is exactly equal to the time interval between the two consecutive strokes. At 6.00, the time lapse between the beginning of the first stroke and the end of the last stroke is 22 seconds. At 12.00, how many seconds do elapse between the beginning of the first stroke and the end of the last stroke? 	</a:t>
            </a:r>
            <a:endParaRPr dirty="0"/>
          </a:p>
          <a:p>
            <a:pPr marL="0" marR="0" lvl="0" indent="-177800" algn="l" rtl="0">
              <a:lnSpc>
                <a:spcPct val="100000"/>
              </a:lnSpc>
              <a:spcBef>
                <a:spcPts val="560"/>
              </a:spcBef>
              <a:spcAft>
                <a:spcPts val="0"/>
              </a:spcAft>
              <a:buClr>
                <a:schemeClr val="dk1"/>
              </a:buClr>
              <a:buSzPts val="2800"/>
              <a:buFont typeface="Arial"/>
              <a:buAutoNum type="alphaLcParenBoth"/>
            </a:pPr>
            <a:r>
              <a:rPr lang="en-US" sz="2800" b="0" i="0" u="none" dirty="0">
                <a:solidFill>
                  <a:schemeClr val="dk1"/>
                </a:solidFill>
                <a:latin typeface="Calibri"/>
                <a:ea typeface="Calibri"/>
                <a:cs typeface="Calibri"/>
                <a:sym typeface="Calibri"/>
              </a:rPr>
              <a:t>44 	</a:t>
            </a:r>
            <a:endParaRPr sz="2800" b="0" i="0" u="none" dirty="0">
              <a:solidFill>
                <a:schemeClr val="dk1"/>
              </a:solidFill>
              <a:latin typeface="Calibri"/>
              <a:ea typeface="Calibri"/>
              <a:cs typeface="Calibri"/>
              <a:sym typeface="Calibri"/>
            </a:endParaRPr>
          </a:p>
          <a:p>
            <a:pPr marL="0" marR="0" lvl="0" indent="0" algn="l" rtl="0">
              <a:lnSpc>
                <a:spcPct val="100000"/>
              </a:lnSpc>
              <a:spcBef>
                <a:spcPts val="560"/>
              </a:spcBef>
              <a:spcAft>
                <a:spcPts val="0"/>
              </a:spcAft>
              <a:buClr>
                <a:schemeClr val="dk1"/>
              </a:buClr>
              <a:buSzPts val="2800"/>
              <a:buFont typeface="Arial"/>
              <a:buNone/>
            </a:pPr>
            <a:r>
              <a:rPr lang="en-US" sz="2800" b="0" i="0" u="none" dirty="0">
                <a:solidFill>
                  <a:schemeClr val="dk1"/>
                </a:solidFill>
                <a:latin typeface="Calibri"/>
                <a:ea typeface="Calibri"/>
                <a:cs typeface="Calibri"/>
                <a:sym typeface="Calibri"/>
              </a:rPr>
              <a:t>(b) 43 	</a:t>
            </a:r>
            <a:endParaRPr dirty="0"/>
          </a:p>
          <a:p>
            <a:pPr marL="0" marR="0" lvl="0" indent="0" algn="l" rtl="0">
              <a:lnSpc>
                <a:spcPct val="100000"/>
              </a:lnSpc>
              <a:spcBef>
                <a:spcPts val="560"/>
              </a:spcBef>
              <a:spcAft>
                <a:spcPts val="0"/>
              </a:spcAft>
              <a:buClr>
                <a:schemeClr val="dk1"/>
              </a:buClr>
              <a:buSzPts val="2800"/>
              <a:buFont typeface="Arial"/>
              <a:buNone/>
            </a:pPr>
            <a:r>
              <a:rPr lang="en-US" sz="2800" b="0" i="0" u="none" dirty="0">
                <a:solidFill>
                  <a:schemeClr val="dk1"/>
                </a:solidFill>
                <a:latin typeface="Calibri"/>
                <a:ea typeface="Calibri"/>
                <a:cs typeface="Calibri"/>
                <a:sym typeface="Calibri"/>
              </a:rPr>
              <a:t>(c) 46 	</a:t>
            </a:r>
            <a:endParaRPr dirty="0"/>
          </a:p>
          <a:p>
            <a:pPr marL="0" marR="0" lvl="0" indent="0" algn="l" rtl="0">
              <a:lnSpc>
                <a:spcPct val="100000"/>
              </a:lnSpc>
              <a:spcBef>
                <a:spcPts val="560"/>
              </a:spcBef>
              <a:spcAft>
                <a:spcPts val="0"/>
              </a:spcAft>
              <a:buClr>
                <a:schemeClr val="dk1"/>
              </a:buClr>
              <a:buSzPts val="2800"/>
              <a:buFont typeface="Arial"/>
              <a:buNone/>
            </a:pPr>
            <a:r>
              <a:rPr lang="en-US" sz="2800" b="0" i="0" u="none" dirty="0">
                <a:solidFill>
                  <a:schemeClr val="dk1"/>
                </a:solidFill>
                <a:latin typeface="Calibri"/>
                <a:ea typeface="Calibri"/>
                <a:cs typeface="Calibri"/>
                <a:sym typeface="Calibri"/>
              </a:rPr>
              <a:t>(d) 54 </a:t>
            </a:r>
            <a:endParaRPr dirty="0"/>
          </a:p>
          <a:p>
            <a:pPr marL="0" marR="0" lvl="0" indent="0" algn="l" rtl="0">
              <a:lnSpc>
                <a:spcPct val="100000"/>
              </a:lnSpc>
              <a:spcBef>
                <a:spcPts val="560"/>
              </a:spcBef>
              <a:spcAft>
                <a:spcPts val="0"/>
              </a:spcAft>
              <a:buClr>
                <a:schemeClr val="dk1"/>
              </a:buClr>
              <a:buSzPts val="2800"/>
              <a:buFont typeface="Arial"/>
              <a:buNone/>
            </a:pPr>
            <a:r>
              <a:rPr lang="en-US" sz="2800" b="0" i="0" u="none" dirty="0" err="1">
                <a:solidFill>
                  <a:schemeClr val="dk1"/>
                </a:solidFill>
                <a:latin typeface="Calibri"/>
                <a:ea typeface="Calibri"/>
                <a:cs typeface="Calibri"/>
                <a:sym typeface="Calibri"/>
              </a:rPr>
              <a:t>Ans</a:t>
            </a:r>
            <a:r>
              <a:rPr lang="en-US" sz="2800" b="0" i="0" u="none" dirty="0">
                <a:solidFill>
                  <a:schemeClr val="dk1"/>
                </a:solidFill>
                <a:latin typeface="Calibri"/>
                <a:ea typeface="Calibri"/>
                <a:cs typeface="Calibri"/>
                <a:sym typeface="Calibri"/>
              </a:rPr>
              <a:t>: C</a:t>
            </a:r>
            <a:endParaRPr sz="3200" b="0" i="0" u="none" dirty="0">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56"/>
          <p:cNvSpPr txBox="1">
            <a:spLocks noGrp="1"/>
          </p:cNvSpPr>
          <p:nvPr>
            <p:ph type="body" idx="1"/>
          </p:nvPr>
        </p:nvSpPr>
        <p:spPr>
          <a:xfrm>
            <a:off x="457200" y="609600"/>
            <a:ext cx="8229600" cy="55165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None/>
            </a:pPr>
            <a:r>
              <a:rPr lang="en-US" dirty="0" smtClean="0"/>
              <a:t>19</a:t>
            </a:r>
            <a:r>
              <a:rPr lang="en-US" sz="3200" b="0" i="0" u="none" dirty="0" smtClean="0">
                <a:solidFill>
                  <a:schemeClr val="dk1"/>
                </a:solidFill>
                <a:latin typeface="Calibri"/>
                <a:ea typeface="Calibri"/>
                <a:cs typeface="Calibri"/>
                <a:sym typeface="Calibri"/>
              </a:rPr>
              <a:t>. </a:t>
            </a:r>
            <a:r>
              <a:rPr lang="en-US" sz="3200" b="0" i="0" u="none" dirty="0">
                <a:solidFill>
                  <a:schemeClr val="dk1"/>
                </a:solidFill>
                <a:latin typeface="Calibri"/>
                <a:ea typeface="Calibri"/>
                <a:cs typeface="Calibri"/>
                <a:sym typeface="Calibri"/>
              </a:rPr>
              <a:t>The quarter of the time from midnight to present time added to the half of the time from the present to midnight gives the present time. What is the present time? 	</a:t>
            </a:r>
            <a:endParaRPr dirty="0"/>
          </a:p>
          <a:p>
            <a:pPr marL="0" marR="0" lvl="0" indent="-203200" algn="l" rtl="0">
              <a:lnSpc>
                <a:spcPct val="100000"/>
              </a:lnSpc>
              <a:spcBef>
                <a:spcPts val="640"/>
              </a:spcBef>
              <a:spcAft>
                <a:spcPts val="0"/>
              </a:spcAft>
              <a:buClr>
                <a:schemeClr val="dk1"/>
              </a:buClr>
              <a:buSzPts val="3200"/>
              <a:buFont typeface="Arial"/>
              <a:buAutoNum type="alphaLcParenBoth"/>
            </a:pPr>
            <a:r>
              <a:rPr lang="en-US" sz="3200" b="0" i="0" u="none" dirty="0">
                <a:solidFill>
                  <a:schemeClr val="dk1"/>
                </a:solidFill>
                <a:latin typeface="Calibri"/>
                <a:ea typeface="Calibri"/>
                <a:cs typeface="Calibri"/>
                <a:sym typeface="Calibri"/>
              </a:rPr>
              <a:t>36 min past 9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(b) 12 min past 9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(c) 36 min past 8 	</a:t>
            </a:r>
            <a:endParaRPr dirty="0"/>
          </a:p>
          <a:p>
            <a:pPr marL="0" marR="0" lvl="0" indent="0" algn="l" rtl="0">
              <a:lnSpc>
                <a:spcPct val="100000"/>
              </a:lnSpc>
              <a:spcBef>
                <a:spcPts val="640"/>
              </a:spcBef>
              <a:spcAft>
                <a:spcPts val="0"/>
              </a:spcAft>
              <a:buClr>
                <a:schemeClr val="dk1"/>
              </a:buClr>
              <a:buSzPts val="3200"/>
              <a:buFont typeface="Arial"/>
              <a:buNone/>
            </a:pPr>
            <a:r>
              <a:rPr lang="en-US" sz="3200" b="0" i="0" u="none" dirty="0">
                <a:solidFill>
                  <a:schemeClr val="dk1"/>
                </a:solidFill>
                <a:latin typeface="Calibri"/>
                <a:ea typeface="Calibri"/>
                <a:cs typeface="Calibri"/>
                <a:sym typeface="Calibri"/>
              </a:rPr>
              <a:t>(d) 12 min past 8 	</a:t>
            </a: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a:p>
            <a:pPr marL="0" marR="0" lvl="0" indent="0" algn="l" rtl="0">
              <a:lnSpc>
                <a:spcPct val="100000"/>
              </a:lnSpc>
              <a:spcBef>
                <a:spcPts val="640"/>
              </a:spcBef>
              <a:spcAft>
                <a:spcPts val="0"/>
              </a:spcAft>
              <a:buClr>
                <a:schemeClr val="dk1"/>
              </a:buClr>
              <a:buSzPts val="3200"/>
              <a:buFont typeface="Arial"/>
              <a:buNone/>
            </a:pPr>
            <a:r>
              <a:rPr lang="en-US" sz="3200" b="0" i="0" u="none" dirty="0" err="1">
                <a:solidFill>
                  <a:schemeClr val="dk1"/>
                </a:solidFill>
                <a:latin typeface="Calibri"/>
                <a:ea typeface="Calibri"/>
                <a:cs typeface="Calibri"/>
                <a:sym typeface="Calibri"/>
              </a:rPr>
              <a:t>Ans</a:t>
            </a:r>
            <a:r>
              <a:rPr lang="en-US" sz="3200" b="0" i="0" u="none" dirty="0">
                <a:solidFill>
                  <a:schemeClr val="dk1"/>
                </a:solidFill>
                <a:latin typeface="Calibri"/>
                <a:ea typeface="Calibri"/>
                <a:cs typeface="Calibri"/>
                <a:sym typeface="Calibri"/>
              </a:rPr>
              <a:t>: A</a:t>
            </a:r>
            <a:endParaRPr sz="3200" b="0" i="0" u="none" dirty="0">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872</Words>
  <Application>Microsoft Office PowerPoint</Application>
  <PresentationFormat>On-screen Show (4:3)</PresentationFormat>
  <Paragraphs>161</Paragraphs>
  <Slides>25</Slides>
  <Notes>25</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1_Office Theme</vt:lpstr>
      <vt:lpstr>PowerPoint Presentation</vt:lpstr>
      <vt:lpstr>Table of content</vt:lpstr>
      <vt:lpstr>PowerPoint Presentation</vt:lpstr>
      <vt:lpstr>PowerPoint Presentation</vt:lpstr>
      <vt:lpstr>PowerPoint Presentation</vt:lpstr>
      <vt:lpstr>PRACTICE QUESTIONS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rahul</cp:lastModifiedBy>
  <cp:revision>2</cp:revision>
  <dcterms:modified xsi:type="dcterms:W3CDTF">2025-01-12T05:51:38Z</dcterms:modified>
</cp:coreProperties>
</file>