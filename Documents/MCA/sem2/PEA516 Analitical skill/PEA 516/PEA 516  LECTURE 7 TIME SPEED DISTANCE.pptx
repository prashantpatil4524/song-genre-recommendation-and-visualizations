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312" r:id="rId2"/>
    <p:sldId id="259" r:id="rId3"/>
    <p:sldId id="361" r:id="rId4"/>
    <p:sldId id="364" r:id="rId5"/>
    <p:sldId id="362" r:id="rId6"/>
    <p:sldId id="365" r:id="rId7"/>
    <p:sldId id="344" r:id="rId8"/>
    <p:sldId id="363" r:id="rId9"/>
    <p:sldId id="347" r:id="rId10"/>
    <p:sldId id="346" r:id="rId11"/>
    <p:sldId id="345" r:id="rId12"/>
    <p:sldId id="366" r:id="rId13"/>
    <p:sldId id="367" r:id="rId14"/>
    <p:sldId id="267" r:id="rId15"/>
    <p:sldId id="368" r:id="rId16"/>
    <p:sldId id="369" r:id="rId17"/>
    <p:sldId id="371" r:id="rId18"/>
    <p:sldId id="370" r:id="rId19"/>
    <p:sldId id="266" r:id="rId20"/>
    <p:sldId id="348" r:id="rId21"/>
    <p:sldId id="313" r:id="rId22"/>
    <p:sldId id="383" r:id="rId23"/>
    <p:sldId id="28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p:scale>
          <a:sx n="81" d="100"/>
          <a:sy n="81" d="100"/>
        </p:scale>
        <p:origin x="-246" y="-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6-13T06:53:18"/>
    </inkml:context>
    <inkml:brush xml:id="br0">
      <inkml:brushProperty name="width" value="0.06667" units="cm"/>
      <inkml:brushProperty name="height" value="0.06667" units="cm"/>
      <inkml:brushProperty name="fitToCurve" value="1"/>
    </inkml:brush>
  </inkml:definitions>
  <inkml:trace contextRef="#ctx0" brushRef="#br0">401 44 0,'-45'0'16,"-44"0"-16,44 0 15,1 0-15,-1 0 16,-88 0 0,133 89-16,89-89 46,223 0-30,802 0 0,-579 0-1,44-89-15,45 89 16,-134 0-16,0 0 16,-89 0-16,-134 0 0,-133 0 15,-89-44-15,-1 44 16,-88 0 62</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6-13T06:54:08"/>
    </inkml:context>
    <inkml:brush xml:id="br0">
      <inkml:brushProperty name="width" value="0.06667" units="cm"/>
      <inkml:brushProperty name="height" value="0.06667" units="cm"/>
      <inkml:brushProperty name="fitToCurve" value="1"/>
    </inkml:brush>
  </inkml:definitions>
  <inkml:trace contextRef="#ctx0" brushRef="#br0">339-6865 0,'0'-28'16,"-32"28"0,32-55-16,-97 55 0,65 0 15,0 0-15,0 0 16,-64 0-1,31 0-15,1 55 0,32-55 16,-32 56-16,64-2 16,0 1-1,96 28 1,-32-83 0,1 54-16,31-54 15,0 55-15,-32-55 0,1 55 16,-1-28-1,-64 29 17,-32-56-32,-32 27 15,-1-27-15,-31 0 16,-1 0-16,33 0 16,0 0-16,0 0 15,0 0 1,64-27 15,0-29 813</inkml:trace>
  <inkml:trace contextRef="#ctx0" brushRef="#br0">-400-6893 0,'-65'0'63,"1"0"-48,32 0 1,32-27 47,32 27-63,1-28 15,31 28 16,-64 28-15,0-1-16,0 56 16,0-29-16,0 1 0,0 1 15,0-2 1,0 1-16,0 0 0,-33 28 16,33-56-16,-31 0 15,-34 28 1,33-28-16,0-27 15,32-55 17,0 1-17,0-1-15,0 27 16,0-27 0,32 55-16,32-54 15,-31 54 16,-2 0-15,-31 82-16,65-27 31,-33 0-31,32-1 16</inkml:trace>
  <inkml:trace contextRef="#ctx0" brushRef="#br0">628-6509 0,'0'-27'46,"0"54"1,0 28-47,0-27 16,0 0-16,0-1 16,0 27-16,0 1 15,0-27 1</inkml:trace>
  <inkml:trace contextRef="#ctx0" brushRef="#br0">1206-6893 0,'0'-55'31,"-32"55"-15,0 0 0,-32 0-1,-1 0 1,1 55-16,32-27 16,32 0-1,-32-28 1,32 54-16,0 1 15,32-55 1,0 0-16,32 55 0,-32-55 16,1 28-16,31-28 15,-64 82 1,64-82-16,-64 27 0,0 0 16,0 1 15,-32-28-31,0 0 15,0 55-15,-33-55 16,33 0-16,-32 0 16,32 0-1,32-83 1,0 29 0,0 81 46</inkml:trace>
  <inkml:trace contextRef="#ctx0" brushRef="#br0">1592-6618 0,'0'-55'16,"64"55"15,32 28-15,-31-1-1,-65 28 1,-33-1 0,1-54-1,0 55-15,-32-55 16,32 56-16,0-56 15,64 0 17,32 0-17,0 0 1,1-28-16,-1 28 0,32 0 16,-64 0-16,-32-28 15,32 28-15</inkml:trace>
  <inkml:trace contextRef="#ctx0" brushRef="#br0">339-5740 0,'0'-28'16,"-65"28"-1,33 0 1,-64 0 0,64 0-16,0 0 15,-1 0-15,-63 0 16,96 28 0,0-1-1,32 28 1,1-55-1,-2 0-15,34 0 16,-1 27-16,0-27 16,-32 0-16,-32 83 15,65-83-15,-65 55 16,0-28 0,-65-27-1,33 27-15,-32-27 0,32 0 16,-32 55-1,31-55-15,2 0 0,-34 0 32,65-27-17,0-28 1</inkml:trace>
  <inkml:trace contextRef="#ctx0" brushRef="#br0">563-5521 0,'0'28'47,"0"26"-32,0 1 1,0 0 0,0-27-1,-32-28 1,32 54-1</inkml:trace>
  <inkml:trace contextRef="#ctx0" brushRef="#br0">756-5548 0,'32'0'32,"33"0"-17,-1 0-15,0-28 0,33 28 16,-33 0-16,-32-55 15,32 55 1,-64-27-16</inkml:trace>
  <inkml:trace contextRef="#ctx0" brushRef="#br0">949-5686 0,'0'-27'15,"32"27"17,-32 55-17,0 27 1,0-27-16,0-27 15,0 26 1,0-26 0</inkml:trace>
  <inkml:trace contextRef="#ctx0" brushRef="#br0">1656-5878 0,'-32'0'15,"-33"0"1,-31 0 0,32 55-1,32 0 1,32 0-1,0-28 1,0 28 0,96-55-16,-64 0 15,32 28-15,-31-28 16,-1 0-16,-32 27 16,32-27-16,-32 55 31,0-27-16,-32-28 1,0 0-16,-1 0 16,-31 0-16,32 0 15,0 0-15,0 0 16</inkml:trace>
  <inkml:trace contextRef="#ctx0" brushRef="#br0">1945-5658 0,'0'-28'15,"32"28"-15,32 0 32,1 28-17,-65-1 1,0 28-16,-33-27 16,1-28-16,32 55 15,-32-55-15,32 54 16,32-54 15,0-27-31,1 27 16,31-27-16,-32 27 15,0-55 1,32 55-16,-31-28 0,-2 28 31</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6-13T06:53:13"/>
    </inkml:context>
    <inkml:brush xml:id="br0">
      <inkml:brushProperty name="width" value="0.06667" units="cm"/>
      <inkml:brushProperty name="height" value="0.06667" units="cm"/>
      <inkml:brushProperty name="fitToCurve" value="1"/>
    </inkml:brush>
  </inkml:definitions>
  <inkml:trace contextRef="#ctx0" brushRef="#br0">678-1536 0,'0'-34'31,"0"0"47,0 0-47,59-33 0,0 67 1,-59-35-32,29 35 0,30 35 31,-59-2-15,0 1-1,0 34 1,-29 34-1,-30-34 1,88-68 31,1 0-31,-1 0-16,60 0 15,-60 0 1,-29 34-1,0 33-15,0 1 32,-59 34-32,30-102 15,-1 0-15,-29 35 16,30-35-16,-30 0 16,59-35-16,-59 35 15,59-33 1,0-36 15</inkml:trace>
  <inkml:trace contextRef="#ctx0" brushRef="#br0">1533-1638 0,'0'-34'16,"0"1"0,0-36 15,-30 69-15,1 0-1,-30 34-15,0 34 16,59 0-1,-30-68 1,30 34-16,0 34 31,60-68-31,-60 34 16,59-34-16,-1 68 31,-28-34-15,-30 0-1,0 34 1,0-35 0,0 2-1,-59-35 1,0 0-16,0 0 16,29 0-1,1 0 16,29-35-31</inkml:trace>
  <inkml:trace contextRef="#ctx0" brushRef="#br0">1739-1366 0,'0'67'63,"0"-32"-48,0 33-15,0-1 16,0 1-1,0-34 17</inkml:trace>
  <inkml:trace contextRef="#ctx0" brushRef="#br0">2299-1638 0,'0'-34'31,"-30"34"16,1 0-32,0 0 1,-30 0 0,59 34-1,0 34 1,29-34-1,1-34 1,-30 34 0,29-34-16,30 68 15,-30-34 17,-29 34-17,0 0 1,0-35-1,-29-33 17,-30 0-17,30 0 1,-1 0 0,-28-68 15,58 35 0</inkml:trace>
  <inkml:trace contextRef="#ctx0" brushRef="#br0">2476-1366 0,'30'0'0,"28"0"32,-58 67-1,0 1-15,0 1-1,-29-69-15,29 33 16,-29-33-16,29 35 47,58-35 0,1 0-32,0 0 1,-59-68-16,30 68 15</inkml:trace>
  <inkml:trace contextRef="#ctx0" brushRef="#br0">3213-1705 0,'0'-35'31,"-30"35"0,1 0-15,-30 0 0,0 68-1,59 0 1,-30-68-16,30 34 15,0 0 1,0 34 0,89-68-1,-89 34-15,30-34 16,28 68 0,-28-68-1,-30 34-15,0-1 16,0 2-1,0 33 17,-30-68-17,-28 0 1,-1 0 0,29 0 15,30-68-16</inkml:trace>
  <inkml:trace contextRef="#ctx0" brushRef="#br0">3390-1468 0,'59'0'31,"0"0"-15,-30 0-1,-29 34 1,0 0-1,-29-34 1,-1 68 0,30-35 31,30-33-47,-1 0 15,-29 35 1,29-35-16,-29 68 15,59-68 1,-88 0 15,-1 0-31,-28 0 16,28 0 0,-29 0-16,30 0 15</inkml:trace>
  <inkml:trace contextRef="#ctx0" brushRef="#br0">442-382 0,'0'-33'63,"-29"33"-48,-60 0 1,60 0 0,-30 0-16,29 33 15,1 36-15,-30-69 16,59 67-16,-29-67 0,29 68 15,0-34 1,88 34 0,-59-68-1,1 0-15,29 34 16,-30-34-16,1 0 16,-30 34-16,59-34 0,-59 68 15,0-34 1,0 0 15,-30-34-31,1 0 0,-1 0 16,-29 68-16,0-68 15,0 0-15,30 0 16,-30 0-16,0 0 16,59-35-1</inkml:trace>
  <inkml:trace contextRef="#ctx0" brushRef="#br0">472 94 0,'0'34'94,"0"34"-79,0-1 1,0-32-1,0-2 17</inkml:trace>
  <inkml:trace contextRef="#ctx0" brushRef="#br0">914-280 0,'0'-33'16,"0"-2"15,-30 35-16,-58 0 1,59 0 0,29 35-1,-30-35 1,30 67-16,0-33 16,30-34-1,-30 34 1,58-34-16,1 0 15,-59 68 1,30-68-16,29 34 16,-59 0-1,29 34 1,-29-34 0,-29 0 15,-30-34-16,0 0 1,0 0 0,0 0-1</inkml:trace>
  <inkml:trace contextRef="#ctx0" brushRef="#br0">1208-42 0,'30'-34'16,"-1"34"-1,30 0 17,-59 34-32,0 0 15,0 0-15,0 34 16,-29 34-1,-30-35 1,0-67 15,88 0 16,1 0-31,29 0-16,0 0 31,0 0-15,0 0-1</inkml:trace>
  <inkml:trace contextRef="#ctx0" brushRef="#br0">1680-144 0,'-29'0'0,"58"0"47,60 0-32,-30 0 1,-30 0-1,-29-68 32</inkml:trace>
  <inkml:trace contextRef="#ctx0" brushRef="#br0">1798-382 0,'-29'0'16,"29"34"46,0 68-46,0-68-16,0 0 16,-30 34-16,30-34 15,0 0-15,0 0 16,-59-34-16,59 68 16,0-34-1,30-34 32</inkml:trace>
  <inkml:trace contextRef="#ctx0" brushRef="#br0">2388-382 0,'0'-33'16,"0"-35"0,-30 68 15,0 0-15,-29 0-1,1 33 1,58 2-1,0-2 1,0 36 0,29-36-1,30 35 1,0-34 0,0 34-1,0-68 1,-59 34-16,30-34 0,-30 34 15,0 0 1,0 34 0,-30-68 15,-29 0-31,30 0 16,-31 0-16,1 0 15,30 0 16,29-34-31,0 0 47</inkml:trace>
  <inkml:trace contextRef="#ctx0" brushRef="#br0">2741-144 0,'30'34'125,"29"0"-110,-59 0 1,0 34-1,0 0 1,-89-68-16,89 34 16,-29-34-16,29 33 15,88-33 79,-58 0-78,-1 0-1,-29-33-15,29 33 0,30 0 32</inkml:trace>
  <inkml:trace contextRef="#ctx0" brushRef="#br0">3331-415 0,'0'-35'31,"0"-33"0,-30 68-15,0 0-1,1 0 1,-30 35 0,1-2-16,58 35 31,0-34-15,0 1-1,29-35-15,0 67 16,89 1 31,-88-68-32,-30 68 1,0-34 15,-60-34 0,2 0-31,-1 0 16,0 0 0</inkml:trace>
  <inkml:trace contextRef="#ctx0" brushRef="#br0">3508-246 0,'0'-34'0,"58"34"32,-28 0-1,-30 68 16,-30-34-32,1-34 1,29 34-16,0 34 31,29-68-15,60 34 0,-30-34-1,-59 68 1,29-68-16,-29 34 31,-59-34 16,0 0-47,0 0 31</inkml:trace>
  <inkml:trace contextRef="#ctx0" brushRef="#br0">3891-348 0,'29'0'47,"30"0"-32,-30 0-15,90 0 32,-60-34-17,-59 1 32</inkml:trace>
  <inkml:trace contextRef="#ctx0" brushRef="#br0">4097-653 0,'0'34'47,"0"34"-47,0-35 16,0 2-16,0 33 15,0-35-15,0 1 16,0 1-16,0 32 16</inkml:trace>
  <inkml:trace contextRef="#ctx0" brushRef="#br0">4127-585 0,'0'34'218,"0"-1"-202,0 2 0,0 33-16,0-35 31,0 1-31,0 1 31,0 32 0,0-33 16,0 0 94,0 0-79</inkml:trace>
  <inkml:trace contextRef="#ctx0" brushRef="#br0">4008-313 0,'-29'0'47,"58"0"141,-29-35-188,89 35 15,-59 0-15,-1 0 16,30 0-16,-30 0 16,-29-34-16,59 34 15,-29 0 1,29 0 0,-59-68 140,29 68-141</inkml:trace>
  <inkml:trace contextRef="#ctx0" brushRef="#br0">4952-518 0,'0'-67'16,"0"33"31,0 0-16,-30 34 16,-28 0-32,28 0 1,1 0 0,29 34-16,0 34 15,0-35 1,0 2 0,59 33-1,29-68 1,-88 33-1,88-33-15,-88 34 16,30-34-16,-30 68 16,29-68-1,-29 34 1,0 0 15,-59-34-31,0 0 0,30 0 16,-1 0-1,-28 0 1,-1 0 15</inkml:trace>
  <inkml:trace contextRef="#ctx0" brushRef="#br0">5217-313 0,'0'33'94,"0"1"-78,0 0-1,0 0 1,59 34 0</inkml:trace>
  <inkml:trace contextRef="#ctx0" brushRef="#br0">5571-619 0,'0'-34'31,"0"0"16,-29 34-31,-30 0-1,29 0-15,30 34 16,-30 34 0,30-34-1,0-1 1,0 35-1,30-33 1,29-35 0,-59 33-1,59-33 1,-59 69-16,0-36 47,-118-33 15,59 0-62,29 0 32,30 34 30</inkml:trace>
  <inkml:trace contextRef="#ctx0" brushRef="#br0">5748-382 0,'0'-33'31,"59"33"-15,-30 0 15,-29 33 0,0 1 1,-59-34-32,59 68 62,30-68-31,58 34-31,-29-34 16,-59 34-16,29-34 0,-29 68 31,-29-68-15,-30 0-1,0 0 1,30 0 15,29-34 1</inkml:trace>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6-13T06:54:44"/>
    </inkml:context>
    <inkml:brush xml:id="br0">
      <inkml:brushProperty name="width" value="0.06667" units="cm"/>
      <inkml:brushProperty name="height" value="0.06667" units="cm"/>
      <inkml:brushProperty name="fitToCurve" value="1"/>
    </inkml:brush>
  </inkml:definitions>
  <inkml:trace contextRef="#ctx0" brushRef="#br0">0-108 0,'0'-33'94,"67"33"-79,0 0 1,-34 0-1,1 0 1,-34 33 0,0 32-1,0-32-15,0-1 16,0 33-16,-34-32 16,34 0-16,-67 32 15,34-33 1,33-64 31,0-33-32,0 32-15,67-32 0,-67 32 16,67 1-16,-33-66 16,-34 65 15,67 33-31,-67 98 94,0-65-94,-34-1 0,34 1 15,0 32-15,0 0 16,0-32-1,34-33 1,32 0 0,1 0-16,-33 0 15,33 0 1,0 0 0,-67-65-16,-34 65 46</inkml:trace>
  <inkml:trace contextRef="#ctx0" brushRef="#br0">771-108 0,'33'0'46,"1"0"-30,-1 0-16,34 0 16,-67-65-1,67 65 1</inkml:trace>
  <inkml:trace contextRef="#ctx0" brushRef="#br0">838 22 0,'100'0'46,"-33"0"-30,-34 0 0,1 0-1</inkml:trace>
  <inkml:trace contextRef="#ctx0" brushRef="#br0">1809-466 0,'0'-33'16,"0"1"-1,-34 32 17,-33 0-17,34 0-15,-1 0 16,34 32-16,-100-32 15,100 65-15,-33-65 16,33 98-16,0-65 16,0-1-1,0 1 1,100 32 0,-33-65-1,-67 32-15,67-32 16,-67 66-16,33-66 0,-33 32 15,0 33 1,-67-32 15,34-33-31,-34 0 16,33 0-16,1 0 16,-34 0-16,34 0 15,33-33 1,0-32 15</inkml:trace>
  <inkml:trace contextRef="#ctx0" brushRef="#br0">1943-141 0,'34'0'47,"-34"66"-16,0 31-15,0-64-1,0-1-15,0 1 0,0 65 16,0-66 15,0-64 16</inkml:trace>
  <inkml:trace contextRef="#ctx0" brushRef="#br0">469-271 0,'-34'0'78,"-33"0"-47,34 0-15,33 65-1,-33-65 1,-1 0 0,34 33-16,-67-33 31,67 32-31,-34 34 31,34-34 0,0 1 1,0-1-1</inkml:trace>
  <inkml:trace contextRef="#ctx0" brushRef="#br0">201 1064 0,'0'-65'94,"34"0"-78,-1 32-1,-33 1 1,34 32-16,-34 32 94,66 34-94,-32-66 47,-1 0-32,-33-33 1,0 0-1,67 33-15,-67-32 16,0 64 47,0 34-48,0-34-15,0 33 0,-33 0 16,33 0-16,-34 33 15,34 0-15,-67-33 16,67 0 0,-33-32-16,33 32 0,-67 0 31,67-32-31,-33-33 16,33 65-1,-34-65 16,34-33-15,-67-32-16,67 33 16,0-34-1,0 34-15,0-1 0,0 1 16,67-66-16,0 33 16,-33 0-16,32-33 15,-32 65-15,-34 1 16,67 32-16,-67-65 15,67 65-15,-67-65 16,0 32 15</inkml:trace>
  <inkml:trace contextRef="#ctx0" brushRef="#br0">838 901 0,'33'0'32,"67"0"-17,-66 0 1,33-65 0,0 65-1</inkml:trace>
  <inkml:trace contextRef="#ctx0" brushRef="#br0">938 1097 0,'67'0'46,"-67"-33"-46,67 33 0,-34 0 32</inkml:trace>
  <inkml:trace contextRef="#ctx0" brushRef="#br0">1876 836 0,'34'0'0,"-34"-32"16,0-1 0,0-32-1,-34 65 17,-33 0-17,33 33-15,-33 32 16,67 0-1,-67-65 1,67 65-16,0-32 16,34-33-16,-34 32 15,67-32-15,-67 33 16,67-33-16,-33 65 16,-34-33 15,0 1 16,-68-33-47,1 0 15,0 0 1,34 0 0,33-33-1,-34 33-15,-32 0 31,32 0-15</inkml:trace>
  <inkml:trace contextRef="#ctx0" brushRef="#br0">1977 1064 0,'33'0'15,"1"0"1,33 0-1,-67 33 17,0 32-17,-34 0 1,34-32-16,-67-33 16,67 65-16,-33-65 15,66 0 32,1 0-31,33 0-16,-34-33 15,0 33-15,34 0 16,-33-65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12-Jan-25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extLst>
      <p:ext uri="{BB962C8B-B14F-4D97-AF65-F5344CB8AC3E}">
        <p14:creationId xmlns:p14="http://schemas.microsoft.com/office/powerpoint/2010/main" val="21049773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dirty="0">
                <a:latin typeface="Arial" panose="020B0604020202020204" pitchFamily="34" charset="0"/>
                <a:sym typeface="+mn-ea"/>
              </a:rPr>
              <a:t>Ans: 92.86 miles/hour </a:t>
            </a:r>
            <a:endParaRPr lang="en-IN" altLang="en-US" dirty="0">
              <a:latin typeface="Arial" panose="020B0604020202020204" pitchFamily="34" charset="0"/>
            </a:endParaRPr>
          </a:p>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t>12-Jan-25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t>12-Jan-25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t>12-Jan-25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12-Jan-25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12-Jan-25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2000" cy="86677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0.png"/><Relationship Id="rId7" Type="http://schemas.openxmlformats.org/officeDocument/2006/relationships/image" Target="../media/image5.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4.png"/><Relationship Id="rId10" Type="http://schemas.openxmlformats.org/officeDocument/2006/relationships/image" Target="../media/image7.png"/><Relationship Id="rId4" Type="http://schemas.openxmlformats.org/officeDocument/2006/relationships/customXml" Target="../ink/ink2.xml"/><Relationship Id="rId9" Type="http://schemas.openxmlformats.org/officeDocument/2006/relationships/customXml" Target="../ink/ink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7238" y="4983163"/>
            <a:ext cx="8183563" cy="1052513"/>
          </a:xfrm>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600" b="1" i="0" u="none" strike="noStrike" kern="1200" cap="none" spc="0" normalizeH="0" baseline="0" noProof="0" dirty="0">
                <a:ln>
                  <a:noFill/>
                </a:ln>
                <a:solidFill>
                  <a:srgbClr val="6594DA"/>
                </a:solidFill>
                <a:effectLst>
                  <a:outerShdw blurRad="53975" dist="22860" dir="5400000" algn="tl" rotWithShape="0">
                    <a:srgbClr val="000000">
                      <a:alpha val="55000"/>
                    </a:srgbClr>
                  </a:outerShdw>
                </a:effectLst>
                <a:uLnTx/>
                <a:uFillTx/>
                <a:latin typeface="+mj-lt"/>
                <a:ea typeface="+mj-ea"/>
                <a:cs typeface="+mj-cs"/>
              </a:rPr>
              <a:t> </a:t>
            </a:r>
          </a:p>
        </p:txBody>
      </p:sp>
      <p:sp>
        <p:nvSpPr>
          <p:cNvPr id="120834" name="Content Placeholder 4"/>
          <p:cNvSpPr>
            <a:spLocks noGrp="1"/>
          </p:cNvSpPr>
          <p:nvPr>
            <p:ph idx="1"/>
          </p:nvPr>
        </p:nvSpPr>
        <p:spPr>
          <a:xfrm>
            <a:off x="2027555" y="-749935"/>
            <a:ext cx="8183245" cy="5467985"/>
          </a:xfrm>
        </p:spPr>
        <p:txBody>
          <a:bodyPr vert="horz" wrap="square" lIns="182880" tIns="91440" rIns="91440" bIns="45720" anchor="t" anchorCtr="0"/>
          <a:lstStyle/>
          <a:p>
            <a:pPr marL="0" indent="0" algn="ctr">
              <a:buNone/>
            </a:pPr>
            <a:endParaRPr lang="en-US" altLang="en-US" sz="4000" b="1" u="sng" dirty="0">
              <a:solidFill>
                <a:schemeClr val="tx1"/>
              </a:solidFill>
              <a:latin typeface="Algerian" panose="04020705040A02060702" pitchFamily="82" charset="0"/>
            </a:endParaRPr>
          </a:p>
          <a:p>
            <a:pPr marL="0" indent="0" algn="ctr">
              <a:buNone/>
            </a:pPr>
            <a:endParaRPr lang="en-US" altLang="en-US" sz="4000" b="1" u="sng" dirty="0">
              <a:solidFill>
                <a:schemeClr val="tx1"/>
              </a:solidFill>
              <a:latin typeface="Algerian" panose="04020705040A02060702" pitchFamily="82" charset="0"/>
            </a:endParaRPr>
          </a:p>
          <a:p>
            <a:pPr marL="0" indent="0" algn="ctr">
              <a:buNone/>
            </a:pPr>
            <a:r>
              <a:rPr lang="en-US" altLang="en-US" sz="4000" b="1" u="sng" dirty="0">
                <a:solidFill>
                  <a:schemeClr val="tx1"/>
                </a:solidFill>
                <a:latin typeface="Algerian" panose="04020705040A02060702" pitchFamily="82" charset="0"/>
              </a:rPr>
              <a:t>pea 516</a:t>
            </a:r>
          </a:p>
          <a:p>
            <a:pPr marL="0" indent="0" algn="ctr">
              <a:buNone/>
            </a:pPr>
            <a:r>
              <a:rPr lang="en-US" altLang="en-US" sz="4000" b="1" u="sng" dirty="0" smtClean="0">
                <a:solidFill>
                  <a:schemeClr val="tx1"/>
                </a:solidFill>
                <a:latin typeface="Algerian" panose="04020705040A02060702" pitchFamily="82" charset="0"/>
              </a:rPr>
              <a:t>Lecture-7</a:t>
            </a:r>
            <a:endParaRPr lang="en-US" altLang="en-US" sz="4000" b="1" u="sng" dirty="0">
              <a:solidFill>
                <a:schemeClr val="tx1"/>
              </a:solidFill>
              <a:latin typeface="Algerian" panose="04020705040A02060702" pitchFamily="82" charset="0"/>
            </a:endParaRPr>
          </a:p>
          <a:p>
            <a:pPr marL="0" algn="ctr">
              <a:buClrTx/>
              <a:buSzTx/>
              <a:buNone/>
            </a:pPr>
            <a:r>
              <a:rPr lang="en-US" altLang="en-US" sz="4000" b="1" u="sng" dirty="0">
                <a:latin typeface="Algerian" panose="04020705040A02060702" pitchFamily="82" charset="0"/>
              </a:rPr>
              <a:t>Time and distance</a:t>
            </a:r>
          </a:p>
        </p:txBody>
      </p:sp>
      <p:pic>
        <p:nvPicPr>
          <p:cNvPr id="3" name="Picture 2" descr="Time-and-Distance-Questions-for-GMAT"/>
          <p:cNvPicPr>
            <a:picLocks noChangeAspect="1"/>
          </p:cNvPicPr>
          <p:nvPr/>
        </p:nvPicPr>
        <p:blipFill>
          <a:blip r:embed="rId2"/>
          <a:stretch>
            <a:fillRect/>
          </a:stretch>
        </p:blipFill>
        <p:spPr>
          <a:xfrm>
            <a:off x="2740025" y="2027555"/>
            <a:ext cx="7294880" cy="45593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3440" y="901700"/>
            <a:ext cx="10500360" cy="5275580"/>
          </a:xfrm>
        </p:spPr>
        <p:txBody>
          <a:bodyPr>
            <a:normAutofit/>
          </a:bodyPr>
          <a:lstStyle/>
          <a:p>
            <a:pPr marL="0" indent="0">
              <a:buNone/>
            </a:pPr>
            <a:r>
              <a:rPr lang="en-US" sz="4000" b="1" noProof="0" dirty="0" smtClean="0">
                <a:ln>
                  <a:noFill/>
                </a:ln>
                <a:effectLst/>
                <a:uLnTx/>
                <a:uFillTx/>
                <a:sym typeface="+mn-ea"/>
              </a:rPr>
              <a:t>Contents:</a:t>
            </a:r>
            <a:endParaRPr lang="en-US" altLang="en-US" sz="4000" b="1"/>
          </a:p>
          <a:p>
            <a:pPr marL="0" indent="0">
              <a:buNone/>
            </a:pPr>
            <a:endParaRPr lang="en-US" altLang="en-US"/>
          </a:p>
          <a:p>
            <a:pPr marL="0" indent="0">
              <a:buNone/>
            </a:pPr>
            <a:endParaRPr lang="en-US" altLang="en-US"/>
          </a:p>
          <a:p>
            <a:pPr>
              <a:buFont typeface="Wingdings" panose="05000000000000000000" charset="0"/>
              <a:buChar char="v"/>
            </a:pPr>
            <a:r>
              <a:rPr lang="en-US" altLang="en-US"/>
              <a:t>Average speed</a:t>
            </a:r>
          </a:p>
          <a:p>
            <a:pPr>
              <a:buFont typeface="Wingdings" panose="05000000000000000000" charset="0"/>
              <a:buChar char="v"/>
            </a:pPr>
            <a:endParaRPr lang="en-US" altLang="en-US"/>
          </a:p>
          <a:p>
            <a:pPr marL="0" indent="0">
              <a:buFont typeface="Wingdings" panose="05000000000000000000" charset="0"/>
              <a:buNone/>
            </a:pPr>
            <a:endParaRPr lang="en-US" altLang="en-US"/>
          </a:p>
          <a:p>
            <a:pPr>
              <a:buFont typeface="Wingdings" panose="05000000000000000000" charset="0"/>
              <a:buChar char="v"/>
            </a:pPr>
            <a:r>
              <a:rPr lang="en-US" altLang="en-US"/>
              <a:t>Variable speeds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74638"/>
            <a:ext cx="8534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000" b="1" i="0" u="none" strike="noStrike" kern="1200" cap="none" spc="0" normalizeH="0" baseline="0" noProof="0" dirty="0">
                <a:ln>
                  <a:noFill/>
                </a:ln>
                <a:solidFill>
                  <a:schemeClr val="tx1"/>
                </a:solidFill>
                <a:effectLst/>
                <a:uLnTx/>
                <a:uFillTx/>
                <a:latin typeface="+mn-lt"/>
                <a:ea typeface="+mj-ea"/>
                <a:cs typeface="+mj-cs"/>
              </a:rPr>
              <a:t>AVERAGE SPEED</a:t>
            </a:r>
            <a:endParaRPr kumimoji="0" lang="en-IN" sz="3000" b="1" i="0" u="none" strike="noStrike" kern="1200" cap="none" spc="0" normalizeH="0" baseline="0" noProof="0" dirty="0">
              <a:ln>
                <a:noFill/>
              </a:ln>
              <a:solidFill>
                <a:schemeClr val="tx1"/>
              </a:solidFill>
              <a:effectLst/>
              <a:uLnTx/>
              <a:uFillTx/>
              <a:latin typeface="+mn-lt"/>
              <a:ea typeface="+mj-ea"/>
              <a:cs typeface="+mj-cs"/>
            </a:endParaRPr>
          </a:p>
        </p:txBody>
      </p:sp>
      <p:sp>
        <p:nvSpPr>
          <p:cNvPr id="26627" name="Content Placeholder 2"/>
          <p:cNvSpPr>
            <a:spLocks noGrp="1"/>
          </p:cNvSpPr>
          <p:nvPr>
            <p:ph idx="1"/>
          </p:nvPr>
        </p:nvSpPr>
        <p:spPr>
          <a:xfrm>
            <a:off x="1709738" y="1143000"/>
            <a:ext cx="8534400" cy="5257800"/>
          </a:xfrm>
        </p:spPr>
        <p:txBody>
          <a:bodyPr vert="horz" wrap="square" lIns="91440" tIns="45720" rIns="91440" bIns="45720" anchor="t" anchorCtr="0"/>
          <a:lstStyle/>
          <a:p>
            <a:pPr marL="0" indent="0" eaLnBrk="1" hangingPunct="1">
              <a:buNone/>
            </a:pPr>
            <a:r>
              <a:rPr lang="en-US" altLang="en-US" b="1" dirty="0"/>
              <a:t>What is the Average Speed Formula?</a:t>
            </a:r>
          </a:p>
          <a:p>
            <a:pPr marL="0" indent="0" eaLnBrk="1" hangingPunct="1">
              <a:buNone/>
            </a:pPr>
            <a:r>
              <a:rPr lang="en-US" altLang="en-US" dirty="0"/>
              <a:t>The average speed of a body is equal to the total distance covered, divided by the total time taken. The average speed formula is expressed as follows:</a:t>
            </a:r>
          </a:p>
          <a:p>
            <a:pPr marL="0" indent="0" eaLnBrk="1" hangingPunct="1">
              <a:buNone/>
            </a:pPr>
            <a:endParaRPr lang="en-US" altLang="en-US" b="1" dirty="0"/>
          </a:p>
          <a:p>
            <a:pPr marL="0" indent="0" eaLnBrk="1" hangingPunct="1">
              <a:buNone/>
            </a:pPr>
            <a:r>
              <a:rPr lang="en-US" altLang="en-US" b="1" dirty="0"/>
              <a:t>Average Speed Formula</a:t>
            </a:r>
          </a:p>
        </p:txBody>
      </p:sp>
      <p:pic>
        <p:nvPicPr>
          <p:cNvPr id="26628" name="Picture 3"/>
          <p:cNvPicPr>
            <a:picLocks noChangeAspect="1"/>
          </p:cNvPicPr>
          <p:nvPr/>
        </p:nvPicPr>
        <p:blipFill>
          <a:blip r:embed="rId2"/>
          <a:stretch>
            <a:fillRect/>
          </a:stretch>
        </p:blipFill>
        <p:spPr>
          <a:xfrm>
            <a:off x="4183380" y="4325938"/>
            <a:ext cx="3200400" cy="144780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976630"/>
            <a:ext cx="10530840" cy="5200650"/>
          </a:xfrm>
        </p:spPr>
        <p:txBody>
          <a:body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altLang="en-IN" noProof="0">
                <a:ln>
                  <a:noFill/>
                </a:ln>
                <a:effectLst/>
                <a:uLnTx/>
                <a:uFillTx/>
                <a:latin typeface="Calibri (Body)" charset="0"/>
                <a:cs typeface="Calibri (Body)" charset="0"/>
                <a:sym typeface="+mn-ea"/>
              </a:rPr>
              <a:t>1) </a:t>
            </a:r>
            <a:r>
              <a:rPr lang="en-IN" noProof="0">
                <a:ln>
                  <a:noFill/>
                </a:ln>
                <a:effectLst/>
                <a:uLnTx/>
                <a:uFillTx/>
                <a:latin typeface="Calibri (Body)" charset="0"/>
                <a:cs typeface="Calibri (Body)" charset="0"/>
                <a:sym typeface="+mn-ea"/>
              </a:rPr>
              <a:t>A man covers 30 km distance with speed of 10 kmph and return with 15 kmph. Find average speed.</a:t>
            </a:r>
            <a:endParaRPr kumimoji="0" lang="en-IN" i="0" u="none" strike="noStrike" kern="1200" cap="none" spc="0" normalizeH="0" baseline="0" noProof="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mj-lt"/>
              <a:buAutoNum type="alphaUcPeriod"/>
              <a:defRPr/>
            </a:pPr>
            <a:r>
              <a:rPr lang="en-IN" noProof="0">
                <a:ln>
                  <a:noFill/>
                </a:ln>
                <a:effectLst/>
                <a:uLnTx/>
                <a:uFillTx/>
                <a:latin typeface="Calibri (Body)" charset="0"/>
                <a:cs typeface="Calibri (Body)" charset="0"/>
                <a:sym typeface="+mn-ea"/>
              </a:rPr>
              <a:t>6 kmph</a:t>
            </a:r>
            <a:endParaRPr kumimoji="0" lang="en-IN" i="0" u="none" strike="noStrike" kern="1200" cap="none" spc="0" normalizeH="0" baseline="0" noProof="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mj-lt"/>
              <a:buAutoNum type="alphaUcPeriod"/>
              <a:defRPr/>
            </a:pPr>
            <a:r>
              <a:rPr lang="en-IN" noProof="0">
                <a:ln>
                  <a:noFill/>
                </a:ln>
                <a:effectLst/>
                <a:uLnTx/>
                <a:uFillTx/>
                <a:latin typeface="Calibri (Body)" charset="0"/>
                <a:cs typeface="Calibri (Body)" charset="0"/>
                <a:sym typeface="+mn-ea"/>
              </a:rPr>
              <a:t>12 kmph</a:t>
            </a:r>
            <a:endParaRPr kumimoji="0" lang="en-IN" i="0" u="none" strike="noStrike" kern="1200" cap="none" spc="0" normalizeH="0" baseline="0" noProof="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mj-lt"/>
              <a:buAutoNum type="alphaUcPeriod"/>
              <a:defRPr/>
            </a:pPr>
            <a:r>
              <a:rPr lang="en-IN" noProof="0">
                <a:ln>
                  <a:noFill/>
                </a:ln>
                <a:effectLst/>
                <a:uLnTx/>
                <a:uFillTx/>
                <a:latin typeface="Calibri (Body)" charset="0"/>
                <a:cs typeface="Calibri (Body)" charset="0"/>
                <a:sym typeface="+mn-ea"/>
              </a:rPr>
              <a:t>12.5 kmph</a:t>
            </a:r>
            <a:endParaRPr kumimoji="0" lang="en-IN" i="0" u="none" strike="noStrike" kern="1200" cap="none" spc="0" normalizeH="0" baseline="0" noProof="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mj-lt"/>
              <a:buAutoNum type="alphaUcPeriod"/>
              <a:defRPr/>
            </a:pPr>
            <a:r>
              <a:rPr lang="en-IN" noProof="0">
                <a:ln>
                  <a:noFill/>
                </a:ln>
                <a:effectLst/>
                <a:uLnTx/>
                <a:uFillTx/>
                <a:latin typeface="Calibri (Body)" charset="0"/>
                <a:cs typeface="Calibri (Body)" charset="0"/>
                <a:sym typeface="+mn-ea"/>
              </a:rPr>
              <a:t>12.25 kmph</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endParaRPr lang="en-US">
              <a:latin typeface="Calibri (Body)" charset="0"/>
              <a:cs typeface="Calibri (Body)"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42975" y="930910"/>
            <a:ext cx="10410825" cy="5246370"/>
          </a:xfrm>
        </p:spPr>
        <p:txBody>
          <a:bodyPr/>
          <a:lstStyle/>
          <a:p>
            <a:pPr marL="0" indent="0">
              <a:buNone/>
            </a:pPr>
            <a:r>
              <a:rPr lang="en-US" b="1" noProof="0" dirty="0" smtClean="0">
                <a:ln>
                  <a:noFill/>
                </a:ln>
                <a:effectLst/>
                <a:uLnTx/>
                <a:uFillTx/>
                <a:sym typeface="+mn-ea"/>
              </a:rPr>
              <a:t>Example</a:t>
            </a:r>
            <a:r>
              <a:rPr lang="en-US" b="1" noProof="0" dirty="0">
                <a:ln>
                  <a:noFill/>
                </a:ln>
                <a:effectLst/>
                <a:uLnTx/>
                <a:uFillTx/>
                <a:sym typeface="+mn-ea"/>
              </a:rPr>
              <a:t>:</a:t>
            </a:r>
            <a:r>
              <a:rPr lang="en-US" noProof="0" dirty="0">
                <a:ln>
                  <a:noFill/>
                </a:ln>
                <a:effectLst/>
                <a:uLnTx/>
                <a:uFillTx/>
                <a:sym typeface="+mn-ea"/>
              </a:rPr>
              <a:t> During a journey, a train moves at a speed of 50 kilometers per hour for the first 2 hours and 70 kilometers per hour for the next 3 hours. Find the average speed of the train using the average speed formula.</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976630"/>
            <a:ext cx="10530840" cy="5200650"/>
          </a:xfrm>
        </p:spPr>
        <p:txBody>
          <a:body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altLang="en-IN" noProof="0" dirty="0">
                <a:ln>
                  <a:noFill/>
                </a:ln>
                <a:effectLst/>
                <a:uLnTx/>
                <a:uFillTx/>
                <a:latin typeface="Calibri (Body)" charset="0"/>
                <a:cs typeface="Calibri (Body)" charset="0"/>
                <a:sym typeface="+mn-ea"/>
              </a:rPr>
              <a:t>2) </a:t>
            </a:r>
            <a:r>
              <a:rPr lang="en-IN" noProof="0" dirty="0">
                <a:ln>
                  <a:noFill/>
                </a:ln>
                <a:effectLst/>
                <a:uLnTx/>
                <a:uFillTx/>
                <a:latin typeface="Calibri (Body)" charset="0"/>
                <a:cs typeface="Calibri (Body)" charset="0"/>
                <a:sym typeface="+mn-ea"/>
              </a:rPr>
              <a:t>A man covers 60 km distance with speed of 10, 12 and 15 </a:t>
            </a:r>
            <a:r>
              <a:rPr lang="en-IN" noProof="0" dirty="0" err="1">
                <a:ln>
                  <a:noFill/>
                </a:ln>
                <a:effectLst/>
                <a:uLnTx/>
                <a:uFillTx/>
                <a:latin typeface="Calibri (Body)" charset="0"/>
                <a:cs typeface="Calibri (Body)" charset="0"/>
                <a:sym typeface="+mn-ea"/>
              </a:rPr>
              <a:t>kmph</a:t>
            </a:r>
            <a:r>
              <a:rPr lang="en-IN" noProof="0" dirty="0">
                <a:ln>
                  <a:noFill/>
                </a:ln>
                <a:effectLst/>
                <a:uLnTx/>
                <a:uFillTx/>
                <a:latin typeface="Calibri (Body)" charset="0"/>
                <a:cs typeface="Calibri (Body)" charset="0"/>
                <a:sym typeface="+mn-ea"/>
              </a:rPr>
              <a:t> on three successive days. Find average speed.</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mj-lt"/>
              <a:buAutoNum type="alphaUcPeriod"/>
              <a:defRPr/>
            </a:pPr>
            <a:r>
              <a:rPr lang="en-IN" noProof="0" dirty="0">
                <a:ln>
                  <a:noFill/>
                </a:ln>
                <a:effectLst/>
                <a:uLnTx/>
                <a:uFillTx/>
                <a:latin typeface="Calibri (Body)" charset="0"/>
                <a:cs typeface="Calibri (Body)" charset="0"/>
                <a:sym typeface="+mn-ea"/>
              </a:rPr>
              <a:t>6kmph</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mj-lt"/>
              <a:buAutoNum type="alphaUcPeriod"/>
              <a:defRPr/>
            </a:pPr>
            <a:r>
              <a:rPr lang="en-IN" noProof="0" dirty="0">
                <a:ln>
                  <a:noFill/>
                </a:ln>
                <a:effectLst/>
                <a:uLnTx/>
                <a:uFillTx/>
                <a:latin typeface="Calibri (Body)" charset="0"/>
                <a:cs typeface="Calibri (Body)" charset="0"/>
                <a:sym typeface="+mn-ea"/>
              </a:rPr>
              <a:t>12 </a:t>
            </a:r>
            <a:r>
              <a:rPr lang="en-IN" noProof="0" dirty="0" err="1">
                <a:ln>
                  <a:noFill/>
                </a:ln>
                <a:effectLst/>
                <a:uLnTx/>
                <a:uFillTx/>
                <a:latin typeface="Calibri (Body)" charset="0"/>
                <a:cs typeface="Calibri (Body)" charset="0"/>
                <a:sym typeface="+mn-ea"/>
              </a:rPr>
              <a:t>kmph</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mj-lt"/>
              <a:buAutoNum type="alphaUcPeriod"/>
              <a:defRPr/>
            </a:pPr>
            <a:r>
              <a:rPr lang="en-IN" noProof="0" dirty="0">
                <a:ln>
                  <a:noFill/>
                </a:ln>
                <a:effectLst/>
                <a:uLnTx/>
                <a:uFillTx/>
                <a:latin typeface="Calibri (Body)" charset="0"/>
                <a:cs typeface="Calibri (Body)" charset="0"/>
                <a:sym typeface="+mn-ea"/>
              </a:rPr>
              <a:t>12.5 </a:t>
            </a:r>
            <a:r>
              <a:rPr lang="en-IN" noProof="0" dirty="0" err="1">
                <a:ln>
                  <a:noFill/>
                </a:ln>
                <a:effectLst/>
                <a:uLnTx/>
                <a:uFillTx/>
                <a:latin typeface="Calibri (Body)" charset="0"/>
                <a:cs typeface="Calibri (Body)" charset="0"/>
                <a:sym typeface="+mn-ea"/>
              </a:rPr>
              <a:t>kmph</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mj-lt"/>
              <a:buAutoNum type="alphaUcPeriod"/>
              <a:defRPr/>
            </a:pPr>
            <a:r>
              <a:rPr lang="en-IN" noProof="0" dirty="0">
                <a:ln>
                  <a:noFill/>
                </a:ln>
                <a:effectLst/>
                <a:uLnTx/>
                <a:uFillTx/>
                <a:latin typeface="Calibri (Body)" charset="0"/>
                <a:cs typeface="Calibri (Body)" charset="0"/>
                <a:sym typeface="+mn-ea"/>
              </a:rPr>
              <a:t>12.25 </a:t>
            </a:r>
            <a:r>
              <a:rPr lang="en-IN" noProof="0" dirty="0" err="1">
                <a:ln>
                  <a:noFill/>
                </a:ln>
                <a:effectLst/>
                <a:uLnTx/>
                <a:uFillTx/>
                <a:latin typeface="Calibri (Body)" charset="0"/>
                <a:cs typeface="Calibri (Body)" charset="0"/>
                <a:sym typeface="+mn-ea"/>
              </a:rPr>
              <a:t>kmph</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endParaRPr lang="en-US">
              <a:latin typeface="Calibri (Body)" charset="0"/>
              <a:cs typeface="Calibri (Body)"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2"/>
          <p:cNvSpPr>
            <a:spLocks noGrp="1"/>
          </p:cNvSpPr>
          <p:nvPr>
            <p:ph idx="1"/>
          </p:nvPr>
        </p:nvSpPr>
        <p:spPr>
          <a:xfrm>
            <a:off x="848995" y="875030"/>
            <a:ext cx="10568940" cy="5754370"/>
          </a:xfrm>
        </p:spPr>
        <p:txBody>
          <a:bodyPr vert="horz" wrap="square" lIns="91440" tIns="45720" rIns="91440" bIns="45720" anchor="t" anchorCtr="0"/>
          <a:lstStyle/>
          <a:p>
            <a:pPr marL="0" indent="0" algn="just" eaLnBrk="1" hangingPunct="1">
              <a:buNone/>
            </a:pPr>
            <a:r>
              <a:rPr lang="en-US" altLang="en-US" dirty="0">
                <a:latin typeface="Calibri (Body)" charset="0"/>
                <a:ea typeface="+mj-ea"/>
                <a:cs typeface="Calibri (Body)" charset="0"/>
                <a:sym typeface="+mn-ea"/>
              </a:rPr>
              <a:t>Example: A train is moving with a speed of 80 miles per hour for the first 4 hours and 110 miles per hour for the next 3 hours. Find the average speed of the train with the help of the average speed formula.</a:t>
            </a:r>
          </a:p>
          <a:p>
            <a:pPr marL="0" indent="0" algn="just" eaLnBrk="1" hangingPunct="1">
              <a:buNone/>
            </a:pPr>
            <a:endParaRPr lang="en-US" altLang="en-US" dirty="0">
              <a:latin typeface="Calibri (Body)" charset="0"/>
              <a:ea typeface="+mj-ea"/>
              <a:cs typeface="Calibri (Body)"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Content Placeholder 2"/>
          <p:cNvSpPr>
            <a:spLocks noGrp="1"/>
          </p:cNvSpPr>
          <p:nvPr>
            <p:ph idx="1"/>
          </p:nvPr>
        </p:nvSpPr>
        <p:spPr>
          <a:xfrm>
            <a:off x="908050" y="656590"/>
            <a:ext cx="10062845" cy="546989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sz="1800" b="1" i="0" u="none" strike="noStrike" kern="1200" cap="none" spc="0" normalizeH="0" baseline="0" noProof="0" dirty="0">
                <a:ln>
                  <a:noFill/>
                </a:ln>
                <a:solidFill>
                  <a:schemeClr val="tx1"/>
                </a:solidFill>
                <a:effectLst/>
                <a:uLnTx/>
                <a:uFillTx/>
                <a:latin typeface="+mn-lt"/>
                <a:ea typeface="+mn-ea"/>
                <a:cs typeface="+mn-cs"/>
              </a:rPr>
              <a:t> </a:t>
            </a:r>
            <a:r>
              <a:rPr kumimoji="0" lang="en-US" sz="1800" b="0" i="0" u="none" strike="noStrike" kern="1200" cap="none" spc="0" normalizeH="0" baseline="0" noProof="0" dirty="0">
                <a:ln>
                  <a:noFill/>
                </a:ln>
                <a:solidFill>
                  <a:schemeClr val="tx1"/>
                </a:solidFill>
                <a:effectLst/>
                <a:uLnTx/>
                <a:uFillTx/>
                <a:latin typeface="+mn-lt"/>
                <a:ea typeface="+mn-ea"/>
                <a:cs typeface="+mn-cs"/>
              </a:rPr>
              <a:t>When the distance is constant:</a:t>
            </a:r>
          </a:p>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Char char="Ø"/>
              <a:defRPr/>
            </a:pPr>
            <a:r>
              <a:rPr kumimoji="0" lang="en-US" sz="1800" b="0" i="0" u="none" strike="noStrike" kern="1200" cap="none" spc="0" normalizeH="0" baseline="0" noProof="0" dirty="0">
                <a:ln>
                  <a:noFill/>
                </a:ln>
                <a:solidFill>
                  <a:schemeClr val="tx1"/>
                </a:solidFill>
                <a:effectLst/>
                <a:uLnTx/>
                <a:uFillTx/>
                <a:latin typeface="+mn-lt"/>
                <a:ea typeface="+mn-ea"/>
                <a:cs typeface="+mn-cs"/>
              </a:rPr>
              <a:t>Two speeds S</a:t>
            </a:r>
            <a:r>
              <a:rPr kumimoji="0" lang="en-US" sz="1800" b="0" i="0" u="none" strike="noStrike" kern="1200" cap="none" spc="0" normalizeH="0" baseline="-25000" noProof="0" dirty="0">
                <a:ln>
                  <a:noFill/>
                </a:ln>
                <a:solidFill>
                  <a:schemeClr val="tx1"/>
                </a:solidFill>
                <a:effectLst/>
                <a:uLnTx/>
                <a:uFillTx/>
                <a:latin typeface="+mn-lt"/>
                <a:ea typeface="+mn-ea"/>
                <a:cs typeface="+mn-cs"/>
              </a:rPr>
              <a:t>1</a:t>
            </a:r>
            <a:r>
              <a:rPr kumimoji="0" lang="en-US" sz="1800" b="0" i="0" u="none" strike="noStrike" kern="1200" cap="none" spc="0" normalizeH="0" baseline="0" noProof="0" dirty="0">
                <a:ln>
                  <a:noFill/>
                </a:ln>
                <a:solidFill>
                  <a:schemeClr val="tx1"/>
                </a:solidFill>
                <a:effectLst/>
                <a:uLnTx/>
                <a:uFillTx/>
                <a:latin typeface="+mn-lt"/>
                <a:ea typeface="+mn-ea"/>
                <a:cs typeface="+mn-cs"/>
              </a:rPr>
              <a:t> and S</a:t>
            </a:r>
            <a:r>
              <a:rPr kumimoji="0" lang="en-US" sz="1800" b="0" i="0" u="none" strike="noStrike" kern="1200" cap="none" spc="0" normalizeH="0" baseline="-25000" noProof="0" dirty="0">
                <a:ln>
                  <a:noFill/>
                </a:ln>
                <a:solidFill>
                  <a:schemeClr val="tx1"/>
                </a:solidFill>
                <a:effectLst/>
                <a:uLnTx/>
                <a:uFillTx/>
                <a:latin typeface="+mn-lt"/>
                <a:ea typeface="+mn-ea"/>
                <a:cs typeface="+mn-cs"/>
              </a:rPr>
              <a:t>2</a:t>
            </a:r>
            <a:r>
              <a:rPr kumimoji="0" lang="en-US" sz="1800" b="0" i="0" u="none" strike="noStrike" kern="1200" cap="none" spc="0" normalizeH="0" baseline="0" noProof="0" dirty="0">
                <a:ln>
                  <a:noFill/>
                </a:ln>
                <a:solidFill>
                  <a:schemeClr val="tx1"/>
                </a:solidFill>
                <a:effectLst/>
                <a:uLnTx/>
                <a:uFillTx/>
                <a:latin typeface="+mn-lt"/>
                <a:ea typeface="+mn-ea"/>
                <a:cs typeface="+mn-cs"/>
              </a:rPr>
              <a:t> are given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18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sz="1800" b="1" i="0" u="none" strike="noStrike" kern="1200" cap="none" spc="0" normalizeH="0" baseline="0" noProof="0" dirty="0">
                <a:ln>
                  <a:noFill/>
                </a:ln>
                <a:solidFill>
                  <a:schemeClr val="tx1"/>
                </a:solidFill>
                <a:effectLst/>
                <a:uLnTx/>
                <a:uFillTx/>
                <a:latin typeface="+mn-lt"/>
                <a:ea typeface="+mn-ea"/>
                <a:cs typeface="+mn-cs"/>
              </a:rPr>
              <a:t>Average speed =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18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Char char="Ø"/>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Char char="Ø"/>
              <a:defRPr/>
            </a:pPr>
            <a:r>
              <a:rPr kumimoji="0" lang="en-US" sz="1800" b="0" i="0" u="none" strike="noStrike" kern="1200" cap="none" spc="0" normalizeH="0" baseline="0" noProof="0" dirty="0">
                <a:ln>
                  <a:noFill/>
                </a:ln>
                <a:solidFill>
                  <a:schemeClr val="tx1"/>
                </a:solidFill>
                <a:effectLst/>
                <a:uLnTx/>
                <a:uFillTx/>
                <a:latin typeface="+mn-lt"/>
                <a:ea typeface="+mn-ea"/>
                <a:cs typeface="+mn-cs"/>
              </a:rPr>
              <a:t>Two speeds S</a:t>
            </a:r>
            <a:r>
              <a:rPr kumimoji="0" lang="en-US" sz="1800" b="0" i="0" u="none" strike="noStrike" kern="1200" cap="none" spc="0" normalizeH="0" baseline="-25000" noProof="0" dirty="0">
                <a:ln>
                  <a:noFill/>
                </a:ln>
                <a:solidFill>
                  <a:schemeClr val="tx1"/>
                </a:solidFill>
                <a:effectLst/>
                <a:uLnTx/>
                <a:uFillTx/>
                <a:latin typeface="+mn-lt"/>
                <a:ea typeface="+mn-ea"/>
                <a:cs typeface="+mn-cs"/>
              </a:rPr>
              <a:t>1</a:t>
            </a:r>
            <a:r>
              <a:rPr kumimoji="0" lang="en-US" sz="1800" b="0" i="0" u="none" strike="noStrike" kern="1200" cap="none" spc="0" normalizeH="0" baseline="0" noProof="0" dirty="0">
                <a:ln>
                  <a:noFill/>
                </a:ln>
                <a:solidFill>
                  <a:schemeClr val="tx1"/>
                </a:solidFill>
                <a:effectLst/>
                <a:uLnTx/>
                <a:uFillTx/>
                <a:latin typeface="+mn-lt"/>
                <a:ea typeface="+mn-ea"/>
                <a:cs typeface="+mn-cs"/>
              </a:rPr>
              <a:t>,S</a:t>
            </a:r>
            <a:r>
              <a:rPr kumimoji="0" lang="en-US" sz="1800" b="0" i="0" u="none" strike="noStrike" kern="1200" cap="none" spc="0" normalizeH="0" baseline="-25000" noProof="0" dirty="0">
                <a:ln>
                  <a:noFill/>
                </a:ln>
                <a:solidFill>
                  <a:schemeClr val="tx1"/>
                </a:solidFill>
                <a:effectLst/>
                <a:uLnTx/>
                <a:uFillTx/>
                <a:latin typeface="+mn-lt"/>
                <a:ea typeface="+mn-ea"/>
                <a:cs typeface="+mn-cs"/>
              </a:rPr>
              <a:t>2 </a:t>
            </a:r>
            <a:r>
              <a:rPr kumimoji="0" lang="en-US" sz="1800" b="0" i="0" u="none" strike="noStrike" kern="1200" cap="none" spc="0" normalizeH="0" baseline="0" noProof="0" dirty="0">
                <a:ln>
                  <a:noFill/>
                </a:ln>
                <a:solidFill>
                  <a:schemeClr val="tx1"/>
                </a:solidFill>
                <a:effectLst/>
                <a:uLnTx/>
                <a:uFillTx/>
                <a:latin typeface="+mn-lt"/>
                <a:ea typeface="+mn-ea"/>
                <a:cs typeface="+mn-cs"/>
              </a:rPr>
              <a:t>and S</a:t>
            </a:r>
            <a:r>
              <a:rPr kumimoji="0" lang="en-US" sz="1800" b="0" i="0" u="none" strike="noStrike" kern="1200" cap="none" spc="0" normalizeH="0" baseline="-25000" noProof="0" dirty="0">
                <a:ln>
                  <a:noFill/>
                </a:ln>
                <a:solidFill>
                  <a:schemeClr val="tx1"/>
                </a:solidFill>
                <a:effectLst/>
                <a:uLnTx/>
                <a:uFillTx/>
                <a:latin typeface="+mn-lt"/>
                <a:ea typeface="+mn-ea"/>
                <a:cs typeface="+mn-cs"/>
              </a:rPr>
              <a:t>3</a:t>
            </a:r>
            <a:r>
              <a:rPr kumimoji="0" lang="en-US" sz="1800" b="0" i="0" u="none" strike="noStrike" kern="1200" cap="none" spc="0" normalizeH="0" baseline="0" noProof="0" dirty="0">
                <a:ln>
                  <a:noFill/>
                </a:ln>
                <a:solidFill>
                  <a:schemeClr val="tx1"/>
                </a:solidFill>
                <a:effectLst/>
                <a:uLnTx/>
                <a:uFillTx/>
                <a:latin typeface="+mn-lt"/>
                <a:ea typeface="+mn-ea"/>
                <a:cs typeface="+mn-cs"/>
              </a:rPr>
              <a:t> are given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sz="1800" b="0" i="0" u="none" strike="noStrike" kern="1200" cap="none" spc="0" normalizeH="0" baseline="0" noProof="0" dirty="0">
                <a:ln>
                  <a:noFill/>
                </a:ln>
                <a:solidFill>
                  <a:schemeClr val="tx1"/>
                </a:solidFill>
                <a:effectLst/>
                <a:uLnTx/>
                <a:uFillTx/>
                <a:latin typeface="+mn-lt"/>
                <a:ea typeface="+mn-ea"/>
                <a:cs typeface="+mn-cs"/>
              </a:rPr>
              <a:t> </a:t>
            </a:r>
            <a:r>
              <a:rPr kumimoji="0" lang="en-US" sz="1800" b="1" i="0" u="none" strike="noStrike" kern="1200" cap="none" spc="0" normalizeH="0" baseline="0" noProof="0" dirty="0">
                <a:ln>
                  <a:noFill/>
                </a:ln>
                <a:solidFill>
                  <a:schemeClr val="tx1"/>
                </a:solidFill>
                <a:effectLst/>
                <a:uLnTx/>
                <a:uFillTx/>
                <a:latin typeface="+mn-lt"/>
                <a:ea typeface="+mn-ea"/>
                <a:cs typeface="+mn-cs"/>
              </a:rPr>
              <a:t>Average speed =</a:t>
            </a:r>
            <a:endParaRPr kumimoji="0" lang="en-US" sz="1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1800" b="1" i="0" u="none" strike="noStrike" kern="1200" cap="none" spc="0" normalizeH="0" baseline="0" noProof="0" dirty="0">
                <a:ln>
                  <a:noFill/>
                </a:ln>
                <a:solidFill>
                  <a:schemeClr val="tx1"/>
                </a:solidFill>
                <a:effectLst/>
                <a:uLnTx/>
                <a:uFillTx/>
                <a:latin typeface="+mn-lt"/>
                <a:ea typeface="+mn-ea"/>
                <a:cs typeface="+mn-cs"/>
              </a:rPr>
              <a:t>Case 2 </a:t>
            </a:r>
            <a:r>
              <a:rPr kumimoji="0" lang="en-US" sz="1800" b="0" i="0" u="none" strike="noStrike" kern="1200" cap="none" spc="0" normalizeH="0" baseline="0" noProof="0" dirty="0">
                <a:ln>
                  <a:noFill/>
                </a:ln>
                <a:solidFill>
                  <a:schemeClr val="tx1"/>
                </a:solidFill>
                <a:effectLst/>
                <a:uLnTx/>
                <a:uFillTx/>
                <a:latin typeface="+mn-lt"/>
                <a:ea typeface="+mn-ea"/>
                <a:cs typeface="+mn-cs"/>
              </a:rPr>
              <a:t>– When the time taken is constant: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sz="1800" b="1" i="0" u="none" strike="noStrike" kern="1200" cap="none" spc="0" normalizeH="0" baseline="0" noProof="0" dirty="0">
                <a:ln>
                  <a:noFill/>
                </a:ln>
                <a:solidFill>
                  <a:schemeClr val="tx1"/>
                </a:solidFill>
                <a:effectLst/>
                <a:uLnTx/>
                <a:uFillTx/>
                <a:latin typeface="+mn-lt"/>
                <a:ea typeface="+mn-ea"/>
                <a:cs typeface="+mn-cs"/>
              </a:rPr>
              <a:t>Average speed = (x + y)/2</a:t>
            </a:r>
            <a:r>
              <a:rPr kumimoji="0" lang="en-US" sz="1800" b="0" i="0" u="none" strike="noStrike" kern="1200" cap="none" spc="0" normalizeH="0" baseline="0" noProof="0" dirty="0">
                <a:ln>
                  <a:noFill/>
                </a:ln>
                <a:solidFill>
                  <a:schemeClr val="tx1"/>
                </a:solidFill>
                <a:effectLst/>
                <a:uLnTx/>
                <a:uFillTx/>
                <a:latin typeface="+mn-lt"/>
                <a:ea typeface="+mn-ea"/>
                <a:cs typeface="+mn-cs"/>
              </a:rPr>
              <a:t>; </a:t>
            </a:r>
          </a:p>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endParaRPr kumimoji="0" lang="en-IN" altLang="en-US" sz="1800" b="0" i="0" u="none" strike="noStrike" kern="1200" cap="none" spc="0" normalizeH="0" baseline="0" noProof="0" dirty="0">
              <a:ln>
                <a:noFill/>
              </a:ln>
              <a:solidFill>
                <a:schemeClr val="tx1"/>
              </a:solidFill>
              <a:effectLst/>
              <a:uLnTx/>
              <a:uFillTx/>
              <a:latin typeface="+mn-lt"/>
              <a:ea typeface="+mn-ea"/>
              <a:cs typeface="+mn-cs"/>
            </a:endParaRPr>
          </a:p>
        </p:txBody>
      </p:sp>
      <mc:AlternateContent xmlns:mc="http://schemas.openxmlformats.org/markup-compatibility/2006" xmlns:p14="http://schemas.microsoft.com/office/powerpoint/2010/main">
        <mc:Choice Requires="p14">
          <p:contentPart p14:bwMode="auto" r:id="rId2">
            <p14:nvContentPartPr>
              <p14:cNvPr id="27" name="Ink 26"/>
              <p14:cNvContentPartPr/>
              <p14:nvPr/>
            </p14:nvContentPartPr>
            <p14:xfrm>
              <a:off x="4137755" y="3526247"/>
              <a:ext cx="1843200" cy="106560"/>
            </p14:xfrm>
          </p:contentPart>
        </mc:Choice>
        <mc:Fallback xmlns="">
          <p:pic>
            <p:nvPicPr>
              <p:cNvPr id="27" name="Ink 26"/>
            </p:nvPicPr>
            <p:blipFill>
              <a:blip r:embed="rId3"/>
            </p:blipFill>
            <p:spPr>
              <a:xfrm>
                <a:off x="4137755" y="3526247"/>
                <a:ext cx="1843200" cy="106560"/>
              </a:xfrm>
              <a:prstGeom prst="rect"/>
            </p:spPr>
          </p:pic>
        </mc:Fallback>
      </mc:AlternateContent>
      <mc:AlternateContent xmlns:mc="http://schemas.openxmlformats.org/markup-compatibility/2006" xmlns:p14="http://schemas.microsoft.com/office/powerpoint/2010/main">
        <mc:Choice Requires="p14">
          <p:contentPart p14:bwMode="auto" r:id="rId4">
            <p14:nvContentPartPr>
              <p14:cNvPr id="30" name="Ink 29"/>
              <p14:cNvContentPartPr/>
              <p14:nvPr/>
            </p14:nvContentPartPr>
            <p14:xfrm>
              <a:off x="4137755" y="1587793"/>
              <a:ext cx="1076760" cy="614160"/>
            </p14:xfrm>
          </p:contentPart>
        </mc:Choice>
        <mc:Fallback xmlns="">
          <p:pic>
            <p:nvPicPr>
              <p:cNvPr id="30" name="Ink 29"/>
            </p:nvPicPr>
            <p:blipFill>
              <a:blip r:embed="rId5"/>
            </p:blipFill>
            <p:spPr>
              <a:xfrm>
                <a:off x="4137755" y="1587793"/>
                <a:ext cx="1076760" cy="61416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27655" name="Ink 27654"/>
              <p14:cNvContentPartPr/>
              <p14:nvPr/>
            </p14:nvContentPartPr>
            <p14:xfrm>
              <a:off x="4137755" y="3200400"/>
              <a:ext cx="2153975" cy="758255"/>
            </p14:xfrm>
          </p:contentPart>
        </mc:Choice>
        <mc:Fallback xmlns="">
          <p:pic>
            <p:nvPicPr>
              <p:cNvPr id="27655" name="Ink 27654"/>
            </p:nvPicPr>
            <p:blipFill>
              <a:blip r:embed="rId7"/>
            </p:blipFill>
            <p:spPr>
              <a:xfrm>
                <a:off x="4137755" y="3200400"/>
                <a:ext cx="2153975" cy="758255"/>
              </a:xfrm>
              <a:prstGeom prst="rect"/>
            </p:spPr>
          </p:pic>
        </mc:Fallback>
      </mc:AlternateContent>
      <p:pic>
        <p:nvPicPr>
          <p:cNvPr id="31750" name="Ink 27657"/>
          <p:cNvPicPr>
            <a:picLocks noChangeAspect="1"/>
          </p:cNvPicPr>
          <p:nvPr/>
        </p:nvPicPr>
        <p:blipFill>
          <a:blip r:embed="rId8"/>
          <a:stretch>
            <a:fillRect/>
          </a:stretch>
        </p:blipFill>
        <p:spPr>
          <a:xfrm>
            <a:off x="4127500" y="1866900"/>
            <a:ext cx="1098550" cy="85725"/>
          </a:xfrm>
          <a:prstGeom prst="rect">
            <a:avLst/>
          </a:prstGeom>
          <a:noFill/>
          <a:ln w="9525">
            <a:noFill/>
          </a:ln>
        </p:spPr>
      </p:pic>
      <mc:AlternateContent xmlns:mc="http://schemas.openxmlformats.org/markup-compatibility/2006" xmlns:p14="http://schemas.microsoft.com/office/powerpoint/2010/main">
        <mc:Choice Requires="p14">
          <p:contentPart p14:bwMode="auto" r:id="rId9">
            <p14:nvContentPartPr>
              <p14:cNvPr id="27679" name="Ink 27678"/>
              <p14:cNvContentPartPr/>
              <p14:nvPr/>
            </p14:nvContentPartPr>
            <p14:xfrm>
              <a:off x="3505200" y="4749406"/>
              <a:ext cx="820225" cy="833846"/>
            </p14:xfrm>
          </p:contentPart>
        </mc:Choice>
        <mc:Fallback xmlns="">
          <p:pic>
            <p:nvPicPr>
              <p:cNvPr id="27679" name="Ink 27678"/>
            </p:nvPicPr>
            <p:blipFill>
              <a:blip r:embed="rId10"/>
            </p:blipFill>
            <p:spPr>
              <a:xfrm>
                <a:off x="3505200" y="4749406"/>
                <a:ext cx="820225" cy="833846"/>
              </a:xfrm>
              <a:prstGeom prst="rect"/>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2"/>
          <p:cNvSpPr>
            <a:spLocks noGrp="1"/>
          </p:cNvSpPr>
          <p:nvPr>
            <p:ph idx="1"/>
          </p:nvPr>
        </p:nvSpPr>
        <p:spPr>
          <a:xfrm>
            <a:off x="819150" y="816610"/>
            <a:ext cx="10196195" cy="5309870"/>
          </a:xfrm>
        </p:spPr>
        <p:txBody>
          <a:bodyPr vert="horz" wrap="square" lIns="91440" tIns="45720" rIns="91440" bIns="45720" anchor="t" anchorCtr="0"/>
          <a:lstStyle/>
          <a:p>
            <a:pPr marL="0" indent="0" algn="just" eaLnBrk="1" hangingPunct="1">
              <a:buNone/>
            </a:pPr>
            <a:r>
              <a:rPr lang="en-US" altLang="en-US" dirty="0">
                <a:latin typeface="Calibri (Body)" charset="0"/>
                <a:ea typeface="+mj-ea"/>
                <a:cs typeface="Calibri (Body)" charset="0"/>
                <a:sym typeface="+mn-ea"/>
              </a:rPr>
              <a:t>Example: </a:t>
            </a:r>
            <a:r>
              <a:rPr lang="en-US" altLang="en-US" dirty="0">
                <a:cs typeface="Arial" panose="020B0604020202020204" pitchFamily="34" charset="0"/>
                <a:sym typeface="+mn-ea"/>
              </a:rPr>
              <a:t>If the car had gone from A to B at 50 kmph and returned from B to A at 60 kmph, what would be the average speed?</a:t>
            </a:r>
            <a:endParaRPr lang="en-US" altLang="en-US" dirty="0">
              <a:cs typeface="Arial" panose="020B0604020202020204" pitchFamily="34" charset="0"/>
            </a:endParaRPr>
          </a:p>
          <a:p>
            <a:pPr marL="0" indent="0" algn="just" eaLnBrk="1" hangingPunct="1">
              <a:buNone/>
            </a:pPr>
            <a:endParaRPr lang="en-US"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02335"/>
            <a:ext cx="10515600" cy="5274945"/>
          </a:xfrm>
        </p:spPr>
        <p:txBody>
          <a:bodyPr/>
          <a:lstStyle/>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a:ln>
                  <a:noFill/>
                </a:ln>
                <a:effectLst/>
                <a:uLnTx/>
                <a:uFillTx/>
                <a:cs typeface="Arial" panose="020B0604020202020204" pitchFamily="34" charset="0"/>
                <a:sym typeface="+mn-ea"/>
              </a:rPr>
              <a:t>3) A man covers a certain distance by car driving at 30kmph and he returns back to the starting point with a speed 40kmph. Find his average speed for the whole journey.</a:t>
            </a:r>
            <a:endParaRPr kumimoji="0" lang="en-US" i="0" u="none" strike="noStrike" kern="1200" cap="none" spc="0" normalizeH="0" baseline="0" noProof="0" dirty="0">
              <a:ln>
                <a:noFill/>
              </a:ln>
              <a:solidFill>
                <a:schemeClr val="tx1"/>
              </a:solidFill>
              <a:effectLst/>
              <a:uLnTx/>
              <a:uFillTx/>
              <a:latin typeface="+mn-lt"/>
              <a:ea typeface="+mn-ea"/>
              <a:cs typeface="Arial" panose="020B0604020202020204" pitchFamily="34" charset="0"/>
            </a:endParaRPr>
          </a:p>
          <a:p>
            <a:pPr marL="514350" marR="0" lvl="0" indent="-514350" algn="just"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cs typeface="Arial" panose="020B0604020202020204" pitchFamily="34" charset="0"/>
                <a:sym typeface="+mn-ea"/>
              </a:rPr>
              <a:t>35 km/</a:t>
            </a:r>
            <a:r>
              <a:rPr lang="en-US" noProof="0" dirty="0" err="1">
                <a:ln>
                  <a:noFill/>
                </a:ln>
                <a:effectLst/>
                <a:uLnTx/>
                <a:uFillTx/>
                <a:cs typeface="Arial" panose="020B0604020202020204" pitchFamily="34" charset="0"/>
                <a:sym typeface="+mn-ea"/>
              </a:rPr>
              <a:t>hr</a:t>
            </a:r>
            <a:endParaRPr kumimoji="0" lang="en-US" i="0" u="none" strike="noStrike" kern="1200" cap="none" spc="0" normalizeH="0" baseline="0" noProof="0" dirty="0">
              <a:ln>
                <a:noFill/>
              </a:ln>
              <a:solidFill>
                <a:schemeClr val="tx1"/>
              </a:solidFill>
              <a:effectLst/>
              <a:uLnTx/>
              <a:uFillTx/>
              <a:latin typeface="+mn-lt"/>
              <a:ea typeface="+mn-ea"/>
              <a:cs typeface="Arial" panose="020B0604020202020204" pitchFamily="34" charset="0"/>
            </a:endParaRPr>
          </a:p>
          <a:p>
            <a:pPr marL="514350" marR="0" lvl="0" indent="-514350" algn="just"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cs typeface="Arial" panose="020B0604020202020204" pitchFamily="34" charset="0"/>
                <a:sym typeface="+mn-ea"/>
              </a:rPr>
              <a:t>34.3 km/</a:t>
            </a:r>
            <a:r>
              <a:rPr lang="en-US" noProof="0" dirty="0" err="1">
                <a:ln>
                  <a:noFill/>
                </a:ln>
                <a:effectLst/>
                <a:uLnTx/>
                <a:uFillTx/>
                <a:cs typeface="Arial" panose="020B0604020202020204" pitchFamily="34" charset="0"/>
                <a:sym typeface="+mn-ea"/>
              </a:rPr>
              <a:t>hr</a:t>
            </a:r>
            <a:endParaRPr kumimoji="0" lang="en-US" i="0" u="none" strike="noStrike" kern="1200" cap="none" spc="0" normalizeH="0" baseline="0" noProof="0" dirty="0">
              <a:ln>
                <a:noFill/>
              </a:ln>
              <a:solidFill>
                <a:schemeClr val="tx1"/>
              </a:solidFill>
              <a:effectLst/>
              <a:uLnTx/>
              <a:uFillTx/>
              <a:latin typeface="+mn-lt"/>
              <a:ea typeface="+mn-ea"/>
              <a:cs typeface="Arial" panose="020B0604020202020204" pitchFamily="34" charset="0"/>
            </a:endParaRPr>
          </a:p>
          <a:p>
            <a:pPr marL="514350" marR="0" lvl="0" indent="-514350" algn="just"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cs typeface="Arial" panose="020B0604020202020204" pitchFamily="34" charset="0"/>
                <a:sym typeface="+mn-ea"/>
              </a:rPr>
              <a:t>36 km/</a:t>
            </a:r>
            <a:r>
              <a:rPr lang="en-US" noProof="0" dirty="0" err="1">
                <a:ln>
                  <a:noFill/>
                </a:ln>
                <a:effectLst/>
                <a:uLnTx/>
                <a:uFillTx/>
                <a:cs typeface="Arial" panose="020B0604020202020204" pitchFamily="34" charset="0"/>
                <a:sym typeface="+mn-ea"/>
              </a:rPr>
              <a:t>hr</a:t>
            </a:r>
            <a:endParaRPr kumimoji="0" lang="en-US" i="0" u="none" strike="noStrike" kern="1200" cap="none" spc="0" normalizeH="0" baseline="0" noProof="0" dirty="0">
              <a:ln>
                <a:noFill/>
              </a:ln>
              <a:solidFill>
                <a:schemeClr val="tx1"/>
              </a:solidFill>
              <a:effectLst/>
              <a:uLnTx/>
              <a:uFillTx/>
              <a:latin typeface="+mn-lt"/>
              <a:ea typeface="+mn-ea"/>
              <a:cs typeface="Arial" panose="020B0604020202020204" pitchFamily="34" charset="0"/>
            </a:endParaRPr>
          </a:p>
          <a:p>
            <a:pPr marL="514350" marR="0" lvl="0" indent="-514350" algn="just"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cs typeface="Arial" panose="020B0604020202020204" pitchFamily="34" charset="0"/>
                <a:sym typeface="+mn-ea"/>
              </a:rPr>
              <a:t>None</a:t>
            </a:r>
            <a:endParaRPr kumimoji="0" lang="en-US" i="0" u="none" strike="noStrike" kern="1200" cap="none" spc="0" normalizeH="0" baseline="0" noProof="0" dirty="0">
              <a:ln>
                <a:noFill/>
              </a:ln>
              <a:solidFill>
                <a:schemeClr val="tx1"/>
              </a:solidFill>
              <a:effectLst/>
              <a:uLnTx/>
              <a:uFillTx/>
              <a:latin typeface="+mn-lt"/>
              <a:ea typeface="+mn-ea"/>
              <a:cs typeface="Arial" panose="020B0604020202020204" pitchFamily="34" charset="0"/>
            </a:endParaRP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3440" y="842645"/>
            <a:ext cx="10500360" cy="5334635"/>
          </a:xfrm>
        </p:spPr>
        <p: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a:ln>
                  <a:noFill/>
                </a:ln>
                <a:effectLst/>
                <a:uLnTx/>
                <a:uFillTx/>
                <a:sym typeface="+mn-ea"/>
              </a:rPr>
              <a:t>4) A man travels  the first part of his journey at 30 kmph and the remaining part at 90 kmph, and he covers the entire journey at an average speed of 50 kmph. What is the ratio of the distance he covered at 30 kmph to that he covered  at 90 kmph?</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1 : 2</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1 : 3</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2 : 3</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3 : </a:t>
            </a:r>
            <a:r>
              <a:rPr lang="en-US" noProof="0" dirty="0" smtClean="0">
                <a:ln>
                  <a:noFill/>
                </a:ln>
                <a:effectLst/>
                <a:uLnTx/>
                <a:uFillTx/>
                <a:sym typeface="+mn-ea"/>
              </a:rPr>
              <a:t>4</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42645"/>
            <a:ext cx="10515600" cy="5334635"/>
          </a:xfrm>
        </p:spPr>
        <p:txBody>
          <a:body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altLang="en-IN" noProof="0" dirty="0">
                <a:ln>
                  <a:noFill/>
                </a:ln>
                <a:effectLst/>
                <a:uLnTx/>
                <a:uFillTx/>
                <a:latin typeface="Calibri (Body)" charset="0"/>
                <a:cs typeface="Calibri (Body)" charset="0"/>
                <a:sym typeface="+mn-ea"/>
              </a:rPr>
              <a:t>5) </a:t>
            </a:r>
            <a:r>
              <a:rPr lang="en-IN" noProof="0" dirty="0">
                <a:ln>
                  <a:noFill/>
                </a:ln>
                <a:effectLst/>
                <a:uLnTx/>
                <a:uFillTx/>
                <a:latin typeface="Calibri (Body)" charset="0"/>
                <a:cs typeface="Calibri (Body)" charset="0"/>
                <a:sym typeface="+mn-ea"/>
              </a:rPr>
              <a:t>A boy goes to school with speed of 3 </a:t>
            </a:r>
            <a:r>
              <a:rPr lang="en-IN" noProof="0" dirty="0" err="1">
                <a:ln>
                  <a:noFill/>
                </a:ln>
                <a:effectLst/>
                <a:uLnTx/>
                <a:uFillTx/>
                <a:latin typeface="Calibri (Body)" charset="0"/>
                <a:cs typeface="Calibri (Body)" charset="0"/>
                <a:sym typeface="+mn-ea"/>
              </a:rPr>
              <a:t>kmph</a:t>
            </a:r>
            <a:r>
              <a:rPr lang="en-IN" noProof="0" dirty="0">
                <a:ln>
                  <a:noFill/>
                </a:ln>
                <a:effectLst/>
                <a:uLnTx/>
                <a:uFillTx/>
                <a:latin typeface="Calibri (Body)" charset="0"/>
                <a:cs typeface="Calibri (Body)" charset="0"/>
                <a:sym typeface="+mn-ea"/>
              </a:rPr>
              <a:t> and return with 2</a:t>
            </a:r>
            <a:r>
              <a:rPr lang="en-US" altLang="en-IN" noProof="0" dirty="0">
                <a:ln>
                  <a:noFill/>
                </a:ln>
                <a:effectLst/>
                <a:uLnTx/>
                <a:uFillTx/>
                <a:latin typeface="Calibri (Body)" charset="0"/>
                <a:cs typeface="Calibri (Body)" charset="0"/>
                <a:sym typeface="+mn-ea"/>
              </a:rPr>
              <a:t> </a:t>
            </a:r>
            <a:r>
              <a:rPr lang="en-IN" noProof="0" dirty="0" err="1">
                <a:ln>
                  <a:noFill/>
                </a:ln>
                <a:effectLst/>
                <a:uLnTx/>
                <a:uFillTx/>
                <a:latin typeface="Calibri (Body)" charset="0"/>
                <a:cs typeface="Calibri (Body)" charset="0"/>
                <a:sym typeface="+mn-ea"/>
              </a:rPr>
              <a:t>kmph</a:t>
            </a:r>
            <a:r>
              <a:rPr lang="en-IN" noProof="0" dirty="0">
                <a:ln>
                  <a:noFill/>
                </a:ln>
                <a:effectLst/>
                <a:uLnTx/>
                <a:uFillTx/>
                <a:latin typeface="Calibri (Body)" charset="0"/>
                <a:cs typeface="Calibri (Body)" charset="0"/>
                <a:sym typeface="+mn-ea"/>
              </a:rPr>
              <a:t>. If he takes 5 hrs in all. Find distance between home and school.</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mj-lt"/>
              <a:buAutoNum type="alphaUcPeriod"/>
              <a:defRPr/>
            </a:pPr>
            <a:r>
              <a:rPr lang="en-IN" noProof="0" dirty="0">
                <a:ln>
                  <a:noFill/>
                </a:ln>
                <a:effectLst/>
                <a:uLnTx/>
                <a:uFillTx/>
                <a:latin typeface="Calibri (Body)" charset="0"/>
                <a:cs typeface="Calibri (Body)" charset="0"/>
                <a:sym typeface="+mn-ea"/>
              </a:rPr>
              <a:t>5 km</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mj-lt"/>
              <a:buAutoNum type="alphaUcPeriod"/>
              <a:defRPr/>
            </a:pPr>
            <a:r>
              <a:rPr lang="en-IN" noProof="0" dirty="0">
                <a:ln>
                  <a:noFill/>
                </a:ln>
                <a:effectLst/>
                <a:uLnTx/>
                <a:uFillTx/>
                <a:latin typeface="Calibri (Body)" charset="0"/>
                <a:cs typeface="Calibri (Body)" charset="0"/>
                <a:sym typeface="+mn-ea"/>
              </a:rPr>
              <a:t>6 km</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mj-lt"/>
              <a:buAutoNum type="alphaUcPeriod"/>
              <a:defRPr/>
            </a:pPr>
            <a:r>
              <a:rPr lang="en-IN" noProof="0" dirty="0">
                <a:ln>
                  <a:noFill/>
                </a:ln>
                <a:effectLst/>
                <a:uLnTx/>
                <a:uFillTx/>
                <a:latin typeface="Calibri (Body)" charset="0"/>
                <a:cs typeface="Calibri (Body)" charset="0"/>
                <a:sym typeface="+mn-ea"/>
              </a:rPr>
              <a:t>10 km</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mj-lt"/>
              <a:buAutoNum type="alphaUcPeriod"/>
              <a:defRPr/>
            </a:pPr>
            <a:r>
              <a:rPr lang="en-IN" noProof="0" dirty="0">
                <a:ln>
                  <a:noFill/>
                </a:ln>
                <a:effectLst/>
                <a:uLnTx/>
                <a:uFillTx/>
                <a:latin typeface="Calibri (Body)" charset="0"/>
                <a:cs typeface="Calibri (Body)" charset="0"/>
                <a:sym typeface="+mn-ea"/>
              </a:rPr>
              <a:t>12 km</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endParaRPr lang="en-US">
              <a:latin typeface="Calibri (Body)" charset="0"/>
              <a:cs typeface="Calibri (Body)"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37870"/>
            <a:ext cx="10515600" cy="5439410"/>
          </a:xfrm>
        </p:spPr>
        <p:txBody>
          <a:body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altLang="en-IN" noProof="0" dirty="0">
                <a:ln>
                  <a:noFill/>
                </a:ln>
                <a:effectLst/>
                <a:uLnTx/>
                <a:uFillTx/>
                <a:latin typeface="Calibri (Body)" charset="0"/>
                <a:cs typeface="Calibri (Body)" charset="0"/>
                <a:sym typeface="+mn-ea"/>
              </a:rPr>
              <a:t>6) </a:t>
            </a:r>
            <a:r>
              <a:rPr lang="en-IN" noProof="0" dirty="0">
                <a:ln>
                  <a:noFill/>
                </a:ln>
                <a:effectLst/>
                <a:uLnTx/>
                <a:uFillTx/>
                <a:latin typeface="Calibri (Body)" charset="0"/>
                <a:cs typeface="Calibri (Body)" charset="0"/>
                <a:sym typeface="+mn-ea"/>
              </a:rPr>
              <a:t>A boy goes to school with speed of 6 </a:t>
            </a:r>
            <a:r>
              <a:rPr lang="en-IN" noProof="0" dirty="0" err="1">
                <a:ln>
                  <a:noFill/>
                </a:ln>
                <a:effectLst/>
                <a:uLnTx/>
                <a:uFillTx/>
                <a:latin typeface="Calibri (Body)" charset="0"/>
                <a:cs typeface="Calibri (Body)" charset="0"/>
                <a:sym typeface="+mn-ea"/>
              </a:rPr>
              <a:t>kmph</a:t>
            </a:r>
            <a:r>
              <a:rPr lang="en-IN" noProof="0" dirty="0">
                <a:ln>
                  <a:noFill/>
                </a:ln>
                <a:effectLst/>
                <a:uLnTx/>
                <a:uFillTx/>
                <a:latin typeface="Calibri (Body)" charset="0"/>
                <a:cs typeface="Calibri (Body)" charset="0"/>
                <a:sym typeface="+mn-ea"/>
              </a:rPr>
              <a:t> and return with 3 </a:t>
            </a:r>
            <a:r>
              <a:rPr lang="en-IN" noProof="0" dirty="0" err="1">
                <a:ln>
                  <a:noFill/>
                </a:ln>
                <a:effectLst/>
                <a:uLnTx/>
                <a:uFillTx/>
                <a:latin typeface="Calibri (Body)" charset="0"/>
                <a:cs typeface="Calibri (Body)" charset="0"/>
                <a:sym typeface="+mn-ea"/>
              </a:rPr>
              <a:t>kmph</a:t>
            </a:r>
            <a:r>
              <a:rPr lang="en-IN" noProof="0" dirty="0">
                <a:ln>
                  <a:noFill/>
                </a:ln>
                <a:effectLst/>
                <a:uLnTx/>
                <a:uFillTx/>
                <a:latin typeface="Calibri (Body)" charset="0"/>
                <a:cs typeface="Calibri (Body)" charset="0"/>
                <a:sym typeface="+mn-ea"/>
              </a:rPr>
              <a:t>. If he takes 5 hrs in all. Find distance between home and school.</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mj-lt"/>
              <a:buAutoNum type="alphaUcPeriod"/>
              <a:defRPr/>
            </a:pPr>
            <a:r>
              <a:rPr lang="en-IN" noProof="0" dirty="0">
                <a:ln>
                  <a:noFill/>
                </a:ln>
                <a:effectLst/>
                <a:uLnTx/>
                <a:uFillTx/>
                <a:latin typeface="Calibri (Body)" charset="0"/>
                <a:cs typeface="Calibri (Body)" charset="0"/>
                <a:sym typeface="+mn-ea"/>
              </a:rPr>
              <a:t>5 km</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mj-lt"/>
              <a:buAutoNum type="alphaUcPeriod"/>
              <a:defRPr/>
            </a:pPr>
            <a:r>
              <a:rPr lang="en-IN" noProof="0" dirty="0">
                <a:ln>
                  <a:noFill/>
                </a:ln>
                <a:effectLst/>
                <a:uLnTx/>
                <a:uFillTx/>
                <a:latin typeface="Calibri (Body)" charset="0"/>
                <a:cs typeface="Calibri (Body)" charset="0"/>
                <a:sym typeface="+mn-ea"/>
              </a:rPr>
              <a:t>6 km</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mj-lt"/>
              <a:buAutoNum type="alphaUcPeriod"/>
              <a:defRPr/>
            </a:pPr>
            <a:r>
              <a:rPr lang="en-IN" noProof="0" dirty="0">
                <a:ln>
                  <a:noFill/>
                </a:ln>
                <a:effectLst/>
                <a:uLnTx/>
                <a:uFillTx/>
                <a:latin typeface="Calibri (Body)" charset="0"/>
                <a:cs typeface="Calibri (Body)" charset="0"/>
                <a:sym typeface="+mn-ea"/>
              </a:rPr>
              <a:t>10 km</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mj-lt"/>
              <a:buAutoNum type="alphaUcPeriod"/>
              <a:defRPr/>
            </a:pPr>
            <a:r>
              <a:rPr lang="en-IN" noProof="0" dirty="0">
                <a:ln>
                  <a:noFill/>
                </a:ln>
                <a:effectLst/>
                <a:uLnTx/>
                <a:uFillTx/>
                <a:latin typeface="Calibri (Body)" charset="0"/>
                <a:cs typeface="Calibri (Body)" charset="0"/>
                <a:sym typeface="+mn-ea"/>
              </a:rPr>
              <a:t>12 km</a:t>
            </a:r>
            <a:endParaRPr lang="en-US">
              <a:latin typeface="Calibri (Body)" charset="0"/>
              <a:cs typeface="Calibri (Body)"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p:cNvSpPr>
            <a:spLocks noGrp="1"/>
          </p:cNvSpPr>
          <p:nvPr>
            <p:ph idx="1"/>
          </p:nvPr>
        </p:nvSpPr>
        <p:spPr>
          <a:xfrm>
            <a:off x="907415" y="773430"/>
            <a:ext cx="10539095" cy="5144135"/>
          </a:xfrm>
        </p:spPr>
        <p:txBody>
          <a:bodyPr vert="horz" wrap="square" lIns="91440" tIns="45720" rIns="91440" bIns="45720" anchor="t" anchorCtr="0"/>
          <a:lstStyle/>
          <a:p>
            <a:pPr marL="0" indent="0" algn="l" eaLnBrk="1" hangingPunct="1">
              <a:buNone/>
            </a:pPr>
            <a:r>
              <a:rPr lang="en-US" altLang="en-US" dirty="0">
                <a:latin typeface="Calibri (Body)" charset="0"/>
                <a:ea typeface="+mj-ea"/>
                <a:cs typeface="Calibri (Body)" charset="0"/>
                <a:sym typeface="+mn-ea"/>
              </a:rPr>
              <a:t>Example: A man covers a certain distance between his house and office on bike. Having an average speed of 30 km/hr, he is late by 10 minutes. However, with a speed of 40 km/hr, he reaches his office 5 minutes earlier. Find the distance between his house and office?</a:t>
            </a:r>
            <a:endParaRPr lang="en-US" altLang="en-US" noProof="0" dirty="0">
              <a:ln>
                <a:noFill/>
              </a:ln>
              <a:solidFill>
                <a:schemeClr val="tx1"/>
              </a:solidFill>
              <a:effectLst/>
              <a:uLnTx/>
              <a:uFillTx/>
              <a:latin typeface="Calibri (Body)" charset="0"/>
              <a:cs typeface="Calibri (Body)" charset="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3270" y="871855"/>
            <a:ext cx="10590530" cy="5305425"/>
          </a:xfrm>
        </p:spPr>
        <p:txBody>
          <a:body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altLang="en-IN" noProof="0" dirty="0">
                <a:ln>
                  <a:noFill/>
                </a:ln>
                <a:effectLst/>
                <a:uLnTx/>
                <a:uFillTx/>
                <a:latin typeface="Calibri (Body)" charset="0"/>
                <a:cs typeface="Calibri (Body)" charset="0"/>
                <a:sym typeface="+mn-ea"/>
              </a:rPr>
              <a:t>7) </a:t>
            </a:r>
            <a:r>
              <a:rPr lang="en-IN" noProof="0" dirty="0">
                <a:ln>
                  <a:noFill/>
                </a:ln>
                <a:effectLst/>
                <a:uLnTx/>
                <a:uFillTx/>
                <a:latin typeface="Calibri (Body)" charset="0"/>
                <a:cs typeface="Calibri (Body)" charset="0"/>
                <a:sym typeface="+mn-ea"/>
              </a:rPr>
              <a:t>A boy walk at 5 </a:t>
            </a:r>
            <a:r>
              <a:rPr lang="en-IN" noProof="0" dirty="0" err="1">
                <a:ln>
                  <a:noFill/>
                </a:ln>
                <a:effectLst/>
                <a:uLnTx/>
                <a:uFillTx/>
                <a:latin typeface="Calibri (Body)" charset="0"/>
                <a:cs typeface="Calibri (Body)" charset="0"/>
                <a:sym typeface="+mn-ea"/>
              </a:rPr>
              <a:t>kmph</a:t>
            </a:r>
            <a:r>
              <a:rPr lang="en-IN" noProof="0" dirty="0">
                <a:ln>
                  <a:noFill/>
                </a:ln>
                <a:effectLst/>
                <a:uLnTx/>
                <a:uFillTx/>
                <a:latin typeface="Calibri (Body)" charset="0"/>
                <a:cs typeface="Calibri (Body)" charset="0"/>
                <a:sym typeface="+mn-ea"/>
              </a:rPr>
              <a:t> and reaches his school 10 min late. If speed has been 6 </a:t>
            </a:r>
            <a:r>
              <a:rPr lang="en-IN" noProof="0" dirty="0" err="1">
                <a:ln>
                  <a:noFill/>
                </a:ln>
                <a:effectLst/>
                <a:uLnTx/>
                <a:uFillTx/>
                <a:latin typeface="Calibri (Body)" charset="0"/>
                <a:cs typeface="Calibri (Body)" charset="0"/>
                <a:sym typeface="+mn-ea"/>
              </a:rPr>
              <a:t>kmph</a:t>
            </a:r>
            <a:r>
              <a:rPr lang="en-IN" noProof="0" dirty="0">
                <a:ln>
                  <a:noFill/>
                </a:ln>
                <a:effectLst/>
                <a:uLnTx/>
                <a:uFillTx/>
                <a:latin typeface="Calibri (Body)" charset="0"/>
                <a:cs typeface="Calibri (Body)" charset="0"/>
                <a:sym typeface="+mn-ea"/>
              </a:rPr>
              <a:t>, he will reach 15 min early. Find distance between home and school.</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mj-lt"/>
              <a:buAutoNum type="alphaUcPeriod"/>
              <a:defRPr/>
            </a:pPr>
            <a:r>
              <a:rPr lang="en-IN" noProof="0" dirty="0">
                <a:ln>
                  <a:noFill/>
                </a:ln>
                <a:effectLst/>
                <a:uLnTx/>
                <a:uFillTx/>
                <a:latin typeface="Calibri (Body)" charset="0"/>
                <a:cs typeface="Calibri (Body)" charset="0"/>
                <a:sym typeface="+mn-ea"/>
              </a:rPr>
              <a:t>6.25 km</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mj-lt"/>
              <a:buAutoNum type="alphaUcPeriod"/>
              <a:defRPr/>
            </a:pPr>
            <a:r>
              <a:rPr lang="en-IN" noProof="0" dirty="0">
                <a:ln>
                  <a:noFill/>
                </a:ln>
                <a:effectLst/>
                <a:uLnTx/>
                <a:uFillTx/>
                <a:latin typeface="Calibri (Body)" charset="0"/>
                <a:cs typeface="Calibri (Body)" charset="0"/>
                <a:sym typeface="+mn-ea"/>
              </a:rPr>
              <a:t>12 km</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mj-lt"/>
              <a:buAutoNum type="alphaUcPeriod"/>
              <a:defRPr/>
            </a:pPr>
            <a:r>
              <a:rPr lang="en-IN" noProof="0" dirty="0">
                <a:ln>
                  <a:noFill/>
                </a:ln>
                <a:effectLst/>
                <a:uLnTx/>
                <a:uFillTx/>
                <a:latin typeface="Calibri (Body)" charset="0"/>
                <a:cs typeface="Calibri (Body)" charset="0"/>
                <a:sym typeface="+mn-ea"/>
              </a:rPr>
              <a:t>12.5 km</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mj-lt"/>
              <a:buAutoNum type="alphaUcPeriod"/>
              <a:defRPr/>
            </a:pPr>
            <a:r>
              <a:rPr lang="en-IN" noProof="0" dirty="0">
                <a:ln>
                  <a:noFill/>
                </a:ln>
                <a:effectLst/>
                <a:uLnTx/>
                <a:uFillTx/>
                <a:latin typeface="Calibri (Body)" charset="0"/>
                <a:cs typeface="Calibri (Body)" charset="0"/>
                <a:sym typeface="+mn-ea"/>
              </a:rPr>
              <a:t>25 km</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endParaRPr lang="en-US">
              <a:latin typeface="Calibri (Body)" charset="0"/>
              <a:cs typeface="Calibri (Body)"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2805" y="723265"/>
            <a:ext cx="10500995" cy="5454015"/>
          </a:xfrm>
        </p:spPr>
        <p:txBody>
          <a:body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altLang="en-IN" noProof="0" dirty="0">
                <a:ln>
                  <a:noFill/>
                </a:ln>
                <a:effectLst/>
                <a:uLnTx/>
                <a:uFillTx/>
                <a:latin typeface="Calibri (Body)" charset="0"/>
                <a:cs typeface="Calibri (Body)" charset="0"/>
                <a:sym typeface="+mn-ea"/>
              </a:rPr>
              <a:t>8) </a:t>
            </a:r>
            <a:r>
              <a:rPr lang="en-IN" noProof="0" dirty="0">
                <a:ln>
                  <a:noFill/>
                </a:ln>
                <a:effectLst/>
                <a:uLnTx/>
                <a:uFillTx/>
                <a:latin typeface="Calibri (Body)" charset="0"/>
                <a:cs typeface="Calibri (Body)" charset="0"/>
                <a:sym typeface="+mn-ea"/>
              </a:rPr>
              <a:t>If train runs at 40 </a:t>
            </a:r>
            <a:r>
              <a:rPr lang="en-IN" noProof="0" dirty="0" err="1">
                <a:ln>
                  <a:noFill/>
                </a:ln>
                <a:effectLst/>
                <a:uLnTx/>
                <a:uFillTx/>
                <a:latin typeface="Calibri (Body)" charset="0"/>
                <a:cs typeface="Calibri (Body)" charset="0"/>
                <a:sym typeface="+mn-ea"/>
              </a:rPr>
              <a:t>kmph</a:t>
            </a:r>
            <a:r>
              <a:rPr lang="en-IN" noProof="0" dirty="0">
                <a:ln>
                  <a:noFill/>
                </a:ln>
                <a:effectLst/>
                <a:uLnTx/>
                <a:uFillTx/>
                <a:latin typeface="Calibri (Body)" charset="0"/>
                <a:cs typeface="Calibri (Body)" charset="0"/>
                <a:sym typeface="+mn-ea"/>
              </a:rPr>
              <a:t>, it reaches its destination late by 11 min</a:t>
            </a:r>
            <a:r>
              <a:rPr lang="en-US" altLang="en-IN" noProof="0" dirty="0">
                <a:ln>
                  <a:noFill/>
                </a:ln>
                <a:effectLst/>
                <a:uLnTx/>
                <a:uFillTx/>
                <a:latin typeface="Calibri (Body)" charset="0"/>
                <a:cs typeface="Calibri (Body)" charset="0"/>
                <a:sym typeface="+mn-ea"/>
              </a:rPr>
              <a:t> </a:t>
            </a:r>
            <a:r>
              <a:rPr lang="en-IN" noProof="0" dirty="0">
                <a:ln>
                  <a:noFill/>
                </a:ln>
                <a:effectLst/>
                <a:uLnTx/>
                <a:uFillTx/>
                <a:latin typeface="Calibri (Body)" charset="0"/>
                <a:cs typeface="Calibri (Body)" charset="0"/>
                <a:sym typeface="+mn-ea"/>
              </a:rPr>
              <a:t>but if it runs at 50 </a:t>
            </a:r>
            <a:r>
              <a:rPr lang="en-IN" noProof="0" dirty="0" err="1">
                <a:ln>
                  <a:noFill/>
                </a:ln>
                <a:effectLst/>
                <a:uLnTx/>
                <a:uFillTx/>
                <a:latin typeface="Calibri (Body)" charset="0"/>
                <a:cs typeface="Calibri (Body)" charset="0"/>
                <a:sym typeface="+mn-ea"/>
              </a:rPr>
              <a:t>kmph</a:t>
            </a:r>
            <a:r>
              <a:rPr lang="en-IN" noProof="0" dirty="0">
                <a:ln>
                  <a:noFill/>
                </a:ln>
                <a:effectLst/>
                <a:uLnTx/>
                <a:uFillTx/>
                <a:latin typeface="Calibri (Body)" charset="0"/>
                <a:cs typeface="Calibri (Body)" charset="0"/>
                <a:sym typeface="+mn-ea"/>
              </a:rPr>
              <a:t>, it is late by 5 min. Find the correct time for train to complete the journey.</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Arial" panose="020B0604020202020204" pitchFamily="34" charset="0"/>
              <a:buAutoNum type="alphaUcPeriod"/>
              <a:defRPr/>
            </a:pPr>
            <a:r>
              <a:rPr lang="en-IN" noProof="0" dirty="0">
                <a:ln>
                  <a:noFill/>
                </a:ln>
                <a:effectLst/>
                <a:uLnTx/>
                <a:uFillTx/>
                <a:latin typeface="Calibri (Body)" charset="0"/>
                <a:cs typeface="Calibri (Body)" charset="0"/>
                <a:sym typeface="+mn-ea"/>
              </a:rPr>
              <a:t>11 min</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Arial" panose="020B0604020202020204" pitchFamily="34" charset="0"/>
              <a:buAutoNum type="alphaUcPeriod"/>
              <a:defRPr/>
            </a:pPr>
            <a:r>
              <a:rPr lang="en-IN" noProof="0" dirty="0">
                <a:ln>
                  <a:noFill/>
                </a:ln>
                <a:effectLst/>
                <a:uLnTx/>
                <a:uFillTx/>
                <a:latin typeface="Calibri (Body)" charset="0"/>
                <a:cs typeface="Calibri (Body)" charset="0"/>
                <a:sym typeface="+mn-ea"/>
              </a:rPr>
              <a:t>19 min</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Arial" panose="020B0604020202020204" pitchFamily="34" charset="0"/>
              <a:buAutoNum type="alphaUcPeriod"/>
              <a:defRPr/>
            </a:pPr>
            <a:r>
              <a:rPr lang="en-IN" noProof="0" dirty="0">
                <a:ln>
                  <a:noFill/>
                </a:ln>
                <a:effectLst/>
                <a:uLnTx/>
                <a:uFillTx/>
                <a:latin typeface="Calibri (Body)" charset="0"/>
                <a:cs typeface="Calibri (Body)" charset="0"/>
                <a:sym typeface="+mn-ea"/>
              </a:rPr>
              <a:t>24 min</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Arial" panose="020B0604020202020204" pitchFamily="34" charset="0"/>
              <a:buAutoNum type="alphaUcPeriod"/>
              <a:defRPr/>
            </a:pPr>
            <a:r>
              <a:rPr lang="en-IN" noProof="0" dirty="0">
                <a:ln>
                  <a:noFill/>
                </a:ln>
                <a:effectLst/>
                <a:uLnTx/>
                <a:uFillTx/>
                <a:latin typeface="Calibri (Body)" charset="0"/>
                <a:cs typeface="Calibri (Body)" charset="0"/>
                <a:sym typeface="+mn-ea"/>
              </a:rPr>
              <a:t>30 min</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endParaRPr lang="en-US">
              <a:latin typeface="Calibri (Body)" charset="0"/>
              <a:cs typeface="Calibri (Body)"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3440" y="812165"/>
            <a:ext cx="10500360" cy="5365115"/>
          </a:xfrm>
        </p:spPr>
        <p:txBody>
          <a:body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altLang="en-IN" noProof="0" dirty="0">
                <a:ln>
                  <a:noFill/>
                </a:ln>
                <a:effectLst/>
                <a:uLnTx/>
                <a:uFillTx/>
                <a:latin typeface="Calibri (Body)" charset="0"/>
                <a:cs typeface="Calibri (Body)" charset="0"/>
                <a:sym typeface="+mn-ea"/>
              </a:rPr>
              <a:t>9) </a:t>
            </a:r>
            <a:r>
              <a:rPr lang="en-IN" noProof="0" dirty="0">
                <a:ln>
                  <a:noFill/>
                </a:ln>
                <a:effectLst/>
                <a:uLnTx/>
                <a:uFillTx/>
                <a:latin typeface="Calibri (Body)" charset="0"/>
                <a:cs typeface="Calibri (Body)" charset="0"/>
                <a:sym typeface="+mn-ea"/>
              </a:rPr>
              <a:t>Walking at 4 km/h a clerk reaches his office 5 min late. If he walk at 5 km/h he reaches 2 and half min earlier. What's the distance?</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Arial" panose="020B0604020202020204" pitchFamily="34" charset="0"/>
              <a:buAutoNum type="alphaUcPeriod"/>
              <a:defRPr/>
            </a:pPr>
            <a:r>
              <a:rPr lang="en-IN" noProof="0" dirty="0">
                <a:ln>
                  <a:noFill/>
                </a:ln>
                <a:effectLst/>
                <a:uLnTx/>
                <a:uFillTx/>
                <a:latin typeface="Calibri (Body)" charset="0"/>
                <a:cs typeface="Calibri (Body)" charset="0"/>
                <a:sym typeface="+mn-ea"/>
              </a:rPr>
              <a:t>15 km</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Arial" panose="020B0604020202020204" pitchFamily="34" charset="0"/>
              <a:buAutoNum type="alphaUcPeriod"/>
              <a:defRPr/>
            </a:pPr>
            <a:r>
              <a:rPr lang="en-IN" noProof="0" dirty="0">
                <a:ln>
                  <a:noFill/>
                </a:ln>
                <a:effectLst/>
                <a:uLnTx/>
                <a:uFillTx/>
                <a:latin typeface="Calibri (Body)" charset="0"/>
                <a:cs typeface="Calibri (Body)" charset="0"/>
                <a:sym typeface="+mn-ea"/>
              </a:rPr>
              <a:t>10 km</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Arial" panose="020B0604020202020204" pitchFamily="34" charset="0"/>
              <a:buAutoNum type="alphaUcPeriod"/>
              <a:defRPr/>
            </a:pPr>
            <a:r>
              <a:rPr lang="en-IN" noProof="0" dirty="0">
                <a:ln>
                  <a:noFill/>
                </a:ln>
                <a:effectLst/>
                <a:uLnTx/>
                <a:uFillTx/>
                <a:latin typeface="Calibri (Body)" charset="0"/>
                <a:cs typeface="Calibri (Body)" charset="0"/>
                <a:sym typeface="+mn-ea"/>
              </a:rPr>
              <a:t>25 km</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Arial" panose="020B0604020202020204" pitchFamily="34" charset="0"/>
              <a:buAutoNum type="alphaUcPeriod"/>
              <a:defRPr/>
            </a:pPr>
            <a:r>
              <a:rPr lang="en-IN" noProof="0" dirty="0">
                <a:ln>
                  <a:noFill/>
                </a:ln>
                <a:effectLst/>
                <a:uLnTx/>
                <a:uFillTx/>
                <a:latin typeface="Calibri (Body)" charset="0"/>
                <a:cs typeface="Calibri (Body)" charset="0"/>
                <a:sym typeface="+mn-ea"/>
              </a:rPr>
              <a:t>2.5 km</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Arial" panose="020B0604020202020204" pitchFamily="34" charset="0"/>
              <a:buAutoNum type="alphaUcPeriod"/>
              <a:defRPr/>
            </a:pP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endParaRPr lang="en-US">
              <a:latin typeface="Calibri (Body)" charset="0"/>
              <a:cs typeface="Calibri (Body)"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7405"/>
            <a:ext cx="10515600" cy="5349875"/>
          </a:xfrm>
        </p:spPr>
        <p:txBody>
          <a:body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altLang="en-IN" noProof="0" dirty="0">
                <a:ln>
                  <a:noFill/>
                </a:ln>
                <a:effectLst/>
                <a:uLnTx/>
                <a:uFillTx/>
                <a:latin typeface="Calibri (Body)" charset="0"/>
                <a:cs typeface="Calibri (Body)" charset="0"/>
                <a:sym typeface="+mn-ea"/>
              </a:rPr>
              <a:t>10) </a:t>
            </a:r>
            <a:r>
              <a:rPr lang="en-IN" noProof="0" dirty="0">
                <a:ln>
                  <a:noFill/>
                </a:ln>
                <a:effectLst/>
                <a:uLnTx/>
                <a:uFillTx/>
                <a:latin typeface="Calibri (Body)" charset="0"/>
                <a:cs typeface="Calibri (Body)" charset="0"/>
                <a:sym typeface="+mn-ea"/>
              </a:rPr>
              <a:t>Walking 5/6</a:t>
            </a:r>
            <a:r>
              <a:rPr lang="en-IN" baseline="30000" noProof="0" dirty="0">
                <a:ln>
                  <a:noFill/>
                </a:ln>
                <a:effectLst/>
                <a:uLnTx/>
                <a:uFillTx/>
                <a:latin typeface="Calibri (Body)" charset="0"/>
                <a:cs typeface="Calibri (Body)" charset="0"/>
                <a:sym typeface="+mn-ea"/>
              </a:rPr>
              <a:t>  </a:t>
            </a:r>
            <a:r>
              <a:rPr lang="en-IN" noProof="0" dirty="0">
                <a:ln>
                  <a:noFill/>
                </a:ln>
                <a:effectLst/>
                <a:uLnTx/>
                <a:uFillTx/>
                <a:latin typeface="Calibri (Body)" charset="0"/>
                <a:cs typeface="Calibri (Body)" charset="0"/>
                <a:sym typeface="+mn-ea"/>
              </a:rPr>
              <a:t>of usual speed a man is late by 10 min. Find the usual time taken by him to cover the distance.</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Arial" panose="020B0604020202020204" pitchFamily="34" charset="0"/>
              <a:buAutoNum type="alphaUcPeriod"/>
              <a:defRPr/>
            </a:pPr>
            <a:r>
              <a:rPr lang="en-IN" noProof="0" dirty="0">
                <a:ln>
                  <a:noFill/>
                </a:ln>
                <a:effectLst/>
                <a:uLnTx/>
                <a:uFillTx/>
                <a:latin typeface="Calibri (Body)" charset="0"/>
                <a:cs typeface="Calibri (Body)" charset="0"/>
                <a:sym typeface="+mn-ea"/>
              </a:rPr>
              <a:t>50 min</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Arial" panose="020B0604020202020204" pitchFamily="34" charset="0"/>
              <a:buAutoNum type="alphaUcPeriod"/>
              <a:defRPr/>
            </a:pPr>
            <a:r>
              <a:rPr lang="en-IN" noProof="0" dirty="0">
                <a:ln>
                  <a:noFill/>
                </a:ln>
                <a:effectLst/>
                <a:uLnTx/>
                <a:uFillTx/>
                <a:latin typeface="Calibri (Body)" charset="0"/>
                <a:cs typeface="Calibri (Body)" charset="0"/>
                <a:sym typeface="+mn-ea"/>
              </a:rPr>
              <a:t>60 min</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Arial" panose="020B0604020202020204" pitchFamily="34" charset="0"/>
              <a:buAutoNum type="alphaUcPeriod"/>
              <a:defRPr/>
            </a:pPr>
            <a:r>
              <a:rPr lang="en-IN" noProof="0" dirty="0">
                <a:ln>
                  <a:noFill/>
                </a:ln>
                <a:effectLst/>
                <a:uLnTx/>
                <a:uFillTx/>
                <a:latin typeface="Calibri (Body)" charset="0"/>
                <a:cs typeface="Calibri (Body)" charset="0"/>
                <a:sym typeface="+mn-ea"/>
              </a:rPr>
              <a:t>40 min</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Arial" panose="020B0604020202020204" pitchFamily="34" charset="0"/>
              <a:buAutoNum type="alphaUcPeriod"/>
              <a:defRPr/>
            </a:pPr>
            <a:r>
              <a:rPr lang="en-IN" noProof="0" dirty="0">
                <a:ln>
                  <a:noFill/>
                </a:ln>
                <a:effectLst/>
                <a:uLnTx/>
                <a:uFillTx/>
                <a:latin typeface="Calibri (Body)" charset="0"/>
                <a:cs typeface="Calibri (Body)" charset="0"/>
                <a:sym typeface="+mn-ea"/>
              </a:rPr>
              <a:t>30 min</a:t>
            </a:r>
            <a:endParaRPr kumimoji="0" lang="en-IN" i="0" u="none" strike="noStrike" kern="1200" cap="none" spc="0" normalizeH="0" baseline="0" noProof="0" dirty="0">
              <a:ln>
                <a:noFill/>
              </a:ln>
              <a:solidFill>
                <a:schemeClr val="tx1"/>
              </a:solidFill>
              <a:effectLst/>
              <a:uLnTx/>
              <a:uFillTx/>
              <a:latin typeface="Calibri (Body)" charset="0"/>
              <a:ea typeface="+mn-ea"/>
              <a:cs typeface="Calibri (Body)" charset="0"/>
            </a:endParaRPr>
          </a:p>
          <a:p>
            <a:endParaRPr lang="en-US">
              <a:latin typeface="Calibri (Body)" charset="0"/>
              <a:cs typeface="Calibri (Body)"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837565" y="757555"/>
            <a:ext cx="10363835" cy="5163185"/>
          </a:xfrm>
          <a:prstGeom prst="rect">
            <a:avLst/>
          </a:prstGeom>
          <a:noFill/>
        </p:spPr>
        <p:txBody>
          <a:bodyPr wrap="square" rtlCol="0" anchor="t">
            <a:noAutofit/>
          </a:body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altLang="en-IN" sz="2800" noProof="0" dirty="0">
                <a:ln>
                  <a:noFill/>
                </a:ln>
                <a:effectLst/>
                <a:uLnTx/>
                <a:uFillTx/>
                <a:latin typeface="Calibri (Body)" charset="0"/>
                <a:cs typeface="Calibri (Body)" charset="0"/>
                <a:sym typeface="+mn-ea"/>
              </a:rPr>
              <a:t>11) </a:t>
            </a:r>
            <a:r>
              <a:rPr lang="en-IN" sz="2800" noProof="0" dirty="0">
                <a:ln>
                  <a:noFill/>
                </a:ln>
                <a:effectLst/>
                <a:uLnTx/>
                <a:uFillTx/>
                <a:latin typeface="Calibri (Body)" charset="0"/>
                <a:cs typeface="Calibri (Body)" charset="0"/>
                <a:sym typeface="+mn-ea"/>
              </a:rPr>
              <a:t>Krishna covers a certain distance by train at 25 </a:t>
            </a:r>
            <a:r>
              <a:rPr lang="en-IN" sz="2800" noProof="0" dirty="0" err="1">
                <a:ln>
                  <a:noFill/>
                </a:ln>
                <a:effectLst/>
                <a:uLnTx/>
                <a:uFillTx/>
                <a:latin typeface="Calibri (Body)" charset="0"/>
                <a:cs typeface="Calibri (Body)" charset="0"/>
                <a:sym typeface="+mn-ea"/>
              </a:rPr>
              <a:t>kmph</a:t>
            </a:r>
            <a:r>
              <a:rPr lang="en-IN" sz="2800" noProof="0" dirty="0">
                <a:ln>
                  <a:noFill/>
                </a:ln>
                <a:effectLst/>
                <a:uLnTx/>
                <a:uFillTx/>
                <a:latin typeface="Calibri (Body)" charset="0"/>
                <a:cs typeface="Calibri (Body)" charset="0"/>
                <a:sym typeface="+mn-ea"/>
              </a:rPr>
              <a:t> and same distance by foot at 4 </a:t>
            </a:r>
            <a:r>
              <a:rPr lang="en-IN" sz="2800" noProof="0" dirty="0" err="1">
                <a:ln>
                  <a:noFill/>
                </a:ln>
                <a:effectLst/>
                <a:uLnTx/>
                <a:uFillTx/>
                <a:latin typeface="Calibri (Body)" charset="0"/>
                <a:cs typeface="Calibri (Body)" charset="0"/>
                <a:sym typeface="+mn-ea"/>
              </a:rPr>
              <a:t>kmph</a:t>
            </a:r>
            <a:r>
              <a:rPr lang="en-IN" sz="2800" noProof="0" dirty="0">
                <a:ln>
                  <a:noFill/>
                </a:ln>
                <a:effectLst/>
                <a:uLnTx/>
                <a:uFillTx/>
                <a:latin typeface="Calibri (Body)" charset="0"/>
                <a:cs typeface="Calibri (Body)" charset="0"/>
                <a:sym typeface="+mn-ea"/>
              </a:rPr>
              <a:t>. If the total journey is of 5 hr 48 min. Find total distance covered by him</a:t>
            </a:r>
            <a:endParaRPr kumimoji="0" lang="en-IN" sz="280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Arial" panose="020B0604020202020204" pitchFamily="34" charset="0"/>
              <a:buAutoNum type="alphaUcPeriod"/>
              <a:defRPr/>
            </a:pPr>
            <a:r>
              <a:rPr lang="en-IN" sz="2800" noProof="0" dirty="0">
                <a:ln>
                  <a:noFill/>
                </a:ln>
                <a:effectLst/>
                <a:uLnTx/>
                <a:uFillTx/>
                <a:latin typeface="Calibri (Body)" charset="0"/>
                <a:cs typeface="Calibri (Body)" charset="0"/>
                <a:sym typeface="+mn-ea"/>
              </a:rPr>
              <a:t>20 km</a:t>
            </a:r>
            <a:endParaRPr kumimoji="0" lang="en-IN" sz="280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Arial" panose="020B0604020202020204" pitchFamily="34" charset="0"/>
              <a:buAutoNum type="alphaUcPeriod"/>
              <a:defRPr/>
            </a:pPr>
            <a:r>
              <a:rPr lang="en-IN" sz="2800" noProof="0" dirty="0">
                <a:ln>
                  <a:noFill/>
                </a:ln>
                <a:effectLst/>
                <a:uLnTx/>
                <a:uFillTx/>
                <a:latin typeface="Calibri (Body)" charset="0"/>
                <a:cs typeface="Calibri (Body)" charset="0"/>
                <a:sym typeface="+mn-ea"/>
              </a:rPr>
              <a:t>40 km</a:t>
            </a:r>
            <a:endParaRPr kumimoji="0" lang="en-IN" sz="280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Arial" panose="020B0604020202020204" pitchFamily="34" charset="0"/>
              <a:buAutoNum type="alphaUcPeriod"/>
              <a:defRPr/>
            </a:pPr>
            <a:r>
              <a:rPr lang="en-IN" sz="2800" noProof="0" dirty="0">
                <a:ln>
                  <a:noFill/>
                </a:ln>
                <a:effectLst/>
                <a:uLnTx/>
                <a:uFillTx/>
                <a:latin typeface="Calibri (Body)" charset="0"/>
                <a:cs typeface="Calibri (Body)" charset="0"/>
                <a:sym typeface="+mn-ea"/>
              </a:rPr>
              <a:t>80 km</a:t>
            </a:r>
            <a:endParaRPr kumimoji="0" lang="en-IN" sz="280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514350" marR="0" lvl="0" indent="-514350" algn="just" defTabSz="914400" rtl="0" eaLnBrk="0" fontAlgn="base" latinLnBrk="0" hangingPunct="0">
              <a:lnSpc>
                <a:spcPct val="100000"/>
              </a:lnSpc>
              <a:spcBef>
                <a:spcPct val="20000"/>
              </a:spcBef>
              <a:spcAft>
                <a:spcPct val="0"/>
              </a:spcAft>
              <a:buClrTx/>
              <a:buSzTx/>
              <a:buFont typeface="Arial" panose="020B0604020202020204" pitchFamily="34" charset="0"/>
              <a:buAutoNum type="alphaUcPeriod"/>
              <a:defRPr/>
            </a:pPr>
            <a:r>
              <a:rPr lang="en-IN" sz="2800" noProof="0" dirty="0">
                <a:ln>
                  <a:noFill/>
                </a:ln>
                <a:effectLst/>
                <a:uLnTx/>
                <a:uFillTx/>
                <a:latin typeface="Calibri (Body)" charset="0"/>
                <a:cs typeface="Calibri (Body)" charset="0"/>
                <a:sym typeface="+mn-ea"/>
              </a:rPr>
              <a:t>120 km</a:t>
            </a:r>
            <a:endParaRPr kumimoji="0" lang="en-US" altLang="en-US" sz="2800" i="0" u="none" strike="noStrike" kern="1200" cap="none" spc="0" normalizeH="0" baseline="0" noProof="0" dirty="0">
              <a:ln>
                <a:noFill/>
              </a:ln>
              <a:solidFill>
                <a:schemeClr val="tx1"/>
              </a:solidFill>
              <a:effectLst/>
              <a:uLnTx/>
              <a:uFillTx/>
              <a:latin typeface="Calibri (Body)" charset="0"/>
              <a:ea typeface="+mn-ea"/>
              <a:cs typeface="Calibri (Body)" charset="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82955"/>
            <a:ext cx="10515600" cy="5394325"/>
          </a:xfrm>
        </p:spPr>
        <p: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a:ln>
                  <a:noFill/>
                </a:ln>
                <a:effectLst/>
                <a:uLnTx/>
                <a:uFillTx/>
                <a:cs typeface="Arial" panose="020B0604020202020204" pitchFamily="34" charset="0"/>
                <a:sym typeface="+mn-ea"/>
              </a:rPr>
              <a:t>12) While driving from Chennai to Bangalore, I covered half of the journey at an average speed of 80 kmph, half of the 2</a:t>
            </a:r>
            <a:r>
              <a:rPr lang="en-US" baseline="30000" noProof="0" dirty="0">
                <a:ln>
                  <a:noFill/>
                </a:ln>
                <a:effectLst/>
                <a:uLnTx/>
                <a:uFillTx/>
                <a:cs typeface="Arial" panose="020B0604020202020204" pitchFamily="34" charset="0"/>
                <a:sym typeface="+mn-ea"/>
              </a:rPr>
              <a:t>nd</a:t>
            </a:r>
            <a:r>
              <a:rPr lang="en-US" noProof="0" dirty="0">
                <a:ln>
                  <a:noFill/>
                </a:ln>
                <a:effectLst/>
                <a:uLnTx/>
                <a:uFillTx/>
                <a:cs typeface="Arial" panose="020B0604020202020204" pitchFamily="34" charset="0"/>
                <a:sym typeface="+mn-ea"/>
              </a:rPr>
              <a:t> half of the journey at an average speed of 40 kmph and the rest at 60kmph. It took 5 hours and 30 minutes to reach Bangalore. How far is Bangalore from Chennai?</a:t>
            </a:r>
            <a:endParaRPr kumimoji="0" lang="en-US" i="0" u="none" strike="noStrike" kern="1200" cap="none" spc="0" normalizeH="0" baseline="0" noProof="0" dirty="0">
              <a:ln>
                <a:noFill/>
              </a:ln>
              <a:solidFill>
                <a:schemeClr val="tx1"/>
              </a:solidFill>
              <a:effectLst/>
              <a:uLnTx/>
              <a:uFillTx/>
              <a:latin typeface="+mn-lt"/>
              <a:ea typeface="+mn-ea"/>
              <a:cs typeface="Arial" panose="020B0604020202020204" pitchFamily="34" charset="0"/>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cs typeface="Arial" panose="020B0604020202020204" pitchFamily="34" charset="0"/>
                <a:sym typeface="+mn-ea"/>
              </a:rPr>
              <a:t>310 km</a:t>
            </a:r>
            <a:endParaRPr kumimoji="0" lang="en-US" i="0" u="none" strike="noStrike" kern="1200" cap="none" spc="0" normalizeH="0" baseline="0" noProof="0" dirty="0">
              <a:ln>
                <a:noFill/>
              </a:ln>
              <a:solidFill>
                <a:schemeClr val="tx1"/>
              </a:solidFill>
              <a:effectLst/>
              <a:uLnTx/>
              <a:uFillTx/>
              <a:latin typeface="+mn-lt"/>
              <a:ea typeface="+mn-ea"/>
              <a:cs typeface="Arial" panose="020B0604020202020204" pitchFamily="34" charset="0"/>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cs typeface="Arial" panose="020B0604020202020204" pitchFamily="34" charset="0"/>
                <a:sym typeface="+mn-ea"/>
              </a:rPr>
              <a:t>350 km</a:t>
            </a:r>
            <a:endParaRPr kumimoji="0" lang="en-US" i="0" u="none" strike="noStrike" kern="1200" cap="none" spc="0" normalizeH="0" baseline="0" noProof="0" dirty="0">
              <a:ln>
                <a:noFill/>
              </a:ln>
              <a:solidFill>
                <a:schemeClr val="tx1"/>
              </a:solidFill>
              <a:effectLst/>
              <a:uLnTx/>
              <a:uFillTx/>
              <a:latin typeface="+mn-lt"/>
              <a:ea typeface="+mn-ea"/>
              <a:cs typeface="Arial" panose="020B0604020202020204" pitchFamily="34" charset="0"/>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cs typeface="Arial" panose="020B0604020202020204" pitchFamily="34" charset="0"/>
                <a:sym typeface="+mn-ea"/>
              </a:rPr>
              <a:t>330 km</a:t>
            </a:r>
            <a:endParaRPr kumimoji="0" lang="en-US" i="0" u="none" strike="noStrike" kern="1200" cap="none" spc="0" normalizeH="0" baseline="0" noProof="0" dirty="0">
              <a:ln>
                <a:noFill/>
              </a:ln>
              <a:solidFill>
                <a:schemeClr val="tx1"/>
              </a:solidFill>
              <a:effectLst/>
              <a:uLnTx/>
              <a:uFillTx/>
              <a:latin typeface="+mn-lt"/>
              <a:ea typeface="+mn-ea"/>
              <a:cs typeface="Arial" panose="020B0604020202020204" pitchFamily="34" charset="0"/>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cs typeface="Arial" panose="020B0604020202020204" pitchFamily="34" charset="0"/>
                <a:sym typeface="+mn-ea"/>
              </a:rPr>
              <a:t>360 </a:t>
            </a:r>
            <a:r>
              <a:rPr lang="en-US" noProof="0" dirty="0" smtClean="0">
                <a:ln>
                  <a:noFill/>
                </a:ln>
                <a:effectLst/>
                <a:uLnTx/>
                <a:uFillTx/>
                <a:cs typeface="Arial" panose="020B0604020202020204" pitchFamily="34" charset="0"/>
                <a:sym typeface="+mn-ea"/>
              </a:rPr>
              <a:t>km</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56615"/>
            <a:ext cx="10515600" cy="5320665"/>
          </a:xfrm>
        </p:spPr>
        <p:txBody>
          <a:bodyPr>
            <a:normAutofit lnSpcReduction="20000"/>
          </a:bodyPr>
          <a:lstStyle/>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a:ln>
                  <a:noFill/>
                </a:ln>
                <a:effectLst/>
                <a:uLnTx/>
                <a:uFillTx/>
                <a:sym typeface="+mn-ea"/>
              </a:rPr>
              <a:t>13) A person has to cover a distance of 6 km in 45 minutes. If he covers one-half of the distance in two-thirds of the total time; to cover the remaining distance in the remaining time, what should be his speed in km/</a:t>
            </a:r>
            <a:r>
              <a:rPr lang="en-US" noProof="0" dirty="0" err="1">
                <a:ln>
                  <a:noFill/>
                </a:ln>
                <a:effectLst/>
                <a:uLnTx/>
                <a:uFillTx/>
                <a:sym typeface="+mn-ea"/>
              </a:rPr>
              <a:t>hr</a:t>
            </a:r>
            <a:r>
              <a:rPr lang="en-US" noProof="0" dirty="0">
                <a:ln>
                  <a:noFill/>
                </a:ln>
                <a:effectLst/>
                <a:uLnTx/>
                <a:uFillTx/>
                <a:sym typeface="+mn-ea"/>
              </a:rPr>
              <a:t>?</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just"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10 km/</a:t>
            </a:r>
            <a:r>
              <a:rPr lang="en-US" noProof="0" dirty="0" err="1">
                <a:ln>
                  <a:noFill/>
                </a:ln>
                <a:effectLst/>
                <a:uLnTx/>
                <a:uFillTx/>
                <a:sym typeface="+mn-ea"/>
              </a:rPr>
              <a:t>hr</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just"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12 km/</a:t>
            </a:r>
            <a:r>
              <a:rPr lang="en-US" noProof="0" dirty="0" err="1">
                <a:ln>
                  <a:noFill/>
                </a:ln>
                <a:effectLst/>
                <a:uLnTx/>
                <a:uFillTx/>
                <a:sym typeface="+mn-ea"/>
              </a:rPr>
              <a:t>hr</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just"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15 km/</a:t>
            </a:r>
            <a:r>
              <a:rPr lang="en-US" noProof="0" dirty="0" err="1">
                <a:ln>
                  <a:noFill/>
                </a:ln>
                <a:effectLst/>
                <a:uLnTx/>
                <a:uFillTx/>
                <a:sym typeface="+mn-ea"/>
              </a:rPr>
              <a:t>hr</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just"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None</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just"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a:ln>
                  <a:noFill/>
                </a:ln>
                <a:effectLst/>
                <a:uLnTx/>
                <a:uFillTx/>
                <a:sym typeface="+mn-ea"/>
              </a:rPr>
              <a:t> </a:t>
            </a:r>
            <a:endPar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827405"/>
            <a:ext cx="10530840" cy="5349875"/>
          </a:xfrm>
        </p:spPr>
        <p:txBody>
          <a:bodyPr/>
          <a:lstStyle/>
          <a:p>
            <a:pPr marL="0" indent="0">
              <a:buNone/>
            </a:pPr>
            <a:r>
              <a:rPr lang="en-US" dirty="0">
                <a:sym typeface="+mn-ea"/>
              </a:rPr>
              <a:t>14) Excluding stoppages, the speed of a bus is 54 kmph and including stoppages, it is 45 kmph. For how many minutes does the bus stop per minute?</a:t>
            </a:r>
            <a:r>
              <a:rPr lang="en-US" b="1" dirty="0">
                <a:sym typeface="+mn-ea"/>
              </a:rPr>
              <a:t> </a:t>
            </a:r>
            <a:endParaRPr lang="en-US" dirty="0"/>
          </a:p>
          <a:p>
            <a:endParaRPr lang="en-US" dirty="0"/>
          </a:p>
          <a:p>
            <a:pPr marL="457200" lvl="0" indent="-457200">
              <a:buAutoNum type="alphaUcParenR"/>
            </a:pPr>
            <a:r>
              <a:rPr lang="en-US" dirty="0">
                <a:sym typeface="+mn-ea"/>
              </a:rPr>
              <a:t>10		 </a:t>
            </a:r>
            <a:endParaRPr lang="en-US" dirty="0"/>
          </a:p>
          <a:p>
            <a:pPr marL="457200" lvl="0" indent="-457200">
              <a:buAutoNum type="alphaUcParenR"/>
            </a:pPr>
            <a:r>
              <a:rPr lang="en-US" dirty="0">
                <a:sym typeface="+mn-ea"/>
              </a:rPr>
              <a:t>20 		</a:t>
            </a:r>
            <a:endParaRPr lang="en-US" dirty="0"/>
          </a:p>
          <a:p>
            <a:pPr marL="457200" lvl="0" indent="-457200">
              <a:buAutoNum type="alphaUcParenR"/>
            </a:pPr>
            <a:r>
              <a:rPr lang="en-US" dirty="0">
                <a:sym typeface="+mn-ea"/>
              </a:rPr>
              <a:t>9		</a:t>
            </a:r>
            <a:endParaRPr lang="en-US" dirty="0"/>
          </a:p>
          <a:p>
            <a:pPr marL="457200" lvl="0" indent="-457200">
              <a:buAutoNum type="alphaUcParenR"/>
            </a:pPr>
            <a:r>
              <a:rPr lang="en-US" dirty="0">
                <a:sym typeface="+mn-ea"/>
              </a:rPr>
              <a:t>12</a:t>
            </a:r>
            <a:endParaRPr lang="en-US" dirty="0"/>
          </a:p>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1"/>
          <p:cNvPicPr>
            <a:picLocks noChangeAspect="1"/>
          </p:cNvPicPr>
          <p:nvPr/>
        </p:nvPicPr>
        <p:blipFill>
          <a:blip r:embed="rId2"/>
          <a:stretch>
            <a:fillRect/>
          </a:stretch>
        </p:blipFill>
        <p:spPr>
          <a:xfrm>
            <a:off x="2208213" y="981075"/>
            <a:ext cx="7883525" cy="4846638"/>
          </a:xfrm>
          <a:prstGeom prst="rect">
            <a:avLst/>
          </a:prstGeom>
          <a:noFill/>
          <a:ln w="9525">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829</Words>
  <Application>Microsoft Office PowerPoint</Application>
  <PresentationFormat>Custom</PresentationFormat>
  <Paragraphs>108</Paragraphs>
  <Slides>23</Slides>
  <Notes>1</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 </vt:lpstr>
      <vt:lpstr>PowerPoint Presentation</vt:lpstr>
      <vt:lpstr>AVERAGE SPEED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PEA 516 LECTURE-1 Time and Work </dc:title>
  <dc:creator/>
  <cp:lastModifiedBy>rahul</cp:lastModifiedBy>
  <cp:revision>29</cp:revision>
  <dcterms:created xsi:type="dcterms:W3CDTF">2025-01-03T10:26:00Z</dcterms:created>
  <dcterms:modified xsi:type="dcterms:W3CDTF">2025-01-12T05:16:15Z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C7455BE7D95F46A7B59DA7665120D117_11</vt:lpwstr>
  </property>
  <property fmtid="{D5CDD505-2E9C-101B-9397-08002B2CF9AE}" pid="3" name="KSOProductBuildVer">
    <vt:lpwstr>1033-12.2.0.19307</vt:lpwstr>
  </property>
</Properties>
</file>