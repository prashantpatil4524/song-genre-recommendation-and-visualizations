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7"/>
  </p:notesMasterIdLst>
  <p:sldIdLst>
    <p:sldId id="312" r:id="rId2"/>
    <p:sldId id="259" r:id="rId3"/>
    <p:sldId id="260" r:id="rId4"/>
    <p:sldId id="366" r:id="rId5"/>
    <p:sldId id="367" r:id="rId6"/>
    <p:sldId id="368" r:id="rId7"/>
    <p:sldId id="369" r:id="rId8"/>
    <p:sldId id="370" r:id="rId9"/>
    <p:sldId id="371" r:id="rId10"/>
    <p:sldId id="372" r:id="rId11"/>
    <p:sldId id="344" r:id="rId12"/>
    <p:sldId id="347" r:id="rId13"/>
    <p:sldId id="346" r:id="rId14"/>
    <p:sldId id="348" r:id="rId15"/>
    <p:sldId id="345" r:id="rId16"/>
    <p:sldId id="266" r:id="rId17"/>
    <p:sldId id="262" r:id="rId18"/>
    <p:sldId id="263" r:id="rId19"/>
    <p:sldId id="314" r:id="rId20"/>
    <p:sldId id="291" r:id="rId21"/>
    <p:sldId id="361" r:id="rId22"/>
    <p:sldId id="313" r:id="rId23"/>
    <p:sldId id="267" r:id="rId24"/>
    <p:sldId id="329" r:id="rId25"/>
    <p:sldId id="285"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p:scale>
          <a:sx n="81" d="100"/>
          <a:sy n="81" d="100"/>
        </p:scale>
        <p:origin x="-246" y="-3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12-Jan-25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extLst>
      <p:ext uri="{BB962C8B-B14F-4D97-AF65-F5344CB8AC3E}">
        <p14:creationId xmlns:p14="http://schemas.microsoft.com/office/powerpoint/2010/main" val="17604035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eaLnBrk="1" hangingPunct="1"/>
            <a:fld id="{9A0DB2DC-4C9A-4742-B13C-FB6460FD3503}" type="slidenum">
              <a:rPr lang="en-US" altLang="en-US" sz="1200" dirty="0">
                <a:latin typeface="Comic Sans MS" panose="030F0702030302020204" pitchFamily="66" charset="0"/>
              </a:rPr>
              <a:t>4</a:t>
            </a:fld>
            <a:endParaRPr lang="en-US" altLang="en-US" sz="1200" dirty="0">
              <a:latin typeface="Comic Sans MS" panose="030F0702030302020204" pitchFamily="66" charset="0"/>
            </a:endParaRPr>
          </a:p>
        </p:txBody>
      </p:sp>
      <p:sp>
        <p:nvSpPr>
          <p:cNvPr id="102403" name="Rectangle 2"/>
          <p:cNvSpPr>
            <a:spLocks noGrp="1" noRot="1" noChangeAspect="1" noTextEdit="1"/>
          </p:cNvSpPr>
          <p:nvPr>
            <p:ph type="sldImg"/>
          </p:nvPr>
        </p:nvSpPr>
        <p:spPr>
          <a:ln>
            <a:solidFill>
              <a:srgbClr val="000000">
                <a:alpha val="100000"/>
              </a:srgbClr>
            </a:solidFill>
            <a:miter lim="800000"/>
          </a:ln>
        </p:spPr>
      </p:sp>
      <p:sp>
        <p:nvSpPr>
          <p:cNvPr id="102404" name="Rectangle 3"/>
          <p:cNvSpPr>
            <a:spLocks noGrp="1"/>
          </p:cNvSpPr>
          <p:nvPr>
            <p:ph type="body" idx="1"/>
          </p:nvPr>
        </p:nvSpPr>
        <p:spPr>
          <a:noFill/>
          <a:ln>
            <a:noFill/>
          </a:ln>
        </p:spPr>
        <p:txBody>
          <a:bodyPr wrap="square" lIns="91440" tIns="45720" rIns="91440" bIns="45720" anchor="t" anchorCtr="0"/>
          <a:lstStyle/>
          <a:p>
            <a:pPr lvl="0" eaLnBrk="1" hangingPunct="1">
              <a:spcBef>
                <a:spcPct val="0"/>
              </a:spcBef>
            </a:pPr>
            <a:endParaRPr lang="en-US"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eaLnBrk="1" hangingPunct="1"/>
            <a:fld id="{9A0DB2DC-4C9A-4742-B13C-FB6460FD3503}" type="slidenum">
              <a:rPr lang="en-US" altLang="en-US" sz="1200" dirty="0">
                <a:latin typeface="Comic Sans MS" panose="030F0702030302020204" pitchFamily="66" charset="0"/>
              </a:rPr>
              <a:t>5</a:t>
            </a:fld>
            <a:endParaRPr lang="en-US" altLang="en-US" sz="1200" dirty="0">
              <a:latin typeface="Comic Sans MS" panose="030F0702030302020204" pitchFamily="66" charset="0"/>
            </a:endParaRPr>
          </a:p>
        </p:txBody>
      </p:sp>
      <p:sp>
        <p:nvSpPr>
          <p:cNvPr id="103427" name="Rectangle 2"/>
          <p:cNvSpPr>
            <a:spLocks noGrp="1" noRot="1" noChangeAspect="1" noTextEdit="1"/>
          </p:cNvSpPr>
          <p:nvPr>
            <p:ph type="sldImg"/>
          </p:nvPr>
        </p:nvSpPr>
        <p:spPr>
          <a:ln>
            <a:solidFill>
              <a:srgbClr val="000000">
                <a:alpha val="100000"/>
              </a:srgbClr>
            </a:solidFill>
            <a:miter lim="800000"/>
          </a:ln>
        </p:spPr>
      </p:sp>
      <p:sp>
        <p:nvSpPr>
          <p:cNvPr id="103428" name="Rectangle 3"/>
          <p:cNvSpPr>
            <a:spLocks noGrp="1"/>
          </p:cNvSpPr>
          <p:nvPr>
            <p:ph type="body" idx="1"/>
          </p:nvPr>
        </p:nvSpPr>
        <p:spPr>
          <a:noFill/>
          <a:ln>
            <a:noFill/>
          </a:ln>
        </p:spPr>
        <p:txBody>
          <a:bodyPr wrap="square" lIns="91440" tIns="45720" rIns="91440" bIns="45720" anchor="t" anchorCtr="0"/>
          <a:lstStyle/>
          <a:p>
            <a:pPr lvl="0" eaLnBrk="1" hangingPunct="1">
              <a:spcBef>
                <a:spcPct val="0"/>
              </a:spcBef>
            </a:pPr>
            <a:endParaRPr lang="en-US"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eaLnBrk="1" hangingPunct="1"/>
            <a:fld id="{9A0DB2DC-4C9A-4742-B13C-FB6460FD3503}" type="slidenum">
              <a:rPr lang="en-US" altLang="en-US" sz="1200" dirty="0">
                <a:latin typeface="Comic Sans MS" panose="030F0702030302020204" pitchFamily="66" charset="0"/>
              </a:rPr>
              <a:t>6</a:t>
            </a:fld>
            <a:endParaRPr lang="en-US" altLang="en-US" sz="1200" dirty="0">
              <a:latin typeface="Comic Sans MS" panose="030F0702030302020204" pitchFamily="66" charset="0"/>
            </a:endParaRPr>
          </a:p>
        </p:txBody>
      </p:sp>
      <p:sp>
        <p:nvSpPr>
          <p:cNvPr id="104451" name="Rectangle 2"/>
          <p:cNvSpPr>
            <a:spLocks noGrp="1" noRot="1" noChangeAspect="1" noTextEdit="1"/>
          </p:cNvSpPr>
          <p:nvPr>
            <p:ph type="sldImg"/>
          </p:nvPr>
        </p:nvSpPr>
        <p:spPr>
          <a:ln>
            <a:solidFill>
              <a:srgbClr val="000000">
                <a:alpha val="100000"/>
              </a:srgbClr>
            </a:solidFill>
            <a:miter lim="800000"/>
          </a:ln>
        </p:spPr>
      </p:sp>
      <p:sp>
        <p:nvSpPr>
          <p:cNvPr id="104452" name="Rectangle 3"/>
          <p:cNvSpPr>
            <a:spLocks noGrp="1"/>
          </p:cNvSpPr>
          <p:nvPr>
            <p:ph type="body" idx="1"/>
          </p:nvPr>
        </p:nvSpPr>
        <p:spPr>
          <a:noFill/>
          <a:ln>
            <a:noFill/>
          </a:ln>
        </p:spPr>
        <p:txBody>
          <a:bodyPr wrap="square" lIns="91440" tIns="45720" rIns="91440" bIns="45720" anchor="t" anchorCtr="0"/>
          <a:lstStyle/>
          <a:p>
            <a:pPr lvl="0" eaLnBrk="1" hangingPunct="1">
              <a:spcBef>
                <a:spcPct val="0"/>
              </a:spcBef>
            </a:pPr>
            <a:endParaRPr lang="en-US"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eaLnBrk="1" hangingPunct="1"/>
            <a:fld id="{9A0DB2DC-4C9A-4742-B13C-FB6460FD3503}" type="slidenum">
              <a:rPr lang="en-US" altLang="en-US" sz="1200" dirty="0">
                <a:latin typeface="Comic Sans MS" panose="030F0702030302020204" pitchFamily="66" charset="0"/>
              </a:rPr>
              <a:t>7</a:t>
            </a:fld>
            <a:endParaRPr lang="en-US" altLang="en-US" sz="1200" dirty="0">
              <a:latin typeface="Comic Sans MS" panose="030F0702030302020204" pitchFamily="66" charset="0"/>
            </a:endParaRPr>
          </a:p>
        </p:txBody>
      </p:sp>
      <p:sp>
        <p:nvSpPr>
          <p:cNvPr id="105475" name="Rectangle 2"/>
          <p:cNvSpPr>
            <a:spLocks noGrp="1" noRot="1" noChangeAspect="1" noTextEdit="1"/>
          </p:cNvSpPr>
          <p:nvPr>
            <p:ph type="sldImg"/>
          </p:nvPr>
        </p:nvSpPr>
        <p:spPr>
          <a:ln>
            <a:solidFill>
              <a:srgbClr val="000000">
                <a:alpha val="100000"/>
              </a:srgbClr>
            </a:solidFill>
            <a:miter lim="800000"/>
          </a:ln>
        </p:spPr>
      </p:sp>
      <p:sp>
        <p:nvSpPr>
          <p:cNvPr id="105476" name="Rectangle 3"/>
          <p:cNvSpPr>
            <a:spLocks noGrp="1"/>
          </p:cNvSpPr>
          <p:nvPr>
            <p:ph type="body" idx="1"/>
          </p:nvPr>
        </p:nvSpPr>
        <p:spPr>
          <a:noFill/>
          <a:ln>
            <a:noFill/>
          </a:ln>
        </p:spPr>
        <p:txBody>
          <a:bodyPr wrap="square" lIns="91440" tIns="45720" rIns="91440" bIns="45720" anchor="t" anchorCtr="0"/>
          <a:lstStyle/>
          <a:p>
            <a:pPr lvl="0" eaLnBrk="1" hangingPunct="1">
              <a:spcBef>
                <a:spcPct val="0"/>
              </a:spcBef>
            </a:pPr>
            <a:endParaRPr lang="en-US"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eaLnBrk="1" hangingPunct="1"/>
            <a:fld id="{9A0DB2DC-4C9A-4742-B13C-FB6460FD3503}" type="slidenum">
              <a:rPr lang="en-US" altLang="en-US" sz="1200" dirty="0">
                <a:latin typeface="Comic Sans MS" panose="030F0702030302020204" pitchFamily="66" charset="0"/>
              </a:rPr>
              <a:t>8</a:t>
            </a:fld>
            <a:endParaRPr lang="en-US" altLang="en-US" sz="1200" dirty="0">
              <a:latin typeface="Comic Sans MS" panose="030F0702030302020204" pitchFamily="66" charset="0"/>
            </a:endParaRPr>
          </a:p>
        </p:txBody>
      </p:sp>
      <p:sp>
        <p:nvSpPr>
          <p:cNvPr id="106499" name="Rectangle 2"/>
          <p:cNvSpPr>
            <a:spLocks noGrp="1" noRot="1" noChangeAspect="1" noTextEdit="1"/>
          </p:cNvSpPr>
          <p:nvPr>
            <p:ph type="sldImg"/>
          </p:nvPr>
        </p:nvSpPr>
        <p:spPr>
          <a:ln>
            <a:solidFill>
              <a:srgbClr val="000000">
                <a:alpha val="100000"/>
              </a:srgbClr>
            </a:solidFill>
            <a:miter lim="800000"/>
          </a:ln>
        </p:spPr>
      </p:sp>
      <p:sp>
        <p:nvSpPr>
          <p:cNvPr id="106500" name="Rectangle 3"/>
          <p:cNvSpPr>
            <a:spLocks noGrp="1"/>
          </p:cNvSpPr>
          <p:nvPr>
            <p:ph type="body" idx="1"/>
          </p:nvPr>
        </p:nvSpPr>
        <p:spPr>
          <a:noFill/>
          <a:ln>
            <a:noFill/>
          </a:ln>
        </p:spPr>
        <p:txBody>
          <a:bodyPr wrap="square" lIns="91440" tIns="45720" rIns="91440" bIns="45720" anchor="t" anchorCtr="0"/>
          <a:lstStyle/>
          <a:p>
            <a:pPr lvl="0" eaLnBrk="1" hangingPunct="1">
              <a:spcBef>
                <a:spcPct val="0"/>
              </a:spcBef>
            </a:pPr>
            <a:endParaRPr lang="en-US"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eaLnBrk="1" hangingPunct="1"/>
            <a:fld id="{9A0DB2DC-4C9A-4742-B13C-FB6460FD3503}" type="slidenum">
              <a:rPr lang="en-US" altLang="en-US" sz="1200" dirty="0">
                <a:latin typeface="Comic Sans MS" panose="030F0702030302020204" pitchFamily="66" charset="0"/>
              </a:rPr>
              <a:t>9</a:t>
            </a:fld>
            <a:endParaRPr lang="en-US" altLang="en-US" sz="1200" dirty="0">
              <a:latin typeface="Comic Sans MS" panose="030F0702030302020204" pitchFamily="66" charset="0"/>
            </a:endParaRPr>
          </a:p>
        </p:txBody>
      </p:sp>
      <p:sp>
        <p:nvSpPr>
          <p:cNvPr id="107523" name="Rectangle 2"/>
          <p:cNvSpPr>
            <a:spLocks noGrp="1" noRot="1" noChangeAspect="1" noTextEdit="1"/>
          </p:cNvSpPr>
          <p:nvPr>
            <p:ph type="sldImg"/>
          </p:nvPr>
        </p:nvSpPr>
        <p:spPr>
          <a:ln>
            <a:solidFill>
              <a:srgbClr val="000000">
                <a:alpha val="100000"/>
              </a:srgbClr>
            </a:solidFill>
            <a:miter lim="800000"/>
          </a:ln>
        </p:spPr>
      </p:sp>
      <p:sp>
        <p:nvSpPr>
          <p:cNvPr id="107524" name="Rectangle 3"/>
          <p:cNvSpPr>
            <a:spLocks noGrp="1"/>
          </p:cNvSpPr>
          <p:nvPr>
            <p:ph type="body" idx="1"/>
          </p:nvPr>
        </p:nvSpPr>
        <p:spPr>
          <a:noFill/>
          <a:ln>
            <a:noFill/>
          </a:ln>
        </p:spPr>
        <p:txBody>
          <a:bodyPr wrap="square" lIns="91440" tIns="45720" rIns="91440" bIns="45720" anchor="t" anchorCtr="0"/>
          <a:lstStyle/>
          <a:p>
            <a:pPr lvl="0" eaLnBrk="1" hangingPunct="1">
              <a:spcBef>
                <a:spcPct val="0"/>
              </a:spcBef>
            </a:pPr>
            <a:endParaRPr lang="en-US"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eaLnBrk="1" hangingPunct="1"/>
            <a:fld id="{9A0DB2DC-4C9A-4742-B13C-FB6460FD3503}" type="slidenum">
              <a:rPr lang="en-US" altLang="en-US" sz="1200" dirty="0">
                <a:latin typeface="Comic Sans MS" panose="030F0702030302020204" pitchFamily="66" charset="0"/>
              </a:rPr>
              <a:t>10</a:t>
            </a:fld>
            <a:endParaRPr lang="en-US" altLang="en-US" sz="1200" dirty="0">
              <a:latin typeface="Comic Sans MS" panose="030F0702030302020204" pitchFamily="66" charset="0"/>
            </a:endParaRPr>
          </a:p>
        </p:txBody>
      </p:sp>
      <p:sp>
        <p:nvSpPr>
          <p:cNvPr id="108547" name="Rectangle 2"/>
          <p:cNvSpPr>
            <a:spLocks noGrp="1" noRot="1" noChangeAspect="1" noTextEdit="1"/>
          </p:cNvSpPr>
          <p:nvPr>
            <p:ph type="sldImg"/>
          </p:nvPr>
        </p:nvSpPr>
        <p:spPr>
          <a:ln>
            <a:solidFill>
              <a:srgbClr val="000000">
                <a:alpha val="100000"/>
              </a:srgbClr>
            </a:solidFill>
            <a:miter lim="800000"/>
          </a:ln>
        </p:spPr>
      </p:sp>
      <p:sp>
        <p:nvSpPr>
          <p:cNvPr id="108548" name="Rectangle 3"/>
          <p:cNvSpPr>
            <a:spLocks noGrp="1"/>
          </p:cNvSpPr>
          <p:nvPr>
            <p:ph type="body" idx="1"/>
          </p:nvPr>
        </p:nvSpPr>
        <p:spPr>
          <a:noFill/>
          <a:ln>
            <a:noFill/>
          </a:ln>
        </p:spPr>
        <p:txBody>
          <a:bodyPr wrap="square" lIns="91440" tIns="45720" rIns="91440" bIns="45720" anchor="t" anchorCtr="0"/>
          <a:lstStyle/>
          <a:p>
            <a:pPr lvl="0" eaLnBrk="1" hangingPunct="1">
              <a:spcBef>
                <a:spcPct val="0"/>
              </a:spcBef>
            </a:pPr>
            <a:endParaRPr lang="en-US"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t>12-Jan-25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t>12-Jan-25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12-Jan-25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755650" y="807085"/>
            <a:ext cx="10427970" cy="4998085"/>
          </a:xfrm>
        </p:spPr>
        <p:txBody>
          <a:bodyPr/>
          <a:lstStyle>
            <a:lvl1pPr>
              <a:defRPr>
                <a:latin typeface="Calibri (Body)" charset="0"/>
                <a:cs typeface="Calibri (Body)" charset="0"/>
              </a:defRPr>
            </a:lvl1pPr>
            <a:lvl2pPr>
              <a:defRPr>
                <a:latin typeface="Calibri (Body)" charset="0"/>
                <a:cs typeface="Calibri (Body)" charset="0"/>
              </a:defRPr>
            </a:lvl2pPr>
            <a:lvl3pPr>
              <a:defRPr>
                <a:latin typeface="Calibri (Body)" charset="0"/>
                <a:cs typeface="Calibri (Body)" charset="0"/>
              </a:defRPr>
            </a:lvl3pPr>
            <a:lvl4pPr>
              <a:defRPr>
                <a:latin typeface="Calibri (Body)" charset="0"/>
                <a:cs typeface="Calibri (Body)" charset="0"/>
              </a:defRPr>
            </a:lvl4pPr>
            <a:lvl5pPr>
              <a:defRPr>
                <a:latin typeface="Calibri (Body)" charset="0"/>
                <a:cs typeface="Calibri (Body)"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t>12-Jan-25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t>12-Jan-25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t>12-Jan-25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12-Jan-25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12-Jan-25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12-Jan-25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t>12-Jan-25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t>12-Jan-25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t>12-Jan-25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t>‹#›</a:t>
            </a:fld>
            <a:endParaRPr lang="en-US"/>
          </a:p>
        </p:txBody>
      </p:sp>
      <p:pic>
        <p:nvPicPr>
          <p:cNvPr id="7" name="Picture 6"/>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0"/>
            <a:ext cx="12192000" cy="866775"/>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27238" y="4983163"/>
            <a:ext cx="8183563" cy="1052513"/>
          </a:xfrm>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3600" b="1" i="0" u="none" strike="noStrike" kern="1200" cap="none" spc="0" normalizeH="0" baseline="0" noProof="0" dirty="0">
                <a:ln>
                  <a:noFill/>
                </a:ln>
                <a:solidFill>
                  <a:srgbClr val="6594DA"/>
                </a:solidFill>
                <a:effectLst>
                  <a:outerShdw blurRad="53975" dist="22860" dir="5400000" algn="tl" rotWithShape="0">
                    <a:srgbClr val="000000">
                      <a:alpha val="55000"/>
                    </a:srgbClr>
                  </a:outerShdw>
                </a:effectLst>
                <a:uLnTx/>
                <a:uFillTx/>
                <a:latin typeface="+mj-lt"/>
                <a:ea typeface="+mj-ea"/>
                <a:cs typeface="+mj-cs"/>
              </a:rPr>
              <a:t> </a:t>
            </a:r>
          </a:p>
        </p:txBody>
      </p:sp>
      <p:sp>
        <p:nvSpPr>
          <p:cNvPr id="120834" name="Content Placeholder 4"/>
          <p:cNvSpPr>
            <a:spLocks noGrp="1"/>
          </p:cNvSpPr>
          <p:nvPr>
            <p:ph idx="1"/>
          </p:nvPr>
        </p:nvSpPr>
        <p:spPr>
          <a:xfrm>
            <a:off x="2027238" y="-901065"/>
            <a:ext cx="8183562" cy="4187825"/>
          </a:xfrm>
        </p:spPr>
        <p:txBody>
          <a:bodyPr vert="horz" wrap="square" lIns="182880" tIns="91440" rIns="91440" bIns="45720" anchor="t" anchorCtr="0"/>
          <a:lstStyle/>
          <a:p>
            <a:pPr marL="0" indent="0" algn="ctr">
              <a:buNone/>
            </a:pPr>
            <a:endParaRPr lang="en-US" altLang="en-US" sz="4000" b="1" u="sng" dirty="0">
              <a:solidFill>
                <a:schemeClr val="tx1"/>
              </a:solidFill>
              <a:latin typeface="Algerian" panose="04020705040A02060702" pitchFamily="82" charset="0"/>
            </a:endParaRPr>
          </a:p>
          <a:p>
            <a:pPr marL="0" indent="0" algn="ctr">
              <a:buNone/>
            </a:pPr>
            <a:endParaRPr lang="en-US" altLang="en-US" sz="4000" b="1" u="sng" dirty="0">
              <a:solidFill>
                <a:schemeClr val="tx1"/>
              </a:solidFill>
              <a:latin typeface="Algerian" panose="04020705040A02060702" pitchFamily="82" charset="0"/>
            </a:endParaRPr>
          </a:p>
          <a:p>
            <a:pPr marL="0" indent="0" algn="ctr">
              <a:buNone/>
            </a:pPr>
            <a:r>
              <a:rPr lang="en-US" altLang="en-US" sz="4000" b="1" u="sng" dirty="0">
                <a:solidFill>
                  <a:schemeClr val="tx1"/>
                </a:solidFill>
                <a:latin typeface="Algerian" panose="04020705040A02060702" pitchFamily="82" charset="0"/>
              </a:rPr>
              <a:t>pea 516</a:t>
            </a:r>
          </a:p>
          <a:p>
            <a:pPr marL="0" indent="0" algn="ctr">
              <a:buNone/>
            </a:pPr>
            <a:r>
              <a:rPr lang="en-US" altLang="en-US" sz="4000" b="1" u="sng" dirty="0" smtClean="0">
                <a:solidFill>
                  <a:schemeClr val="tx1"/>
                </a:solidFill>
                <a:latin typeface="Algerian" panose="04020705040A02060702" pitchFamily="82" charset="0"/>
              </a:rPr>
              <a:t>Lecture-6</a:t>
            </a:r>
            <a:endParaRPr lang="en-US" altLang="en-US" sz="4000" b="1" u="sng" dirty="0">
              <a:solidFill>
                <a:schemeClr val="tx1"/>
              </a:solidFill>
              <a:latin typeface="Algerian" panose="04020705040A02060702" pitchFamily="82" charset="0"/>
            </a:endParaRPr>
          </a:p>
          <a:p>
            <a:pPr marL="0" algn="ctr">
              <a:buClrTx/>
              <a:buSzTx/>
              <a:buNone/>
            </a:pPr>
            <a:r>
              <a:rPr lang="en-US" altLang="en-US" sz="4000" b="1" u="sng" dirty="0">
                <a:latin typeface="Algerian" panose="04020705040A02060702" pitchFamily="82" charset="0"/>
              </a:rPr>
              <a:t>Time and distance</a:t>
            </a:r>
          </a:p>
        </p:txBody>
      </p:sp>
      <p:pic>
        <p:nvPicPr>
          <p:cNvPr id="3" name="Picture 2" descr="Time-and-Distance-Questions-for-GMAT"/>
          <p:cNvPicPr>
            <a:picLocks noChangeAspect="1"/>
          </p:cNvPicPr>
          <p:nvPr/>
        </p:nvPicPr>
        <p:blipFill>
          <a:blip r:embed="rId2"/>
          <a:stretch>
            <a:fillRect/>
          </a:stretch>
        </p:blipFill>
        <p:spPr>
          <a:xfrm>
            <a:off x="2487930" y="1824355"/>
            <a:ext cx="6965950" cy="43535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buNone/>
            </a:pPr>
            <a:r>
              <a:rPr lang="en-US" sz="4000" b="1" noProof="0" dirty="0" smtClean="0">
                <a:ln>
                  <a:noFill/>
                </a:ln>
                <a:effectLst/>
                <a:uLnTx/>
                <a:uFillTx/>
                <a:sym typeface="+mn-ea"/>
              </a:rPr>
              <a:t>Contents:</a:t>
            </a:r>
            <a:endParaRPr lang="en-US" altLang="en-US" sz="4000" b="1"/>
          </a:p>
          <a:p>
            <a:pPr marL="0" indent="0">
              <a:buNone/>
            </a:pPr>
            <a:endParaRPr lang="en-US" altLang="en-US"/>
          </a:p>
          <a:p>
            <a:pPr>
              <a:buFont typeface="Wingdings" panose="05000000000000000000" charset="0"/>
              <a:buChar char="v"/>
            </a:pPr>
            <a:r>
              <a:rPr lang="en-US" altLang="en-US"/>
              <a:t>Concept of time speed and distance</a:t>
            </a:r>
          </a:p>
          <a:p>
            <a:pPr marL="0" indent="0">
              <a:buNone/>
            </a:pPr>
            <a:endParaRPr lang="en-US" altLang="en-US"/>
          </a:p>
          <a:p>
            <a:pPr>
              <a:buFont typeface="Wingdings" panose="05000000000000000000" charset="0"/>
              <a:buChar char="v"/>
            </a:pPr>
            <a:r>
              <a:rPr lang="en-US" altLang="en-US"/>
              <a:t>Conversion of units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eaLnBrk="1" hangingPunct="1">
              <a:buNone/>
            </a:pPr>
            <a:r>
              <a:rPr lang="en-US" altLang="en-US" b="1" dirty="0">
                <a:cs typeface="Arial" panose="020B0604020202020204" pitchFamily="34" charset="0"/>
                <a:sym typeface="+mn-ea"/>
              </a:rPr>
              <a:t>BASIC RELATIONS :</a:t>
            </a:r>
            <a:endParaRPr lang="en-US" altLang="en-US" dirty="0">
              <a:cs typeface="Arial" panose="020B0604020202020204" pitchFamily="34" charset="0"/>
            </a:endParaRPr>
          </a:p>
          <a:p>
            <a:pPr marL="0" indent="0" eaLnBrk="1" hangingPunct="1">
              <a:buNone/>
            </a:pPr>
            <a:r>
              <a:rPr lang="en-US" altLang="en-US" dirty="0">
                <a:cs typeface="Arial" panose="020B0604020202020204" pitchFamily="34" charset="0"/>
                <a:sym typeface="+mn-ea"/>
              </a:rPr>
              <a:t> </a:t>
            </a:r>
            <a:endParaRPr lang="en-US" altLang="en-US" dirty="0">
              <a:cs typeface="Arial" panose="020B0604020202020204" pitchFamily="34" charset="0"/>
            </a:endParaRPr>
          </a:p>
          <a:p>
            <a:pPr marL="0" indent="0" eaLnBrk="1" hangingPunct="1">
              <a:buNone/>
            </a:pPr>
            <a:r>
              <a:rPr lang="en-US" altLang="en-US" b="1" dirty="0">
                <a:cs typeface="Arial" panose="020B0604020202020204" pitchFamily="34" charset="0"/>
                <a:sym typeface="+mn-ea"/>
              </a:rPr>
              <a:t>Distance: </a:t>
            </a:r>
            <a:r>
              <a:rPr lang="en-US" altLang="en-US" dirty="0">
                <a:cs typeface="Arial" panose="020B0604020202020204" pitchFamily="34" charset="0"/>
                <a:sym typeface="+mn-ea"/>
              </a:rPr>
              <a:t>The numerical description of </a:t>
            </a:r>
            <a:r>
              <a:rPr lang="en-US" altLang="en-US" b="1" dirty="0">
                <a:cs typeface="Arial" panose="020B0604020202020204" pitchFamily="34" charset="0"/>
                <a:sym typeface="+mn-ea"/>
              </a:rPr>
              <a:t>“How far two objects” </a:t>
            </a:r>
            <a:r>
              <a:rPr lang="en-US" altLang="en-US" dirty="0">
                <a:cs typeface="Arial" panose="020B0604020202020204" pitchFamily="34" charset="0"/>
                <a:sym typeface="+mn-ea"/>
              </a:rPr>
              <a:t>is called distance.</a:t>
            </a:r>
            <a:endParaRPr lang="en-US" altLang="en-US" dirty="0">
              <a:cs typeface="Arial" panose="020B0604020202020204" pitchFamily="34" charset="0"/>
            </a:endParaRPr>
          </a:p>
          <a:p>
            <a:pPr marL="0" indent="0" eaLnBrk="1" hangingPunct="1">
              <a:buNone/>
            </a:pPr>
            <a:r>
              <a:rPr lang="en-US" altLang="en-US" b="1" dirty="0">
                <a:cs typeface="Arial" panose="020B0604020202020204" pitchFamily="34" charset="0"/>
                <a:sym typeface="+mn-ea"/>
              </a:rPr>
              <a:t>Time: </a:t>
            </a:r>
            <a:r>
              <a:rPr lang="en-US" altLang="en-US" dirty="0">
                <a:cs typeface="Arial" panose="020B0604020202020204" pitchFamily="34" charset="0"/>
                <a:sym typeface="+mn-ea"/>
              </a:rPr>
              <a:t>It is a component to compare the </a:t>
            </a:r>
            <a:r>
              <a:rPr lang="en-US" altLang="en-US" b="1" dirty="0">
                <a:cs typeface="Arial" panose="020B0604020202020204" pitchFamily="34" charset="0"/>
                <a:sym typeface="+mn-ea"/>
              </a:rPr>
              <a:t>“durations of events” </a:t>
            </a:r>
            <a:r>
              <a:rPr lang="en-US" altLang="en-US" dirty="0">
                <a:cs typeface="Arial" panose="020B0604020202020204" pitchFamily="34" charset="0"/>
                <a:sym typeface="+mn-ea"/>
              </a:rPr>
              <a:t>and the </a:t>
            </a:r>
            <a:r>
              <a:rPr lang="en-US" altLang="en-US" b="1" dirty="0">
                <a:cs typeface="Arial" panose="020B0604020202020204" pitchFamily="34" charset="0"/>
                <a:sym typeface="+mn-ea"/>
              </a:rPr>
              <a:t>“intervals” </a:t>
            </a:r>
          </a:p>
          <a:p>
            <a:pPr marL="0" indent="0" eaLnBrk="1" hangingPunct="1">
              <a:buNone/>
            </a:pPr>
            <a:r>
              <a:rPr lang="en-US" altLang="en-US" b="1" dirty="0">
                <a:sym typeface="+mn-ea"/>
              </a:rPr>
              <a:t> Speed= </a:t>
            </a:r>
            <a:r>
              <a:rPr lang="en-US" altLang="en-US" b="1" dirty="0">
                <a:cs typeface="Arial" panose="020B0604020202020204" pitchFamily="34" charset="0"/>
                <a:sym typeface="+mn-ea"/>
              </a:rPr>
              <a:t>Distance</a:t>
            </a:r>
            <a:r>
              <a:rPr lang="en-US" altLang="en-US" b="1" dirty="0">
                <a:sym typeface="+mn-ea"/>
              </a:rPr>
              <a:t>/</a:t>
            </a:r>
            <a:r>
              <a:rPr lang="en-US" altLang="en-US" b="1" dirty="0">
                <a:cs typeface="Arial" panose="020B0604020202020204" pitchFamily="34" charset="0"/>
                <a:sym typeface="+mn-ea"/>
              </a:rPr>
              <a:t>Time</a:t>
            </a:r>
            <a:endParaRPr lang="en-US" altLang="en-US" b="1" dirty="0"/>
          </a:p>
          <a:p>
            <a:pPr marL="0" indent="0" algn="just" eaLnBrk="1" hangingPunct="1">
              <a:buNone/>
            </a:pPr>
            <a:r>
              <a:rPr lang="en-US" altLang="en-US" dirty="0">
                <a:sym typeface="+mn-ea"/>
              </a:rPr>
              <a:t>	</a:t>
            </a:r>
            <a:endParaRPr lang="en-US" altLang="en-US" dirty="0"/>
          </a:p>
          <a:p>
            <a:pPr marL="0" indent="0" eaLnBrk="1" hangingPunct="1">
              <a:buNone/>
            </a:pPr>
            <a:r>
              <a:rPr lang="en-US" altLang="en-US" dirty="0">
                <a:cs typeface="Arial" panose="020B0604020202020204" pitchFamily="34" charset="0"/>
                <a:sym typeface="+mn-ea"/>
              </a:rPr>
              <a:t> </a:t>
            </a:r>
            <a:endParaRPr kumimoji="0" lang="en-US" alt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7" name="Text Box 7"/>
          <p:cNvSpPr txBox="1"/>
          <p:nvPr/>
        </p:nvSpPr>
        <p:spPr>
          <a:xfrm>
            <a:off x="1828800" y="674688"/>
            <a:ext cx="8153400" cy="521970"/>
          </a:xfrm>
          <a:prstGeom prst="rect">
            <a:avLst/>
          </a:prstGeom>
          <a:noFill/>
          <a:ln w="9525">
            <a:noFill/>
          </a:ln>
        </p:spPr>
        <p:txBody>
          <a:bodyPr>
            <a:spAutoFit/>
          </a:bodyPr>
          <a:lstStyle/>
          <a:p>
            <a:pPr eaLnBrk="1" hangingPunct="1">
              <a:spcBef>
                <a:spcPct val="50000"/>
              </a:spcBef>
            </a:pPr>
            <a:r>
              <a:rPr lang="en-GB" altLang="en-US" sz="2800" dirty="0">
                <a:solidFill>
                  <a:schemeClr val="tx1"/>
                </a:solidFill>
                <a:latin typeface="Calibri (Body)" charset="0"/>
                <a:cs typeface="Calibri (Body)" charset="0"/>
              </a:rPr>
              <a:t>The 3 formulas for Speed, Time &amp; Distance:</a:t>
            </a:r>
          </a:p>
        </p:txBody>
      </p:sp>
      <p:grpSp>
        <p:nvGrpSpPr>
          <p:cNvPr id="5143" name="Group 23"/>
          <p:cNvGrpSpPr/>
          <p:nvPr/>
        </p:nvGrpSpPr>
        <p:grpSpPr>
          <a:xfrm>
            <a:off x="1752600" y="1371600"/>
            <a:ext cx="2743200" cy="1524000"/>
            <a:chOff x="144" y="1584"/>
            <a:chExt cx="1728" cy="960"/>
          </a:xfrm>
        </p:grpSpPr>
        <p:grpSp>
          <p:nvGrpSpPr>
            <p:cNvPr id="4125" name="Group 12"/>
            <p:cNvGrpSpPr/>
            <p:nvPr/>
          </p:nvGrpSpPr>
          <p:grpSpPr>
            <a:xfrm>
              <a:off x="192" y="1728"/>
              <a:ext cx="1680" cy="491"/>
              <a:chOff x="720" y="1824"/>
              <a:chExt cx="1680" cy="491"/>
            </a:xfrm>
          </p:grpSpPr>
          <p:sp>
            <p:nvSpPr>
              <p:cNvPr id="4127" name="Text Box 8"/>
              <p:cNvSpPr txBox="1"/>
              <p:nvPr/>
            </p:nvSpPr>
            <p:spPr>
              <a:xfrm>
                <a:off x="720" y="1968"/>
                <a:ext cx="864" cy="251"/>
              </a:xfrm>
              <a:prstGeom prst="rect">
                <a:avLst/>
              </a:prstGeom>
              <a:noFill/>
              <a:ln w="9525">
                <a:noFill/>
              </a:ln>
            </p:spPr>
            <p:txBody>
              <a:bodyPr>
                <a:spAutoFit/>
              </a:bodyPr>
              <a:lstStyle/>
              <a:p>
                <a:pPr eaLnBrk="1" hangingPunct="1">
                  <a:spcBef>
                    <a:spcPct val="50000"/>
                  </a:spcBef>
                </a:pPr>
                <a:r>
                  <a:rPr lang="en-GB" altLang="en-US" sz="2000" dirty="0">
                    <a:solidFill>
                      <a:schemeClr val="tx1"/>
                    </a:solidFill>
                    <a:latin typeface="Calibri (Body)" charset="0"/>
                    <a:cs typeface="Calibri (Body)" charset="0"/>
                  </a:rPr>
                  <a:t>Speed = </a:t>
                </a:r>
              </a:p>
            </p:txBody>
          </p:sp>
          <p:sp>
            <p:nvSpPr>
              <p:cNvPr id="4128" name="Text Box 9"/>
              <p:cNvSpPr txBox="1"/>
              <p:nvPr/>
            </p:nvSpPr>
            <p:spPr>
              <a:xfrm>
                <a:off x="1392" y="1824"/>
                <a:ext cx="816" cy="251"/>
              </a:xfrm>
              <a:prstGeom prst="rect">
                <a:avLst/>
              </a:prstGeom>
              <a:noFill/>
              <a:ln w="9525">
                <a:noFill/>
              </a:ln>
            </p:spPr>
            <p:txBody>
              <a:bodyPr>
                <a:spAutoFit/>
              </a:bodyPr>
              <a:lstStyle/>
              <a:p>
                <a:pPr eaLnBrk="1" hangingPunct="1">
                  <a:spcBef>
                    <a:spcPct val="50000"/>
                  </a:spcBef>
                </a:pPr>
                <a:r>
                  <a:rPr lang="en-GB" altLang="en-US" sz="2000" dirty="0">
                    <a:solidFill>
                      <a:schemeClr val="tx1"/>
                    </a:solidFill>
                    <a:latin typeface="Calibri (Body)" charset="0"/>
                    <a:cs typeface="Calibri (Body)" charset="0"/>
                  </a:rPr>
                  <a:t>Distance</a:t>
                </a:r>
              </a:p>
            </p:txBody>
          </p:sp>
          <p:sp>
            <p:nvSpPr>
              <p:cNvPr id="4129" name="Text Box 10"/>
              <p:cNvSpPr txBox="1"/>
              <p:nvPr/>
            </p:nvSpPr>
            <p:spPr>
              <a:xfrm>
                <a:off x="1488" y="2064"/>
                <a:ext cx="912" cy="251"/>
              </a:xfrm>
              <a:prstGeom prst="rect">
                <a:avLst/>
              </a:prstGeom>
              <a:noFill/>
              <a:ln w="9525">
                <a:noFill/>
              </a:ln>
            </p:spPr>
            <p:txBody>
              <a:bodyPr>
                <a:spAutoFit/>
              </a:bodyPr>
              <a:lstStyle/>
              <a:p>
                <a:pPr eaLnBrk="1" hangingPunct="1">
                  <a:spcBef>
                    <a:spcPct val="50000"/>
                  </a:spcBef>
                </a:pPr>
                <a:r>
                  <a:rPr lang="en-GB" altLang="en-US" sz="2000" dirty="0">
                    <a:solidFill>
                      <a:schemeClr val="tx1"/>
                    </a:solidFill>
                    <a:latin typeface="Calibri (Body)" charset="0"/>
                    <a:cs typeface="Calibri (Body)" charset="0"/>
                  </a:rPr>
                  <a:t>Time</a:t>
                </a:r>
              </a:p>
            </p:txBody>
          </p:sp>
          <p:sp>
            <p:nvSpPr>
              <p:cNvPr id="4130" name="Line 11"/>
              <p:cNvSpPr/>
              <p:nvPr/>
            </p:nvSpPr>
            <p:spPr>
              <a:xfrm>
                <a:off x="1440" y="2064"/>
                <a:ext cx="720" cy="0"/>
              </a:xfrm>
              <a:prstGeom prst="line">
                <a:avLst/>
              </a:prstGeom>
              <a:ln w="19050" cap="flat" cmpd="sng">
                <a:solidFill>
                  <a:schemeClr val="tx1"/>
                </a:solidFill>
                <a:prstDash val="solid"/>
                <a:headEnd type="none" w="med" len="med"/>
                <a:tailEnd type="none" w="med" len="med"/>
              </a:ln>
            </p:spPr>
          </p:sp>
        </p:grpSp>
        <p:sp>
          <p:nvSpPr>
            <p:cNvPr id="4126" name="Rectangle 22"/>
            <p:cNvSpPr/>
            <p:nvPr/>
          </p:nvSpPr>
          <p:spPr>
            <a:xfrm>
              <a:off x="144" y="1584"/>
              <a:ext cx="1680" cy="960"/>
            </a:xfrm>
            <a:prstGeom prst="rect">
              <a:avLst/>
            </a:prstGeom>
            <a:noFill/>
            <a:ln w="9525" cap="flat" cmpd="sng">
              <a:solidFill>
                <a:srgbClr val="FF0000"/>
              </a:solidFill>
              <a:prstDash val="solid"/>
              <a:miter/>
              <a:headEnd type="none" w="med" len="med"/>
              <a:tailEnd type="none" w="med" len="med"/>
            </a:ln>
          </p:spPr>
          <p:txBody>
            <a:bodyPr wrap="none" anchor="ctr" anchorCtr="0"/>
            <a:lstStyle/>
            <a:p>
              <a:pPr eaLnBrk="1" hangingPunct="1"/>
              <a:endParaRPr lang="en-US" altLang="en-US" sz="2000" dirty="0">
                <a:solidFill>
                  <a:schemeClr val="tx1"/>
                </a:solidFill>
                <a:latin typeface="Calibri (Body)" charset="0"/>
                <a:cs typeface="Calibri (Body)" charset="0"/>
              </a:endParaRPr>
            </a:p>
          </p:txBody>
        </p:sp>
      </p:grpSp>
      <p:grpSp>
        <p:nvGrpSpPr>
          <p:cNvPr id="5145" name="Group 25"/>
          <p:cNvGrpSpPr/>
          <p:nvPr/>
        </p:nvGrpSpPr>
        <p:grpSpPr>
          <a:xfrm>
            <a:off x="4648200" y="1374775"/>
            <a:ext cx="2590800" cy="1520825"/>
            <a:chOff x="1968" y="1632"/>
            <a:chExt cx="1632" cy="912"/>
          </a:xfrm>
        </p:grpSpPr>
        <p:grpSp>
          <p:nvGrpSpPr>
            <p:cNvPr id="4119" name="Group 19"/>
            <p:cNvGrpSpPr/>
            <p:nvPr/>
          </p:nvGrpSpPr>
          <p:grpSpPr>
            <a:xfrm>
              <a:off x="2016" y="1728"/>
              <a:ext cx="1584" cy="479"/>
              <a:chOff x="2304" y="2112"/>
              <a:chExt cx="1584" cy="479"/>
            </a:xfrm>
          </p:grpSpPr>
          <p:sp>
            <p:nvSpPr>
              <p:cNvPr id="4121" name="Text Box 13"/>
              <p:cNvSpPr txBox="1"/>
              <p:nvPr/>
            </p:nvSpPr>
            <p:spPr>
              <a:xfrm>
                <a:off x="2304" y="2256"/>
                <a:ext cx="912" cy="239"/>
              </a:xfrm>
              <a:prstGeom prst="rect">
                <a:avLst/>
              </a:prstGeom>
              <a:noFill/>
              <a:ln w="9525">
                <a:noFill/>
              </a:ln>
            </p:spPr>
            <p:txBody>
              <a:bodyPr>
                <a:spAutoFit/>
              </a:bodyPr>
              <a:lstStyle/>
              <a:p>
                <a:pPr eaLnBrk="1" hangingPunct="1">
                  <a:spcBef>
                    <a:spcPct val="50000"/>
                  </a:spcBef>
                </a:pPr>
                <a:r>
                  <a:rPr lang="en-GB" altLang="en-US" sz="2000" dirty="0">
                    <a:solidFill>
                      <a:schemeClr val="tx1"/>
                    </a:solidFill>
                    <a:latin typeface="Calibri (Body)" charset="0"/>
                    <a:cs typeface="Calibri (Body)" charset="0"/>
                  </a:rPr>
                  <a:t>Time = </a:t>
                </a:r>
              </a:p>
            </p:txBody>
          </p:sp>
          <p:sp>
            <p:nvSpPr>
              <p:cNvPr id="4122" name="Text Box 14"/>
              <p:cNvSpPr txBox="1"/>
              <p:nvPr/>
            </p:nvSpPr>
            <p:spPr>
              <a:xfrm>
                <a:off x="2880" y="2112"/>
                <a:ext cx="1008" cy="239"/>
              </a:xfrm>
              <a:prstGeom prst="rect">
                <a:avLst/>
              </a:prstGeom>
              <a:noFill/>
              <a:ln w="9525">
                <a:noFill/>
              </a:ln>
            </p:spPr>
            <p:txBody>
              <a:bodyPr>
                <a:spAutoFit/>
              </a:bodyPr>
              <a:lstStyle/>
              <a:p>
                <a:pPr eaLnBrk="1" hangingPunct="1">
                  <a:spcBef>
                    <a:spcPct val="50000"/>
                  </a:spcBef>
                </a:pPr>
                <a:r>
                  <a:rPr lang="en-GB" altLang="en-US" sz="2000" dirty="0">
                    <a:solidFill>
                      <a:schemeClr val="tx1"/>
                    </a:solidFill>
                    <a:latin typeface="Calibri (Body)" charset="0"/>
                    <a:cs typeface="Calibri (Body)" charset="0"/>
                  </a:rPr>
                  <a:t>Distance</a:t>
                </a:r>
              </a:p>
            </p:txBody>
          </p:sp>
          <p:sp>
            <p:nvSpPr>
              <p:cNvPr id="4123" name="Text Box 16"/>
              <p:cNvSpPr txBox="1"/>
              <p:nvPr/>
            </p:nvSpPr>
            <p:spPr>
              <a:xfrm>
                <a:off x="2928" y="2352"/>
                <a:ext cx="720" cy="239"/>
              </a:xfrm>
              <a:prstGeom prst="rect">
                <a:avLst/>
              </a:prstGeom>
              <a:noFill/>
              <a:ln w="9525">
                <a:noFill/>
              </a:ln>
            </p:spPr>
            <p:txBody>
              <a:bodyPr>
                <a:spAutoFit/>
              </a:bodyPr>
              <a:lstStyle/>
              <a:p>
                <a:pPr eaLnBrk="1" hangingPunct="1">
                  <a:spcBef>
                    <a:spcPct val="50000"/>
                  </a:spcBef>
                </a:pPr>
                <a:r>
                  <a:rPr lang="en-GB" altLang="en-US" sz="2000" dirty="0">
                    <a:solidFill>
                      <a:schemeClr val="tx1"/>
                    </a:solidFill>
                    <a:latin typeface="Calibri (Body)" charset="0"/>
                    <a:cs typeface="Calibri (Body)" charset="0"/>
                  </a:rPr>
                  <a:t>Speed</a:t>
                </a:r>
              </a:p>
            </p:txBody>
          </p:sp>
          <p:sp>
            <p:nvSpPr>
              <p:cNvPr id="4124" name="Line 18"/>
              <p:cNvSpPr/>
              <p:nvPr/>
            </p:nvSpPr>
            <p:spPr>
              <a:xfrm>
                <a:off x="2928" y="2352"/>
                <a:ext cx="672" cy="0"/>
              </a:xfrm>
              <a:prstGeom prst="line">
                <a:avLst/>
              </a:prstGeom>
              <a:ln w="19050" cap="flat" cmpd="sng">
                <a:solidFill>
                  <a:schemeClr val="tx1"/>
                </a:solidFill>
                <a:prstDash val="solid"/>
                <a:headEnd type="none" w="med" len="med"/>
                <a:tailEnd type="none" w="med" len="med"/>
              </a:ln>
            </p:spPr>
          </p:sp>
        </p:grpSp>
        <p:sp>
          <p:nvSpPr>
            <p:cNvPr id="4120" name="Rectangle 24"/>
            <p:cNvSpPr/>
            <p:nvPr/>
          </p:nvSpPr>
          <p:spPr>
            <a:xfrm>
              <a:off x="1968" y="1632"/>
              <a:ext cx="1488" cy="912"/>
            </a:xfrm>
            <a:prstGeom prst="rect">
              <a:avLst/>
            </a:prstGeom>
            <a:noFill/>
            <a:ln w="9525" cap="flat" cmpd="sng">
              <a:solidFill>
                <a:srgbClr val="FF0000"/>
              </a:solidFill>
              <a:prstDash val="solid"/>
              <a:miter/>
              <a:headEnd type="none" w="med" len="med"/>
              <a:tailEnd type="none" w="med" len="med"/>
            </a:ln>
          </p:spPr>
          <p:txBody>
            <a:bodyPr wrap="none" anchor="ctr" anchorCtr="0"/>
            <a:lstStyle/>
            <a:p>
              <a:pPr eaLnBrk="1" hangingPunct="1"/>
              <a:endParaRPr lang="en-US" altLang="en-US" sz="2000" dirty="0">
                <a:solidFill>
                  <a:schemeClr val="tx1"/>
                </a:solidFill>
                <a:latin typeface="Calibri (Body)" charset="0"/>
                <a:cs typeface="Calibri (Body)" charset="0"/>
              </a:endParaRPr>
            </a:p>
          </p:txBody>
        </p:sp>
      </p:grpSp>
      <p:grpSp>
        <p:nvGrpSpPr>
          <p:cNvPr id="5147" name="Group 27"/>
          <p:cNvGrpSpPr/>
          <p:nvPr/>
        </p:nvGrpSpPr>
        <p:grpSpPr>
          <a:xfrm>
            <a:off x="7239000" y="1374775"/>
            <a:ext cx="3429000" cy="1520825"/>
            <a:chOff x="3600" y="1632"/>
            <a:chExt cx="2160" cy="912"/>
          </a:xfrm>
        </p:grpSpPr>
        <p:grpSp>
          <p:nvGrpSpPr>
            <p:cNvPr id="4114" name="Group 21"/>
            <p:cNvGrpSpPr/>
            <p:nvPr/>
          </p:nvGrpSpPr>
          <p:grpSpPr>
            <a:xfrm>
              <a:off x="3648" y="1824"/>
              <a:ext cx="2112" cy="241"/>
              <a:chOff x="3648" y="1824"/>
              <a:chExt cx="2112" cy="241"/>
            </a:xfrm>
          </p:grpSpPr>
          <p:sp>
            <p:nvSpPr>
              <p:cNvPr id="4116" name="Text Box 15"/>
              <p:cNvSpPr txBox="1"/>
              <p:nvPr/>
            </p:nvSpPr>
            <p:spPr>
              <a:xfrm>
                <a:off x="3648" y="1824"/>
                <a:ext cx="1008" cy="239"/>
              </a:xfrm>
              <a:prstGeom prst="rect">
                <a:avLst/>
              </a:prstGeom>
              <a:noFill/>
              <a:ln w="9525">
                <a:noFill/>
              </a:ln>
            </p:spPr>
            <p:txBody>
              <a:bodyPr>
                <a:spAutoFit/>
              </a:bodyPr>
              <a:lstStyle/>
              <a:p>
                <a:pPr eaLnBrk="1" hangingPunct="1">
                  <a:spcBef>
                    <a:spcPct val="50000"/>
                  </a:spcBef>
                </a:pPr>
                <a:r>
                  <a:rPr lang="en-GB" altLang="en-US" sz="2000" dirty="0">
                    <a:solidFill>
                      <a:schemeClr val="tx1"/>
                    </a:solidFill>
                    <a:latin typeface="Calibri (Body)" charset="0"/>
                    <a:cs typeface="Calibri (Body)" charset="0"/>
                  </a:rPr>
                  <a:t>Distance =</a:t>
                </a:r>
              </a:p>
            </p:txBody>
          </p:sp>
          <p:sp>
            <p:nvSpPr>
              <p:cNvPr id="4117" name="Text Box 17"/>
              <p:cNvSpPr txBox="1"/>
              <p:nvPr/>
            </p:nvSpPr>
            <p:spPr>
              <a:xfrm>
                <a:off x="4464" y="1824"/>
                <a:ext cx="912" cy="240"/>
              </a:xfrm>
              <a:prstGeom prst="rect">
                <a:avLst/>
              </a:prstGeom>
              <a:noFill/>
              <a:ln w="9525">
                <a:noFill/>
              </a:ln>
            </p:spPr>
            <p:txBody>
              <a:bodyPr>
                <a:spAutoFit/>
              </a:bodyPr>
              <a:lstStyle/>
              <a:p>
                <a:pPr eaLnBrk="1" hangingPunct="1">
                  <a:spcBef>
                    <a:spcPct val="50000"/>
                  </a:spcBef>
                </a:pPr>
                <a:r>
                  <a:rPr lang="en-GB" altLang="en-US" sz="2000" dirty="0">
                    <a:solidFill>
                      <a:schemeClr val="tx1"/>
                    </a:solidFill>
                    <a:latin typeface="Calibri (Body)" charset="0"/>
                    <a:cs typeface="Calibri (Body)" charset="0"/>
                  </a:rPr>
                  <a:t>Speed x </a:t>
                </a:r>
              </a:p>
            </p:txBody>
          </p:sp>
          <p:sp>
            <p:nvSpPr>
              <p:cNvPr id="4118" name="Text Box 20"/>
              <p:cNvSpPr txBox="1"/>
              <p:nvPr/>
            </p:nvSpPr>
            <p:spPr>
              <a:xfrm>
                <a:off x="5136" y="1824"/>
                <a:ext cx="624" cy="241"/>
              </a:xfrm>
              <a:prstGeom prst="rect">
                <a:avLst/>
              </a:prstGeom>
              <a:noFill/>
              <a:ln w="9525">
                <a:noFill/>
              </a:ln>
            </p:spPr>
            <p:txBody>
              <a:bodyPr>
                <a:spAutoFit/>
              </a:bodyPr>
              <a:lstStyle/>
              <a:p>
                <a:pPr eaLnBrk="1" hangingPunct="1">
                  <a:spcBef>
                    <a:spcPct val="50000"/>
                  </a:spcBef>
                </a:pPr>
                <a:r>
                  <a:rPr lang="en-GB" altLang="en-US" sz="2000" dirty="0">
                    <a:solidFill>
                      <a:schemeClr val="tx1"/>
                    </a:solidFill>
                    <a:latin typeface="Calibri (Body)" charset="0"/>
                    <a:cs typeface="Calibri (Body)" charset="0"/>
                  </a:rPr>
                  <a:t>Time</a:t>
                </a:r>
              </a:p>
            </p:txBody>
          </p:sp>
        </p:grpSp>
        <p:sp>
          <p:nvSpPr>
            <p:cNvPr id="4115" name="Rectangle 26"/>
            <p:cNvSpPr/>
            <p:nvPr/>
          </p:nvSpPr>
          <p:spPr>
            <a:xfrm>
              <a:off x="3600" y="1632"/>
              <a:ext cx="2016" cy="912"/>
            </a:xfrm>
            <a:prstGeom prst="rect">
              <a:avLst/>
            </a:prstGeom>
            <a:noFill/>
            <a:ln w="9525" cap="flat" cmpd="sng">
              <a:solidFill>
                <a:srgbClr val="FF0000"/>
              </a:solidFill>
              <a:prstDash val="solid"/>
              <a:miter/>
              <a:headEnd type="none" w="med" len="med"/>
              <a:tailEnd type="none" w="med" len="med"/>
            </a:ln>
          </p:spPr>
          <p:txBody>
            <a:bodyPr wrap="none" anchor="ctr" anchorCtr="0"/>
            <a:lstStyle/>
            <a:p>
              <a:pPr eaLnBrk="1" hangingPunct="1"/>
              <a:endParaRPr lang="en-US" altLang="en-US" sz="2000" dirty="0">
                <a:solidFill>
                  <a:schemeClr val="tx1"/>
                </a:solidFill>
                <a:latin typeface="Calibri (Body)" charset="0"/>
                <a:cs typeface="Calibri (Body)" charset="0"/>
              </a:endParaRPr>
            </a:p>
          </p:txBody>
        </p:sp>
      </p:grpSp>
      <p:sp>
        <p:nvSpPr>
          <p:cNvPr id="5148" name="Text Box 28"/>
          <p:cNvSpPr txBox="1"/>
          <p:nvPr/>
        </p:nvSpPr>
        <p:spPr>
          <a:xfrm>
            <a:off x="3429000" y="4419600"/>
            <a:ext cx="3505200" cy="1014730"/>
          </a:xfrm>
          <a:prstGeom prst="rect">
            <a:avLst/>
          </a:prstGeom>
          <a:noFill/>
          <a:ln w="9525">
            <a:noFill/>
          </a:ln>
        </p:spPr>
        <p:txBody>
          <a:bodyPr>
            <a:spAutoFit/>
          </a:bodyPr>
          <a:lstStyle/>
          <a:p>
            <a:pPr algn="ctr" eaLnBrk="1" hangingPunct="1">
              <a:spcBef>
                <a:spcPct val="50000"/>
              </a:spcBef>
            </a:pPr>
            <a:r>
              <a:rPr lang="en-GB" altLang="en-US" sz="2400" dirty="0">
                <a:solidFill>
                  <a:schemeClr val="tx1"/>
                </a:solidFill>
                <a:latin typeface="Calibri (Body)" charset="0"/>
                <a:cs typeface="Calibri (Body)" charset="0"/>
              </a:rPr>
              <a:t>Remember them from</a:t>
            </a:r>
          </a:p>
          <a:p>
            <a:pPr algn="ctr" eaLnBrk="1" hangingPunct="1">
              <a:spcBef>
                <a:spcPct val="50000"/>
              </a:spcBef>
            </a:pPr>
            <a:r>
              <a:rPr lang="en-GB" altLang="en-US" sz="2400" dirty="0">
                <a:solidFill>
                  <a:schemeClr val="tx1"/>
                </a:solidFill>
                <a:latin typeface="Calibri (Body)" charset="0"/>
                <a:cs typeface="Calibri (Body)" charset="0"/>
              </a:rPr>
              <a:t>this triangle:</a:t>
            </a:r>
          </a:p>
        </p:txBody>
      </p:sp>
      <p:grpSp>
        <p:nvGrpSpPr>
          <p:cNvPr id="5159" name="Group 39"/>
          <p:cNvGrpSpPr/>
          <p:nvPr/>
        </p:nvGrpSpPr>
        <p:grpSpPr>
          <a:xfrm>
            <a:off x="7391400" y="4130675"/>
            <a:ext cx="1524000" cy="1360488"/>
            <a:chOff x="2688" y="2832"/>
            <a:chExt cx="960" cy="816"/>
          </a:xfrm>
        </p:grpSpPr>
        <p:sp>
          <p:nvSpPr>
            <p:cNvPr id="4108" name="AutoShape 29"/>
            <p:cNvSpPr/>
            <p:nvPr/>
          </p:nvSpPr>
          <p:spPr>
            <a:xfrm>
              <a:off x="2688" y="2832"/>
              <a:ext cx="912" cy="816"/>
            </a:xfrm>
            <a:prstGeom prst="triangle">
              <a:avLst>
                <a:gd name="adj" fmla="val 50000"/>
              </a:avLst>
            </a:prstGeom>
            <a:noFill/>
            <a:ln w="28575" cap="flat" cmpd="sng">
              <a:solidFill>
                <a:schemeClr val="tx1"/>
              </a:solidFill>
              <a:prstDash val="solid"/>
              <a:miter/>
              <a:headEnd type="none" w="med" len="med"/>
              <a:tailEnd type="none" w="med" len="med"/>
            </a:ln>
          </p:spPr>
          <p:txBody>
            <a:bodyPr wrap="none" anchor="ctr" anchorCtr="0"/>
            <a:lstStyle/>
            <a:p>
              <a:pPr eaLnBrk="1" hangingPunct="1"/>
              <a:endParaRPr lang="en-US" altLang="en-US" sz="2000" dirty="0">
                <a:solidFill>
                  <a:schemeClr val="tx1"/>
                </a:solidFill>
                <a:latin typeface="Calibri (Body)" charset="0"/>
                <a:cs typeface="Calibri (Body)" charset="0"/>
              </a:endParaRPr>
            </a:p>
          </p:txBody>
        </p:sp>
        <p:sp>
          <p:nvSpPr>
            <p:cNvPr id="4109" name="Line 34"/>
            <p:cNvSpPr/>
            <p:nvPr/>
          </p:nvSpPr>
          <p:spPr>
            <a:xfrm>
              <a:off x="2928" y="3216"/>
              <a:ext cx="432" cy="0"/>
            </a:xfrm>
            <a:prstGeom prst="line">
              <a:avLst/>
            </a:prstGeom>
            <a:ln w="28575" cap="flat" cmpd="sng">
              <a:solidFill>
                <a:schemeClr val="tx1"/>
              </a:solidFill>
              <a:prstDash val="solid"/>
              <a:headEnd type="none" w="med" len="med"/>
              <a:tailEnd type="none" w="med" len="med"/>
            </a:ln>
          </p:spPr>
        </p:sp>
        <p:sp>
          <p:nvSpPr>
            <p:cNvPr id="4110" name="Line 35"/>
            <p:cNvSpPr/>
            <p:nvPr/>
          </p:nvSpPr>
          <p:spPr>
            <a:xfrm>
              <a:off x="3168" y="3216"/>
              <a:ext cx="0" cy="432"/>
            </a:xfrm>
            <a:prstGeom prst="line">
              <a:avLst/>
            </a:prstGeom>
            <a:ln w="28575" cap="flat" cmpd="sng">
              <a:solidFill>
                <a:schemeClr val="tx1"/>
              </a:solidFill>
              <a:prstDash val="solid"/>
              <a:headEnd type="none" w="med" len="med"/>
              <a:tailEnd type="none" w="med" len="med"/>
            </a:ln>
          </p:spPr>
        </p:sp>
        <p:sp>
          <p:nvSpPr>
            <p:cNvPr id="4111" name="Text Box 36"/>
            <p:cNvSpPr txBox="1"/>
            <p:nvPr/>
          </p:nvSpPr>
          <p:spPr>
            <a:xfrm>
              <a:off x="3024" y="2976"/>
              <a:ext cx="432" cy="239"/>
            </a:xfrm>
            <a:prstGeom prst="rect">
              <a:avLst/>
            </a:prstGeom>
            <a:noFill/>
            <a:ln w="9525">
              <a:noFill/>
            </a:ln>
          </p:spPr>
          <p:txBody>
            <a:bodyPr>
              <a:spAutoFit/>
            </a:bodyPr>
            <a:lstStyle/>
            <a:p>
              <a:pPr eaLnBrk="1" hangingPunct="1">
                <a:spcBef>
                  <a:spcPct val="50000"/>
                </a:spcBef>
              </a:pPr>
              <a:r>
                <a:rPr lang="en-GB" altLang="en-US" sz="2000" dirty="0">
                  <a:solidFill>
                    <a:schemeClr val="tx1"/>
                  </a:solidFill>
                  <a:latin typeface="Calibri (Body)" charset="0"/>
                  <a:cs typeface="Calibri (Body)" charset="0"/>
                </a:rPr>
                <a:t>D</a:t>
              </a:r>
            </a:p>
          </p:txBody>
        </p:sp>
        <p:sp>
          <p:nvSpPr>
            <p:cNvPr id="4112" name="Text Box 37"/>
            <p:cNvSpPr txBox="1"/>
            <p:nvPr/>
          </p:nvSpPr>
          <p:spPr>
            <a:xfrm>
              <a:off x="2832" y="3312"/>
              <a:ext cx="336" cy="239"/>
            </a:xfrm>
            <a:prstGeom prst="rect">
              <a:avLst/>
            </a:prstGeom>
            <a:noFill/>
            <a:ln w="9525">
              <a:noFill/>
            </a:ln>
          </p:spPr>
          <p:txBody>
            <a:bodyPr>
              <a:spAutoFit/>
            </a:bodyPr>
            <a:lstStyle/>
            <a:p>
              <a:pPr eaLnBrk="1" hangingPunct="1">
                <a:spcBef>
                  <a:spcPct val="50000"/>
                </a:spcBef>
              </a:pPr>
              <a:r>
                <a:rPr lang="en-GB" altLang="en-US" sz="2000" dirty="0">
                  <a:solidFill>
                    <a:schemeClr val="tx1"/>
                  </a:solidFill>
                  <a:latin typeface="Calibri (Body)" charset="0"/>
                  <a:cs typeface="Calibri (Body)" charset="0"/>
                </a:rPr>
                <a:t>S</a:t>
              </a:r>
            </a:p>
          </p:txBody>
        </p:sp>
        <p:sp>
          <p:nvSpPr>
            <p:cNvPr id="4113" name="Text Box 38"/>
            <p:cNvSpPr txBox="1"/>
            <p:nvPr/>
          </p:nvSpPr>
          <p:spPr>
            <a:xfrm>
              <a:off x="3168" y="3312"/>
              <a:ext cx="480" cy="239"/>
            </a:xfrm>
            <a:prstGeom prst="rect">
              <a:avLst/>
            </a:prstGeom>
            <a:noFill/>
            <a:ln w="9525">
              <a:noFill/>
            </a:ln>
          </p:spPr>
          <p:txBody>
            <a:bodyPr>
              <a:spAutoFit/>
            </a:bodyPr>
            <a:lstStyle/>
            <a:p>
              <a:pPr eaLnBrk="1" hangingPunct="1">
                <a:spcBef>
                  <a:spcPct val="50000"/>
                </a:spcBef>
              </a:pPr>
              <a:r>
                <a:rPr lang="en-GB" altLang="en-US" sz="2000" dirty="0">
                  <a:solidFill>
                    <a:schemeClr val="tx1"/>
                  </a:solidFill>
                  <a:latin typeface="Calibri (Body)" charset="0"/>
                  <a:cs typeface="Calibri (Body)" charset="0"/>
                </a:rPr>
                <a:t>T</a:t>
              </a:r>
            </a:p>
          </p:txBody>
        </p:sp>
      </p:grpSp>
      <p:sp>
        <p:nvSpPr>
          <p:cNvPr id="4104" name="Line 40"/>
          <p:cNvSpPr/>
          <p:nvPr/>
        </p:nvSpPr>
        <p:spPr>
          <a:xfrm>
            <a:off x="1905000" y="1169988"/>
            <a:ext cx="7315200" cy="7937"/>
          </a:xfrm>
          <a:prstGeom prst="line">
            <a:avLst/>
          </a:prstGeom>
          <a:ln w="25400" cap="flat" cmpd="sng">
            <a:solidFill>
              <a:schemeClr val="tx1"/>
            </a:solidFill>
            <a:prstDash val="solid"/>
            <a:headEnd type="none" w="med" len="med"/>
            <a:tailEnd type="none" w="med" len="med"/>
          </a:ln>
        </p:spPr>
      </p:sp>
      <p:sp>
        <p:nvSpPr>
          <p:cNvPr id="4105" name="Text Box 41"/>
          <p:cNvSpPr txBox="1"/>
          <p:nvPr/>
        </p:nvSpPr>
        <p:spPr>
          <a:xfrm>
            <a:off x="1752600" y="3048000"/>
            <a:ext cx="2667000" cy="398780"/>
          </a:xfrm>
          <a:prstGeom prst="rect">
            <a:avLst/>
          </a:prstGeom>
          <a:noFill/>
          <a:ln w="9525">
            <a:noFill/>
          </a:ln>
        </p:spPr>
        <p:txBody>
          <a:bodyPr>
            <a:spAutoFit/>
          </a:bodyPr>
          <a:lstStyle/>
          <a:p>
            <a:pPr algn="ctr" eaLnBrk="1" hangingPunct="1">
              <a:spcBef>
                <a:spcPct val="50000"/>
              </a:spcBef>
            </a:pPr>
            <a:r>
              <a:rPr lang="en-US" altLang="en-US" sz="2000" dirty="0">
                <a:solidFill>
                  <a:schemeClr val="tx1"/>
                </a:solidFill>
                <a:latin typeface="Calibri (Body)" charset="0"/>
                <a:cs typeface="Calibri (Body)" charset="0"/>
              </a:rPr>
              <a:t>Solving for Speed</a:t>
            </a:r>
          </a:p>
        </p:txBody>
      </p:sp>
      <p:sp>
        <p:nvSpPr>
          <p:cNvPr id="4106" name="Text Box 42"/>
          <p:cNvSpPr txBox="1"/>
          <p:nvPr/>
        </p:nvSpPr>
        <p:spPr>
          <a:xfrm>
            <a:off x="4648200" y="3048000"/>
            <a:ext cx="2362200" cy="398780"/>
          </a:xfrm>
          <a:prstGeom prst="rect">
            <a:avLst/>
          </a:prstGeom>
          <a:noFill/>
          <a:ln w="9525">
            <a:noFill/>
          </a:ln>
        </p:spPr>
        <p:txBody>
          <a:bodyPr>
            <a:spAutoFit/>
          </a:bodyPr>
          <a:lstStyle/>
          <a:p>
            <a:pPr algn="ctr" eaLnBrk="1" hangingPunct="1">
              <a:spcBef>
                <a:spcPct val="50000"/>
              </a:spcBef>
            </a:pPr>
            <a:r>
              <a:rPr lang="en-US" altLang="en-US" sz="2000" dirty="0">
                <a:solidFill>
                  <a:schemeClr val="tx1"/>
                </a:solidFill>
                <a:latin typeface="Calibri (Body)" charset="0"/>
                <a:cs typeface="Calibri (Body)" charset="0"/>
              </a:rPr>
              <a:t>Solving for Time</a:t>
            </a:r>
          </a:p>
        </p:txBody>
      </p:sp>
      <p:sp>
        <p:nvSpPr>
          <p:cNvPr id="4107" name="Text Box 43"/>
          <p:cNvSpPr txBox="1"/>
          <p:nvPr/>
        </p:nvSpPr>
        <p:spPr>
          <a:xfrm>
            <a:off x="7239000" y="3048000"/>
            <a:ext cx="3200400" cy="398780"/>
          </a:xfrm>
          <a:prstGeom prst="rect">
            <a:avLst/>
          </a:prstGeom>
          <a:noFill/>
          <a:ln w="9525">
            <a:noFill/>
          </a:ln>
        </p:spPr>
        <p:txBody>
          <a:bodyPr>
            <a:spAutoFit/>
          </a:bodyPr>
          <a:lstStyle/>
          <a:p>
            <a:pPr algn="ctr" eaLnBrk="1" hangingPunct="1">
              <a:spcBef>
                <a:spcPct val="50000"/>
              </a:spcBef>
            </a:pPr>
            <a:r>
              <a:rPr lang="en-US" altLang="en-US" sz="2000" dirty="0">
                <a:solidFill>
                  <a:schemeClr val="tx1"/>
                </a:solidFill>
                <a:latin typeface="Calibri (Body)" charset="0"/>
                <a:cs typeface="Calibri (Body)" charset="0"/>
              </a:rPr>
              <a:t>Solving for Distance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6" fill="hold" nodeType="clickEffect">
                                  <p:stCondLst>
                                    <p:cond delay="0"/>
                                  </p:stCondLst>
                                  <p:childTnLst>
                                    <p:set>
                                      <p:cBhvr>
                                        <p:cTn id="6" dur="1" fill="hold">
                                          <p:stCondLst>
                                            <p:cond delay="0"/>
                                          </p:stCondLst>
                                        </p:cTn>
                                        <p:tgtEl>
                                          <p:spTgt spid="5127"/>
                                        </p:tgtEl>
                                        <p:attrNameLst>
                                          <p:attrName>style.visibility</p:attrName>
                                        </p:attrNameLst>
                                      </p:cBhvr>
                                      <p:to>
                                        <p:strVal val="visible"/>
                                      </p:to>
                                    </p:set>
                                    <p:anim calcmode="lin" valueType="num">
                                      <p:cBhvr additive="base">
                                        <p:cTn id="7" dur="500" fill="hold"/>
                                        <p:tgtEl>
                                          <p:spTgt spid="5127"/>
                                        </p:tgtEl>
                                        <p:attrNameLst>
                                          <p:attrName>ppt_x</p:attrName>
                                        </p:attrNameLst>
                                      </p:cBhvr>
                                      <p:tavLst>
                                        <p:tav tm="0">
                                          <p:val>
                                            <p:strVal val="1+#ppt_w/2"/>
                                          </p:val>
                                        </p:tav>
                                        <p:tav tm="100000">
                                          <p:val>
                                            <p:strVal val="#ppt_x"/>
                                          </p:val>
                                        </p:tav>
                                      </p:tavLst>
                                    </p:anim>
                                    <p:anim calcmode="lin" valueType="num">
                                      <p:cBhvr additive="base">
                                        <p:cTn id="8" dur="500" fill="hold"/>
                                        <p:tgtEl>
                                          <p:spTgt spid="512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5" presetClass="entr" presetSubtype="0" fill="hold" nodeType="clickEffect">
                                  <p:stCondLst>
                                    <p:cond delay="0"/>
                                  </p:stCondLst>
                                  <p:childTnLst>
                                    <p:set>
                                      <p:cBhvr>
                                        <p:cTn id="12" dur="1" fill="hold">
                                          <p:stCondLst>
                                            <p:cond delay="0"/>
                                          </p:stCondLst>
                                        </p:cTn>
                                        <p:tgtEl>
                                          <p:spTgt spid="5143"/>
                                        </p:tgtEl>
                                        <p:attrNameLst>
                                          <p:attrName>style.visibility</p:attrName>
                                        </p:attrNameLst>
                                      </p:cBhvr>
                                      <p:to>
                                        <p:strVal val="visible"/>
                                      </p:to>
                                    </p:set>
                                    <p:anim calcmode="lin" valueType="num">
                                      <p:cBhvr>
                                        <p:cTn id="13" dur="1000" fill="hold"/>
                                        <p:tgtEl>
                                          <p:spTgt spid="5143"/>
                                        </p:tgtEl>
                                        <p:attrNameLst>
                                          <p:attrName>ppt_w</p:attrName>
                                        </p:attrNameLst>
                                      </p:cBhvr>
                                      <p:tavLst>
                                        <p:tav tm="0">
                                          <p:val>
                                            <p:fltVal val="0"/>
                                          </p:val>
                                        </p:tav>
                                        <p:tav tm="100000">
                                          <p:val>
                                            <p:strVal val="#ppt_w"/>
                                          </p:val>
                                        </p:tav>
                                      </p:tavLst>
                                    </p:anim>
                                    <p:anim calcmode="lin" valueType="num">
                                      <p:cBhvr>
                                        <p:cTn id="14" dur="1000" fill="hold"/>
                                        <p:tgtEl>
                                          <p:spTgt spid="5143"/>
                                        </p:tgtEl>
                                        <p:attrNameLst>
                                          <p:attrName>ppt_h</p:attrName>
                                        </p:attrNameLst>
                                      </p:cBhvr>
                                      <p:tavLst>
                                        <p:tav tm="0">
                                          <p:val>
                                            <p:fltVal val="0"/>
                                          </p:val>
                                        </p:tav>
                                        <p:tav tm="100000">
                                          <p:val>
                                            <p:strVal val="#ppt_h"/>
                                          </p:val>
                                        </p:tav>
                                      </p:tavLst>
                                    </p:anim>
                                    <p:anim calcmode="lin" valueType="num">
                                      <p:cBhvr>
                                        <p:cTn id="15" dur="1000" fill="hold"/>
                                        <p:tgtEl>
                                          <p:spTgt spid="5143"/>
                                        </p:tgtEl>
                                        <p:attrNameLst>
                                          <p:attrName>ppt_x</p:attrName>
                                        </p:attrNameLst>
                                      </p:cBhvr>
                                      <p:tavLst>
                                        <p:tav tm="0" fmla="#ppt_x+(cos(-2*pi*(1-$))*-#ppt_x-sin(-2*pi*(1-$))*(1-#ppt_y))*(1-$)">
                                          <p:val>
                                            <p:fltVal val="0"/>
                                          </p:val>
                                        </p:tav>
                                        <p:tav tm="100000">
                                          <p:val>
                                            <p:fltVal val="1"/>
                                          </p:val>
                                        </p:tav>
                                      </p:tavLst>
                                    </p:anim>
                                    <p:anim calcmode="lin" valueType="num">
                                      <p:cBhvr>
                                        <p:cTn id="16" dur="1000" fill="hold"/>
                                        <p:tgtEl>
                                          <p:spTgt spid="5143"/>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7" fill="hold">
                      <p:stCondLst>
                        <p:cond delay="indefinite"/>
                      </p:stCondLst>
                      <p:childTnLst>
                        <p:par>
                          <p:cTn id="18" fill="hold">
                            <p:stCondLst>
                              <p:cond delay="0"/>
                            </p:stCondLst>
                            <p:childTnLst>
                              <p:par>
                                <p:cTn id="19" presetID="15" presetClass="entr" presetSubtype="0" fill="hold" nodeType="clickEffect">
                                  <p:stCondLst>
                                    <p:cond delay="0"/>
                                  </p:stCondLst>
                                  <p:childTnLst>
                                    <p:set>
                                      <p:cBhvr>
                                        <p:cTn id="20" dur="1" fill="hold">
                                          <p:stCondLst>
                                            <p:cond delay="0"/>
                                          </p:stCondLst>
                                        </p:cTn>
                                        <p:tgtEl>
                                          <p:spTgt spid="5145"/>
                                        </p:tgtEl>
                                        <p:attrNameLst>
                                          <p:attrName>style.visibility</p:attrName>
                                        </p:attrNameLst>
                                      </p:cBhvr>
                                      <p:to>
                                        <p:strVal val="visible"/>
                                      </p:to>
                                    </p:set>
                                    <p:anim calcmode="lin" valueType="num">
                                      <p:cBhvr>
                                        <p:cTn id="21" dur="1000" fill="hold"/>
                                        <p:tgtEl>
                                          <p:spTgt spid="5145"/>
                                        </p:tgtEl>
                                        <p:attrNameLst>
                                          <p:attrName>ppt_w</p:attrName>
                                        </p:attrNameLst>
                                      </p:cBhvr>
                                      <p:tavLst>
                                        <p:tav tm="0">
                                          <p:val>
                                            <p:fltVal val="0"/>
                                          </p:val>
                                        </p:tav>
                                        <p:tav tm="100000">
                                          <p:val>
                                            <p:strVal val="#ppt_w"/>
                                          </p:val>
                                        </p:tav>
                                      </p:tavLst>
                                    </p:anim>
                                    <p:anim calcmode="lin" valueType="num">
                                      <p:cBhvr>
                                        <p:cTn id="22" dur="1000" fill="hold"/>
                                        <p:tgtEl>
                                          <p:spTgt spid="5145"/>
                                        </p:tgtEl>
                                        <p:attrNameLst>
                                          <p:attrName>ppt_h</p:attrName>
                                        </p:attrNameLst>
                                      </p:cBhvr>
                                      <p:tavLst>
                                        <p:tav tm="0">
                                          <p:val>
                                            <p:fltVal val="0"/>
                                          </p:val>
                                        </p:tav>
                                        <p:tav tm="100000">
                                          <p:val>
                                            <p:strVal val="#ppt_h"/>
                                          </p:val>
                                        </p:tav>
                                      </p:tavLst>
                                    </p:anim>
                                    <p:anim calcmode="lin" valueType="num">
                                      <p:cBhvr>
                                        <p:cTn id="23" dur="1000" fill="hold"/>
                                        <p:tgtEl>
                                          <p:spTgt spid="5145"/>
                                        </p:tgtEl>
                                        <p:attrNameLst>
                                          <p:attrName>ppt_x</p:attrName>
                                        </p:attrNameLst>
                                      </p:cBhvr>
                                      <p:tavLst>
                                        <p:tav tm="0" fmla="#ppt_x+(cos(-2*pi*(1-$))*-#ppt_x-sin(-2*pi*(1-$))*(1-#ppt_y))*(1-$)">
                                          <p:val>
                                            <p:fltVal val="0"/>
                                          </p:val>
                                        </p:tav>
                                        <p:tav tm="100000">
                                          <p:val>
                                            <p:fltVal val="1"/>
                                          </p:val>
                                        </p:tav>
                                      </p:tavLst>
                                    </p:anim>
                                    <p:anim calcmode="lin" valueType="num">
                                      <p:cBhvr>
                                        <p:cTn id="24" dur="1000" fill="hold"/>
                                        <p:tgtEl>
                                          <p:spTgt spid="5145"/>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5" fill="hold">
                      <p:stCondLst>
                        <p:cond delay="indefinite"/>
                      </p:stCondLst>
                      <p:childTnLst>
                        <p:par>
                          <p:cTn id="26" fill="hold">
                            <p:stCondLst>
                              <p:cond delay="0"/>
                            </p:stCondLst>
                            <p:childTnLst>
                              <p:par>
                                <p:cTn id="27" presetID="15" presetClass="entr" presetSubtype="0" fill="hold" nodeType="clickEffect">
                                  <p:stCondLst>
                                    <p:cond delay="0"/>
                                  </p:stCondLst>
                                  <p:childTnLst>
                                    <p:set>
                                      <p:cBhvr>
                                        <p:cTn id="28" dur="1" fill="hold">
                                          <p:stCondLst>
                                            <p:cond delay="0"/>
                                          </p:stCondLst>
                                        </p:cTn>
                                        <p:tgtEl>
                                          <p:spTgt spid="5147"/>
                                        </p:tgtEl>
                                        <p:attrNameLst>
                                          <p:attrName>style.visibility</p:attrName>
                                        </p:attrNameLst>
                                      </p:cBhvr>
                                      <p:to>
                                        <p:strVal val="visible"/>
                                      </p:to>
                                    </p:set>
                                    <p:anim calcmode="lin" valueType="num">
                                      <p:cBhvr>
                                        <p:cTn id="29" dur="1000" fill="hold"/>
                                        <p:tgtEl>
                                          <p:spTgt spid="5147"/>
                                        </p:tgtEl>
                                        <p:attrNameLst>
                                          <p:attrName>ppt_w</p:attrName>
                                        </p:attrNameLst>
                                      </p:cBhvr>
                                      <p:tavLst>
                                        <p:tav tm="0">
                                          <p:val>
                                            <p:fltVal val="0"/>
                                          </p:val>
                                        </p:tav>
                                        <p:tav tm="100000">
                                          <p:val>
                                            <p:strVal val="#ppt_w"/>
                                          </p:val>
                                        </p:tav>
                                      </p:tavLst>
                                    </p:anim>
                                    <p:anim calcmode="lin" valueType="num">
                                      <p:cBhvr>
                                        <p:cTn id="30" dur="1000" fill="hold"/>
                                        <p:tgtEl>
                                          <p:spTgt spid="5147"/>
                                        </p:tgtEl>
                                        <p:attrNameLst>
                                          <p:attrName>ppt_h</p:attrName>
                                        </p:attrNameLst>
                                      </p:cBhvr>
                                      <p:tavLst>
                                        <p:tav tm="0">
                                          <p:val>
                                            <p:fltVal val="0"/>
                                          </p:val>
                                        </p:tav>
                                        <p:tav tm="100000">
                                          <p:val>
                                            <p:strVal val="#ppt_h"/>
                                          </p:val>
                                        </p:tav>
                                      </p:tavLst>
                                    </p:anim>
                                    <p:anim calcmode="lin" valueType="num">
                                      <p:cBhvr>
                                        <p:cTn id="31" dur="1000" fill="hold"/>
                                        <p:tgtEl>
                                          <p:spTgt spid="5147"/>
                                        </p:tgtEl>
                                        <p:attrNameLst>
                                          <p:attrName>ppt_x</p:attrName>
                                        </p:attrNameLst>
                                      </p:cBhvr>
                                      <p:tavLst>
                                        <p:tav tm="0" fmla="#ppt_x+(cos(-2*pi*(1-$))*-#ppt_x-sin(-2*pi*(1-$))*(1-#ppt_y))*(1-$)">
                                          <p:val>
                                            <p:fltVal val="0"/>
                                          </p:val>
                                        </p:tav>
                                        <p:tav tm="100000">
                                          <p:val>
                                            <p:fltVal val="1"/>
                                          </p:val>
                                        </p:tav>
                                      </p:tavLst>
                                    </p:anim>
                                    <p:anim calcmode="lin" valueType="num">
                                      <p:cBhvr>
                                        <p:cTn id="32" dur="1000" fill="hold"/>
                                        <p:tgtEl>
                                          <p:spTgt spid="5147"/>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5148"/>
                                        </p:tgtEl>
                                        <p:attrNameLst>
                                          <p:attrName>style.visibility</p:attrName>
                                        </p:attrNameLst>
                                      </p:cBhvr>
                                      <p:to>
                                        <p:strVal val="visible"/>
                                      </p:to>
                                    </p:set>
                                    <p:anim calcmode="lin" valueType="num">
                                      <p:cBhvr additive="base">
                                        <p:cTn id="37" dur="500" fill="hold"/>
                                        <p:tgtEl>
                                          <p:spTgt spid="5148"/>
                                        </p:tgtEl>
                                        <p:attrNameLst>
                                          <p:attrName>ppt_x</p:attrName>
                                        </p:attrNameLst>
                                      </p:cBhvr>
                                      <p:tavLst>
                                        <p:tav tm="0">
                                          <p:val>
                                            <p:strVal val="0-#ppt_w/2"/>
                                          </p:val>
                                        </p:tav>
                                        <p:tav tm="100000">
                                          <p:val>
                                            <p:strVal val="#ppt_x"/>
                                          </p:val>
                                        </p:tav>
                                      </p:tavLst>
                                    </p:anim>
                                    <p:anim calcmode="lin" valueType="num">
                                      <p:cBhvr additive="base">
                                        <p:cTn id="38" dur="500" fill="hold"/>
                                        <p:tgtEl>
                                          <p:spTgt spid="5148"/>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nodeType="clickEffect">
                                  <p:stCondLst>
                                    <p:cond delay="0"/>
                                  </p:stCondLst>
                                  <p:childTnLst>
                                    <p:set>
                                      <p:cBhvr>
                                        <p:cTn id="42" dur="1" fill="hold">
                                          <p:stCondLst>
                                            <p:cond delay="0"/>
                                          </p:stCondLst>
                                        </p:cTn>
                                        <p:tgtEl>
                                          <p:spTgt spid="5159"/>
                                        </p:tgtEl>
                                        <p:attrNameLst>
                                          <p:attrName>style.visibility</p:attrName>
                                        </p:attrNameLst>
                                      </p:cBhvr>
                                      <p:to>
                                        <p:strVal val="visible"/>
                                      </p:to>
                                    </p:set>
                                    <p:anim calcmode="lin" valueType="num">
                                      <p:cBhvr additive="base">
                                        <p:cTn id="43" dur="500" fill="hold"/>
                                        <p:tgtEl>
                                          <p:spTgt spid="5159"/>
                                        </p:tgtEl>
                                        <p:attrNameLst>
                                          <p:attrName>ppt_x</p:attrName>
                                        </p:attrNameLst>
                                      </p:cBhvr>
                                      <p:tavLst>
                                        <p:tav tm="0">
                                          <p:val>
                                            <p:strVal val="1+#ppt_w/2"/>
                                          </p:val>
                                        </p:tav>
                                        <p:tav tm="100000">
                                          <p:val>
                                            <p:strVal val="#ppt_x"/>
                                          </p:val>
                                        </p:tav>
                                      </p:tavLst>
                                    </p:anim>
                                    <p:anim calcmode="lin" valueType="num">
                                      <p:cBhvr additive="base">
                                        <p:cTn id="44" dur="500" fill="hold"/>
                                        <p:tgtEl>
                                          <p:spTgt spid="515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7" grpId="0"/>
      <p:bldP spid="514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9"/>
          <p:cNvSpPr txBox="1"/>
          <p:nvPr/>
        </p:nvSpPr>
        <p:spPr>
          <a:xfrm>
            <a:off x="1052195" y="575945"/>
            <a:ext cx="9907270" cy="1990090"/>
          </a:xfrm>
          <a:prstGeom prst="rect">
            <a:avLst/>
          </a:prstGeom>
          <a:noFill/>
          <a:ln w="9525">
            <a:noFill/>
          </a:ln>
        </p:spPr>
        <p:txBody>
          <a:bodyPr>
            <a:noAutofit/>
          </a:bodyPr>
          <a:lstStyle/>
          <a:p>
            <a:pPr marL="457200" indent="-457200" eaLnBrk="1" hangingPunct="1">
              <a:spcBef>
                <a:spcPct val="50000"/>
              </a:spcBef>
            </a:pPr>
            <a:endParaRPr lang="en-GB" altLang="en-US" sz="2800" dirty="0">
              <a:solidFill>
                <a:schemeClr val="tx1"/>
              </a:solidFill>
              <a:latin typeface="Calibri (Body)" charset="0"/>
              <a:cs typeface="Calibri (Body)" charset="0"/>
            </a:endParaRPr>
          </a:p>
          <a:p>
            <a:pPr marL="457200" indent="-457200" eaLnBrk="1" hangingPunct="1">
              <a:spcBef>
                <a:spcPct val="50000"/>
              </a:spcBef>
            </a:pPr>
            <a:r>
              <a:rPr lang="en-GB" altLang="en-US" sz="2800" dirty="0">
                <a:solidFill>
                  <a:schemeClr val="tx1"/>
                </a:solidFill>
                <a:latin typeface="Calibri (Body)" charset="0"/>
                <a:cs typeface="Calibri (Body)" charset="0"/>
              </a:rPr>
              <a:t>Ex.1 A windsurfer travelled 28 km in 1 hour 45 mins.</a:t>
            </a:r>
          </a:p>
          <a:p>
            <a:pPr marL="457200" indent="-457200" eaLnBrk="1" hangingPunct="1">
              <a:spcBef>
                <a:spcPct val="50000"/>
              </a:spcBef>
            </a:pPr>
            <a:r>
              <a:rPr lang="en-GB" altLang="en-US" sz="2800" dirty="0">
                <a:solidFill>
                  <a:schemeClr val="tx1"/>
                </a:solidFill>
                <a:latin typeface="Calibri (Body)" charset="0"/>
                <a:cs typeface="Calibri (Body)" charset="0"/>
              </a:rPr>
              <a:t>Calculate his speed.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46" name="Group 2"/>
          <p:cNvGrpSpPr/>
          <p:nvPr/>
        </p:nvGrpSpPr>
        <p:grpSpPr>
          <a:xfrm>
            <a:off x="7391400" y="1981200"/>
            <a:ext cx="1524000" cy="1295400"/>
            <a:chOff x="2688" y="2832"/>
            <a:chExt cx="960" cy="816"/>
          </a:xfrm>
        </p:grpSpPr>
        <p:sp>
          <p:nvSpPr>
            <p:cNvPr id="6164" name="AutoShape 3"/>
            <p:cNvSpPr/>
            <p:nvPr/>
          </p:nvSpPr>
          <p:spPr>
            <a:xfrm>
              <a:off x="2688" y="2832"/>
              <a:ext cx="912" cy="816"/>
            </a:xfrm>
            <a:prstGeom prst="triangle">
              <a:avLst>
                <a:gd name="adj" fmla="val 50000"/>
              </a:avLst>
            </a:prstGeom>
            <a:noFill/>
            <a:ln w="28575" cap="flat" cmpd="sng">
              <a:solidFill>
                <a:schemeClr val="tx1"/>
              </a:solidFill>
              <a:prstDash val="solid"/>
              <a:miter/>
              <a:headEnd type="none" w="med" len="med"/>
              <a:tailEnd type="none" w="med" len="med"/>
            </a:ln>
          </p:spPr>
          <p:txBody>
            <a:bodyPr wrap="none" anchor="ctr" anchorCtr="0"/>
            <a:lstStyle/>
            <a:p>
              <a:pPr eaLnBrk="1" hangingPunct="1"/>
              <a:endParaRPr lang="en-US" altLang="en-US" sz="2800" dirty="0">
                <a:solidFill>
                  <a:schemeClr val="tx1"/>
                </a:solidFill>
                <a:latin typeface="Calibri (Body)" charset="0"/>
                <a:cs typeface="Calibri (Body)" charset="0"/>
              </a:endParaRPr>
            </a:p>
          </p:txBody>
        </p:sp>
        <p:sp>
          <p:nvSpPr>
            <p:cNvPr id="6165" name="Line 4"/>
            <p:cNvSpPr/>
            <p:nvPr/>
          </p:nvSpPr>
          <p:spPr>
            <a:xfrm>
              <a:off x="2928" y="3216"/>
              <a:ext cx="432" cy="0"/>
            </a:xfrm>
            <a:prstGeom prst="line">
              <a:avLst/>
            </a:prstGeom>
            <a:ln w="28575" cap="flat" cmpd="sng">
              <a:solidFill>
                <a:schemeClr val="tx1"/>
              </a:solidFill>
              <a:prstDash val="solid"/>
              <a:headEnd type="none" w="med" len="med"/>
              <a:tailEnd type="none" w="med" len="med"/>
            </a:ln>
          </p:spPr>
        </p:sp>
        <p:sp>
          <p:nvSpPr>
            <p:cNvPr id="6166" name="Line 5"/>
            <p:cNvSpPr/>
            <p:nvPr/>
          </p:nvSpPr>
          <p:spPr>
            <a:xfrm>
              <a:off x="3168" y="3216"/>
              <a:ext cx="0" cy="432"/>
            </a:xfrm>
            <a:prstGeom prst="line">
              <a:avLst/>
            </a:prstGeom>
            <a:ln w="28575" cap="flat" cmpd="sng">
              <a:solidFill>
                <a:schemeClr val="tx1"/>
              </a:solidFill>
              <a:prstDash val="solid"/>
              <a:headEnd type="none" w="med" len="med"/>
              <a:tailEnd type="none" w="med" len="med"/>
            </a:ln>
          </p:spPr>
        </p:sp>
        <p:sp>
          <p:nvSpPr>
            <p:cNvPr id="6167" name="Text Box 6"/>
            <p:cNvSpPr txBox="1"/>
            <p:nvPr/>
          </p:nvSpPr>
          <p:spPr>
            <a:xfrm>
              <a:off x="3024" y="2976"/>
              <a:ext cx="432" cy="329"/>
            </a:xfrm>
            <a:prstGeom prst="rect">
              <a:avLst/>
            </a:prstGeom>
            <a:noFill/>
            <a:ln w="9525">
              <a:noFill/>
            </a:ln>
          </p:spPr>
          <p:txBody>
            <a:bodyPr>
              <a:spAutoFit/>
            </a:bodyPr>
            <a:lstStyle/>
            <a:p>
              <a:pPr eaLnBrk="1" hangingPunct="1">
                <a:spcBef>
                  <a:spcPct val="50000"/>
                </a:spcBef>
              </a:pPr>
              <a:r>
                <a:rPr lang="en-GB" altLang="en-US" sz="2800" dirty="0">
                  <a:solidFill>
                    <a:schemeClr val="tx1"/>
                  </a:solidFill>
                  <a:latin typeface="Calibri (Body)" charset="0"/>
                  <a:cs typeface="Calibri (Body)" charset="0"/>
                </a:rPr>
                <a:t>D</a:t>
              </a:r>
            </a:p>
          </p:txBody>
        </p:sp>
        <p:sp>
          <p:nvSpPr>
            <p:cNvPr id="6168" name="Text Box 7"/>
            <p:cNvSpPr txBox="1"/>
            <p:nvPr/>
          </p:nvSpPr>
          <p:spPr>
            <a:xfrm>
              <a:off x="2832" y="3312"/>
              <a:ext cx="336" cy="329"/>
            </a:xfrm>
            <a:prstGeom prst="rect">
              <a:avLst/>
            </a:prstGeom>
            <a:noFill/>
            <a:ln w="9525">
              <a:noFill/>
            </a:ln>
          </p:spPr>
          <p:txBody>
            <a:bodyPr>
              <a:spAutoFit/>
            </a:bodyPr>
            <a:lstStyle/>
            <a:p>
              <a:pPr eaLnBrk="1" hangingPunct="1">
                <a:spcBef>
                  <a:spcPct val="50000"/>
                </a:spcBef>
              </a:pPr>
              <a:r>
                <a:rPr lang="en-GB" altLang="en-US" sz="2800" dirty="0">
                  <a:solidFill>
                    <a:schemeClr val="tx1"/>
                  </a:solidFill>
                  <a:latin typeface="Calibri (Body)" charset="0"/>
                  <a:cs typeface="Calibri (Body)" charset="0"/>
                </a:rPr>
                <a:t>S</a:t>
              </a:r>
            </a:p>
          </p:txBody>
        </p:sp>
        <p:sp>
          <p:nvSpPr>
            <p:cNvPr id="6169" name="Text Box 8"/>
            <p:cNvSpPr txBox="1"/>
            <p:nvPr/>
          </p:nvSpPr>
          <p:spPr>
            <a:xfrm>
              <a:off x="3168" y="3312"/>
              <a:ext cx="480" cy="329"/>
            </a:xfrm>
            <a:prstGeom prst="rect">
              <a:avLst/>
            </a:prstGeom>
            <a:noFill/>
            <a:ln w="9525">
              <a:noFill/>
            </a:ln>
          </p:spPr>
          <p:txBody>
            <a:bodyPr>
              <a:spAutoFit/>
            </a:bodyPr>
            <a:lstStyle/>
            <a:p>
              <a:pPr eaLnBrk="1" hangingPunct="1">
                <a:spcBef>
                  <a:spcPct val="50000"/>
                </a:spcBef>
              </a:pPr>
              <a:r>
                <a:rPr lang="en-GB" altLang="en-US" sz="2800" dirty="0">
                  <a:solidFill>
                    <a:schemeClr val="tx1"/>
                  </a:solidFill>
                  <a:latin typeface="Calibri (Body)" charset="0"/>
                  <a:cs typeface="Calibri (Body)" charset="0"/>
                </a:rPr>
                <a:t>T</a:t>
              </a:r>
            </a:p>
          </p:txBody>
        </p:sp>
      </p:grpSp>
      <p:sp>
        <p:nvSpPr>
          <p:cNvPr id="6147" name="Text Box 9"/>
          <p:cNvSpPr txBox="1"/>
          <p:nvPr/>
        </p:nvSpPr>
        <p:spPr>
          <a:xfrm>
            <a:off x="2057400" y="304800"/>
            <a:ext cx="8839200" cy="1814830"/>
          </a:xfrm>
          <a:prstGeom prst="rect">
            <a:avLst/>
          </a:prstGeom>
          <a:noFill/>
          <a:ln w="9525">
            <a:noFill/>
          </a:ln>
        </p:spPr>
        <p:txBody>
          <a:bodyPr>
            <a:spAutoFit/>
          </a:bodyPr>
          <a:lstStyle/>
          <a:p>
            <a:pPr marL="457200" indent="-457200" eaLnBrk="1" hangingPunct="1">
              <a:spcBef>
                <a:spcPct val="50000"/>
              </a:spcBef>
            </a:pPr>
            <a:endParaRPr lang="en-GB" altLang="en-US" sz="2800" dirty="0">
              <a:solidFill>
                <a:schemeClr val="tx1"/>
              </a:solidFill>
              <a:latin typeface="Calibri (Body)" charset="0"/>
              <a:cs typeface="Calibri (Body)" charset="0"/>
            </a:endParaRPr>
          </a:p>
          <a:p>
            <a:pPr marL="457200" indent="-457200" eaLnBrk="1" hangingPunct="1">
              <a:spcBef>
                <a:spcPct val="50000"/>
              </a:spcBef>
            </a:pPr>
            <a:r>
              <a:rPr lang="en-GB" altLang="en-US" sz="2800" dirty="0">
                <a:solidFill>
                  <a:schemeClr val="tx1"/>
                </a:solidFill>
                <a:latin typeface="Calibri (Body)" charset="0"/>
                <a:cs typeface="Calibri (Body)" charset="0"/>
              </a:rPr>
              <a:t>A windsurfer travelled 28 km in 1 hour 45 mins.</a:t>
            </a:r>
          </a:p>
          <a:p>
            <a:pPr marL="457200" indent="-457200" eaLnBrk="1" hangingPunct="1">
              <a:spcBef>
                <a:spcPct val="50000"/>
              </a:spcBef>
            </a:pPr>
            <a:r>
              <a:rPr lang="en-GB" altLang="en-US" sz="2800" dirty="0">
                <a:solidFill>
                  <a:schemeClr val="tx1"/>
                </a:solidFill>
                <a:latin typeface="Calibri (Body)" charset="0"/>
                <a:cs typeface="Calibri (Body)" charset="0"/>
              </a:rPr>
              <a:t>Calculate his speed.</a:t>
            </a:r>
          </a:p>
        </p:txBody>
      </p:sp>
      <p:sp>
        <p:nvSpPr>
          <p:cNvPr id="6155" name="Oval 11"/>
          <p:cNvSpPr/>
          <p:nvPr/>
        </p:nvSpPr>
        <p:spPr>
          <a:xfrm>
            <a:off x="7696200" y="2743200"/>
            <a:ext cx="228600" cy="457200"/>
          </a:xfrm>
          <a:prstGeom prst="ellipse">
            <a:avLst/>
          </a:prstGeom>
          <a:noFill/>
          <a:ln w="28575" cap="flat" cmpd="sng">
            <a:solidFill>
              <a:schemeClr val="accent1"/>
            </a:solidFill>
            <a:prstDash val="solid"/>
            <a:headEnd type="none" w="med" len="med"/>
            <a:tailEnd type="none" w="med" len="med"/>
          </a:ln>
        </p:spPr>
        <p:txBody>
          <a:bodyPr wrap="none" anchor="ctr" anchorCtr="0"/>
          <a:lstStyle/>
          <a:p>
            <a:pPr eaLnBrk="1" hangingPunct="1"/>
            <a:endParaRPr lang="en-US" altLang="en-US" sz="2800" dirty="0">
              <a:solidFill>
                <a:schemeClr val="tx1"/>
              </a:solidFill>
              <a:latin typeface="Calibri (Body)" charset="0"/>
              <a:cs typeface="Calibri (Body)" charset="0"/>
            </a:endParaRPr>
          </a:p>
        </p:txBody>
      </p:sp>
      <p:sp>
        <p:nvSpPr>
          <p:cNvPr id="6158" name="Oval 14"/>
          <p:cNvSpPr/>
          <p:nvPr/>
        </p:nvSpPr>
        <p:spPr>
          <a:xfrm rot="-1192175">
            <a:off x="7999413" y="2206625"/>
            <a:ext cx="460375" cy="914400"/>
          </a:xfrm>
          <a:prstGeom prst="ellipse">
            <a:avLst/>
          </a:prstGeom>
          <a:noFill/>
          <a:ln w="28575" cap="flat" cmpd="sng">
            <a:solidFill>
              <a:schemeClr val="accent1"/>
            </a:solidFill>
            <a:prstDash val="solid"/>
            <a:headEnd type="none" w="med" len="med"/>
            <a:tailEnd type="none" w="med" len="med"/>
          </a:ln>
        </p:spPr>
        <p:txBody>
          <a:bodyPr wrap="none" anchor="ctr" anchorCtr="0"/>
          <a:lstStyle/>
          <a:p>
            <a:pPr eaLnBrk="1" hangingPunct="1"/>
            <a:endParaRPr lang="en-US" altLang="en-US" sz="2800" dirty="0">
              <a:solidFill>
                <a:schemeClr val="tx1"/>
              </a:solidFill>
              <a:latin typeface="Calibri (Body)" charset="0"/>
              <a:cs typeface="Calibri (Body)" charset="0"/>
            </a:endParaRPr>
          </a:p>
        </p:txBody>
      </p:sp>
      <p:sp>
        <p:nvSpPr>
          <p:cNvPr id="6156" name="Text Box 12"/>
          <p:cNvSpPr txBox="1"/>
          <p:nvPr/>
        </p:nvSpPr>
        <p:spPr>
          <a:xfrm>
            <a:off x="2209800" y="2209800"/>
            <a:ext cx="1524000" cy="521970"/>
          </a:xfrm>
          <a:prstGeom prst="rect">
            <a:avLst/>
          </a:prstGeom>
          <a:noFill/>
          <a:ln w="9525">
            <a:noFill/>
          </a:ln>
        </p:spPr>
        <p:txBody>
          <a:bodyPr>
            <a:spAutoFit/>
          </a:bodyPr>
          <a:lstStyle/>
          <a:p>
            <a:pPr eaLnBrk="1" hangingPunct="1">
              <a:spcBef>
                <a:spcPct val="50000"/>
              </a:spcBef>
            </a:pPr>
            <a:r>
              <a:rPr lang="en-GB" altLang="en-US" sz="2800" dirty="0">
                <a:solidFill>
                  <a:schemeClr val="tx1"/>
                </a:solidFill>
                <a:latin typeface="Calibri (Body)" charset="0"/>
                <a:cs typeface="Calibri (Body)" charset="0"/>
              </a:rPr>
              <a:t>Speed = </a:t>
            </a:r>
          </a:p>
        </p:txBody>
      </p:sp>
      <p:grpSp>
        <p:nvGrpSpPr>
          <p:cNvPr id="6172" name="Group 28"/>
          <p:cNvGrpSpPr/>
          <p:nvPr/>
        </p:nvGrpSpPr>
        <p:grpSpPr>
          <a:xfrm>
            <a:off x="3810000" y="1981200"/>
            <a:ext cx="2057400" cy="1039354"/>
            <a:chOff x="2400" y="1680"/>
            <a:chExt cx="816" cy="483"/>
          </a:xfrm>
        </p:grpSpPr>
        <p:sp>
          <p:nvSpPr>
            <p:cNvPr id="6161" name="Text Box 15"/>
            <p:cNvSpPr txBox="1"/>
            <p:nvPr/>
          </p:nvSpPr>
          <p:spPr>
            <a:xfrm>
              <a:off x="2400" y="1680"/>
              <a:ext cx="816" cy="243"/>
            </a:xfrm>
            <a:prstGeom prst="rect">
              <a:avLst/>
            </a:prstGeom>
            <a:noFill/>
            <a:ln w="9525">
              <a:noFill/>
            </a:ln>
          </p:spPr>
          <p:txBody>
            <a:bodyPr>
              <a:spAutoFit/>
            </a:bodyPr>
            <a:lstStyle/>
            <a:p>
              <a:pPr algn="ctr" eaLnBrk="1" hangingPunct="1">
                <a:spcBef>
                  <a:spcPct val="50000"/>
                </a:spcBef>
              </a:pPr>
              <a:r>
                <a:rPr lang="en-GB" altLang="en-US" sz="2800" dirty="0">
                  <a:solidFill>
                    <a:schemeClr val="tx1"/>
                  </a:solidFill>
                  <a:latin typeface="Calibri (Body)" charset="0"/>
                  <a:cs typeface="Calibri (Body)" charset="0"/>
                </a:rPr>
                <a:t>Distance</a:t>
              </a:r>
            </a:p>
          </p:txBody>
        </p:sp>
        <p:sp>
          <p:nvSpPr>
            <p:cNvPr id="6162" name="Text Box 16"/>
            <p:cNvSpPr txBox="1"/>
            <p:nvPr/>
          </p:nvSpPr>
          <p:spPr>
            <a:xfrm>
              <a:off x="2496" y="1920"/>
              <a:ext cx="672" cy="243"/>
            </a:xfrm>
            <a:prstGeom prst="rect">
              <a:avLst/>
            </a:prstGeom>
            <a:noFill/>
            <a:ln w="9525">
              <a:noFill/>
            </a:ln>
          </p:spPr>
          <p:txBody>
            <a:bodyPr>
              <a:spAutoFit/>
            </a:bodyPr>
            <a:lstStyle/>
            <a:p>
              <a:pPr algn="ctr" eaLnBrk="1" hangingPunct="1">
                <a:spcBef>
                  <a:spcPct val="50000"/>
                </a:spcBef>
              </a:pPr>
              <a:r>
                <a:rPr lang="en-GB" altLang="en-US" sz="2800" dirty="0">
                  <a:solidFill>
                    <a:schemeClr val="tx1"/>
                  </a:solidFill>
                  <a:latin typeface="Calibri (Body)" charset="0"/>
                  <a:cs typeface="Calibri (Body)" charset="0"/>
                </a:rPr>
                <a:t>Time</a:t>
              </a:r>
            </a:p>
          </p:txBody>
        </p:sp>
        <p:sp>
          <p:nvSpPr>
            <p:cNvPr id="6163" name="Line 19"/>
            <p:cNvSpPr/>
            <p:nvPr/>
          </p:nvSpPr>
          <p:spPr>
            <a:xfrm>
              <a:off x="2448" y="1920"/>
              <a:ext cx="720" cy="0"/>
            </a:xfrm>
            <a:prstGeom prst="line">
              <a:avLst/>
            </a:prstGeom>
            <a:ln w="19050" cap="flat" cmpd="sng">
              <a:solidFill>
                <a:schemeClr val="tx1"/>
              </a:solidFill>
              <a:prstDash val="solid"/>
              <a:headEnd type="none" w="med" len="med"/>
              <a:tailEnd type="none" w="med" len="med"/>
            </a:ln>
          </p:spPr>
        </p:sp>
      </p:grpSp>
      <p:grpSp>
        <p:nvGrpSpPr>
          <p:cNvPr id="6170" name="Group 26"/>
          <p:cNvGrpSpPr/>
          <p:nvPr/>
        </p:nvGrpSpPr>
        <p:grpSpPr>
          <a:xfrm>
            <a:off x="3352800" y="3062288"/>
            <a:ext cx="1905000" cy="1056962"/>
            <a:chOff x="2208" y="2448"/>
            <a:chExt cx="960" cy="475"/>
          </a:xfrm>
        </p:grpSpPr>
        <p:sp>
          <p:nvSpPr>
            <p:cNvPr id="6157" name="Text Box 21"/>
            <p:cNvSpPr txBox="1"/>
            <p:nvPr/>
          </p:nvSpPr>
          <p:spPr>
            <a:xfrm>
              <a:off x="2544" y="2448"/>
              <a:ext cx="336" cy="235"/>
            </a:xfrm>
            <a:prstGeom prst="rect">
              <a:avLst/>
            </a:prstGeom>
            <a:noFill/>
            <a:ln w="9525">
              <a:noFill/>
            </a:ln>
          </p:spPr>
          <p:txBody>
            <a:bodyPr>
              <a:spAutoFit/>
            </a:bodyPr>
            <a:lstStyle/>
            <a:p>
              <a:pPr eaLnBrk="1" hangingPunct="1">
                <a:spcBef>
                  <a:spcPct val="50000"/>
                </a:spcBef>
              </a:pPr>
              <a:r>
                <a:rPr lang="en-GB" altLang="en-US" sz="2800" dirty="0">
                  <a:solidFill>
                    <a:schemeClr val="tx1"/>
                  </a:solidFill>
                  <a:latin typeface="Calibri (Body)" charset="0"/>
                  <a:cs typeface="Calibri (Body)" charset="0"/>
                </a:rPr>
                <a:t>28</a:t>
              </a:r>
            </a:p>
          </p:txBody>
        </p:sp>
        <p:sp>
          <p:nvSpPr>
            <p:cNvPr id="2" name="Text Box 22"/>
            <p:cNvSpPr txBox="1"/>
            <p:nvPr/>
          </p:nvSpPr>
          <p:spPr>
            <a:xfrm>
              <a:off x="2496" y="2688"/>
              <a:ext cx="672" cy="235"/>
            </a:xfrm>
            <a:prstGeom prst="rect">
              <a:avLst/>
            </a:prstGeom>
            <a:noFill/>
            <a:ln w="9525">
              <a:noFill/>
            </a:ln>
          </p:spPr>
          <p:txBody>
            <a:bodyPr>
              <a:spAutoFit/>
            </a:bodyPr>
            <a:lstStyle/>
            <a:p>
              <a:pPr eaLnBrk="1" hangingPunct="1">
                <a:spcBef>
                  <a:spcPct val="50000"/>
                </a:spcBef>
              </a:pPr>
              <a:r>
                <a:rPr lang="en-GB" altLang="en-US" sz="2800" dirty="0">
                  <a:solidFill>
                    <a:schemeClr val="tx1"/>
                  </a:solidFill>
                  <a:latin typeface="Calibri (Body)" charset="0"/>
                  <a:cs typeface="Calibri (Body)" charset="0"/>
                </a:rPr>
                <a:t>1</a:t>
              </a:r>
              <a:r>
                <a:rPr lang="en-GB" altLang="en-US" sz="2800" dirty="0">
                  <a:solidFill>
                    <a:schemeClr val="tx1"/>
                  </a:solidFill>
                  <a:latin typeface="Calibri (Body)" charset="0"/>
                  <a:ea typeface="Microsoft Sans Serif" panose="020B0604020202020204" pitchFamily="34" charset="0"/>
                  <a:cs typeface="Calibri (Body)" charset="0"/>
                </a:rPr>
                <a:t>•</a:t>
              </a:r>
              <a:r>
                <a:rPr lang="en-GB" altLang="en-US" sz="2800" dirty="0">
                  <a:solidFill>
                    <a:schemeClr val="tx1"/>
                  </a:solidFill>
                  <a:latin typeface="Calibri (Body)" charset="0"/>
                  <a:cs typeface="Calibri (Body)" charset="0"/>
                </a:rPr>
                <a:t>75</a:t>
              </a:r>
            </a:p>
          </p:txBody>
        </p:sp>
        <p:sp>
          <p:nvSpPr>
            <p:cNvPr id="6159" name="Line 24"/>
            <p:cNvSpPr/>
            <p:nvPr/>
          </p:nvSpPr>
          <p:spPr>
            <a:xfrm>
              <a:off x="2496" y="2688"/>
              <a:ext cx="432" cy="0"/>
            </a:xfrm>
            <a:prstGeom prst="line">
              <a:avLst/>
            </a:prstGeom>
            <a:ln w="19050" cap="flat" cmpd="sng">
              <a:solidFill>
                <a:schemeClr val="tx1"/>
              </a:solidFill>
              <a:prstDash val="solid"/>
              <a:headEnd type="none" w="med" len="med"/>
              <a:tailEnd type="none" w="med" len="med"/>
            </a:ln>
          </p:spPr>
        </p:sp>
        <p:sp>
          <p:nvSpPr>
            <p:cNvPr id="6160" name="Text Box 25"/>
            <p:cNvSpPr txBox="1"/>
            <p:nvPr/>
          </p:nvSpPr>
          <p:spPr>
            <a:xfrm>
              <a:off x="2208" y="2592"/>
              <a:ext cx="240" cy="235"/>
            </a:xfrm>
            <a:prstGeom prst="rect">
              <a:avLst/>
            </a:prstGeom>
            <a:noFill/>
            <a:ln w="9525">
              <a:noFill/>
            </a:ln>
          </p:spPr>
          <p:txBody>
            <a:bodyPr>
              <a:spAutoFit/>
            </a:bodyPr>
            <a:lstStyle/>
            <a:p>
              <a:pPr eaLnBrk="1" hangingPunct="1">
                <a:spcBef>
                  <a:spcPct val="50000"/>
                </a:spcBef>
              </a:pPr>
              <a:r>
                <a:rPr lang="en-GB" altLang="en-US" sz="2800" dirty="0">
                  <a:solidFill>
                    <a:schemeClr val="tx1"/>
                  </a:solidFill>
                  <a:latin typeface="Calibri (Body)" charset="0"/>
                  <a:cs typeface="Calibri (Body)" charset="0"/>
                </a:rPr>
                <a:t>=</a:t>
              </a:r>
            </a:p>
          </p:txBody>
        </p:sp>
      </p:grpSp>
      <p:sp>
        <p:nvSpPr>
          <p:cNvPr id="6171" name="Text Box 27"/>
          <p:cNvSpPr txBox="1"/>
          <p:nvPr/>
        </p:nvSpPr>
        <p:spPr>
          <a:xfrm>
            <a:off x="3352800" y="4495800"/>
            <a:ext cx="2286000" cy="521970"/>
          </a:xfrm>
          <a:prstGeom prst="rect">
            <a:avLst/>
          </a:prstGeom>
          <a:noFill/>
          <a:ln w="9525">
            <a:noFill/>
          </a:ln>
        </p:spPr>
        <p:txBody>
          <a:bodyPr>
            <a:spAutoFit/>
          </a:bodyPr>
          <a:lstStyle/>
          <a:p>
            <a:pPr eaLnBrk="1" hangingPunct="1">
              <a:spcBef>
                <a:spcPct val="50000"/>
              </a:spcBef>
            </a:pPr>
            <a:r>
              <a:rPr lang="en-GB" altLang="en-US" sz="2800" dirty="0">
                <a:solidFill>
                  <a:schemeClr val="tx1"/>
                </a:solidFill>
                <a:latin typeface="Calibri (Body)" charset="0"/>
                <a:cs typeface="Calibri (Body)" charset="0"/>
              </a:rPr>
              <a:t>=  16 km/h</a:t>
            </a:r>
          </a:p>
        </p:txBody>
      </p:sp>
      <p:sp>
        <p:nvSpPr>
          <p:cNvPr id="6178" name="Rectangle 34"/>
          <p:cNvSpPr/>
          <p:nvPr/>
        </p:nvSpPr>
        <p:spPr>
          <a:xfrm>
            <a:off x="6629400" y="3581400"/>
            <a:ext cx="2341880" cy="521970"/>
          </a:xfrm>
          <a:prstGeom prst="rect">
            <a:avLst/>
          </a:prstGeom>
          <a:noFill/>
          <a:ln w="9525">
            <a:noFill/>
          </a:ln>
        </p:spPr>
        <p:txBody>
          <a:bodyPr wrap="none">
            <a:spAutoFit/>
          </a:bodyPr>
          <a:lstStyle/>
          <a:p>
            <a:pPr eaLnBrk="1" hangingPunct="1"/>
            <a:r>
              <a:rPr lang="en-GB" altLang="en-US" sz="2800" dirty="0">
                <a:solidFill>
                  <a:schemeClr val="tx1"/>
                </a:solidFill>
                <a:latin typeface="Calibri (Body)" charset="0"/>
                <a:cs typeface="Calibri (Body)" charset="0"/>
              </a:rPr>
              <a:t>1 hour 45 mins</a:t>
            </a:r>
          </a:p>
        </p:txBody>
      </p:sp>
      <p:sp>
        <p:nvSpPr>
          <p:cNvPr id="6179" name="Line 35"/>
          <p:cNvSpPr/>
          <p:nvPr/>
        </p:nvSpPr>
        <p:spPr>
          <a:xfrm>
            <a:off x="5105400" y="3886200"/>
            <a:ext cx="1447800" cy="0"/>
          </a:xfrm>
          <a:prstGeom prst="line">
            <a:avLst/>
          </a:prstGeom>
          <a:ln w="25400" cap="flat" cmpd="sng">
            <a:solidFill>
              <a:srgbClr val="800000"/>
            </a:solidFill>
            <a:prstDash val="solid"/>
            <a:headEnd type="none" w="med" len="med"/>
            <a:tailEnd type="triangle" w="med" len="med"/>
          </a:ln>
        </p:spPr>
      </p:sp>
      <p:sp>
        <p:nvSpPr>
          <p:cNvPr id="6180" name="Text Box 36"/>
          <p:cNvSpPr txBox="1">
            <a:spLocks noChangeArrowheads="1"/>
          </p:cNvSpPr>
          <p:nvPr/>
        </p:nvSpPr>
        <p:spPr bwMode="auto">
          <a:xfrm>
            <a:off x="2819400" y="5334000"/>
            <a:ext cx="6553200" cy="521970"/>
          </a:xfrm>
          <a:prstGeom prst="rect">
            <a:avLst/>
          </a:prstGeom>
          <a:noFill/>
          <a:ln>
            <a:noFill/>
          </a:ln>
          <a:effectLst/>
        </p:spPr>
        <p:txBody>
          <a:bodyPr>
            <a:spAutoFit/>
          </a:bodyPr>
          <a:lstStyle/>
          <a:p>
            <a:pPr marR="0" algn="ctr" defTabSz="914400" eaLnBrk="1" fontAlgn="auto" hangingPunct="1">
              <a:spcBef>
                <a:spcPct val="50000"/>
              </a:spcBef>
              <a:spcAft>
                <a:spcPts val="0"/>
              </a:spcAft>
              <a:buClrTx/>
              <a:buSzTx/>
              <a:buFontTx/>
              <a:buNone/>
              <a:defRPr/>
            </a:pPr>
            <a:r>
              <a:rPr kumimoji="0" lang="en-US" altLang="en-US" sz="2800" kern="1200" cap="none" spc="0" normalizeH="0" baseline="0" noProof="0">
                <a:solidFill>
                  <a:schemeClr val="tx1"/>
                </a:solidFill>
                <a:effectLst>
                  <a:outerShdw blurRad="38100" dist="38100" dir="2700000" algn="tl">
                    <a:srgbClr val="000000"/>
                  </a:outerShdw>
                </a:effectLst>
                <a:latin typeface="Calibri (Body)" charset="0"/>
                <a:ea typeface="+mn-ea"/>
                <a:cs typeface="Calibri (Body)" charset="0"/>
              </a:rPr>
              <a:t>Answer: His speed was 16 km / hour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155"/>
                                        </p:tgtEl>
                                        <p:attrNameLst>
                                          <p:attrName>style.visibility</p:attrName>
                                        </p:attrNameLst>
                                      </p:cBhvr>
                                      <p:to>
                                        <p:strVal val="visible"/>
                                      </p:to>
                                    </p:set>
                                    <p:animEffect transition="in" filter="dissolve">
                                      <p:cBhvr>
                                        <p:cTn id="7" dur="500"/>
                                        <p:tgtEl>
                                          <p:spTgt spid="6155"/>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3" fill="hold" nodeType="clickEffect">
                                  <p:stCondLst>
                                    <p:cond delay="0"/>
                                  </p:stCondLst>
                                  <p:childTnLst>
                                    <p:set>
                                      <p:cBhvr>
                                        <p:cTn id="11" dur="1" fill="hold">
                                          <p:stCondLst>
                                            <p:cond delay="0"/>
                                          </p:stCondLst>
                                        </p:cTn>
                                        <p:tgtEl>
                                          <p:spTgt spid="6156"/>
                                        </p:tgtEl>
                                        <p:attrNameLst>
                                          <p:attrName>style.visibility</p:attrName>
                                        </p:attrNameLst>
                                      </p:cBhvr>
                                      <p:to>
                                        <p:strVal val="visible"/>
                                      </p:to>
                                    </p:set>
                                    <p:animEffect transition="in" filter="strips(upRight)">
                                      <p:cBhvr>
                                        <p:cTn id="12" dur="500"/>
                                        <p:tgtEl>
                                          <p:spTgt spid="615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6158"/>
                                        </p:tgtEl>
                                        <p:attrNameLst>
                                          <p:attrName>style.visibility</p:attrName>
                                        </p:attrNameLst>
                                      </p:cBhvr>
                                      <p:to>
                                        <p:strVal val="visible"/>
                                      </p:to>
                                    </p:set>
                                    <p:animEffect transition="in" filter="dissolve">
                                      <p:cBhvr>
                                        <p:cTn id="17" dur="500"/>
                                        <p:tgtEl>
                                          <p:spTgt spid="6158"/>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2" fill="hold" nodeType="clickEffect">
                                  <p:stCondLst>
                                    <p:cond delay="0"/>
                                  </p:stCondLst>
                                  <p:childTnLst>
                                    <p:set>
                                      <p:cBhvr>
                                        <p:cTn id="21" dur="1" fill="hold">
                                          <p:stCondLst>
                                            <p:cond delay="0"/>
                                          </p:stCondLst>
                                        </p:cTn>
                                        <p:tgtEl>
                                          <p:spTgt spid="6172"/>
                                        </p:tgtEl>
                                        <p:attrNameLst>
                                          <p:attrName>style.visibility</p:attrName>
                                        </p:attrNameLst>
                                      </p:cBhvr>
                                      <p:to>
                                        <p:strVal val="visible"/>
                                      </p:to>
                                    </p:set>
                                    <p:anim calcmode="lin" valueType="num">
                                      <p:cBhvr additive="base">
                                        <p:cTn id="22" dur="500" fill="hold"/>
                                        <p:tgtEl>
                                          <p:spTgt spid="6172"/>
                                        </p:tgtEl>
                                        <p:attrNameLst>
                                          <p:attrName>ppt_x</p:attrName>
                                        </p:attrNameLst>
                                      </p:cBhvr>
                                      <p:tavLst>
                                        <p:tav tm="0">
                                          <p:val>
                                            <p:strVal val="1+#ppt_w/2"/>
                                          </p:val>
                                        </p:tav>
                                        <p:tav tm="100000">
                                          <p:val>
                                            <p:strVal val="#ppt_x"/>
                                          </p:val>
                                        </p:tav>
                                      </p:tavLst>
                                    </p:anim>
                                    <p:anim calcmode="lin" valueType="num">
                                      <p:cBhvr additive="base">
                                        <p:cTn id="23" dur="500" fill="hold"/>
                                        <p:tgtEl>
                                          <p:spTgt spid="6172"/>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8" fill="hold" nodeType="clickEffect">
                                  <p:stCondLst>
                                    <p:cond delay="0"/>
                                  </p:stCondLst>
                                  <p:childTnLst>
                                    <p:set>
                                      <p:cBhvr>
                                        <p:cTn id="27" dur="1" fill="hold">
                                          <p:stCondLst>
                                            <p:cond delay="0"/>
                                          </p:stCondLst>
                                        </p:cTn>
                                        <p:tgtEl>
                                          <p:spTgt spid="6170"/>
                                        </p:tgtEl>
                                        <p:attrNameLst>
                                          <p:attrName>style.visibility</p:attrName>
                                        </p:attrNameLst>
                                      </p:cBhvr>
                                      <p:to>
                                        <p:strVal val="visible"/>
                                      </p:to>
                                    </p:set>
                                    <p:anim calcmode="lin" valueType="num">
                                      <p:cBhvr additive="base">
                                        <p:cTn id="28" dur="500" fill="hold"/>
                                        <p:tgtEl>
                                          <p:spTgt spid="6170"/>
                                        </p:tgtEl>
                                        <p:attrNameLst>
                                          <p:attrName>ppt_x</p:attrName>
                                        </p:attrNameLst>
                                      </p:cBhvr>
                                      <p:tavLst>
                                        <p:tav tm="0">
                                          <p:val>
                                            <p:strVal val="0-#ppt_w/2"/>
                                          </p:val>
                                        </p:tav>
                                        <p:tav tm="100000">
                                          <p:val>
                                            <p:strVal val="#ppt_x"/>
                                          </p:val>
                                        </p:tav>
                                      </p:tavLst>
                                    </p:anim>
                                    <p:anim calcmode="lin" valueType="num">
                                      <p:cBhvr additive="base">
                                        <p:cTn id="29" dur="500" fill="hold"/>
                                        <p:tgtEl>
                                          <p:spTgt spid="6170"/>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9" presetClass="entr" presetSubtype="0" fill="hold" nodeType="clickEffect">
                                  <p:stCondLst>
                                    <p:cond delay="0"/>
                                  </p:stCondLst>
                                  <p:childTnLst>
                                    <p:set>
                                      <p:cBhvr>
                                        <p:cTn id="33" dur="1" fill="hold">
                                          <p:stCondLst>
                                            <p:cond delay="0"/>
                                          </p:stCondLst>
                                        </p:cTn>
                                        <p:tgtEl>
                                          <p:spTgt spid="6179"/>
                                        </p:tgtEl>
                                        <p:attrNameLst>
                                          <p:attrName>style.visibility</p:attrName>
                                        </p:attrNameLst>
                                      </p:cBhvr>
                                      <p:to>
                                        <p:strVal val="visible"/>
                                      </p:to>
                                    </p:set>
                                    <p:anim calcmode="lin" valueType="num">
                                      <p:cBhvr>
                                        <p:cTn id="34" dur="1000" fill="hold"/>
                                        <p:tgtEl>
                                          <p:spTgt spid="6179"/>
                                        </p:tgtEl>
                                        <p:attrNameLst>
                                          <p:attrName>ppt_x</p:attrName>
                                        </p:attrNameLst>
                                      </p:cBhvr>
                                      <p:tavLst>
                                        <p:tav tm="0">
                                          <p:val>
                                            <p:strVal val="#ppt_x-.2"/>
                                          </p:val>
                                        </p:tav>
                                        <p:tav tm="100000">
                                          <p:val>
                                            <p:strVal val="#ppt_x"/>
                                          </p:val>
                                        </p:tav>
                                      </p:tavLst>
                                    </p:anim>
                                    <p:anim calcmode="lin" valueType="num">
                                      <p:cBhvr>
                                        <p:cTn id="35" dur="1000" fill="hold"/>
                                        <p:tgtEl>
                                          <p:spTgt spid="6179"/>
                                        </p:tgtEl>
                                        <p:attrNameLst>
                                          <p:attrName>ppt_y</p:attrName>
                                        </p:attrNameLst>
                                      </p:cBhvr>
                                      <p:tavLst>
                                        <p:tav tm="0">
                                          <p:val>
                                            <p:strVal val="#ppt_y"/>
                                          </p:val>
                                        </p:tav>
                                        <p:tav tm="100000">
                                          <p:val>
                                            <p:strVal val="#ppt_y"/>
                                          </p:val>
                                        </p:tav>
                                      </p:tavLst>
                                    </p:anim>
                                    <p:animEffect transition="in" filter="wipe(right)" prLst="gradientSize: 0.1">
                                      <p:cBhvr>
                                        <p:cTn id="36" dur="1000"/>
                                        <p:tgtEl>
                                          <p:spTgt spid="6179"/>
                                        </p:tgtEl>
                                      </p:cBhvr>
                                    </p:animEffect>
                                  </p:childTnLst>
                                </p:cTn>
                              </p:par>
                            </p:childTnLst>
                          </p:cTn>
                        </p:par>
                      </p:childTnLst>
                    </p:cTn>
                  </p:par>
                  <p:par>
                    <p:cTn id="37" fill="hold">
                      <p:stCondLst>
                        <p:cond delay="indefinite"/>
                      </p:stCondLst>
                      <p:childTnLst>
                        <p:par>
                          <p:cTn id="38" fill="hold">
                            <p:stCondLst>
                              <p:cond delay="0"/>
                            </p:stCondLst>
                            <p:childTnLst>
                              <p:par>
                                <p:cTn id="39" presetID="29" presetClass="entr" presetSubtype="0" fill="hold" nodeType="clickEffect">
                                  <p:stCondLst>
                                    <p:cond delay="0"/>
                                  </p:stCondLst>
                                  <p:childTnLst>
                                    <p:set>
                                      <p:cBhvr>
                                        <p:cTn id="40" dur="1" fill="hold">
                                          <p:stCondLst>
                                            <p:cond delay="0"/>
                                          </p:stCondLst>
                                        </p:cTn>
                                        <p:tgtEl>
                                          <p:spTgt spid="6178"/>
                                        </p:tgtEl>
                                        <p:attrNameLst>
                                          <p:attrName>style.visibility</p:attrName>
                                        </p:attrNameLst>
                                      </p:cBhvr>
                                      <p:to>
                                        <p:strVal val="visible"/>
                                      </p:to>
                                    </p:set>
                                    <p:anim calcmode="lin" valueType="num">
                                      <p:cBhvr>
                                        <p:cTn id="41" dur="1000" fill="hold"/>
                                        <p:tgtEl>
                                          <p:spTgt spid="6178"/>
                                        </p:tgtEl>
                                        <p:attrNameLst>
                                          <p:attrName>ppt_x</p:attrName>
                                        </p:attrNameLst>
                                      </p:cBhvr>
                                      <p:tavLst>
                                        <p:tav tm="0">
                                          <p:val>
                                            <p:strVal val="#ppt_x-.2"/>
                                          </p:val>
                                        </p:tav>
                                        <p:tav tm="100000">
                                          <p:val>
                                            <p:strVal val="#ppt_x"/>
                                          </p:val>
                                        </p:tav>
                                      </p:tavLst>
                                    </p:anim>
                                    <p:anim calcmode="lin" valueType="num">
                                      <p:cBhvr>
                                        <p:cTn id="42" dur="1000" fill="hold"/>
                                        <p:tgtEl>
                                          <p:spTgt spid="6178"/>
                                        </p:tgtEl>
                                        <p:attrNameLst>
                                          <p:attrName>ppt_y</p:attrName>
                                        </p:attrNameLst>
                                      </p:cBhvr>
                                      <p:tavLst>
                                        <p:tav tm="0">
                                          <p:val>
                                            <p:strVal val="#ppt_y"/>
                                          </p:val>
                                        </p:tav>
                                        <p:tav tm="100000">
                                          <p:val>
                                            <p:strVal val="#ppt_y"/>
                                          </p:val>
                                        </p:tav>
                                      </p:tavLst>
                                    </p:anim>
                                    <p:animEffect transition="in" filter="wipe(right)" prLst="gradientSize: 0.1">
                                      <p:cBhvr>
                                        <p:cTn id="43" dur="1000"/>
                                        <p:tgtEl>
                                          <p:spTgt spid="6178"/>
                                        </p:tgtEl>
                                      </p:cBhvr>
                                    </p:animEffect>
                                  </p:childTnLst>
                                </p:cTn>
                              </p:par>
                            </p:childTnLst>
                          </p:cTn>
                        </p:par>
                      </p:childTnLst>
                    </p:cTn>
                  </p:par>
                  <p:par>
                    <p:cTn id="44" fill="hold">
                      <p:stCondLst>
                        <p:cond delay="indefinite"/>
                      </p:stCondLst>
                      <p:childTnLst>
                        <p:par>
                          <p:cTn id="45" fill="hold">
                            <p:stCondLst>
                              <p:cond delay="0"/>
                            </p:stCondLst>
                            <p:childTnLst>
                              <p:par>
                                <p:cTn id="46" presetID="9" presetClass="exit" presetSubtype="0" fill="hold" nodeType="clickEffect">
                                  <p:stCondLst>
                                    <p:cond delay="0"/>
                                  </p:stCondLst>
                                  <p:childTnLst>
                                    <p:animEffect transition="out" filter="dissolve">
                                      <p:cBhvr>
                                        <p:cTn id="47" dur="500"/>
                                        <p:tgtEl>
                                          <p:spTgt spid="6179"/>
                                        </p:tgtEl>
                                      </p:cBhvr>
                                    </p:animEffect>
                                    <p:set>
                                      <p:cBhvr>
                                        <p:cTn id="48" dur="1" fill="hold">
                                          <p:stCondLst>
                                            <p:cond delay="499"/>
                                          </p:stCondLst>
                                        </p:cTn>
                                        <p:tgtEl>
                                          <p:spTgt spid="6179"/>
                                        </p:tgtEl>
                                        <p:attrNameLst>
                                          <p:attrName>style.visibility</p:attrName>
                                        </p:attrNameLst>
                                      </p:cBhvr>
                                      <p:to>
                                        <p:strVal val="hidden"/>
                                      </p:to>
                                    </p:set>
                                  </p:childTnLst>
                                </p:cTn>
                              </p:par>
                              <p:par>
                                <p:cTn id="49" presetID="29" presetClass="exit" presetSubtype="0" fill="hold" nodeType="withEffect">
                                  <p:stCondLst>
                                    <p:cond delay="0"/>
                                  </p:stCondLst>
                                  <p:childTnLst>
                                    <p:anim calcmode="lin" valueType="num">
                                      <p:cBhvr>
                                        <p:cTn id="50" dur="1000"/>
                                        <p:tgtEl>
                                          <p:spTgt spid="6178"/>
                                        </p:tgtEl>
                                        <p:attrNameLst>
                                          <p:attrName>ppt_x</p:attrName>
                                        </p:attrNameLst>
                                      </p:cBhvr>
                                      <p:tavLst>
                                        <p:tav tm="0">
                                          <p:val>
                                            <p:strVal val="ppt_x"/>
                                          </p:val>
                                        </p:tav>
                                        <p:tav tm="100000">
                                          <p:val>
                                            <p:strVal val="ppt_x-.2"/>
                                          </p:val>
                                        </p:tav>
                                      </p:tavLst>
                                    </p:anim>
                                    <p:anim calcmode="lin" valueType="num">
                                      <p:cBhvr>
                                        <p:cTn id="51" dur="1000"/>
                                        <p:tgtEl>
                                          <p:spTgt spid="6178"/>
                                        </p:tgtEl>
                                        <p:attrNameLst>
                                          <p:attrName>ppt_y</p:attrName>
                                        </p:attrNameLst>
                                      </p:cBhvr>
                                      <p:tavLst>
                                        <p:tav tm="0">
                                          <p:val>
                                            <p:strVal val="ppt_y"/>
                                          </p:val>
                                        </p:tav>
                                        <p:tav tm="100000">
                                          <p:val>
                                            <p:strVal val="ppt_y"/>
                                          </p:val>
                                        </p:tav>
                                      </p:tavLst>
                                    </p:anim>
                                    <p:animEffect transition="out" filter="fade">
                                      <p:cBhvr>
                                        <p:cTn id="52" dur="1000"/>
                                        <p:tgtEl>
                                          <p:spTgt spid="6178"/>
                                        </p:tgtEl>
                                      </p:cBhvr>
                                    </p:animEffect>
                                    <p:set>
                                      <p:cBhvr>
                                        <p:cTn id="53" dur="1" fill="hold">
                                          <p:stCondLst>
                                            <p:cond delay="999"/>
                                          </p:stCondLst>
                                        </p:cTn>
                                        <p:tgtEl>
                                          <p:spTgt spid="6178"/>
                                        </p:tgtEl>
                                        <p:attrNameLst>
                                          <p:attrName>style.visibility</p:attrName>
                                        </p:attrNameLst>
                                      </p:cBhvr>
                                      <p:to>
                                        <p:strVal val="hidden"/>
                                      </p:to>
                                    </p:set>
                                  </p:childTnLst>
                                </p:cTn>
                              </p:par>
                            </p:childTnLst>
                          </p:cTn>
                        </p:par>
                      </p:childTnLst>
                    </p:cTn>
                  </p:par>
                  <p:par>
                    <p:cTn id="54" fill="hold">
                      <p:stCondLst>
                        <p:cond delay="indefinite"/>
                      </p:stCondLst>
                      <p:childTnLst>
                        <p:par>
                          <p:cTn id="55" fill="hold">
                            <p:stCondLst>
                              <p:cond delay="0"/>
                            </p:stCondLst>
                            <p:childTnLst>
                              <p:par>
                                <p:cTn id="56" presetID="2" presetClass="entr" presetSubtype="4" fill="hold" nodeType="clickEffect">
                                  <p:stCondLst>
                                    <p:cond delay="0"/>
                                  </p:stCondLst>
                                  <p:childTnLst>
                                    <p:set>
                                      <p:cBhvr>
                                        <p:cTn id="57" dur="1" fill="hold">
                                          <p:stCondLst>
                                            <p:cond delay="0"/>
                                          </p:stCondLst>
                                        </p:cTn>
                                        <p:tgtEl>
                                          <p:spTgt spid="6171"/>
                                        </p:tgtEl>
                                        <p:attrNameLst>
                                          <p:attrName>style.visibility</p:attrName>
                                        </p:attrNameLst>
                                      </p:cBhvr>
                                      <p:to>
                                        <p:strVal val="visible"/>
                                      </p:to>
                                    </p:set>
                                    <p:anim calcmode="lin" valueType="num">
                                      <p:cBhvr additive="base">
                                        <p:cTn id="58" dur="500" fill="hold"/>
                                        <p:tgtEl>
                                          <p:spTgt spid="6171"/>
                                        </p:tgtEl>
                                        <p:attrNameLst>
                                          <p:attrName>ppt_x</p:attrName>
                                        </p:attrNameLst>
                                      </p:cBhvr>
                                      <p:tavLst>
                                        <p:tav tm="0">
                                          <p:val>
                                            <p:strVal val="#ppt_x"/>
                                          </p:val>
                                        </p:tav>
                                        <p:tav tm="100000">
                                          <p:val>
                                            <p:strVal val="#ppt_x"/>
                                          </p:val>
                                        </p:tav>
                                      </p:tavLst>
                                    </p:anim>
                                    <p:anim calcmode="lin" valueType="num">
                                      <p:cBhvr additive="base">
                                        <p:cTn id="59" dur="500" fill="hold"/>
                                        <p:tgtEl>
                                          <p:spTgt spid="6171"/>
                                        </p:tgtEl>
                                        <p:attrNameLst>
                                          <p:attrName>ppt_y</p:attrName>
                                        </p:attrNameLst>
                                      </p:cBhvr>
                                      <p:tavLst>
                                        <p:tav tm="0">
                                          <p:val>
                                            <p:strVal val="1+#ppt_h/2"/>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29" presetClass="entr" presetSubtype="0" fill="hold" nodeType="clickEffect">
                                  <p:stCondLst>
                                    <p:cond delay="0"/>
                                  </p:stCondLst>
                                  <p:childTnLst>
                                    <p:set>
                                      <p:cBhvr>
                                        <p:cTn id="63" dur="1" fill="hold">
                                          <p:stCondLst>
                                            <p:cond delay="0"/>
                                          </p:stCondLst>
                                        </p:cTn>
                                        <p:tgtEl>
                                          <p:spTgt spid="6180"/>
                                        </p:tgtEl>
                                        <p:attrNameLst>
                                          <p:attrName>style.visibility</p:attrName>
                                        </p:attrNameLst>
                                      </p:cBhvr>
                                      <p:to>
                                        <p:strVal val="visible"/>
                                      </p:to>
                                    </p:set>
                                    <p:anim calcmode="lin" valueType="num">
                                      <p:cBhvr>
                                        <p:cTn id="64" dur="1000" fill="hold"/>
                                        <p:tgtEl>
                                          <p:spTgt spid="6180"/>
                                        </p:tgtEl>
                                        <p:attrNameLst>
                                          <p:attrName>ppt_x</p:attrName>
                                        </p:attrNameLst>
                                      </p:cBhvr>
                                      <p:tavLst>
                                        <p:tav tm="0">
                                          <p:val>
                                            <p:strVal val="#ppt_x-.2"/>
                                          </p:val>
                                        </p:tav>
                                        <p:tav tm="100000">
                                          <p:val>
                                            <p:strVal val="#ppt_x"/>
                                          </p:val>
                                        </p:tav>
                                      </p:tavLst>
                                    </p:anim>
                                    <p:anim calcmode="lin" valueType="num">
                                      <p:cBhvr>
                                        <p:cTn id="65" dur="1000" fill="hold"/>
                                        <p:tgtEl>
                                          <p:spTgt spid="6180"/>
                                        </p:tgtEl>
                                        <p:attrNameLst>
                                          <p:attrName>ppt_y</p:attrName>
                                        </p:attrNameLst>
                                      </p:cBhvr>
                                      <p:tavLst>
                                        <p:tav tm="0">
                                          <p:val>
                                            <p:strVal val="#ppt_y"/>
                                          </p:val>
                                        </p:tav>
                                        <p:tav tm="100000">
                                          <p:val>
                                            <p:strVal val="#ppt_y"/>
                                          </p:val>
                                        </p:tav>
                                      </p:tavLst>
                                    </p:anim>
                                    <p:animEffect transition="in" filter="wipe(right)" prLst="gradientSize: 0.1">
                                      <p:cBhvr>
                                        <p:cTn id="66" dur="1000"/>
                                        <p:tgtEl>
                                          <p:spTgt spid="61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6" grpId="0"/>
      <p:bldP spid="6171" grpId="0"/>
      <p:bldP spid="6178" grpId="0"/>
      <p:bldP spid="6178" grpId="1"/>
      <p:bldP spid="618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7"/>
          <p:cNvSpPr/>
          <p:nvPr/>
        </p:nvSpPr>
        <p:spPr>
          <a:xfrm>
            <a:off x="848995" y="552450"/>
            <a:ext cx="8752205" cy="2586355"/>
          </a:xfrm>
          <a:prstGeom prst="rect">
            <a:avLst/>
          </a:prstGeom>
          <a:noFill/>
          <a:ln w="9525">
            <a:noFill/>
          </a:ln>
        </p:spPr>
        <p:txBody>
          <a:bodyPr>
            <a:noAutofit/>
          </a:bodyPr>
          <a:lstStyle/>
          <a:p>
            <a:pPr eaLnBrk="1" hangingPunct="1"/>
            <a:endParaRPr lang="en-GB" altLang="en-US" sz="2800" dirty="0">
              <a:solidFill>
                <a:schemeClr val="tx1"/>
              </a:solidFill>
              <a:latin typeface="Calibri (Body)" charset="0"/>
              <a:cs typeface="Calibri (Body)" charset="0"/>
            </a:endParaRPr>
          </a:p>
          <a:p>
            <a:pPr eaLnBrk="1" hangingPunct="1"/>
            <a:r>
              <a:rPr lang="en-GB" altLang="en-US" sz="2800" dirty="0">
                <a:solidFill>
                  <a:schemeClr val="tx1"/>
                </a:solidFill>
                <a:latin typeface="Calibri (Body)" charset="0"/>
                <a:cs typeface="Calibri (Body)" charset="0"/>
              </a:rPr>
              <a:t>Ex.2 A salesman travelled at an average speed of 50 km/h for 2 hours 30 mins.  How far did he travel?</a:t>
            </a:r>
          </a:p>
        </p:txBody>
      </p:sp>
      <p:grpSp>
        <p:nvGrpSpPr>
          <p:cNvPr id="7172" name="Group 28"/>
          <p:cNvGrpSpPr/>
          <p:nvPr/>
        </p:nvGrpSpPr>
        <p:grpSpPr>
          <a:xfrm>
            <a:off x="8077200" y="2346960"/>
            <a:ext cx="1524000" cy="1530985"/>
            <a:chOff x="2688" y="2832"/>
            <a:chExt cx="960" cy="816"/>
          </a:xfrm>
        </p:grpSpPr>
        <p:sp>
          <p:nvSpPr>
            <p:cNvPr id="7175" name="AutoShape 29"/>
            <p:cNvSpPr/>
            <p:nvPr/>
          </p:nvSpPr>
          <p:spPr>
            <a:xfrm>
              <a:off x="2688" y="2832"/>
              <a:ext cx="912" cy="816"/>
            </a:xfrm>
            <a:prstGeom prst="triangle">
              <a:avLst>
                <a:gd name="adj" fmla="val 50000"/>
              </a:avLst>
            </a:prstGeom>
            <a:noFill/>
            <a:ln w="28575" cap="flat" cmpd="sng">
              <a:solidFill>
                <a:schemeClr val="tx1"/>
              </a:solidFill>
              <a:prstDash val="solid"/>
              <a:miter/>
              <a:headEnd type="none" w="med" len="med"/>
              <a:tailEnd type="none" w="med" len="med"/>
            </a:ln>
          </p:spPr>
          <p:txBody>
            <a:bodyPr wrap="none" anchor="ctr" anchorCtr="0"/>
            <a:lstStyle/>
            <a:p>
              <a:pPr eaLnBrk="1" hangingPunct="1"/>
              <a:endParaRPr lang="en-US" altLang="en-US" sz="2800" dirty="0">
                <a:solidFill>
                  <a:schemeClr val="tx1"/>
                </a:solidFill>
                <a:latin typeface="Calibri (Body)" charset="0"/>
                <a:cs typeface="Calibri (Body)" charset="0"/>
              </a:endParaRPr>
            </a:p>
          </p:txBody>
        </p:sp>
        <p:sp>
          <p:nvSpPr>
            <p:cNvPr id="7176" name="Line 30"/>
            <p:cNvSpPr/>
            <p:nvPr/>
          </p:nvSpPr>
          <p:spPr>
            <a:xfrm>
              <a:off x="2928" y="3216"/>
              <a:ext cx="432" cy="0"/>
            </a:xfrm>
            <a:prstGeom prst="line">
              <a:avLst/>
            </a:prstGeom>
            <a:ln w="28575" cap="flat" cmpd="sng">
              <a:solidFill>
                <a:schemeClr val="tx1"/>
              </a:solidFill>
              <a:prstDash val="solid"/>
              <a:headEnd type="none" w="med" len="med"/>
              <a:tailEnd type="none" w="med" len="med"/>
            </a:ln>
          </p:spPr>
        </p:sp>
        <p:sp>
          <p:nvSpPr>
            <p:cNvPr id="7177" name="Line 31"/>
            <p:cNvSpPr/>
            <p:nvPr/>
          </p:nvSpPr>
          <p:spPr>
            <a:xfrm>
              <a:off x="3168" y="3216"/>
              <a:ext cx="0" cy="432"/>
            </a:xfrm>
            <a:prstGeom prst="line">
              <a:avLst/>
            </a:prstGeom>
            <a:ln w="28575" cap="flat" cmpd="sng">
              <a:solidFill>
                <a:schemeClr val="tx1"/>
              </a:solidFill>
              <a:prstDash val="solid"/>
              <a:headEnd type="none" w="med" len="med"/>
              <a:tailEnd type="none" w="med" len="med"/>
            </a:ln>
          </p:spPr>
        </p:sp>
        <p:sp>
          <p:nvSpPr>
            <p:cNvPr id="7178" name="Text Box 32"/>
            <p:cNvSpPr txBox="1"/>
            <p:nvPr/>
          </p:nvSpPr>
          <p:spPr>
            <a:xfrm>
              <a:off x="3024" y="2976"/>
              <a:ext cx="432" cy="278"/>
            </a:xfrm>
            <a:prstGeom prst="rect">
              <a:avLst/>
            </a:prstGeom>
            <a:noFill/>
            <a:ln w="9525">
              <a:noFill/>
            </a:ln>
          </p:spPr>
          <p:txBody>
            <a:bodyPr>
              <a:spAutoFit/>
            </a:bodyPr>
            <a:lstStyle/>
            <a:p>
              <a:pPr eaLnBrk="1" hangingPunct="1">
                <a:spcBef>
                  <a:spcPct val="50000"/>
                </a:spcBef>
              </a:pPr>
              <a:r>
                <a:rPr lang="en-GB" altLang="en-US" sz="2800" dirty="0">
                  <a:solidFill>
                    <a:schemeClr val="tx1"/>
                  </a:solidFill>
                  <a:latin typeface="Calibri (Body)" charset="0"/>
                  <a:cs typeface="Calibri (Body)" charset="0"/>
                </a:rPr>
                <a:t>D</a:t>
              </a:r>
            </a:p>
          </p:txBody>
        </p:sp>
        <p:sp>
          <p:nvSpPr>
            <p:cNvPr id="7179" name="Text Box 33"/>
            <p:cNvSpPr txBox="1"/>
            <p:nvPr/>
          </p:nvSpPr>
          <p:spPr>
            <a:xfrm>
              <a:off x="2832" y="3312"/>
              <a:ext cx="336" cy="278"/>
            </a:xfrm>
            <a:prstGeom prst="rect">
              <a:avLst/>
            </a:prstGeom>
            <a:noFill/>
            <a:ln w="9525">
              <a:noFill/>
            </a:ln>
          </p:spPr>
          <p:txBody>
            <a:bodyPr>
              <a:spAutoFit/>
            </a:bodyPr>
            <a:lstStyle/>
            <a:p>
              <a:pPr eaLnBrk="1" hangingPunct="1">
                <a:spcBef>
                  <a:spcPct val="50000"/>
                </a:spcBef>
              </a:pPr>
              <a:r>
                <a:rPr lang="en-GB" altLang="en-US" sz="2800" dirty="0">
                  <a:solidFill>
                    <a:schemeClr val="tx1"/>
                  </a:solidFill>
                  <a:latin typeface="Calibri (Body)" charset="0"/>
                  <a:cs typeface="Calibri (Body)" charset="0"/>
                </a:rPr>
                <a:t>S</a:t>
              </a:r>
            </a:p>
          </p:txBody>
        </p:sp>
        <p:sp>
          <p:nvSpPr>
            <p:cNvPr id="7180" name="Text Box 34"/>
            <p:cNvSpPr txBox="1"/>
            <p:nvPr/>
          </p:nvSpPr>
          <p:spPr>
            <a:xfrm>
              <a:off x="3168" y="3312"/>
              <a:ext cx="480" cy="278"/>
            </a:xfrm>
            <a:prstGeom prst="rect">
              <a:avLst/>
            </a:prstGeom>
            <a:noFill/>
            <a:ln w="9525">
              <a:noFill/>
            </a:ln>
          </p:spPr>
          <p:txBody>
            <a:bodyPr>
              <a:spAutoFit/>
            </a:bodyPr>
            <a:lstStyle/>
            <a:p>
              <a:pPr eaLnBrk="1" hangingPunct="1">
                <a:spcBef>
                  <a:spcPct val="50000"/>
                </a:spcBef>
              </a:pPr>
              <a:r>
                <a:rPr lang="en-GB" altLang="en-US" sz="2800" dirty="0">
                  <a:solidFill>
                    <a:schemeClr val="tx1"/>
                  </a:solidFill>
                  <a:latin typeface="Calibri (Body)" charset="0"/>
                  <a:cs typeface="Calibri (Body)" charset="0"/>
                </a:rPr>
                <a:t>T</a:t>
              </a:r>
            </a:p>
          </p:txBody>
        </p:sp>
      </p:grpSp>
      <p:sp>
        <p:nvSpPr>
          <p:cNvPr id="19491" name="Oval 35"/>
          <p:cNvSpPr/>
          <p:nvPr/>
        </p:nvSpPr>
        <p:spPr>
          <a:xfrm>
            <a:off x="8610600" y="2133600"/>
            <a:ext cx="381000" cy="381000"/>
          </a:xfrm>
          <a:prstGeom prst="ellipse">
            <a:avLst/>
          </a:prstGeom>
          <a:noFill/>
          <a:ln w="28575" cap="flat" cmpd="sng">
            <a:solidFill>
              <a:schemeClr val="accent1"/>
            </a:solidFill>
            <a:prstDash val="solid"/>
            <a:headEnd type="none" w="med" len="med"/>
            <a:tailEnd type="none" w="med" len="med"/>
          </a:ln>
        </p:spPr>
        <p:txBody>
          <a:bodyPr wrap="none" anchor="ctr" anchorCtr="0"/>
          <a:lstStyle/>
          <a:p>
            <a:pPr eaLnBrk="1" hangingPunct="1"/>
            <a:endParaRPr lang="en-US" altLang="en-US" sz="2800" dirty="0">
              <a:solidFill>
                <a:schemeClr val="tx1"/>
              </a:solidFill>
              <a:latin typeface="Calibri (Body)" charset="0"/>
              <a:cs typeface="Calibri (Body)" charset="0"/>
            </a:endParaRPr>
          </a:p>
        </p:txBody>
      </p:sp>
      <p:sp>
        <p:nvSpPr>
          <p:cNvPr id="19492" name="Oval 36"/>
          <p:cNvSpPr/>
          <p:nvPr/>
        </p:nvSpPr>
        <p:spPr>
          <a:xfrm>
            <a:off x="8229600" y="2590800"/>
            <a:ext cx="1219200" cy="457200"/>
          </a:xfrm>
          <a:prstGeom prst="ellipse">
            <a:avLst/>
          </a:prstGeom>
          <a:noFill/>
          <a:ln w="28575" cap="flat" cmpd="sng">
            <a:solidFill>
              <a:schemeClr val="accent1"/>
            </a:solidFill>
            <a:prstDash val="solid"/>
            <a:headEnd type="none" w="med" len="med"/>
            <a:tailEnd type="none" w="med" len="med"/>
          </a:ln>
        </p:spPr>
        <p:txBody>
          <a:bodyPr wrap="none" anchor="ctr" anchorCtr="0"/>
          <a:lstStyle/>
          <a:p>
            <a:pPr eaLnBrk="1" hangingPunct="1"/>
            <a:endParaRPr lang="en-US" altLang="en-US" sz="2800" dirty="0">
              <a:solidFill>
                <a:schemeClr val="tx1"/>
              </a:solidFill>
              <a:latin typeface="Calibri (Body)" charset="0"/>
              <a:cs typeface="Calibri (Body)"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9491"/>
                                        </p:tgtEl>
                                        <p:attrNameLst>
                                          <p:attrName>style.visibility</p:attrName>
                                        </p:attrNameLst>
                                      </p:cBhvr>
                                      <p:to>
                                        <p:strVal val="visible"/>
                                      </p:to>
                                    </p:set>
                                    <p:animEffect transition="in" filter="dissolve">
                                      <p:cBhvr>
                                        <p:cTn id="7" dur="500"/>
                                        <p:tgtEl>
                                          <p:spTgt spid="1949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9492"/>
                                        </p:tgtEl>
                                        <p:attrNameLst>
                                          <p:attrName>style.visibility</p:attrName>
                                        </p:attrNameLst>
                                      </p:cBhvr>
                                      <p:to>
                                        <p:strVal val="visible"/>
                                      </p:to>
                                    </p:set>
                                    <p:animEffect transition="in" filter="dissolve">
                                      <p:cBhvr>
                                        <p:cTn id="12" dur="500"/>
                                        <p:tgtEl>
                                          <p:spTgt spid="194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Line 23"/>
          <p:cNvSpPr/>
          <p:nvPr/>
        </p:nvSpPr>
        <p:spPr>
          <a:xfrm>
            <a:off x="2068513" y="1752600"/>
            <a:ext cx="7924800" cy="0"/>
          </a:xfrm>
          <a:prstGeom prst="line">
            <a:avLst/>
          </a:prstGeom>
          <a:ln w="25400" cap="flat" cmpd="sng">
            <a:solidFill>
              <a:schemeClr val="bg2"/>
            </a:solidFill>
            <a:prstDash val="solid"/>
            <a:headEnd type="none" w="med" len="med"/>
            <a:tailEnd type="none" w="med" len="med"/>
          </a:ln>
        </p:spPr>
      </p:sp>
      <p:sp>
        <p:nvSpPr>
          <p:cNvPr id="19480" name="Rectangle 24"/>
          <p:cNvSpPr/>
          <p:nvPr/>
        </p:nvSpPr>
        <p:spPr>
          <a:xfrm>
            <a:off x="7162800" y="3290888"/>
            <a:ext cx="2341880" cy="521970"/>
          </a:xfrm>
          <a:prstGeom prst="rect">
            <a:avLst/>
          </a:prstGeom>
          <a:noFill/>
          <a:ln w="9525">
            <a:noFill/>
          </a:ln>
        </p:spPr>
        <p:txBody>
          <a:bodyPr wrap="none">
            <a:spAutoFit/>
          </a:bodyPr>
          <a:lstStyle/>
          <a:p>
            <a:pPr eaLnBrk="1" hangingPunct="1"/>
            <a:r>
              <a:rPr lang="en-GB" altLang="en-US" sz="2800" dirty="0">
                <a:solidFill>
                  <a:schemeClr val="tx1"/>
                </a:solidFill>
                <a:latin typeface="Calibri (Body)" charset="0"/>
                <a:cs typeface="Calibri (Body)" charset="0"/>
              </a:rPr>
              <a:t>2 hour 30 mins</a:t>
            </a:r>
          </a:p>
        </p:txBody>
      </p:sp>
      <p:sp>
        <p:nvSpPr>
          <p:cNvPr id="19481" name="Line 25"/>
          <p:cNvSpPr/>
          <p:nvPr/>
        </p:nvSpPr>
        <p:spPr>
          <a:xfrm>
            <a:off x="5638800" y="3595688"/>
            <a:ext cx="1447800" cy="0"/>
          </a:xfrm>
          <a:prstGeom prst="line">
            <a:avLst/>
          </a:prstGeom>
          <a:ln w="25400" cap="flat" cmpd="sng">
            <a:solidFill>
              <a:srgbClr val="800000"/>
            </a:solidFill>
            <a:prstDash val="solid"/>
            <a:headEnd type="none" w="med" len="med"/>
            <a:tailEnd type="triangle" w="med" len="med"/>
          </a:ln>
        </p:spPr>
      </p:sp>
      <p:sp>
        <p:nvSpPr>
          <p:cNvPr id="19482" name="Text Box 26"/>
          <p:cNvSpPr txBox="1">
            <a:spLocks noChangeArrowheads="1"/>
          </p:cNvSpPr>
          <p:nvPr/>
        </p:nvSpPr>
        <p:spPr bwMode="auto">
          <a:xfrm>
            <a:off x="2819400" y="5334000"/>
            <a:ext cx="6553200" cy="521970"/>
          </a:xfrm>
          <a:prstGeom prst="rect">
            <a:avLst/>
          </a:prstGeom>
          <a:noFill/>
          <a:ln>
            <a:noFill/>
          </a:ln>
          <a:effectLst/>
        </p:spPr>
        <p:txBody>
          <a:bodyPr>
            <a:spAutoFit/>
          </a:bodyPr>
          <a:lstStyle/>
          <a:p>
            <a:pPr marR="0" algn="ctr" defTabSz="914400" eaLnBrk="1" fontAlgn="auto" hangingPunct="1">
              <a:spcBef>
                <a:spcPct val="50000"/>
              </a:spcBef>
              <a:spcAft>
                <a:spcPts val="0"/>
              </a:spcAft>
              <a:buClrTx/>
              <a:buSzTx/>
              <a:buFontTx/>
              <a:buNone/>
              <a:defRPr/>
            </a:pPr>
            <a:r>
              <a:rPr kumimoji="0" lang="en-US" altLang="en-US" sz="2800" kern="1200" cap="none" spc="0" normalizeH="0" baseline="0" noProof="0">
                <a:solidFill>
                  <a:schemeClr val="tx1"/>
                </a:solidFill>
                <a:effectLst>
                  <a:outerShdw blurRad="38100" dist="38100" dir="2700000" algn="tl">
                    <a:srgbClr val="000000"/>
                  </a:outerShdw>
                </a:effectLst>
                <a:latin typeface="Calibri (Body)" charset="0"/>
                <a:ea typeface="+mn-ea"/>
                <a:cs typeface="Calibri (Body)" charset="0"/>
              </a:rPr>
              <a:t>Answer: He travelled 125 km</a:t>
            </a:r>
          </a:p>
        </p:txBody>
      </p:sp>
      <p:sp>
        <p:nvSpPr>
          <p:cNvPr id="8198" name="Rectangle 27"/>
          <p:cNvSpPr/>
          <p:nvPr/>
        </p:nvSpPr>
        <p:spPr>
          <a:xfrm>
            <a:off x="1981200" y="457200"/>
            <a:ext cx="8524875" cy="1383665"/>
          </a:xfrm>
          <a:prstGeom prst="rect">
            <a:avLst/>
          </a:prstGeom>
          <a:noFill/>
          <a:ln w="9525">
            <a:noFill/>
          </a:ln>
        </p:spPr>
        <p:txBody>
          <a:bodyPr>
            <a:spAutoFit/>
          </a:bodyPr>
          <a:lstStyle/>
          <a:p>
            <a:pPr eaLnBrk="1" hangingPunct="1"/>
            <a:endParaRPr lang="en-GB" altLang="en-US" sz="2800" dirty="0">
              <a:solidFill>
                <a:schemeClr val="tx1"/>
              </a:solidFill>
              <a:latin typeface="Calibri (Body)" charset="0"/>
              <a:cs typeface="Calibri (Body)" charset="0"/>
            </a:endParaRPr>
          </a:p>
          <a:p>
            <a:pPr eaLnBrk="1" hangingPunct="1"/>
            <a:r>
              <a:rPr lang="en-GB" altLang="en-US" sz="2800" dirty="0">
                <a:solidFill>
                  <a:schemeClr val="tx1"/>
                </a:solidFill>
                <a:latin typeface="Calibri (Body)" charset="0"/>
                <a:cs typeface="Calibri (Body)" charset="0"/>
              </a:rPr>
              <a:t>A salesman travelled at an average speed of 50 km/h for 2 hours 30 mins.  How far did he travel?</a:t>
            </a:r>
          </a:p>
        </p:txBody>
      </p:sp>
      <p:grpSp>
        <p:nvGrpSpPr>
          <p:cNvPr id="8199" name="Group 28"/>
          <p:cNvGrpSpPr/>
          <p:nvPr/>
        </p:nvGrpSpPr>
        <p:grpSpPr>
          <a:xfrm>
            <a:off x="8077200" y="1905000"/>
            <a:ext cx="1524000" cy="1295400"/>
            <a:chOff x="2688" y="2832"/>
            <a:chExt cx="960" cy="816"/>
          </a:xfrm>
        </p:grpSpPr>
        <p:sp>
          <p:nvSpPr>
            <p:cNvPr id="8206" name="AutoShape 29"/>
            <p:cNvSpPr/>
            <p:nvPr/>
          </p:nvSpPr>
          <p:spPr>
            <a:xfrm>
              <a:off x="2688" y="2832"/>
              <a:ext cx="912" cy="816"/>
            </a:xfrm>
            <a:prstGeom prst="triangle">
              <a:avLst>
                <a:gd name="adj" fmla="val 50000"/>
              </a:avLst>
            </a:prstGeom>
            <a:noFill/>
            <a:ln w="28575" cap="flat" cmpd="sng">
              <a:solidFill>
                <a:schemeClr val="tx1"/>
              </a:solidFill>
              <a:prstDash val="solid"/>
              <a:miter/>
              <a:headEnd type="none" w="med" len="med"/>
              <a:tailEnd type="none" w="med" len="med"/>
            </a:ln>
          </p:spPr>
          <p:txBody>
            <a:bodyPr wrap="none" anchor="ctr" anchorCtr="0"/>
            <a:lstStyle/>
            <a:p>
              <a:pPr eaLnBrk="1" hangingPunct="1"/>
              <a:endParaRPr lang="en-US" altLang="en-US" sz="2800" dirty="0">
                <a:solidFill>
                  <a:schemeClr val="tx1"/>
                </a:solidFill>
                <a:latin typeface="Calibri (Body)" charset="0"/>
                <a:cs typeface="Calibri (Body)" charset="0"/>
              </a:endParaRPr>
            </a:p>
          </p:txBody>
        </p:sp>
        <p:sp>
          <p:nvSpPr>
            <p:cNvPr id="8207" name="Line 30"/>
            <p:cNvSpPr/>
            <p:nvPr/>
          </p:nvSpPr>
          <p:spPr>
            <a:xfrm>
              <a:off x="2928" y="3216"/>
              <a:ext cx="432" cy="0"/>
            </a:xfrm>
            <a:prstGeom prst="line">
              <a:avLst/>
            </a:prstGeom>
            <a:ln w="28575" cap="flat" cmpd="sng">
              <a:solidFill>
                <a:schemeClr val="tx1"/>
              </a:solidFill>
              <a:prstDash val="solid"/>
              <a:headEnd type="none" w="med" len="med"/>
              <a:tailEnd type="none" w="med" len="med"/>
            </a:ln>
          </p:spPr>
        </p:sp>
        <p:sp>
          <p:nvSpPr>
            <p:cNvPr id="8208" name="Line 31"/>
            <p:cNvSpPr/>
            <p:nvPr/>
          </p:nvSpPr>
          <p:spPr>
            <a:xfrm>
              <a:off x="3168" y="3216"/>
              <a:ext cx="0" cy="432"/>
            </a:xfrm>
            <a:prstGeom prst="line">
              <a:avLst/>
            </a:prstGeom>
            <a:ln w="28575" cap="flat" cmpd="sng">
              <a:solidFill>
                <a:schemeClr val="tx1"/>
              </a:solidFill>
              <a:prstDash val="solid"/>
              <a:headEnd type="none" w="med" len="med"/>
              <a:tailEnd type="none" w="med" len="med"/>
            </a:ln>
          </p:spPr>
        </p:sp>
        <p:sp>
          <p:nvSpPr>
            <p:cNvPr id="8209" name="Text Box 32"/>
            <p:cNvSpPr txBox="1"/>
            <p:nvPr/>
          </p:nvSpPr>
          <p:spPr>
            <a:xfrm>
              <a:off x="3024" y="2976"/>
              <a:ext cx="432" cy="329"/>
            </a:xfrm>
            <a:prstGeom prst="rect">
              <a:avLst/>
            </a:prstGeom>
            <a:noFill/>
            <a:ln w="9525">
              <a:noFill/>
            </a:ln>
          </p:spPr>
          <p:txBody>
            <a:bodyPr>
              <a:spAutoFit/>
            </a:bodyPr>
            <a:lstStyle/>
            <a:p>
              <a:pPr eaLnBrk="1" hangingPunct="1">
                <a:spcBef>
                  <a:spcPct val="50000"/>
                </a:spcBef>
              </a:pPr>
              <a:r>
                <a:rPr lang="en-GB" altLang="en-US" sz="2800" dirty="0">
                  <a:solidFill>
                    <a:schemeClr val="tx1"/>
                  </a:solidFill>
                  <a:latin typeface="Calibri (Body)" charset="0"/>
                  <a:cs typeface="Calibri (Body)" charset="0"/>
                </a:rPr>
                <a:t>D</a:t>
              </a:r>
            </a:p>
          </p:txBody>
        </p:sp>
        <p:sp>
          <p:nvSpPr>
            <p:cNvPr id="8210" name="Text Box 33"/>
            <p:cNvSpPr txBox="1"/>
            <p:nvPr/>
          </p:nvSpPr>
          <p:spPr>
            <a:xfrm>
              <a:off x="2832" y="3312"/>
              <a:ext cx="336" cy="329"/>
            </a:xfrm>
            <a:prstGeom prst="rect">
              <a:avLst/>
            </a:prstGeom>
            <a:noFill/>
            <a:ln w="9525">
              <a:noFill/>
            </a:ln>
          </p:spPr>
          <p:txBody>
            <a:bodyPr>
              <a:spAutoFit/>
            </a:bodyPr>
            <a:lstStyle/>
            <a:p>
              <a:pPr eaLnBrk="1" hangingPunct="1">
                <a:spcBef>
                  <a:spcPct val="50000"/>
                </a:spcBef>
              </a:pPr>
              <a:r>
                <a:rPr lang="en-GB" altLang="en-US" sz="2800" dirty="0">
                  <a:solidFill>
                    <a:schemeClr val="tx1"/>
                  </a:solidFill>
                  <a:latin typeface="Calibri (Body)" charset="0"/>
                  <a:cs typeface="Calibri (Body)" charset="0"/>
                </a:rPr>
                <a:t>S</a:t>
              </a:r>
            </a:p>
          </p:txBody>
        </p:sp>
        <p:sp>
          <p:nvSpPr>
            <p:cNvPr id="8211" name="Text Box 34"/>
            <p:cNvSpPr txBox="1"/>
            <p:nvPr/>
          </p:nvSpPr>
          <p:spPr>
            <a:xfrm>
              <a:off x="3168" y="3312"/>
              <a:ext cx="480" cy="329"/>
            </a:xfrm>
            <a:prstGeom prst="rect">
              <a:avLst/>
            </a:prstGeom>
            <a:noFill/>
            <a:ln w="9525">
              <a:noFill/>
            </a:ln>
          </p:spPr>
          <p:txBody>
            <a:bodyPr>
              <a:spAutoFit/>
            </a:bodyPr>
            <a:lstStyle/>
            <a:p>
              <a:pPr eaLnBrk="1" hangingPunct="1">
                <a:spcBef>
                  <a:spcPct val="50000"/>
                </a:spcBef>
              </a:pPr>
              <a:r>
                <a:rPr lang="en-GB" altLang="en-US" sz="2800" dirty="0">
                  <a:solidFill>
                    <a:schemeClr val="tx1"/>
                  </a:solidFill>
                  <a:latin typeface="Calibri (Body)" charset="0"/>
                  <a:cs typeface="Calibri (Body)" charset="0"/>
                </a:rPr>
                <a:t>T</a:t>
              </a:r>
            </a:p>
          </p:txBody>
        </p:sp>
      </p:grpSp>
      <p:sp>
        <p:nvSpPr>
          <p:cNvPr id="19491" name="Oval 35"/>
          <p:cNvSpPr/>
          <p:nvPr/>
        </p:nvSpPr>
        <p:spPr>
          <a:xfrm>
            <a:off x="8610600" y="2133600"/>
            <a:ext cx="381000" cy="381000"/>
          </a:xfrm>
          <a:prstGeom prst="ellipse">
            <a:avLst/>
          </a:prstGeom>
          <a:noFill/>
          <a:ln w="28575" cap="flat" cmpd="sng">
            <a:solidFill>
              <a:schemeClr val="accent1"/>
            </a:solidFill>
            <a:prstDash val="solid"/>
            <a:headEnd type="none" w="med" len="med"/>
            <a:tailEnd type="none" w="med" len="med"/>
          </a:ln>
        </p:spPr>
        <p:txBody>
          <a:bodyPr wrap="none" anchor="ctr" anchorCtr="0"/>
          <a:lstStyle/>
          <a:p>
            <a:pPr eaLnBrk="1" hangingPunct="1"/>
            <a:endParaRPr lang="en-US" altLang="en-US" sz="2800" dirty="0">
              <a:solidFill>
                <a:schemeClr val="tx1"/>
              </a:solidFill>
              <a:latin typeface="Calibri (Body)" charset="0"/>
              <a:cs typeface="Calibri (Body)" charset="0"/>
            </a:endParaRPr>
          </a:p>
        </p:txBody>
      </p:sp>
      <p:sp>
        <p:nvSpPr>
          <p:cNvPr id="19492" name="Oval 36"/>
          <p:cNvSpPr/>
          <p:nvPr/>
        </p:nvSpPr>
        <p:spPr>
          <a:xfrm>
            <a:off x="8229600" y="2590800"/>
            <a:ext cx="1219200" cy="457200"/>
          </a:xfrm>
          <a:prstGeom prst="ellipse">
            <a:avLst/>
          </a:prstGeom>
          <a:noFill/>
          <a:ln w="28575" cap="flat" cmpd="sng">
            <a:solidFill>
              <a:schemeClr val="accent1"/>
            </a:solidFill>
            <a:prstDash val="solid"/>
            <a:headEnd type="none" w="med" len="med"/>
            <a:tailEnd type="none" w="med" len="med"/>
          </a:ln>
        </p:spPr>
        <p:txBody>
          <a:bodyPr wrap="none" anchor="ctr" anchorCtr="0"/>
          <a:lstStyle/>
          <a:p>
            <a:pPr eaLnBrk="1" hangingPunct="1"/>
            <a:endParaRPr lang="en-US" altLang="en-US" sz="2800" dirty="0">
              <a:solidFill>
                <a:schemeClr val="tx1"/>
              </a:solidFill>
              <a:latin typeface="Calibri (Body)" charset="0"/>
              <a:cs typeface="Calibri (Body)" charset="0"/>
            </a:endParaRPr>
          </a:p>
        </p:txBody>
      </p:sp>
      <p:sp>
        <p:nvSpPr>
          <p:cNvPr id="19500" name="Text Box 44"/>
          <p:cNvSpPr txBox="1"/>
          <p:nvPr/>
        </p:nvSpPr>
        <p:spPr>
          <a:xfrm>
            <a:off x="1981200" y="2300288"/>
            <a:ext cx="2286000" cy="521970"/>
          </a:xfrm>
          <a:prstGeom prst="rect">
            <a:avLst/>
          </a:prstGeom>
          <a:noFill/>
          <a:ln w="9525">
            <a:noFill/>
          </a:ln>
        </p:spPr>
        <p:txBody>
          <a:bodyPr>
            <a:spAutoFit/>
          </a:bodyPr>
          <a:lstStyle/>
          <a:p>
            <a:pPr eaLnBrk="1" hangingPunct="1">
              <a:spcBef>
                <a:spcPct val="50000"/>
              </a:spcBef>
            </a:pPr>
            <a:r>
              <a:rPr lang="en-GB" altLang="en-US" sz="2800" dirty="0">
                <a:solidFill>
                  <a:schemeClr val="tx1"/>
                </a:solidFill>
                <a:latin typeface="Calibri (Body)" charset="0"/>
                <a:cs typeface="Calibri (Body)" charset="0"/>
              </a:rPr>
              <a:t>Distance = </a:t>
            </a:r>
          </a:p>
        </p:txBody>
      </p:sp>
      <p:sp>
        <p:nvSpPr>
          <p:cNvPr id="19501" name="Text Box 45"/>
          <p:cNvSpPr txBox="1"/>
          <p:nvPr/>
        </p:nvSpPr>
        <p:spPr>
          <a:xfrm>
            <a:off x="3810000" y="2300288"/>
            <a:ext cx="3200400" cy="521970"/>
          </a:xfrm>
          <a:prstGeom prst="rect">
            <a:avLst/>
          </a:prstGeom>
          <a:noFill/>
          <a:ln w="9525">
            <a:noFill/>
          </a:ln>
        </p:spPr>
        <p:txBody>
          <a:bodyPr>
            <a:spAutoFit/>
          </a:bodyPr>
          <a:lstStyle/>
          <a:p>
            <a:pPr eaLnBrk="1" hangingPunct="1">
              <a:spcBef>
                <a:spcPct val="50000"/>
              </a:spcBef>
            </a:pPr>
            <a:r>
              <a:rPr lang="en-GB" altLang="en-US" sz="2800" dirty="0">
                <a:solidFill>
                  <a:schemeClr val="tx1"/>
                </a:solidFill>
                <a:latin typeface="Calibri (Body)" charset="0"/>
                <a:cs typeface="Calibri (Body)" charset="0"/>
              </a:rPr>
              <a:t> Speed x Time</a:t>
            </a:r>
          </a:p>
        </p:txBody>
      </p:sp>
      <p:sp>
        <p:nvSpPr>
          <p:cNvPr id="19502" name="Text Box 46"/>
          <p:cNvSpPr txBox="1"/>
          <p:nvPr/>
        </p:nvSpPr>
        <p:spPr>
          <a:xfrm>
            <a:off x="3505200" y="3290888"/>
            <a:ext cx="2819400" cy="521970"/>
          </a:xfrm>
          <a:prstGeom prst="rect">
            <a:avLst/>
          </a:prstGeom>
          <a:noFill/>
          <a:ln w="9525">
            <a:noFill/>
          </a:ln>
        </p:spPr>
        <p:txBody>
          <a:bodyPr>
            <a:spAutoFit/>
          </a:bodyPr>
          <a:lstStyle/>
          <a:p>
            <a:pPr eaLnBrk="1" hangingPunct="1">
              <a:spcBef>
                <a:spcPct val="50000"/>
              </a:spcBef>
            </a:pPr>
            <a:r>
              <a:rPr lang="en-GB" altLang="en-US" sz="2800" dirty="0">
                <a:solidFill>
                  <a:schemeClr val="tx1"/>
                </a:solidFill>
                <a:latin typeface="Calibri (Body)" charset="0"/>
                <a:cs typeface="Calibri (Body)" charset="0"/>
              </a:rPr>
              <a:t>=  50 x 2</a:t>
            </a:r>
            <a:r>
              <a:rPr lang="en-GB" altLang="en-US" sz="2800" dirty="0">
                <a:solidFill>
                  <a:schemeClr val="tx1"/>
                </a:solidFill>
                <a:latin typeface="Calibri (Body)" charset="0"/>
                <a:ea typeface="Microsoft Sans Serif" panose="020B0604020202020204" pitchFamily="34" charset="0"/>
                <a:cs typeface="Calibri (Body)" charset="0"/>
              </a:rPr>
              <a:t>•</a:t>
            </a:r>
            <a:r>
              <a:rPr lang="en-GB" altLang="en-US" sz="2800" dirty="0">
                <a:solidFill>
                  <a:schemeClr val="tx1"/>
                </a:solidFill>
                <a:latin typeface="Calibri (Body)" charset="0"/>
                <a:cs typeface="Calibri (Body)" charset="0"/>
              </a:rPr>
              <a:t>5</a:t>
            </a:r>
          </a:p>
        </p:txBody>
      </p:sp>
      <p:sp>
        <p:nvSpPr>
          <p:cNvPr id="19503" name="Text Box 47"/>
          <p:cNvSpPr txBox="1"/>
          <p:nvPr/>
        </p:nvSpPr>
        <p:spPr>
          <a:xfrm>
            <a:off x="3505200" y="4281488"/>
            <a:ext cx="2971800" cy="521970"/>
          </a:xfrm>
          <a:prstGeom prst="rect">
            <a:avLst/>
          </a:prstGeom>
          <a:noFill/>
          <a:ln w="9525">
            <a:noFill/>
          </a:ln>
        </p:spPr>
        <p:txBody>
          <a:bodyPr>
            <a:spAutoFit/>
          </a:bodyPr>
          <a:lstStyle/>
          <a:p>
            <a:pPr eaLnBrk="1" hangingPunct="1">
              <a:spcBef>
                <a:spcPct val="50000"/>
              </a:spcBef>
            </a:pPr>
            <a:r>
              <a:rPr lang="en-GB" altLang="en-US" sz="2800" dirty="0">
                <a:solidFill>
                  <a:schemeClr val="tx1"/>
                </a:solidFill>
                <a:latin typeface="Calibri (Body)" charset="0"/>
                <a:cs typeface="Calibri (Body)" charset="0"/>
              </a:rPr>
              <a:t>=  125 km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9491"/>
                                        </p:tgtEl>
                                        <p:attrNameLst>
                                          <p:attrName>style.visibility</p:attrName>
                                        </p:attrNameLst>
                                      </p:cBhvr>
                                      <p:to>
                                        <p:strVal val="visible"/>
                                      </p:to>
                                    </p:set>
                                    <p:animEffect transition="in" filter="dissolve">
                                      <p:cBhvr>
                                        <p:cTn id="7" dur="500"/>
                                        <p:tgtEl>
                                          <p:spTgt spid="19491"/>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3" fill="hold" nodeType="clickEffect">
                                  <p:stCondLst>
                                    <p:cond delay="0"/>
                                  </p:stCondLst>
                                  <p:childTnLst>
                                    <p:set>
                                      <p:cBhvr>
                                        <p:cTn id="11" dur="1" fill="hold">
                                          <p:stCondLst>
                                            <p:cond delay="0"/>
                                          </p:stCondLst>
                                        </p:cTn>
                                        <p:tgtEl>
                                          <p:spTgt spid="19500"/>
                                        </p:tgtEl>
                                        <p:attrNameLst>
                                          <p:attrName>style.visibility</p:attrName>
                                        </p:attrNameLst>
                                      </p:cBhvr>
                                      <p:to>
                                        <p:strVal val="visible"/>
                                      </p:to>
                                    </p:set>
                                    <p:animEffect transition="in" filter="strips(upRight)">
                                      <p:cBhvr>
                                        <p:cTn id="12" dur="500"/>
                                        <p:tgtEl>
                                          <p:spTgt spid="19500"/>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9492"/>
                                        </p:tgtEl>
                                        <p:attrNameLst>
                                          <p:attrName>style.visibility</p:attrName>
                                        </p:attrNameLst>
                                      </p:cBhvr>
                                      <p:to>
                                        <p:strVal val="visible"/>
                                      </p:to>
                                    </p:set>
                                    <p:animEffect transition="in" filter="dissolve">
                                      <p:cBhvr>
                                        <p:cTn id="17" dur="500"/>
                                        <p:tgtEl>
                                          <p:spTgt spid="19492"/>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2" fill="hold" nodeType="clickEffect">
                                  <p:stCondLst>
                                    <p:cond delay="0"/>
                                  </p:stCondLst>
                                  <p:childTnLst>
                                    <p:set>
                                      <p:cBhvr>
                                        <p:cTn id="21" dur="1" fill="hold">
                                          <p:stCondLst>
                                            <p:cond delay="0"/>
                                          </p:stCondLst>
                                        </p:cTn>
                                        <p:tgtEl>
                                          <p:spTgt spid="19501"/>
                                        </p:tgtEl>
                                        <p:attrNameLst>
                                          <p:attrName>style.visibility</p:attrName>
                                        </p:attrNameLst>
                                      </p:cBhvr>
                                      <p:to>
                                        <p:strVal val="visible"/>
                                      </p:to>
                                    </p:set>
                                    <p:anim calcmode="lin" valueType="num">
                                      <p:cBhvr additive="base">
                                        <p:cTn id="22" dur="500" fill="hold"/>
                                        <p:tgtEl>
                                          <p:spTgt spid="19501"/>
                                        </p:tgtEl>
                                        <p:attrNameLst>
                                          <p:attrName>ppt_x</p:attrName>
                                        </p:attrNameLst>
                                      </p:cBhvr>
                                      <p:tavLst>
                                        <p:tav tm="0">
                                          <p:val>
                                            <p:strVal val="1+#ppt_w/2"/>
                                          </p:val>
                                        </p:tav>
                                        <p:tav tm="100000">
                                          <p:val>
                                            <p:strVal val="#ppt_x"/>
                                          </p:val>
                                        </p:tav>
                                      </p:tavLst>
                                    </p:anim>
                                    <p:anim calcmode="lin" valueType="num">
                                      <p:cBhvr additive="base">
                                        <p:cTn id="23" dur="500" fill="hold"/>
                                        <p:tgtEl>
                                          <p:spTgt spid="19501"/>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8" fill="hold" nodeType="clickEffect">
                                  <p:stCondLst>
                                    <p:cond delay="0"/>
                                  </p:stCondLst>
                                  <p:childTnLst>
                                    <p:set>
                                      <p:cBhvr>
                                        <p:cTn id="27" dur="1" fill="hold">
                                          <p:stCondLst>
                                            <p:cond delay="0"/>
                                          </p:stCondLst>
                                        </p:cTn>
                                        <p:tgtEl>
                                          <p:spTgt spid="19502"/>
                                        </p:tgtEl>
                                        <p:attrNameLst>
                                          <p:attrName>style.visibility</p:attrName>
                                        </p:attrNameLst>
                                      </p:cBhvr>
                                      <p:to>
                                        <p:strVal val="visible"/>
                                      </p:to>
                                    </p:set>
                                    <p:anim calcmode="lin" valueType="num">
                                      <p:cBhvr additive="base">
                                        <p:cTn id="28" dur="500" fill="hold"/>
                                        <p:tgtEl>
                                          <p:spTgt spid="19502"/>
                                        </p:tgtEl>
                                        <p:attrNameLst>
                                          <p:attrName>ppt_x</p:attrName>
                                        </p:attrNameLst>
                                      </p:cBhvr>
                                      <p:tavLst>
                                        <p:tav tm="0">
                                          <p:val>
                                            <p:strVal val="0-#ppt_w/2"/>
                                          </p:val>
                                        </p:tav>
                                        <p:tav tm="100000">
                                          <p:val>
                                            <p:strVal val="#ppt_x"/>
                                          </p:val>
                                        </p:tav>
                                      </p:tavLst>
                                    </p:anim>
                                    <p:anim calcmode="lin" valueType="num">
                                      <p:cBhvr additive="base">
                                        <p:cTn id="29" dur="500" fill="hold"/>
                                        <p:tgtEl>
                                          <p:spTgt spid="19502"/>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9" presetClass="entr" presetSubtype="0" fill="hold" nodeType="clickEffect">
                                  <p:stCondLst>
                                    <p:cond delay="0"/>
                                  </p:stCondLst>
                                  <p:childTnLst>
                                    <p:set>
                                      <p:cBhvr>
                                        <p:cTn id="33" dur="1" fill="hold">
                                          <p:stCondLst>
                                            <p:cond delay="0"/>
                                          </p:stCondLst>
                                        </p:cTn>
                                        <p:tgtEl>
                                          <p:spTgt spid="19481"/>
                                        </p:tgtEl>
                                        <p:attrNameLst>
                                          <p:attrName>style.visibility</p:attrName>
                                        </p:attrNameLst>
                                      </p:cBhvr>
                                      <p:to>
                                        <p:strVal val="visible"/>
                                      </p:to>
                                    </p:set>
                                    <p:anim calcmode="lin" valueType="num">
                                      <p:cBhvr>
                                        <p:cTn id="34" dur="1000" fill="hold"/>
                                        <p:tgtEl>
                                          <p:spTgt spid="19481"/>
                                        </p:tgtEl>
                                        <p:attrNameLst>
                                          <p:attrName>ppt_x</p:attrName>
                                        </p:attrNameLst>
                                      </p:cBhvr>
                                      <p:tavLst>
                                        <p:tav tm="0">
                                          <p:val>
                                            <p:strVal val="#ppt_x-.2"/>
                                          </p:val>
                                        </p:tav>
                                        <p:tav tm="100000">
                                          <p:val>
                                            <p:strVal val="#ppt_x"/>
                                          </p:val>
                                        </p:tav>
                                      </p:tavLst>
                                    </p:anim>
                                    <p:anim calcmode="lin" valueType="num">
                                      <p:cBhvr>
                                        <p:cTn id="35" dur="1000" fill="hold"/>
                                        <p:tgtEl>
                                          <p:spTgt spid="19481"/>
                                        </p:tgtEl>
                                        <p:attrNameLst>
                                          <p:attrName>ppt_y</p:attrName>
                                        </p:attrNameLst>
                                      </p:cBhvr>
                                      <p:tavLst>
                                        <p:tav tm="0">
                                          <p:val>
                                            <p:strVal val="#ppt_y"/>
                                          </p:val>
                                        </p:tav>
                                        <p:tav tm="100000">
                                          <p:val>
                                            <p:strVal val="#ppt_y"/>
                                          </p:val>
                                        </p:tav>
                                      </p:tavLst>
                                    </p:anim>
                                    <p:animEffect transition="in" filter="wipe(right)" prLst="gradientSize: 0.1">
                                      <p:cBhvr>
                                        <p:cTn id="36" dur="1000"/>
                                        <p:tgtEl>
                                          <p:spTgt spid="19481"/>
                                        </p:tgtEl>
                                      </p:cBhvr>
                                    </p:animEffect>
                                  </p:childTnLst>
                                </p:cTn>
                              </p:par>
                            </p:childTnLst>
                          </p:cTn>
                        </p:par>
                      </p:childTnLst>
                    </p:cTn>
                  </p:par>
                  <p:par>
                    <p:cTn id="37" fill="hold">
                      <p:stCondLst>
                        <p:cond delay="indefinite"/>
                      </p:stCondLst>
                      <p:childTnLst>
                        <p:par>
                          <p:cTn id="38" fill="hold">
                            <p:stCondLst>
                              <p:cond delay="0"/>
                            </p:stCondLst>
                            <p:childTnLst>
                              <p:par>
                                <p:cTn id="39" presetID="29" presetClass="entr" presetSubtype="0" fill="hold" nodeType="clickEffect">
                                  <p:stCondLst>
                                    <p:cond delay="0"/>
                                  </p:stCondLst>
                                  <p:childTnLst>
                                    <p:set>
                                      <p:cBhvr>
                                        <p:cTn id="40" dur="1" fill="hold">
                                          <p:stCondLst>
                                            <p:cond delay="0"/>
                                          </p:stCondLst>
                                        </p:cTn>
                                        <p:tgtEl>
                                          <p:spTgt spid="19480"/>
                                        </p:tgtEl>
                                        <p:attrNameLst>
                                          <p:attrName>style.visibility</p:attrName>
                                        </p:attrNameLst>
                                      </p:cBhvr>
                                      <p:to>
                                        <p:strVal val="visible"/>
                                      </p:to>
                                    </p:set>
                                    <p:anim calcmode="lin" valueType="num">
                                      <p:cBhvr>
                                        <p:cTn id="41" dur="1000" fill="hold"/>
                                        <p:tgtEl>
                                          <p:spTgt spid="19480"/>
                                        </p:tgtEl>
                                        <p:attrNameLst>
                                          <p:attrName>ppt_x</p:attrName>
                                        </p:attrNameLst>
                                      </p:cBhvr>
                                      <p:tavLst>
                                        <p:tav tm="0">
                                          <p:val>
                                            <p:strVal val="#ppt_x-.2"/>
                                          </p:val>
                                        </p:tav>
                                        <p:tav tm="100000">
                                          <p:val>
                                            <p:strVal val="#ppt_x"/>
                                          </p:val>
                                        </p:tav>
                                      </p:tavLst>
                                    </p:anim>
                                    <p:anim calcmode="lin" valueType="num">
                                      <p:cBhvr>
                                        <p:cTn id="42" dur="1000" fill="hold"/>
                                        <p:tgtEl>
                                          <p:spTgt spid="19480"/>
                                        </p:tgtEl>
                                        <p:attrNameLst>
                                          <p:attrName>ppt_y</p:attrName>
                                        </p:attrNameLst>
                                      </p:cBhvr>
                                      <p:tavLst>
                                        <p:tav tm="0">
                                          <p:val>
                                            <p:strVal val="#ppt_y"/>
                                          </p:val>
                                        </p:tav>
                                        <p:tav tm="100000">
                                          <p:val>
                                            <p:strVal val="#ppt_y"/>
                                          </p:val>
                                        </p:tav>
                                      </p:tavLst>
                                    </p:anim>
                                    <p:animEffect transition="in" filter="wipe(right)" prLst="gradientSize: 0.1">
                                      <p:cBhvr>
                                        <p:cTn id="43" dur="1000"/>
                                        <p:tgtEl>
                                          <p:spTgt spid="19480"/>
                                        </p:tgtEl>
                                      </p:cBhvr>
                                    </p:animEffect>
                                  </p:childTnLst>
                                </p:cTn>
                              </p:par>
                            </p:childTnLst>
                          </p:cTn>
                        </p:par>
                      </p:childTnLst>
                    </p:cTn>
                  </p:par>
                  <p:par>
                    <p:cTn id="44" fill="hold">
                      <p:stCondLst>
                        <p:cond delay="indefinite"/>
                      </p:stCondLst>
                      <p:childTnLst>
                        <p:par>
                          <p:cTn id="45" fill="hold">
                            <p:stCondLst>
                              <p:cond delay="0"/>
                            </p:stCondLst>
                            <p:childTnLst>
                              <p:par>
                                <p:cTn id="46" presetID="9" presetClass="exit" presetSubtype="0" fill="hold" nodeType="clickEffect">
                                  <p:stCondLst>
                                    <p:cond delay="0"/>
                                  </p:stCondLst>
                                  <p:childTnLst>
                                    <p:animEffect transition="out" filter="dissolve">
                                      <p:cBhvr>
                                        <p:cTn id="47" dur="500"/>
                                        <p:tgtEl>
                                          <p:spTgt spid="19481"/>
                                        </p:tgtEl>
                                      </p:cBhvr>
                                    </p:animEffect>
                                    <p:set>
                                      <p:cBhvr>
                                        <p:cTn id="48" dur="1" fill="hold">
                                          <p:stCondLst>
                                            <p:cond delay="499"/>
                                          </p:stCondLst>
                                        </p:cTn>
                                        <p:tgtEl>
                                          <p:spTgt spid="19481"/>
                                        </p:tgtEl>
                                        <p:attrNameLst>
                                          <p:attrName>style.visibility</p:attrName>
                                        </p:attrNameLst>
                                      </p:cBhvr>
                                      <p:to>
                                        <p:strVal val="hidden"/>
                                      </p:to>
                                    </p:set>
                                  </p:childTnLst>
                                </p:cTn>
                              </p:par>
                              <p:par>
                                <p:cTn id="49" presetID="29" presetClass="exit" presetSubtype="0" fill="hold" nodeType="withEffect">
                                  <p:stCondLst>
                                    <p:cond delay="0"/>
                                  </p:stCondLst>
                                  <p:childTnLst>
                                    <p:anim calcmode="lin" valueType="num">
                                      <p:cBhvr>
                                        <p:cTn id="50" dur="1000"/>
                                        <p:tgtEl>
                                          <p:spTgt spid="19480"/>
                                        </p:tgtEl>
                                        <p:attrNameLst>
                                          <p:attrName>ppt_x</p:attrName>
                                        </p:attrNameLst>
                                      </p:cBhvr>
                                      <p:tavLst>
                                        <p:tav tm="0">
                                          <p:val>
                                            <p:strVal val="ppt_x"/>
                                          </p:val>
                                        </p:tav>
                                        <p:tav tm="100000">
                                          <p:val>
                                            <p:strVal val="ppt_x-.2"/>
                                          </p:val>
                                        </p:tav>
                                      </p:tavLst>
                                    </p:anim>
                                    <p:anim calcmode="lin" valueType="num">
                                      <p:cBhvr>
                                        <p:cTn id="51" dur="1000"/>
                                        <p:tgtEl>
                                          <p:spTgt spid="19480"/>
                                        </p:tgtEl>
                                        <p:attrNameLst>
                                          <p:attrName>ppt_y</p:attrName>
                                        </p:attrNameLst>
                                      </p:cBhvr>
                                      <p:tavLst>
                                        <p:tav tm="0">
                                          <p:val>
                                            <p:strVal val="ppt_y"/>
                                          </p:val>
                                        </p:tav>
                                        <p:tav tm="100000">
                                          <p:val>
                                            <p:strVal val="ppt_y"/>
                                          </p:val>
                                        </p:tav>
                                      </p:tavLst>
                                    </p:anim>
                                    <p:animEffect transition="out" filter="fade">
                                      <p:cBhvr>
                                        <p:cTn id="52" dur="1000"/>
                                        <p:tgtEl>
                                          <p:spTgt spid="19480"/>
                                        </p:tgtEl>
                                      </p:cBhvr>
                                    </p:animEffect>
                                    <p:set>
                                      <p:cBhvr>
                                        <p:cTn id="53" dur="1" fill="hold">
                                          <p:stCondLst>
                                            <p:cond delay="999"/>
                                          </p:stCondLst>
                                        </p:cTn>
                                        <p:tgtEl>
                                          <p:spTgt spid="19480"/>
                                        </p:tgtEl>
                                        <p:attrNameLst>
                                          <p:attrName>style.visibility</p:attrName>
                                        </p:attrNameLst>
                                      </p:cBhvr>
                                      <p:to>
                                        <p:strVal val="hidden"/>
                                      </p:to>
                                    </p:set>
                                  </p:childTnLst>
                                </p:cTn>
                              </p:par>
                            </p:childTnLst>
                          </p:cTn>
                        </p:par>
                      </p:childTnLst>
                    </p:cTn>
                  </p:par>
                  <p:par>
                    <p:cTn id="54" fill="hold">
                      <p:stCondLst>
                        <p:cond delay="indefinite"/>
                      </p:stCondLst>
                      <p:childTnLst>
                        <p:par>
                          <p:cTn id="55" fill="hold">
                            <p:stCondLst>
                              <p:cond delay="0"/>
                            </p:stCondLst>
                            <p:childTnLst>
                              <p:par>
                                <p:cTn id="56" presetID="2" presetClass="entr" presetSubtype="4" fill="hold" nodeType="clickEffect">
                                  <p:stCondLst>
                                    <p:cond delay="0"/>
                                  </p:stCondLst>
                                  <p:childTnLst>
                                    <p:set>
                                      <p:cBhvr>
                                        <p:cTn id="57" dur="1" fill="hold">
                                          <p:stCondLst>
                                            <p:cond delay="0"/>
                                          </p:stCondLst>
                                        </p:cTn>
                                        <p:tgtEl>
                                          <p:spTgt spid="19503"/>
                                        </p:tgtEl>
                                        <p:attrNameLst>
                                          <p:attrName>style.visibility</p:attrName>
                                        </p:attrNameLst>
                                      </p:cBhvr>
                                      <p:to>
                                        <p:strVal val="visible"/>
                                      </p:to>
                                    </p:set>
                                    <p:anim calcmode="lin" valueType="num">
                                      <p:cBhvr additive="base">
                                        <p:cTn id="58" dur="500" fill="hold"/>
                                        <p:tgtEl>
                                          <p:spTgt spid="19503"/>
                                        </p:tgtEl>
                                        <p:attrNameLst>
                                          <p:attrName>ppt_x</p:attrName>
                                        </p:attrNameLst>
                                      </p:cBhvr>
                                      <p:tavLst>
                                        <p:tav tm="0">
                                          <p:val>
                                            <p:strVal val="#ppt_x"/>
                                          </p:val>
                                        </p:tav>
                                        <p:tav tm="100000">
                                          <p:val>
                                            <p:strVal val="#ppt_x"/>
                                          </p:val>
                                        </p:tav>
                                      </p:tavLst>
                                    </p:anim>
                                    <p:anim calcmode="lin" valueType="num">
                                      <p:cBhvr additive="base">
                                        <p:cTn id="59" dur="500" fill="hold"/>
                                        <p:tgtEl>
                                          <p:spTgt spid="19503"/>
                                        </p:tgtEl>
                                        <p:attrNameLst>
                                          <p:attrName>ppt_y</p:attrName>
                                        </p:attrNameLst>
                                      </p:cBhvr>
                                      <p:tavLst>
                                        <p:tav tm="0">
                                          <p:val>
                                            <p:strVal val="1+#ppt_h/2"/>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29" presetClass="entr" presetSubtype="0" fill="hold" nodeType="clickEffect">
                                  <p:stCondLst>
                                    <p:cond delay="0"/>
                                  </p:stCondLst>
                                  <p:childTnLst>
                                    <p:set>
                                      <p:cBhvr>
                                        <p:cTn id="63" dur="1" fill="hold">
                                          <p:stCondLst>
                                            <p:cond delay="0"/>
                                          </p:stCondLst>
                                        </p:cTn>
                                        <p:tgtEl>
                                          <p:spTgt spid="19482"/>
                                        </p:tgtEl>
                                        <p:attrNameLst>
                                          <p:attrName>style.visibility</p:attrName>
                                        </p:attrNameLst>
                                      </p:cBhvr>
                                      <p:to>
                                        <p:strVal val="visible"/>
                                      </p:to>
                                    </p:set>
                                    <p:anim calcmode="lin" valueType="num">
                                      <p:cBhvr>
                                        <p:cTn id="64" dur="1000" fill="hold"/>
                                        <p:tgtEl>
                                          <p:spTgt spid="19482"/>
                                        </p:tgtEl>
                                        <p:attrNameLst>
                                          <p:attrName>ppt_x</p:attrName>
                                        </p:attrNameLst>
                                      </p:cBhvr>
                                      <p:tavLst>
                                        <p:tav tm="0">
                                          <p:val>
                                            <p:strVal val="#ppt_x-.2"/>
                                          </p:val>
                                        </p:tav>
                                        <p:tav tm="100000">
                                          <p:val>
                                            <p:strVal val="#ppt_x"/>
                                          </p:val>
                                        </p:tav>
                                      </p:tavLst>
                                    </p:anim>
                                    <p:anim calcmode="lin" valueType="num">
                                      <p:cBhvr>
                                        <p:cTn id="65" dur="1000" fill="hold"/>
                                        <p:tgtEl>
                                          <p:spTgt spid="19482"/>
                                        </p:tgtEl>
                                        <p:attrNameLst>
                                          <p:attrName>ppt_y</p:attrName>
                                        </p:attrNameLst>
                                      </p:cBhvr>
                                      <p:tavLst>
                                        <p:tav tm="0">
                                          <p:val>
                                            <p:strVal val="#ppt_y"/>
                                          </p:val>
                                        </p:tav>
                                        <p:tav tm="100000">
                                          <p:val>
                                            <p:strVal val="#ppt_y"/>
                                          </p:val>
                                        </p:tav>
                                      </p:tavLst>
                                    </p:anim>
                                    <p:animEffect transition="in" filter="wipe(right)" prLst="gradientSize: 0.1">
                                      <p:cBhvr>
                                        <p:cTn id="66" dur="1000"/>
                                        <p:tgtEl>
                                          <p:spTgt spid="194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80" grpId="0"/>
      <p:bldP spid="19480" grpId="1"/>
      <p:bldP spid="19482" grpId="0"/>
      <p:bldP spid="19500" grpId="0"/>
      <p:bldP spid="19501" grpId="0"/>
      <p:bldP spid="19502" grpId="0"/>
      <p:bldP spid="1950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6"/>
          <p:cNvSpPr/>
          <p:nvPr/>
        </p:nvSpPr>
        <p:spPr>
          <a:xfrm>
            <a:off x="1833563" y="693738"/>
            <a:ext cx="8524875" cy="953135"/>
          </a:xfrm>
          <a:prstGeom prst="rect">
            <a:avLst/>
          </a:prstGeom>
          <a:noFill/>
          <a:ln w="9525">
            <a:noFill/>
          </a:ln>
        </p:spPr>
        <p:txBody>
          <a:bodyPr>
            <a:spAutoFit/>
          </a:bodyPr>
          <a:lstStyle/>
          <a:p>
            <a:pPr eaLnBrk="1" hangingPunct="1"/>
            <a:r>
              <a:rPr lang="en-GB" altLang="en-US" sz="2800" dirty="0">
                <a:solidFill>
                  <a:schemeClr val="tx1"/>
                </a:solidFill>
                <a:latin typeface="Calibri (Body)" charset="0"/>
                <a:cs typeface="Calibri (Body)" charset="0"/>
              </a:rPr>
              <a:t>EX.3 A train travelled 555 miles at an average speed of 60 mph.  How long did the journey take?</a:t>
            </a:r>
          </a:p>
        </p:txBody>
      </p:sp>
      <p:grpSp>
        <p:nvGrpSpPr>
          <p:cNvPr id="9219" name="Group 20"/>
          <p:cNvGrpSpPr/>
          <p:nvPr/>
        </p:nvGrpSpPr>
        <p:grpSpPr>
          <a:xfrm>
            <a:off x="7924800" y="1676400"/>
            <a:ext cx="1524000" cy="1295400"/>
            <a:chOff x="2688" y="2832"/>
            <a:chExt cx="960" cy="816"/>
          </a:xfrm>
        </p:grpSpPr>
        <p:sp>
          <p:nvSpPr>
            <p:cNvPr id="9222" name="AutoShape 21"/>
            <p:cNvSpPr/>
            <p:nvPr/>
          </p:nvSpPr>
          <p:spPr>
            <a:xfrm>
              <a:off x="2688" y="2832"/>
              <a:ext cx="912" cy="816"/>
            </a:xfrm>
            <a:prstGeom prst="triangle">
              <a:avLst>
                <a:gd name="adj" fmla="val 50000"/>
              </a:avLst>
            </a:prstGeom>
            <a:noFill/>
            <a:ln w="28575" cap="flat" cmpd="sng">
              <a:solidFill>
                <a:schemeClr val="tx1"/>
              </a:solidFill>
              <a:prstDash val="solid"/>
              <a:miter/>
              <a:headEnd type="none" w="med" len="med"/>
              <a:tailEnd type="none" w="med" len="med"/>
            </a:ln>
          </p:spPr>
          <p:txBody>
            <a:bodyPr wrap="none" anchor="ctr" anchorCtr="0"/>
            <a:lstStyle/>
            <a:p>
              <a:pPr eaLnBrk="1" hangingPunct="1"/>
              <a:endParaRPr lang="en-US" altLang="en-US" sz="2000" dirty="0">
                <a:solidFill>
                  <a:schemeClr val="tx1"/>
                </a:solidFill>
                <a:latin typeface="Calibri (Body)" charset="0"/>
                <a:cs typeface="Calibri (Body)" charset="0"/>
              </a:endParaRPr>
            </a:p>
          </p:txBody>
        </p:sp>
        <p:sp>
          <p:nvSpPr>
            <p:cNvPr id="9223" name="Line 22"/>
            <p:cNvSpPr/>
            <p:nvPr/>
          </p:nvSpPr>
          <p:spPr>
            <a:xfrm>
              <a:off x="2928" y="3216"/>
              <a:ext cx="432" cy="0"/>
            </a:xfrm>
            <a:prstGeom prst="line">
              <a:avLst/>
            </a:prstGeom>
            <a:ln w="28575" cap="flat" cmpd="sng">
              <a:solidFill>
                <a:schemeClr val="tx1"/>
              </a:solidFill>
              <a:prstDash val="solid"/>
              <a:headEnd type="none" w="med" len="med"/>
              <a:tailEnd type="none" w="med" len="med"/>
            </a:ln>
          </p:spPr>
        </p:sp>
        <p:sp>
          <p:nvSpPr>
            <p:cNvPr id="9224" name="Line 23"/>
            <p:cNvSpPr/>
            <p:nvPr/>
          </p:nvSpPr>
          <p:spPr>
            <a:xfrm>
              <a:off x="3168" y="3216"/>
              <a:ext cx="0" cy="432"/>
            </a:xfrm>
            <a:prstGeom prst="line">
              <a:avLst/>
            </a:prstGeom>
            <a:ln w="28575" cap="flat" cmpd="sng">
              <a:solidFill>
                <a:schemeClr val="tx1"/>
              </a:solidFill>
              <a:prstDash val="solid"/>
              <a:headEnd type="none" w="med" len="med"/>
              <a:tailEnd type="none" w="med" len="med"/>
            </a:ln>
          </p:spPr>
        </p:sp>
        <p:sp>
          <p:nvSpPr>
            <p:cNvPr id="9225" name="Text Box 24"/>
            <p:cNvSpPr txBox="1"/>
            <p:nvPr/>
          </p:nvSpPr>
          <p:spPr>
            <a:xfrm>
              <a:off x="3024" y="2976"/>
              <a:ext cx="432" cy="251"/>
            </a:xfrm>
            <a:prstGeom prst="rect">
              <a:avLst/>
            </a:prstGeom>
            <a:noFill/>
            <a:ln w="9525">
              <a:noFill/>
            </a:ln>
          </p:spPr>
          <p:txBody>
            <a:bodyPr>
              <a:spAutoFit/>
            </a:bodyPr>
            <a:lstStyle/>
            <a:p>
              <a:pPr eaLnBrk="1" hangingPunct="1">
                <a:spcBef>
                  <a:spcPct val="50000"/>
                </a:spcBef>
              </a:pPr>
              <a:r>
                <a:rPr lang="en-GB" altLang="en-US" sz="2000" dirty="0">
                  <a:solidFill>
                    <a:schemeClr val="tx1"/>
                  </a:solidFill>
                  <a:latin typeface="Calibri (Body)" charset="0"/>
                  <a:cs typeface="Calibri (Body)" charset="0"/>
                </a:rPr>
                <a:t>D</a:t>
              </a:r>
            </a:p>
          </p:txBody>
        </p:sp>
        <p:sp>
          <p:nvSpPr>
            <p:cNvPr id="9226" name="Text Box 25"/>
            <p:cNvSpPr txBox="1"/>
            <p:nvPr/>
          </p:nvSpPr>
          <p:spPr>
            <a:xfrm>
              <a:off x="2832" y="3312"/>
              <a:ext cx="336" cy="251"/>
            </a:xfrm>
            <a:prstGeom prst="rect">
              <a:avLst/>
            </a:prstGeom>
            <a:noFill/>
            <a:ln w="9525">
              <a:noFill/>
            </a:ln>
          </p:spPr>
          <p:txBody>
            <a:bodyPr>
              <a:spAutoFit/>
            </a:bodyPr>
            <a:lstStyle/>
            <a:p>
              <a:pPr eaLnBrk="1" hangingPunct="1">
                <a:spcBef>
                  <a:spcPct val="50000"/>
                </a:spcBef>
              </a:pPr>
              <a:r>
                <a:rPr lang="en-GB" altLang="en-US" sz="2000" dirty="0">
                  <a:solidFill>
                    <a:schemeClr val="tx1"/>
                  </a:solidFill>
                  <a:latin typeface="Calibri (Body)" charset="0"/>
                  <a:cs typeface="Calibri (Body)" charset="0"/>
                </a:rPr>
                <a:t>S</a:t>
              </a:r>
            </a:p>
          </p:txBody>
        </p:sp>
        <p:sp>
          <p:nvSpPr>
            <p:cNvPr id="9227" name="Text Box 26"/>
            <p:cNvSpPr txBox="1"/>
            <p:nvPr/>
          </p:nvSpPr>
          <p:spPr>
            <a:xfrm>
              <a:off x="3168" y="3312"/>
              <a:ext cx="480" cy="251"/>
            </a:xfrm>
            <a:prstGeom prst="rect">
              <a:avLst/>
            </a:prstGeom>
            <a:noFill/>
            <a:ln w="9525">
              <a:noFill/>
            </a:ln>
          </p:spPr>
          <p:txBody>
            <a:bodyPr>
              <a:spAutoFit/>
            </a:bodyPr>
            <a:lstStyle/>
            <a:p>
              <a:pPr eaLnBrk="1" hangingPunct="1">
                <a:spcBef>
                  <a:spcPct val="50000"/>
                </a:spcBef>
              </a:pPr>
              <a:r>
                <a:rPr lang="en-GB" altLang="en-US" sz="2000" dirty="0">
                  <a:solidFill>
                    <a:schemeClr val="tx1"/>
                  </a:solidFill>
                  <a:latin typeface="Calibri (Body)" charset="0"/>
                  <a:cs typeface="Calibri (Body)" charset="0"/>
                </a:rPr>
                <a:t>T</a:t>
              </a:r>
            </a:p>
          </p:txBody>
        </p:sp>
      </p:grpSp>
      <p:sp>
        <p:nvSpPr>
          <p:cNvPr id="21531" name="Oval 27"/>
          <p:cNvSpPr/>
          <p:nvPr/>
        </p:nvSpPr>
        <p:spPr>
          <a:xfrm>
            <a:off x="8686800" y="2438400"/>
            <a:ext cx="381000" cy="457200"/>
          </a:xfrm>
          <a:prstGeom prst="ellipse">
            <a:avLst/>
          </a:prstGeom>
          <a:noFill/>
          <a:ln w="28575" cap="flat" cmpd="sng">
            <a:solidFill>
              <a:schemeClr val="accent1"/>
            </a:solidFill>
            <a:prstDash val="solid"/>
            <a:headEnd type="none" w="med" len="med"/>
            <a:tailEnd type="none" w="med" len="med"/>
          </a:ln>
        </p:spPr>
        <p:txBody>
          <a:bodyPr wrap="none" anchor="ctr" anchorCtr="0"/>
          <a:lstStyle/>
          <a:p>
            <a:pPr eaLnBrk="1" hangingPunct="1"/>
            <a:endParaRPr lang="en-US" altLang="en-US" sz="2000" dirty="0">
              <a:solidFill>
                <a:schemeClr val="tx1"/>
              </a:solidFill>
              <a:latin typeface="Calibri (Body)" charset="0"/>
              <a:cs typeface="Calibri (Body)" charset="0"/>
            </a:endParaRPr>
          </a:p>
        </p:txBody>
      </p:sp>
      <p:sp>
        <p:nvSpPr>
          <p:cNvPr id="21532" name="Oval 28"/>
          <p:cNvSpPr/>
          <p:nvPr/>
        </p:nvSpPr>
        <p:spPr>
          <a:xfrm rot="1731737" flipV="1">
            <a:off x="8229600" y="1828800"/>
            <a:ext cx="457200" cy="1066800"/>
          </a:xfrm>
          <a:prstGeom prst="ellipse">
            <a:avLst/>
          </a:prstGeom>
          <a:noFill/>
          <a:ln w="28575" cap="flat" cmpd="sng">
            <a:solidFill>
              <a:schemeClr val="accent1"/>
            </a:solidFill>
            <a:prstDash val="solid"/>
            <a:headEnd type="none" w="med" len="med"/>
            <a:tailEnd type="none" w="med" len="med"/>
          </a:ln>
        </p:spPr>
        <p:txBody>
          <a:bodyPr wrap="none" anchor="ctr" anchorCtr="0"/>
          <a:lstStyle/>
          <a:p>
            <a:pPr eaLnBrk="1" hangingPunct="1"/>
            <a:endParaRPr lang="en-US" altLang="en-US" sz="2000" dirty="0">
              <a:solidFill>
                <a:schemeClr val="tx1"/>
              </a:solidFill>
              <a:latin typeface="Calibri (Body)" charset="0"/>
              <a:cs typeface="Calibri (Body)"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1531"/>
                                        </p:tgtEl>
                                        <p:attrNameLst>
                                          <p:attrName>style.visibility</p:attrName>
                                        </p:attrNameLst>
                                      </p:cBhvr>
                                      <p:to>
                                        <p:strVal val="visible"/>
                                      </p:to>
                                    </p:set>
                                    <p:animEffect transition="in" filter="dissolve">
                                      <p:cBhvr>
                                        <p:cTn id="7" dur="500"/>
                                        <p:tgtEl>
                                          <p:spTgt spid="2153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1532"/>
                                        </p:tgtEl>
                                        <p:attrNameLst>
                                          <p:attrName>style.visibility</p:attrName>
                                        </p:attrNameLst>
                                      </p:cBhvr>
                                      <p:to>
                                        <p:strVal val="visible"/>
                                      </p:to>
                                    </p:set>
                                    <p:animEffect transition="in" filter="dissolve">
                                      <p:cBhvr>
                                        <p:cTn id="12" dur="500"/>
                                        <p:tgtEl>
                                          <p:spTgt spid="215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9" name="Text Box 5"/>
          <p:cNvSpPr txBox="1">
            <a:spLocks noChangeArrowheads="1"/>
          </p:cNvSpPr>
          <p:nvPr/>
        </p:nvSpPr>
        <p:spPr bwMode="auto">
          <a:xfrm>
            <a:off x="2819400" y="5334000"/>
            <a:ext cx="6553200" cy="521970"/>
          </a:xfrm>
          <a:prstGeom prst="rect">
            <a:avLst/>
          </a:prstGeom>
          <a:noFill/>
          <a:ln>
            <a:noFill/>
          </a:ln>
          <a:effectLst/>
        </p:spPr>
        <p:txBody>
          <a:bodyPr>
            <a:spAutoFit/>
          </a:bodyPr>
          <a:lstStyle/>
          <a:p>
            <a:pPr marR="0" algn="ctr" defTabSz="914400" eaLnBrk="1" fontAlgn="auto" hangingPunct="1">
              <a:spcBef>
                <a:spcPct val="50000"/>
              </a:spcBef>
              <a:spcAft>
                <a:spcPts val="0"/>
              </a:spcAft>
              <a:buClrTx/>
              <a:buSzTx/>
              <a:buFontTx/>
              <a:buNone/>
              <a:defRPr/>
            </a:pPr>
            <a:r>
              <a:rPr kumimoji="0" lang="en-US" altLang="en-US" sz="2800" kern="1200" cap="none" spc="0" normalizeH="0" baseline="0" noProof="0" dirty="0">
                <a:solidFill>
                  <a:schemeClr val="tx1"/>
                </a:solidFill>
                <a:effectLst>
                  <a:outerShdw blurRad="38100" dist="38100" dir="2700000" algn="tl">
                    <a:srgbClr val="000000"/>
                  </a:outerShdw>
                </a:effectLst>
                <a:latin typeface="Calibri (Body)" charset="0"/>
                <a:ea typeface="+mn-ea"/>
                <a:cs typeface="Calibri (Body)" charset="0"/>
              </a:rPr>
              <a:t>Answer: It took 9 hours 15 minutes</a:t>
            </a:r>
          </a:p>
        </p:txBody>
      </p:sp>
      <p:sp>
        <p:nvSpPr>
          <p:cNvPr id="10243" name="Rectangle 6"/>
          <p:cNvSpPr/>
          <p:nvPr/>
        </p:nvSpPr>
        <p:spPr>
          <a:xfrm>
            <a:off x="1833563" y="693738"/>
            <a:ext cx="8524875" cy="953135"/>
          </a:xfrm>
          <a:prstGeom prst="rect">
            <a:avLst/>
          </a:prstGeom>
          <a:noFill/>
          <a:ln w="9525">
            <a:noFill/>
          </a:ln>
        </p:spPr>
        <p:txBody>
          <a:bodyPr>
            <a:spAutoFit/>
          </a:bodyPr>
          <a:lstStyle/>
          <a:p>
            <a:pPr eaLnBrk="1" hangingPunct="1"/>
            <a:r>
              <a:rPr lang="en-GB" altLang="en-US" sz="2800" dirty="0">
                <a:solidFill>
                  <a:schemeClr val="tx1"/>
                </a:solidFill>
                <a:latin typeface="Calibri (Body)" charset="0"/>
                <a:cs typeface="Calibri (Body)" charset="0"/>
              </a:rPr>
              <a:t>A train travelled 555 miles at an average speed of 60 mph.  How long did the journey take?</a:t>
            </a:r>
          </a:p>
        </p:txBody>
      </p:sp>
      <p:grpSp>
        <p:nvGrpSpPr>
          <p:cNvPr id="10244" name="Group 20"/>
          <p:cNvGrpSpPr/>
          <p:nvPr/>
        </p:nvGrpSpPr>
        <p:grpSpPr>
          <a:xfrm>
            <a:off x="7924800" y="1676400"/>
            <a:ext cx="1524000" cy="1295400"/>
            <a:chOff x="2688" y="2832"/>
            <a:chExt cx="960" cy="816"/>
          </a:xfrm>
        </p:grpSpPr>
        <p:sp>
          <p:nvSpPr>
            <p:cNvPr id="10259" name="AutoShape 21"/>
            <p:cNvSpPr/>
            <p:nvPr/>
          </p:nvSpPr>
          <p:spPr>
            <a:xfrm>
              <a:off x="2688" y="2832"/>
              <a:ext cx="912" cy="816"/>
            </a:xfrm>
            <a:prstGeom prst="triangle">
              <a:avLst>
                <a:gd name="adj" fmla="val 50000"/>
              </a:avLst>
            </a:prstGeom>
            <a:noFill/>
            <a:ln w="28575" cap="flat" cmpd="sng">
              <a:solidFill>
                <a:schemeClr val="tx1"/>
              </a:solidFill>
              <a:prstDash val="solid"/>
              <a:miter/>
              <a:headEnd type="none" w="med" len="med"/>
              <a:tailEnd type="none" w="med" len="med"/>
            </a:ln>
          </p:spPr>
          <p:txBody>
            <a:bodyPr wrap="none" anchor="ctr" anchorCtr="0"/>
            <a:lstStyle/>
            <a:p>
              <a:pPr eaLnBrk="1" hangingPunct="1"/>
              <a:endParaRPr lang="en-US" altLang="en-US" sz="2800" dirty="0">
                <a:solidFill>
                  <a:schemeClr val="tx1"/>
                </a:solidFill>
                <a:latin typeface="Calibri (Body)" charset="0"/>
                <a:cs typeface="Calibri (Body)" charset="0"/>
              </a:endParaRPr>
            </a:p>
          </p:txBody>
        </p:sp>
        <p:sp>
          <p:nvSpPr>
            <p:cNvPr id="10260" name="Line 22"/>
            <p:cNvSpPr/>
            <p:nvPr/>
          </p:nvSpPr>
          <p:spPr>
            <a:xfrm>
              <a:off x="2928" y="3216"/>
              <a:ext cx="432" cy="0"/>
            </a:xfrm>
            <a:prstGeom prst="line">
              <a:avLst/>
            </a:prstGeom>
            <a:ln w="28575" cap="flat" cmpd="sng">
              <a:solidFill>
                <a:schemeClr val="tx1"/>
              </a:solidFill>
              <a:prstDash val="solid"/>
              <a:headEnd type="none" w="med" len="med"/>
              <a:tailEnd type="none" w="med" len="med"/>
            </a:ln>
          </p:spPr>
        </p:sp>
        <p:sp>
          <p:nvSpPr>
            <p:cNvPr id="10261" name="Line 23"/>
            <p:cNvSpPr/>
            <p:nvPr/>
          </p:nvSpPr>
          <p:spPr>
            <a:xfrm>
              <a:off x="3168" y="3216"/>
              <a:ext cx="0" cy="432"/>
            </a:xfrm>
            <a:prstGeom prst="line">
              <a:avLst/>
            </a:prstGeom>
            <a:ln w="28575" cap="flat" cmpd="sng">
              <a:solidFill>
                <a:schemeClr val="tx1"/>
              </a:solidFill>
              <a:prstDash val="solid"/>
              <a:headEnd type="none" w="med" len="med"/>
              <a:tailEnd type="none" w="med" len="med"/>
            </a:ln>
          </p:spPr>
        </p:sp>
        <p:sp>
          <p:nvSpPr>
            <p:cNvPr id="10262" name="Text Box 24"/>
            <p:cNvSpPr txBox="1"/>
            <p:nvPr/>
          </p:nvSpPr>
          <p:spPr>
            <a:xfrm>
              <a:off x="3024" y="2976"/>
              <a:ext cx="432" cy="329"/>
            </a:xfrm>
            <a:prstGeom prst="rect">
              <a:avLst/>
            </a:prstGeom>
            <a:noFill/>
            <a:ln w="9525">
              <a:noFill/>
            </a:ln>
          </p:spPr>
          <p:txBody>
            <a:bodyPr>
              <a:spAutoFit/>
            </a:bodyPr>
            <a:lstStyle/>
            <a:p>
              <a:pPr eaLnBrk="1" hangingPunct="1">
                <a:spcBef>
                  <a:spcPct val="50000"/>
                </a:spcBef>
              </a:pPr>
              <a:r>
                <a:rPr lang="en-GB" altLang="en-US" sz="2800" dirty="0">
                  <a:solidFill>
                    <a:schemeClr val="tx1"/>
                  </a:solidFill>
                  <a:latin typeface="Calibri (Body)" charset="0"/>
                  <a:cs typeface="Calibri (Body)" charset="0"/>
                </a:rPr>
                <a:t>D</a:t>
              </a:r>
            </a:p>
          </p:txBody>
        </p:sp>
        <p:sp>
          <p:nvSpPr>
            <p:cNvPr id="10263" name="Text Box 25"/>
            <p:cNvSpPr txBox="1"/>
            <p:nvPr/>
          </p:nvSpPr>
          <p:spPr>
            <a:xfrm>
              <a:off x="2832" y="3312"/>
              <a:ext cx="336" cy="329"/>
            </a:xfrm>
            <a:prstGeom prst="rect">
              <a:avLst/>
            </a:prstGeom>
            <a:noFill/>
            <a:ln w="9525">
              <a:noFill/>
            </a:ln>
          </p:spPr>
          <p:txBody>
            <a:bodyPr>
              <a:spAutoFit/>
            </a:bodyPr>
            <a:lstStyle/>
            <a:p>
              <a:pPr eaLnBrk="1" hangingPunct="1">
                <a:spcBef>
                  <a:spcPct val="50000"/>
                </a:spcBef>
              </a:pPr>
              <a:r>
                <a:rPr lang="en-GB" altLang="en-US" sz="2800" dirty="0">
                  <a:solidFill>
                    <a:schemeClr val="tx1"/>
                  </a:solidFill>
                  <a:latin typeface="Calibri (Body)" charset="0"/>
                  <a:cs typeface="Calibri (Body)" charset="0"/>
                </a:rPr>
                <a:t>S</a:t>
              </a:r>
            </a:p>
          </p:txBody>
        </p:sp>
        <p:sp>
          <p:nvSpPr>
            <p:cNvPr id="10264" name="Text Box 26"/>
            <p:cNvSpPr txBox="1"/>
            <p:nvPr/>
          </p:nvSpPr>
          <p:spPr>
            <a:xfrm>
              <a:off x="3168" y="3312"/>
              <a:ext cx="480" cy="329"/>
            </a:xfrm>
            <a:prstGeom prst="rect">
              <a:avLst/>
            </a:prstGeom>
            <a:noFill/>
            <a:ln w="9525">
              <a:noFill/>
            </a:ln>
          </p:spPr>
          <p:txBody>
            <a:bodyPr>
              <a:spAutoFit/>
            </a:bodyPr>
            <a:lstStyle/>
            <a:p>
              <a:pPr eaLnBrk="1" hangingPunct="1">
                <a:spcBef>
                  <a:spcPct val="50000"/>
                </a:spcBef>
              </a:pPr>
              <a:r>
                <a:rPr lang="en-GB" altLang="en-US" sz="2800" dirty="0">
                  <a:solidFill>
                    <a:schemeClr val="tx1"/>
                  </a:solidFill>
                  <a:latin typeface="Calibri (Body)" charset="0"/>
                  <a:cs typeface="Calibri (Body)" charset="0"/>
                </a:rPr>
                <a:t>T</a:t>
              </a:r>
            </a:p>
          </p:txBody>
        </p:sp>
      </p:grpSp>
      <p:sp>
        <p:nvSpPr>
          <p:cNvPr id="21531" name="Oval 27"/>
          <p:cNvSpPr/>
          <p:nvPr/>
        </p:nvSpPr>
        <p:spPr>
          <a:xfrm>
            <a:off x="8686800" y="2438400"/>
            <a:ext cx="381000" cy="457200"/>
          </a:xfrm>
          <a:prstGeom prst="ellipse">
            <a:avLst/>
          </a:prstGeom>
          <a:noFill/>
          <a:ln w="28575" cap="flat" cmpd="sng">
            <a:solidFill>
              <a:schemeClr val="accent1"/>
            </a:solidFill>
            <a:prstDash val="solid"/>
            <a:headEnd type="none" w="med" len="med"/>
            <a:tailEnd type="none" w="med" len="med"/>
          </a:ln>
        </p:spPr>
        <p:txBody>
          <a:bodyPr wrap="none" anchor="ctr" anchorCtr="0"/>
          <a:lstStyle/>
          <a:p>
            <a:pPr eaLnBrk="1" hangingPunct="1"/>
            <a:endParaRPr lang="en-US" altLang="en-US" sz="2800" dirty="0">
              <a:solidFill>
                <a:schemeClr val="tx1"/>
              </a:solidFill>
              <a:latin typeface="Calibri (Body)" charset="0"/>
              <a:cs typeface="Calibri (Body)" charset="0"/>
            </a:endParaRPr>
          </a:p>
        </p:txBody>
      </p:sp>
      <p:sp>
        <p:nvSpPr>
          <p:cNvPr id="21532" name="Oval 28"/>
          <p:cNvSpPr/>
          <p:nvPr/>
        </p:nvSpPr>
        <p:spPr>
          <a:xfrm rot="1731737" flipV="1">
            <a:off x="8229600" y="1828800"/>
            <a:ext cx="457200" cy="1066800"/>
          </a:xfrm>
          <a:prstGeom prst="ellipse">
            <a:avLst/>
          </a:prstGeom>
          <a:noFill/>
          <a:ln w="28575" cap="flat" cmpd="sng">
            <a:solidFill>
              <a:schemeClr val="accent1"/>
            </a:solidFill>
            <a:prstDash val="solid"/>
            <a:headEnd type="none" w="med" len="med"/>
            <a:tailEnd type="none" w="med" len="med"/>
          </a:ln>
        </p:spPr>
        <p:txBody>
          <a:bodyPr wrap="none" anchor="ctr" anchorCtr="0"/>
          <a:lstStyle/>
          <a:p>
            <a:pPr eaLnBrk="1" hangingPunct="1"/>
            <a:endParaRPr lang="en-US" altLang="en-US" sz="2800" dirty="0">
              <a:solidFill>
                <a:schemeClr val="tx1"/>
              </a:solidFill>
              <a:latin typeface="Calibri (Body)" charset="0"/>
              <a:cs typeface="Calibri (Body)" charset="0"/>
            </a:endParaRPr>
          </a:p>
        </p:txBody>
      </p:sp>
      <p:sp>
        <p:nvSpPr>
          <p:cNvPr id="21533" name="Text Box 29"/>
          <p:cNvSpPr txBox="1"/>
          <p:nvPr/>
        </p:nvSpPr>
        <p:spPr>
          <a:xfrm>
            <a:off x="1905000" y="2133600"/>
            <a:ext cx="1295400" cy="521970"/>
          </a:xfrm>
          <a:prstGeom prst="rect">
            <a:avLst/>
          </a:prstGeom>
          <a:noFill/>
          <a:ln w="9525">
            <a:noFill/>
          </a:ln>
        </p:spPr>
        <p:txBody>
          <a:bodyPr>
            <a:spAutoFit/>
          </a:bodyPr>
          <a:lstStyle/>
          <a:p>
            <a:pPr eaLnBrk="1" hangingPunct="1">
              <a:spcBef>
                <a:spcPct val="50000"/>
              </a:spcBef>
            </a:pPr>
            <a:r>
              <a:rPr lang="en-GB" altLang="en-US" sz="2800" dirty="0">
                <a:solidFill>
                  <a:schemeClr val="tx1"/>
                </a:solidFill>
                <a:latin typeface="Calibri (Body)" charset="0"/>
                <a:cs typeface="Calibri (Body)" charset="0"/>
              </a:rPr>
              <a:t>Time =</a:t>
            </a:r>
          </a:p>
        </p:txBody>
      </p:sp>
      <p:grpSp>
        <p:nvGrpSpPr>
          <p:cNvPr id="21534" name="Group 30"/>
          <p:cNvGrpSpPr/>
          <p:nvPr/>
        </p:nvGrpSpPr>
        <p:grpSpPr>
          <a:xfrm>
            <a:off x="3200400" y="1905000"/>
            <a:ext cx="1828800" cy="965718"/>
            <a:chOff x="2400" y="1680"/>
            <a:chExt cx="816" cy="523"/>
          </a:xfrm>
        </p:grpSpPr>
        <p:sp>
          <p:nvSpPr>
            <p:cNvPr id="10256" name="Text Box 31"/>
            <p:cNvSpPr txBox="1"/>
            <p:nvPr/>
          </p:nvSpPr>
          <p:spPr>
            <a:xfrm>
              <a:off x="2400" y="1680"/>
              <a:ext cx="816" cy="283"/>
            </a:xfrm>
            <a:prstGeom prst="rect">
              <a:avLst/>
            </a:prstGeom>
            <a:noFill/>
            <a:ln w="9525">
              <a:noFill/>
            </a:ln>
          </p:spPr>
          <p:txBody>
            <a:bodyPr>
              <a:spAutoFit/>
            </a:bodyPr>
            <a:lstStyle/>
            <a:p>
              <a:pPr eaLnBrk="1" hangingPunct="1">
                <a:spcBef>
                  <a:spcPct val="50000"/>
                </a:spcBef>
              </a:pPr>
              <a:r>
                <a:rPr lang="en-GB" altLang="en-US" sz="2800" dirty="0">
                  <a:solidFill>
                    <a:schemeClr val="tx1"/>
                  </a:solidFill>
                  <a:latin typeface="Calibri (Body)" charset="0"/>
                  <a:cs typeface="Calibri (Body)" charset="0"/>
                </a:rPr>
                <a:t>Distance</a:t>
              </a:r>
            </a:p>
          </p:txBody>
        </p:sp>
        <p:sp>
          <p:nvSpPr>
            <p:cNvPr id="10257" name="Text Box 32"/>
            <p:cNvSpPr txBox="1"/>
            <p:nvPr/>
          </p:nvSpPr>
          <p:spPr>
            <a:xfrm>
              <a:off x="2496" y="1920"/>
              <a:ext cx="672" cy="283"/>
            </a:xfrm>
            <a:prstGeom prst="rect">
              <a:avLst/>
            </a:prstGeom>
            <a:noFill/>
            <a:ln w="9525">
              <a:noFill/>
            </a:ln>
          </p:spPr>
          <p:txBody>
            <a:bodyPr>
              <a:spAutoFit/>
            </a:bodyPr>
            <a:lstStyle/>
            <a:p>
              <a:pPr eaLnBrk="1" hangingPunct="1">
                <a:spcBef>
                  <a:spcPct val="50000"/>
                </a:spcBef>
              </a:pPr>
              <a:r>
                <a:rPr lang="en-GB" altLang="en-US" sz="2800" dirty="0">
                  <a:solidFill>
                    <a:schemeClr val="tx1"/>
                  </a:solidFill>
                  <a:latin typeface="Calibri (Body)" charset="0"/>
                  <a:cs typeface="Calibri (Body)" charset="0"/>
                </a:rPr>
                <a:t>Speed</a:t>
              </a:r>
            </a:p>
          </p:txBody>
        </p:sp>
        <p:sp>
          <p:nvSpPr>
            <p:cNvPr id="10258" name="Line 33"/>
            <p:cNvSpPr/>
            <p:nvPr/>
          </p:nvSpPr>
          <p:spPr>
            <a:xfrm>
              <a:off x="2448" y="1920"/>
              <a:ext cx="720" cy="0"/>
            </a:xfrm>
            <a:prstGeom prst="line">
              <a:avLst/>
            </a:prstGeom>
            <a:ln w="19050" cap="flat" cmpd="sng">
              <a:solidFill>
                <a:schemeClr val="tx1"/>
              </a:solidFill>
              <a:prstDash val="solid"/>
              <a:headEnd type="none" w="med" len="med"/>
              <a:tailEnd type="none" w="med" len="med"/>
            </a:ln>
          </p:spPr>
        </p:sp>
      </p:grpSp>
      <p:grpSp>
        <p:nvGrpSpPr>
          <p:cNvPr id="21538" name="Group 34"/>
          <p:cNvGrpSpPr/>
          <p:nvPr/>
        </p:nvGrpSpPr>
        <p:grpSpPr>
          <a:xfrm>
            <a:off x="2819400" y="3048000"/>
            <a:ext cx="1965325" cy="973433"/>
            <a:chOff x="2016" y="2496"/>
            <a:chExt cx="1238" cy="517"/>
          </a:xfrm>
        </p:grpSpPr>
        <p:sp>
          <p:nvSpPr>
            <p:cNvPr id="10252" name="Text Box 35"/>
            <p:cNvSpPr txBox="1"/>
            <p:nvPr/>
          </p:nvSpPr>
          <p:spPr>
            <a:xfrm>
              <a:off x="2400" y="2496"/>
              <a:ext cx="768" cy="277"/>
            </a:xfrm>
            <a:prstGeom prst="rect">
              <a:avLst/>
            </a:prstGeom>
            <a:noFill/>
            <a:ln w="9525">
              <a:noFill/>
            </a:ln>
          </p:spPr>
          <p:txBody>
            <a:bodyPr>
              <a:spAutoFit/>
            </a:bodyPr>
            <a:lstStyle/>
            <a:p>
              <a:pPr eaLnBrk="1" hangingPunct="1">
                <a:spcBef>
                  <a:spcPct val="50000"/>
                </a:spcBef>
              </a:pPr>
              <a:r>
                <a:rPr lang="en-GB" altLang="en-US" sz="2800" dirty="0">
                  <a:solidFill>
                    <a:schemeClr val="tx1"/>
                  </a:solidFill>
                  <a:latin typeface="Calibri (Body)" charset="0"/>
                  <a:cs typeface="Calibri (Body)" charset="0"/>
                </a:rPr>
                <a:t>555</a:t>
              </a:r>
            </a:p>
          </p:txBody>
        </p:sp>
        <p:sp>
          <p:nvSpPr>
            <p:cNvPr id="10253" name="Text Box 36"/>
            <p:cNvSpPr txBox="1"/>
            <p:nvPr/>
          </p:nvSpPr>
          <p:spPr>
            <a:xfrm>
              <a:off x="2448" y="2736"/>
              <a:ext cx="806" cy="277"/>
            </a:xfrm>
            <a:prstGeom prst="rect">
              <a:avLst/>
            </a:prstGeom>
            <a:noFill/>
            <a:ln w="9525">
              <a:noFill/>
            </a:ln>
          </p:spPr>
          <p:txBody>
            <a:bodyPr>
              <a:spAutoFit/>
            </a:bodyPr>
            <a:lstStyle/>
            <a:p>
              <a:pPr eaLnBrk="1" hangingPunct="1">
                <a:spcBef>
                  <a:spcPct val="50000"/>
                </a:spcBef>
              </a:pPr>
              <a:r>
                <a:rPr lang="en-GB" altLang="en-US" sz="2800" dirty="0">
                  <a:solidFill>
                    <a:schemeClr val="tx1"/>
                  </a:solidFill>
                  <a:latin typeface="Calibri (Body)" charset="0"/>
                  <a:cs typeface="Calibri (Body)" charset="0"/>
                </a:rPr>
                <a:t>60</a:t>
              </a:r>
            </a:p>
          </p:txBody>
        </p:sp>
        <p:sp>
          <p:nvSpPr>
            <p:cNvPr id="10254" name="Line 37"/>
            <p:cNvSpPr/>
            <p:nvPr/>
          </p:nvSpPr>
          <p:spPr>
            <a:xfrm>
              <a:off x="2362" y="2736"/>
              <a:ext cx="518" cy="0"/>
            </a:xfrm>
            <a:prstGeom prst="line">
              <a:avLst/>
            </a:prstGeom>
            <a:ln w="19050" cap="flat" cmpd="sng">
              <a:solidFill>
                <a:schemeClr val="tx1"/>
              </a:solidFill>
              <a:prstDash val="solid"/>
              <a:headEnd type="none" w="med" len="med"/>
              <a:tailEnd type="none" w="med" len="med"/>
            </a:ln>
          </p:spPr>
        </p:sp>
        <p:sp>
          <p:nvSpPr>
            <p:cNvPr id="10255" name="Text Box 38"/>
            <p:cNvSpPr txBox="1"/>
            <p:nvPr/>
          </p:nvSpPr>
          <p:spPr>
            <a:xfrm>
              <a:off x="2016" y="2640"/>
              <a:ext cx="288" cy="277"/>
            </a:xfrm>
            <a:prstGeom prst="rect">
              <a:avLst/>
            </a:prstGeom>
            <a:noFill/>
            <a:ln w="9525">
              <a:noFill/>
            </a:ln>
          </p:spPr>
          <p:txBody>
            <a:bodyPr>
              <a:spAutoFit/>
            </a:bodyPr>
            <a:lstStyle/>
            <a:p>
              <a:pPr eaLnBrk="1" hangingPunct="1">
                <a:spcBef>
                  <a:spcPct val="50000"/>
                </a:spcBef>
              </a:pPr>
              <a:r>
                <a:rPr lang="en-GB" altLang="en-US" sz="2800" dirty="0">
                  <a:solidFill>
                    <a:schemeClr val="tx1"/>
                  </a:solidFill>
                  <a:latin typeface="Calibri (Body)" charset="0"/>
                  <a:cs typeface="Calibri (Body)" charset="0"/>
                </a:rPr>
                <a:t>=</a:t>
              </a:r>
            </a:p>
          </p:txBody>
        </p:sp>
      </p:grpSp>
      <p:sp>
        <p:nvSpPr>
          <p:cNvPr id="21543" name="Text Box 39"/>
          <p:cNvSpPr txBox="1"/>
          <p:nvPr/>
        </p:nvSpPr>
        <p:spPr>
          <a:xfrm>
            <a:off x="2819400" y="4343400"/>
            <a:ext cx="2667000" cy="521970"/>
          </a:xfrm>
          <a:prstGeom prst="rect">
            <a:avLst/>
          </a:prstGeom>
          <a:noFill/>
          <a:ln w="9525">
            <a:noFill/>
          </a:ln>
        </p:spPr>
        <p:txBody>
          <a:bodyPr>
            <a:spAutoFit/>
          </a:bodyPr>
          <a:lstStyle/>
          <a:p>
            <a:pPr eaLnBrk="1" hangingPunct="1">
              <a:spcBef>
                <a:spcPct val="50000"/>
              </a:spcBef>
            </a:pPr>
            <a:r>
              <a:rPr lang="en-GB" altLang="en-US" sz="2800" dirty="0">
                <a:solidFill>
                  <a:schemeClr val="tx1"/>
                </a:solidFill>
                <a:latin typeface="Calibri (Body)" charset="0"/>
                <a:cs typeface="Calibri (Body)" charset="0"/>
              </a:rPr>
              <a:t>=    9</a:t>
            </a:r>
            <a:r>
              <a:rPr lang="en-GB" altLang="en-US" sz="2800" dirty="0">
                <a:solidFill>
                  <a:schemeClr val="tx1"/>
                </a:solidFill>
                <a:latin typeface="Calibri (Body)" charset="0"/>
                <a:ea typeface="Microsoft Sans Serif" panose="020B0604020202020204" pitchFamily="34" charset="0"/>
                <a:cs typeface="Calibri (Body)" charset="0"/>
              </a:rPr>
              <a:t>•</a:t>
            </a:r>
            <a:r>
              <a:rPr lang="en-GB" altLang="en-US" sz="2800" dirty="0">
                <a:solidFill>
                  <a:schemeClr val="tx1"/>
                </a:solidFill>
                <a:latin typeface="Calibri (Body)" charset="0"/>
                <a:cs typeface="Calibri (Body)" charset="0"/>
              </a:rPr>
              <a:t>25 hours</a:t>
            </a:r>
          </a:p>
        </p:txBody>
      </p:sp>
      <p:sp>
        <p:nvSpPr>
          <p:cNvPr id="21544" name="Text Box 40"/>
          <p:cNvSpPr txBox="1"/>
          <p:nvPr/>
        </p:nvSpPr>
        <p:spPr>
          <a:xfrm>
            <a:off x="5562600" y="4343400"/>
            <a:ext cx="3505200" cy="521970"/>
          </a:xfrm>
          <a:prstGeom prst="rect">
            <a:avLst/>
          </a:prstGeom>
          <a:noFill/>
          <a:ln w="9525">
            <a:noFill/>
          </a:ln>
        </p:spPr>
        <p:txBody>
          <a:bodyPr>
            <a:spAutoFit/>
          </a:bodyPr>
          <a:lstStyle/>
          <a:p>
            <a:pPr eaLnBrk="1" hangingPunct="1">
              <a:spcBef>
                <a:spcPct val="50000"/>
              </a:spcBef>
            </a:pPr>
            <a:r>
              <a:rPr lang="en-GB" altLang="en-US" sz="2800" dirty="0">
                <a:solidFill>
                  <a:schemeClr val="tx1"/>
                </a:solidFill>
                <a:latin typeface="Calibri (Body)" charset="0"/>
                <a:cs typeface="Calibri (Body)" charset="0"/>
              </a:rPr>
              <a:t>=  9 hours  15 mins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1531"/>
                                        </p:tgtEl>
                                        <p:attrNameLst>
                                          <p:attrName>style.visibility</p:attrName>
                                        </p:attrNameLst>
                                      </p:cBhvr>
                                      <p:to>
                                        <p:strVal val="visible"/>
                                      </p:to>
                                    </p:set>
                                    <p:animEffect transition="in" filter="dissolve">
                                      <p:cBhvr>
                                        <p:cTn id="7" dur="500"/>
                                        <p:tgtEl>
                                          <p:spTgt spid="21531"/>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3" fill="hold" nodeType="clickEffect">
                                  <p:stCondLst>
                                    <p:cond delay="0"/>
                                  </p:stCondLst>
                                  <p:childTnLst>
                                    <p:set>
                                      <p:cBhvr>
                                        <p:cTn id="11" dur="1" fill="hold">
                                          <p:stCondLst>
                                            <p:cond delay="0"/>
                                          </p:stCondLst>
                                        </p:cTn>
                                        <p:tgtEl>
                                          <p:spTgt spid="21533"/>
                                        </p:tgtEl>
                                        <p:attrNameLst>
                                          <p:attrName>style.visibility</p:attrName>
                                        </p:attrNameLst>
                                      </p:cBhvr>
                                      <p:to>
                                        <p:strVal val="visible"/>
                                      </p:to>
                                    </p:set>
                                    <p:animEffect transition="in" filter="strips(upRight)">
                                      <p:cBhvr>
                                        <p:cTn id="12" dur="500"/>
                                        <p:tgtEl>
                                          <p:spTgt spid="2153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1532"/>
                                        </p:tgtEl>
                                        <p:attrNameLst>
                                          <p:attrName>style.visibility</p:attrName>
                                        </p:attrNameLst>
                                      </p:cBhvr>
                                      <p:to>
                                        <p:strVal val="visible"/>
                                      </p:to>
                                    </p:set>
                                    <p:animEffect transition="in" filter="dissolve">
                                      <p:cBhvr>
                                        <p:cTn id="17" dur="500"/>
                                        <p:tgtEl>
                                          <p:spTgt spid="21532"/>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2" fill="hold" nodeType="clickEffect">
                                  <p:stCondLst>
                                    <p:cond delay="0"/>
                                  </p:stCondLst>
                                  <p:childTnLst>
                                    <p:set>
                                      <p:cBhvr>
                                        <p:cTn id="21" dur="1" fill="hold">
                                          <p:stCondLst>
                                            <p:cond delay="0"/>
                                          </p:stCondLst>
                                        </p:cTn>
                                        <p:tgtEl>
                                          <p:spTgt spid="21534"/>
                                        </p:tgtEl>
                                        <p:attrNameLst>
                                          <p:attrName>style.visibility</p:attrName>
                                        </p:attrNameLst>
                                      </p:cBhvr>
                                      <p:to>
                                        <p:strVal val="visible"/>
                                      </p:to>
                                    </p:set>
                                    <p:anim calcmode="lin" valueType="num">
                                      <p:cBhvr additive="base">
                                        <p:cTn id="22" dur="500" fill="hold"/>
                                        <p:tgtEl>
                                          <p:spTgt spid="21534"/>
                                        </p:tgtEl>
                                        <p:attrNameLst>
                                          <p:attrName>ppt_x</p:attrName>
                                        </p:attrNameLst>
                                      </p:cBhvr>
                                      <p:tavLst>
                                        <p:tav tm="0">
                                          <p:val>
                                            <p:strVal val="1+#ppt_w/2"/>
                                          </p:val>
                                        </p:tav>
                                        <p:tav tm="100000">
                                          <p:val>
                                            <p:strVal val="#ppt_x"/>
                                          </p:val>
                                        </p:tav>
                                      </p:tavLst>
                                    </p:anim>
                                    <p:anim calcmode="lin" valueType="num">
                                      <p:cBhvr additive="base">
                                        <p:cTn id="23" dur="500" fill="hold"/>
                                        <p:tgtEl>
                                          <p:spTgt spid="21534"/>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8" fill="hold" nodeType="clickEffect">
                                  <p:stCondLst>
                                    <p:cond delay="0"/>
                                  </p:stCondLst>
                                  <p:childTnLst>
                                    <p:set>
                                      <p:cBhvr>
                                        <p:cTn id="27" dur="1" fill="hold">
                                          <p:stCondLst>
                                            <p:cond delay="0"/>
                                          </p:stCondLst>
                                        </p:cTn>
                                        <p:tgtEl>
                                          <p:spTgt spid="21538"/>
                                        </p:tgtEl>
                                        <p:attrNameLst>
                                          <p:attrName>style.visibility</p:attrName>
                                        </p:attrNameLst>
                                      </p:cBhvr>
                                      <p:to>
                                        <p:strVal val="visible"/>
                                      </p:to>
                                    </p:set>
                                    <p:anim calcmode="lin" valueType="num">
                                      <p:cBhvr additive="base">
                                        <p:cTn id="28" dur="500" fill="hold"/>
                                        <p:tgtEl>
                                          <p:spTgt spid="21538"/>
                                        </p:tgtEl>
                                        <p:attrNameLst>
                                          <p:attrName>ppt_x</p:attrName>
                                        </p:attrNameLst>
                                      </p:cBhvr>
                                      <p:tavLst>
                                        <p:tav tm="0">
                                          <p:val>
                                            <p:strVal val="0-#ppt_w/2"/>
                                          </p:val>
                                        </p:tav>
                                        <p:tav tm="100000">
                                          <p:val>
                                            <p:strVal val="#ppt_x"/>
                                          </p:val>
                                        </p:tav>
                                      </p:tavLst>
                                    </p:anim>
                                    <p:anim calcmode="lin" valueType="num">
                                      <p:cBhvr additive="base">
                                        <p:cTn id="29" dur="500" fill="hold"/>
                                        <p:tgtEl>
                                          <p:spTgt spid="21538"/>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nodeType="clickEffect">
                                  <p:stCondLst>
                                    <p:cond delay="0"/>
                                  </p:stCondLst>
                                  <p:childTnLst>
                                    <p:set>
                                      <p:cBhvr>
                                        <p:cTn id="33" dur="1" fill="hold">
                                          <p:stCondLst>
                                            <p:cond delay="0"/>
                                          </p:stCondLst>
                                        </p:cTn>
                                        <p:tgtEl>
                                          <p:spTgt spid="21543"/>
                                        </p:tgtEl>
                                        <p:attrNameLst>
                                          <p:attrName>style.visibility</p:attrName>
                                        </p:attrNameLst>
                                      </p:cBhvr>
                                      <p:to>
                                        <p:strVal val="visible"/>
                                      </p:to>
                                    </p:set>
                                    <p:anim calcmode="lin" valueType="num">
                                      <p:cBhvr additive="base">
                                        <p:cTn id="34" dur="500" fill="hold"/>
                                        <p:tgtEl>
                                          <p:spTgt spid="21543"/>
                                        </p:tgtEl>
                                        <p:attrNameLst>
                                          <p:attrName>ppt_x</p:attrName>
                                        </p:attrNameLst>
                                      </p:cBhvr>
                                      <p:tavLst>
                                        <p:tav tm="0">
                                          <p:val>
                                            <p:strVal val="#ppt_x"/>
                                          </p:val>
                                        </p:tav>
                                        <p:tav tm="100000">
                                          <p:val>
                                            <p:strVal val="#ppt_x"/>
                                          </p:val>
                                        </p:tav>
                                      </p:tavLst>
                                    </p:anim>
                                    <p:anim calcmode="lin" valueType="num">
                                      <p:cBhvr additive="base">
                                        <p:cTn id="35" dur="500" fill="hold"/>
                                        <p:tgtEl>
                                          <p:spTgt spid="21543"/>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2" fill="hold" nodeType="clickEffect">
                                  <p:stCondLst>
                                    <p:cond delay="0"/>
                                  </p:stCondLst>
                                  <p:childTnLst>
                                    <p:set>
                                      <p:cBhvr>
                                        <p:cTn id="39" dur="1" fill="hold">
                                          <p:stCondLst>
                                            <p:cond delay="0"/>
                                          </p:stCondLst>
                                        </p:cTn>
                                        <p:tgtEl>
                                          <p:spTgt spid="21544"/>
                                        </p:tgtEl>
                                        <p:attrNameLst>
                                          <p:attrName>style.visibility</p:attrName>
                                        </p:attrNameLst>
                                      </p:cBhvr>
                                      <p:to>
                                        <p:strVal val="visible"/>
                                      </p:to>
                                    </p:set>
                                    <p:anim calcmode="lin" valueType="num">
                                      <p:cBhvr additive="base">
                                        <p:cTn id="40" dur="500" fill="hold"/>
                                        <p:tgtEl>
                                          <p:spTgt spid="21544"/>
                                        </p:tgtEl>
                                        <p:attrNameLst>
                                          <p:attrName>ppt_x</p:attrName>
                                        </p:attrNameLst>
                                      </p:cBhvr>
                                      <p:tavLst>
                                        <p:tav tm="0">
                                          <p:val>
                                            <p:strVal val="1+#ppt_w/2"/>
                                          </p:val>
                                        </p:tav>
                                        <p:tav tm="100000">
                                          <p:val>
                                            <p:strVal val="#ppt_x"/>
                                          </p:val>
                                        </p:tav>
                                      </p:tavLst>
                                    </p:anim>
                                    <p:anim calcmode="lin" valueType="num">
                                      <p:cBhvr additive="base">
                                        <p:cTn id="41" dur="500" fill="hold"/>
                                        <p:tgtEl>
                                          <p:spTgt spid="21544"/>
                                        </p:tgtEl>
                                        <p:attrNameLst>
                                          <p:attrName>ppt_y</p:attrName>
                                        </p:attrNameLst>
                                      </p:cBhvr>
                                      <p:tavLst>
                                        <p:tav tm="0">
                                          <p:val>
                                            <p:strVal val="#ppt_y"/>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9" presetClass="entr" presetSubtype="0" fill="hold" nodeType="clickEffect">
                                  <p:stCondLst>
                                    <p:cond delay="0"/>
                                  </p:stCondLst>
                                  <p:childTnLst>
                                    <p:set>
                                      <p:cBhvr>
                                        <p:cTn id="45" dur="1" fill="hold">
                                          <p:stCondLst>
                                            <p:cond delay="0"/>
                                          </p:stCondLst>
                                        </p:cTn>
                                        <p:tgtEl>
                                          <p:spTgt spid="21509"/>
                                        </p:tgtEl>
                                        <p:attrNameLst>
                                          <p:attrName>style.visibility</p:attrName>
                                        </p:attrNameLst>
                                      </p:cBhvr>
                                      <p:to>
                                        <p:strVal val="visible"/>
                                      </p:to>
                                    </p:set>
                                    <p:anim calcmode="lin" valueType="num">
                                      <p:cBhvr>
                                        <p:cTn id="46" dur="1000" fill="hold"/>
                                        <p:tgtEl>
                                          <p:spTgt spid="21509"/>
                                        </p:tgtEl>
                                        <p:attrNameLst>
                                          <p:attrName>ppt_x</p:attrName>
                                        </p:attrNameLst>
                                      </p:cBhvr>
                                      <p:tavLst>
                                        <p:tav tm="0">
                                          <p:val>
                                            <p:strVal val="#ppt_x-.2"/>
                                          </p:val>
                                        </p:tav>
                                        <p:tav tm="100000">
                                          <p:val>
                                            <p:strVal val="#ppt_x"/>
                                          </p:val>
                                        </p:tav>
                                      </p:tavLst>
                                    </p:anim>
                                    <p:anim calcmode="lin" valueType="num">
                                      <p:cBhvr>
                                        <p:cTn id="47" dur="1000" fill="hold"/>
                                        <p:tgtEl>
                                          <p:spTgt spid="21509"/>
                                        </p:tgtEl>
                                        <p:attrNameLst>
                                          <p:attrName>ppt_y</p:attrName>
                                        </p:attrNameLst>
                                      </p:cBhvr>
                                      <p:tavLst>
                                        <p:tav tm="0">
                                          <p:val>
                                            <p:strVal val="#ppt_y"/>
                                          </p:val>
                                        </p:tav>
                                        <p:tav tm="100000">
                                          <p:val>
                                            <p:strVal val="#ppt_y"/>
                                          </p:val>
                                        </p:tav>
                                      </p:tavLst>
                                    </p:anim>
                                    <p:animEffect transition="in" filter="wipe(right)" prLst="gradientSize: 0.1">
                                      <p:cBhvr>
                                        <p:cTn id="48" dur="1000"/>
                                        <p:tgtEl>
                                          <p:spTgt spid="215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9" grpId="0"/>
      <p:bldP spid="21533" grpId="0"/>
      <p:bldP spid="21543" grpId="0"/>
      <p:bldP spid="2154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Content Placeholder 2"/>
          <p:cNvSpPr>
            <a:spLocks noGrp="1"/>
          </p:cNvSpPr>
          <p:nvPr>
            <p:ph idx="1"/>
          </p:nvPr>
        </p:nvSpPr>
        <p:spPr>
          <a:xfrm>
            <a:off x="923290" y="502285"/>
            <a:ext cx="9287510" cy="6127115"/>
          </a:xfrm>
        </p:spPr>
        <p:txBody>
          <a:bodyPr vert="horz" wrap="square" lIns="91440" tIns="45720" rIns="91440" bIns="45720" anchor="t" anchorCtr="0"/>
          <a:lstStyle/>
          <a:p>
            <a:pPr marL="0" indent="0" eaLnBrk="1" hangingPunct="1">
              <a:buNone/>
            </a:pPr>
            <a:r>
              <a:rPr lang="en-US" altLang="en-US" b="1" dirty="0"/>
              <a:t>UNITS OF SPEED AND THEIR CONVERSION </a:t>
            </a:r>
            <a:endParaRPr lang="en-US" altLang="en-US" dirty="0"/>
          </a:p>
          <a:p>
            <a:pPr marL="0" indent="0" eaLnBrk="1" hangingPunct="1">
              <a:buNone/>
            </a:pPr>
            <a:r>
              <a:rPr lang="en-US" altLang="en-US" b="1" dirty="0"/>
              <a:t>Standard Units </a:t>
            </a:r>
            <a:endParaRPr lang="en-US" altLang="en-US" dirty="0"/>
          </a:p>
          <a:p>
            <a:pPr marL="0" indent="0" eaLnBrk="1" hangingPunct="1">
              <a:buNone/>
            </a:pPr>
            <a:r>
              <a:rPr lang="en-US" altLang="en-US" dirty="0"/>
              <a:t>The standard units of speed are as follows. </a:t>
            </a:r>
          </a:p>
          <a:p>
            <a:pPr marL="0" indent="0" eaLnBrk="1" hangingPunct="1">
              <a:buNone/>
            </a:pPr>
            <a:r>
              <a:rPr lang="en-US" altLang="en-US" b="1" dirty="0"/>
              <a:t>        Unit 				</a:t>
            </a:r>
            <a:r>
              <a:rPr lang="en-US" altLang="en-US" dirty="0"/>
              <a:t>     </a:t>
            </a:r>
            <a:r>
              <a:rPr lang="en-US" altLang="en-US" b="1" dirty="0"/>
              <a:t>Symbols</a:t>
            </a:r>
            <a:endParaRPr lang="en-US" altLang="en-US" dirty="0"/>
          </a:p>
          <a:p>
            <a:pPr marL="0" indent="0" eaLnBrk="1" hangingPunct="1">
              <a:buNone/>
            </a:pPr>
            <a:r>
              <a:rPr lang="en-US" altLang="en-US" dirty="0"/>
              <a:t>metres per second 			m/s 	</a:t>
            </a:r>
          </a:p>
          <a:p>
            <a:pPr marL="0" indent="0" eaLnBrk="1" hangingPunct="1">
              <a:buNone/>
            </a:pPr>
            <a:r>
              <a:rPr lang="en-US" altLang="en-US" dirty="0"/>
              <a:t>kilometres per hour 			km/h 	</a:t>
            </a:r>
          </a:p>
          <a:p>
            <a:pPr marL="0" indent="0" eaLnBrk="1" hangingPunct="1">
              <a:buNone/>
            </a:pPr>
            <a:r>
              <a:rPr lang="en-US" altLang="en-US" dirty="0"/>
              <a:t>miles per hour 				m/h 	</a:t>
            </a:r>
          </a:p>
          <a:p>
            <a:pPr marL="0" indent="0" eaLnBrk="1" hangingPunct="1">
              <a:buNone/>
            </a:pPr>
            <a:endParaRPr lang="en-US" altLang="en-US" dirty="0"/>
          </a:p>
          <a:p>
            <a:pPr marL="0" indent="0" eaLnBrk="1" hangingPunct="1">
              <a:buNone/>
            </a:pPr>
            <a:r>
              <a:rPr lang="en-US" altLang="en-US" dirty="0"/>
              <a:t>1 kilometre = 1000 metres </a:t>
            </a:r>
          </a:p>
          <a:p>
            <a:pPr marL="0" indent="0" eaLnBrk="1" hangingPunct="1">
              <a:buNone/>
            </a:pPr>
            <a:r>
              <a:rPr lang="en-US" altLang="en-US" dirty="0"/>
              <a:t>1 mile = 1.60934 kilometres or 1.6 kilometres </a:t>
            </a:r>
          </a:p>
          <a:p>
            <a:pPr marL="0" indent="0" eaLnBrk="1" hangingPunct="1">
              <a:buNone/>
            </a:pPr>
            <a:r>
              <a:rPr lang="en-US" altLang="en-US" dirty="0"/>
              <a:t>1 hour = 3600 seconds </a:t>
            </a:r>
          </a:p>
          <a:p>
            <a:pPr marL="0" indent="0" eaLnBrk="1" hangingPunct="1">
              <a:buNone/>
            </a:pPr>
            <a:endParaRPr lang="en-US"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Content Placeholder 2"/>
          <p:cNvSpPr>
            <a:spLocks noGrp="1"/>
          </p:cNvSpPr>
          <p:nvPr>
            <p:ph idx="1"/>
          </p:nvPr>
        </p:nvSpPr>
        <p:spPr>
          <a:xfrm>
            <a:off x="907415" y="802005"/>
            <a:ext cx="10361295" cy="5324475"/>
          </a:xfrm>
        </p:spPr>
        <p:txBody>
          <a:bodyPr vert="horz" wrap="square" lIns="91440" tIns="45720" rIns="91440" bIns="45720" anchor="t" anchorCtr="0"/>
          <a:lstStyle/>
          <a:p>
            <a:pPr marL="0" indent="0" eaLnBrk="1" hangingPunct="1">
              <a:buNone/>
            </a:pPr>
            <a:r>
              <a:rPr lang="en-US" altLang="en-US" b="1" dirty="0"/>
              <a:t>Conversion of units from km/h to m/s and vice versa </a:t>
            </a:r>
          </a:p>
          <a:p>
            <a:pPr marL="0" indent="0" eaLnBrk="1" hangingPunct="1">
              <a:buNone/>
            </a:pPr>
            <a:endParaRPr lang="en-US" altLang="en-US" dirty="0"/>
          </a:p>
          <a:p>
            <a:pPr marL="0" indent="0" eaLnBrk="1" hangingPunct="1">
              <a:buNone/>
            </a:pPr>
            <a:r>
              <a:rPr lang="en-US" altLang="en-US" dirty="0"/>
              <a:t>1 km/h = 1000m / 3600s = 5m / 18s</a:t>
            </a:r>
          </a:p>
          <a:p>
            <a:pPr marL="0" indent="0" eaLnBrk="1" hangingPunct="1">
              <a:buNone/>
            </a:pPr>
            <a:r>
              <a:rPr lang="en-US" altLang="en-US" dirty="0"/>
              <a:t>So, </a:t>
            </a:r>
          </a:p>
          <a:p>
            <a:pPr marL="0" indent="0" eaLnBrk="1" hangingPunct="1">
              <a:buNone/>
            </a:pPr>
            <a:r>
              <a:rPr lang="pt-BR" altLang="en-US" dirty="0"/>
              <a:t>1 km/h = 5/18 m/s and 1 m/s = 18/5 km/h </a:t>
            </a:r>
          </a:p>
          <a:p>
            <a:pPr marL="0" indent="0" eaLnBrk="1" hangingPunct="1">
              <a:buNone/>
            </a:pPr>
            <a:r>
              <a:rPr lang="pt-BR" altLang="en-US" dirty="0"/>
              <a:t>1 km/h = 50/3 m/min and 1 m/min = 3/50 km/h </a:t>
            </a:r>
            <a:endParaRPr lang="en-US"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97890" y="946150"/>
            <a:ext cx="10455910" cy="5231130"/>
          </a:xfrm>
        </p:spPr>
        <p:txBody>
          <a:bodyPr/>
          <a:lstStyle/>
          <a:p>
            <a:pPr marL="0" indent="0">
              <a:buNone/>
            </a:pPr>
            <a:r>
              <a:rPr lang="en-US" altLang="en-US" sz="4000" b="1"/>
              <a:t>CONVERSION</a:t>
            </a:r>
          </a:p>
          <a:p>
            <a:pPr marL="0" indent="0">
              <a:buNone/>
            </a:pPr>
            <a:endParaRPr lang="en-US">
              <a:sym typeface="+mn-ea"/>
            </a:endParaRPr>
          </a:p>
          <a:p>
            <a:pPr marL="0" indent="0">
              <a:buNone/>
            </a:pPr>
            <a:endParaRPr lang="en-US">
              <a:sym typeface="+mn-ea"/>
            </a:endParaRPr>
          </a:p>
          <a:p>
            <a:pPr>
              <a:buFont typeface="Wingdings" panose="05000000000000000000" charset="0"/>
              <a:buChar char="v"/>
            </a:pPr>
            <a:r>
              <a:rPr lang="en-US">
                <a:sym typeface="+mn-ea"/>
              </a:rPr>
              <a:t>Convert </a:t>
            </a:r>
            <a:r>
              <a:rPr lang="en-US"/>
              <a:t>36 km/hr into m/s</a:t>
            </a:r>
          </a:p>
          <a:p>
            <a:pPr marL="0" indent="0">
              <a:buNone/>
            </a:pPr>
            <a:endParaRPr lang="en-US">
              <a:sym typeface="+mn-ea"/>
            </a:endParaRPr>
          </a:p>
          <a:p>
            <a:pPr>
              <a:buFont typeface="Wingdings" panose="05000000000000000000" charset="0"/>
              <a:buChar char="v"/>
            </a:pPr>
            <a:r>
              <a:rPr lang="en-US">
                <a:sym typeface="+mn-ea"/>
              </a:rPr>
              <a:t>Convert 90 km/hr into m/s</a:t>
            </a:r>
            <a:endParaRPr lang="en-US"/>
          </a:p>
          <a:p>
            <a:pPr marL="0" indent="0">
              <a:buNone/>
            </a:pPr>
            <a:endParaRPr lang="en-US"/>
          </a:p>
          <a:p>
            <a:pPr marL="0" indent="0">
              <a:buNone/>
            </a:pP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56615"/>
            <a:ext cx="10515600" cy="5320665"/>
          </a:xfrm>
        </p:spPr>
        <p:txBody>
          <a:bodyPr/>
          <a:lstStyle/>
          <a:p>
            <a:pPr marL="0" indent="0">
              <a:buNone/>
            </a:pPr>
            <a:r>
              <a:rPr lang="en-US" altLang="en-US" sz="4000" b="1">
                <a:sym typeface="+mn-ea"/>
              </a:rPr>
              <a:t>CONVERSION</a:t>
            </a:r>
            <a:endParaRPr lang="en-US" altLang="en-US" sz="4000" b="1"/>
          </a:p>
          <a:p>
            <a:pPr marL="0" indent="0">
              <a:buNone/>
            </a:pPr>
            <a:endParaRPr lang="en-US">
              <a:sym typeface="+mn-ea"/>
            </a:endParaRPr>
          </a:p>
          <a:p>
            <a:pPr>
              <a:buFont typeface="Wingdings" panose="05000000000000000000" charset="0"/>
              <a:buChar char="v"/>
            </a:pPr>
            <a:r>
              <a:rPr lang="en-US">
                <a:sym typeface="+mn-ea"/>
              </a:rPr>
              <a:t>Convert 15 m/s into km/hr</a:t>
            </a:r>
            <a:endParaRPr lang="en-US"/>
          </a:p>
          <a:p>
            <a:pPr marL="0" indent="0">
              <a:buNone/>
            </a:pPr>
            <a:endParaRPr lang="en-US">
              <a:sym typeface="+mn-ea"/>
            </a:endParaRPr>
          </a:p>
          <a:p>
            <a:pPr>
              <a:buFont typeface="Wingdings" panose="05000000000000000000" charset="0"/>
              <a:buChar char="v"/>
            </a:pPr>
            <a:r>
              <a:rPr lang="en-US">
                <a:sym typeface="+mn-ea"/>
              </a:rPr>
              <a:t>Convert 20 m/s into km/hr</a:t>
            </a:r>
            <a:endParaRPr lang="en-US"/>
          </a:p>
          <a:p>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32180"/>
            <a:ext cx="10515600" cy="5245100"/>
          </a:xfrm>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r>
              <a:rPr lang="en-US" noProof="0" dirty="0" smtClean="0">
                <a:ln>
                  <a:noFill/>
                </a:ln>
                <a:effectLst/>
                <a:uLnTx/>
                <a:uFillTx/>
                <a:sym typeface="+mn-ea"/>
              </a:rPr>
              <a:t>1) </a:t>
            </a:r>
            <a:r>
              <a:rPr lang="en-US" noProof="0" dirty="0">
                <a:ln>
                  <a:noFill/>
                </a:ln>
                <a:effectLst/>
                <a:uLnTx/>
                <a:uFillTx/>
                <a:sym typeface="+mn-ea"/>
              </a:rPr>
              <a:t>A person crosses a 600 m long street in 5 minutes. What is his speed in km per hour?</a:t>
            </a:r>
            <a:endParaRPr kumimoji="0" lang="en-US" b="0" i="0" u="none" strike="noStrike" kern="1200" cap="none" spc="0" normalizeH="0" baseline="0" noProof="0" dirty="0">
              <a:ln>
                <a:noFill/>
              </a:ln>
              <a:solidFill>
                <a:schemeClr val="tx1"/>
              </a:solidFill>
              <a:effectLst/>
              <a:uLnTx/>
              <a:uFillTx/>
              <a:latin typeface="+mn-lt"/>
              <a:ea typeface="+mn-ea"/>
              <a:cs typeface="+mn-cs"/>
            </a:endParaRPr>
          </a:p>
          <a:p>
            <a:pPr marL="514350" marR="0" lvl="0" indent="-514350" algn="l" defTabSz="914400" rtl="0" eaLnBrk="1" fontAlgn="base" latinLnBrk="0" hangingPunct="1">
              <a:lnSpc>
                <a:spcPct val="100000"/>
              </a:lnSpc>
              <a:spcBef>
                <a:spcPct val="20000"/>
              </a:spcBef>
              <a:spcAft>
                <a:spcPct val="0"/>
              </a:spcAft>
              <a:buClrTx/>
              <a:buSzTx/>
              <a:buFont typeface="+mj-lt"/>
              <a:buAutoNum type="alphaLcParenR"/>
              <a:defRPr/>
            </a:pPr>
            <a:r>
              <a:rPr lang="en-US" noProof="0" dirty="0">
                <a:ln>
                  <a:noFill/>
                </a:ln>
                <a:effectLst/>
                <a:uLnTx/>
                <a:uFillTx/>
                <a:sym typeface="+mn-ea"/>
              </a:rPr>
              <a:t>3.6</a:t>
            </a:r>
            <a:endParaRPr kumimoji="0" lang="en-US" b="0" i="0" u="none" strike="noStrike" kern="1200" cap="none" spc="0" normalizeH="0" baseline="0" noProof="0" dirty="0">
              <a:ln>
                <a:noFill/>
              </a:ln>
              <a:solidFill>
                <a:schemeClr val="tx1"/>
              </a:solidFill>
              <a:effectLst/>
              <a:uLnTx/>
              <a:uFillTx/>
              <a:latin typeface="+mn-lt"/>
              <a:ea typeface="+mn-ea"/>
              <a:cs typeface="+mn-cs"/>
            </a:endParaRPr>
          </a:p>
          <a:p>
            <a:pPr marL="514350" marR="0" lvl="0" indent="-514350" algn="l" defTabSz="914400" rtl="0" eaLnBrk="1" fontAlgn="base" latinLnBrk="0" hangingPunct="1">
              <a:lnSpc>
                <a:spcPct val="100000"/>
              </a:lnSpc>
              <a:spcBef>
                <a:spcPct val="20000"/>
              </a:spcBef>
              <a:spcAft>
                <a:spcPct val="0"/>
              </a:spcAft>
              <a:buClrTx/>
              <a:buSzTx/>
              <a:buFont typeface="+mj-lt"/>
              <a:buAutoNum type="alphaLcParenR"/>
              <a:defRPr/>
            </a:pPr>
            <a:r>
              <a:rPr lang="en-US" noProof="0" dirty="0">
                <a:ln>
                  <a:noFill/>
                </a:ln>
                <a:effectLst/>
                <a:uLnTx/>
                <a:uFillTx/>
                <a:sym typeface="+mn-ea"/>
              </a:rPr>
              <a:t>7.2</a:t>
            </a:r>
            <a:endParaRPr kumimoji="0" lang="en-US" b="0" i="0" u="none" strike="noStrike" kern="1200" cap="none" spc="0" normalizeH="0" baseline="0" noProof="0" dirty="0">
              <a:ln>
                <a:noFill/>
              </a:ln>
              <a:solidFill>
                <a:schemeClr val="tx1"/>
              </a:solidFill>
              <a:effectLst/>
              <a:uLnTx/>
              <a:uFillTx/>
              <a:latin typeface="+mn-lt"/>
              <a:ea typeface="+mn-ea"/>
              <a:cs typeface="+mn-cs"/>
            </a:endParaRPr>
          </a:p>
          <a:p>
            <a:pPr marL="514350" marR="0" lvl="0" indent="-514350" algn="l" defTabSz="914400" rtl="0" eaLnBrk="1" fontAlgn="base" latinLnBrk="0" hangingPunct="1">
              <a:lnSpc>
                <a:spcPct val="100000"/>
              </a:lnSpc>
              <a:spcBef>
                <a:spcPct val="20000"/>
              </a:spcBef>
              <a:spcAft>
                <a:spcPct val="0"/>
              </a:spcAft>
              <a:buClrTx/>
              <a:buSzTx/>
              <a:buFont typeface="+mj-lt"/>
              <a:buAutoNum type="alphaLcParenR"/>
              <a:defRPr/>
            </a:pPr>
            <a:r>
              <a:rPr lang="en-US" noProof="0" dirty="0">
                <a:ln>
                  <a:noFill/>
                </a:ln>
                <a:effectLst/>
                <a:uLnTx/>
                <a:uFillTx/>
                <a:sym typeface="+mn-ea"/>
              </a:rPr>
              <a:t>8.4</a:t>
            </a:r>
            <a:endParaRPr kumimoji="0" lang="en-US" b="0" i="0" u="none" strike="noStrike" kern="1200" cap="none" spc="0" normalizeH="0" baseline="0" noProof="0" dirty="0">
              <a:ln>
                <a:noFill/>
              </a:ln>
              <a:solidFill>
                <a:schemeClr val="tx1"/>
              </a:solidFill>
              <a:effectLst/>
              <a:uLnTx/>
              <a:uFillTx/>
              <a:latin typeface="+mn-lt"/>
              <a:ea typeface="+mn-ea"/>
              <a:cs typeface="+mn-cs"/>
            </a:endParaRPr>
          </a:p>
          <a:p>
            <a:pPr marL="514350" marR="0" lvl="0" indent="-514350" algn="l" defTabSz="914400" rtl="0" eaLnBrk="1" fontAlgn="base" latinLnBrk="0" hangingPunct="1">
              <a:lnSpc>
                <a:spcPct val="100000"/>
              </a:lnSpc>
              <a:spcBef>
                <a:spcPct val="20000"/>
              </a:spcBef>
              <a:spcAft>
                <a:spcPct val="0"/>
              </a:spcAft>
              <a:buClrTx/>
              <a:buSzTx/>
              <a:buFont typeface="+mj-lt"/>
              <a:buAutoNum type="alphaLcParenR"/>
              <a:defRPr/>
            </a:pPr>
            <a:r>
              <a:rPr lang="en-US" noProof="0" dirty="0">
                <a:ln>
                  <a:noFill/>
                </a:ln>
                <a:effectLst/>
                <a:uLnTx/>
                <a:uFillTx/>
                <a:sym typeface="+mn-ea"/>
              </a:rPr>
              <a:t>10</a:t>
            </a:r>
            <a:endParaRPr kumimoji="0" lang="en-IN" b="0" i="0" u="none" strike="noStrike" kern="1200" cap="none" spc="0" normalizeH="0" baseline="0" noProof="0" dirty="0">
              <a:ln>
                <a:noFill/>
              </a:ln>
              <a:solidFill>
                <a:schemeClr val="tx1"/>
              </a:solidFill>
              <a:effectLst/>
              <a:uLnTx/>
              <a:uFillTx/>
              <a:latin typeface="+mn-lt"/>
              <a:ea typeface="+mn-ea"/>
              <a:cs typeface="+mn-cs"/>
            </a:endParaRPr>
          </a:p>
          <a:p>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4"/>
          <p:cNvSpPr txBox="1"/>
          <p:nvPr/>
        </p:nvSpPr>
        <p:spPr>
          <a:xfrm>
            <a:off x="911860" y="831850"/>
            <a:ext cx="10289540" cy="5088890"/>
          </a:xfrm>
          <a:prstGeom prst="rect">
            <a:avLst/>
          </a:prstGeom>
          <a:noFill/>
        </p:spPr>
        <p:txBody>
          <a:bodyPr wrap="square" rtlCol="0" anchor="t">
            <a:noAutofit/>
          </a:bodyPr>
          <a:lstStyle/>
          <a:p>
            <a:pPr marL="0" marR="0" lvl="0" indent="0" algn="just"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lang="en-US" sz="2800" noProof="0" dirty="0">
                <a:ln>
                  <a:noFill/>
                </a:ln>
                <a:effectLst/>
                <a:uLnTx/>
                <a:uFillTx/>
                <a:sym typeface="+mn-ea"/>
              </a:rPr>
              <a:t>2) The ratio between the speeds of two trains is 7 : 8. If the second train runs 400 km in 4 hours, What is the speed of the first train?</a:t>
            </a:r>
            <a:endParaRPr kumimoji="0" lang="en-US" sz="2800" i="0" u="none" strike="noStrike" kern="1200" cap="none" spc="0" normalizeH="0" baseline="0" noProof="0" dirty="0">
              <a:ln>
                <a:noFill/>
              </a:ln>
              <a:solidFill>
                <a:schemeClr val="tx1"/>
              </a:solidFill>
              <a:effectLst/>
              <a:uLnTx/>
              <a:uFillTx/>
              <a:latin typeface="+mn-lt"/>
              <a:ea typeface="+mn-ea"/>
              <a:cs typeface="+mn-cs"/>
            </a:endParaRPr>
          </a:p>
          <a:p>
            <a:pPr marL="0" marR="0" lvl="0" indent="0" algn="just" defTabSz="914400" rtl="0" eaLnBrk="1" fontAlgn="auto" latinLnBrk="0" hangingPunct="1">
              <a:lnSpc>
                <a:spcPct val="100000"/>
              </a:lnSpc>
              <a:spcBef>
                <a:spcPct val="20000"/>
              </a:spcBef>
              <a:spcAft>
                <a:spcPts val="0"/>
              </a:spcAft>
              <a:buClrTx/>
              <a:buSzTx/>
              <a:buFont typeface="Arial" panose="020B0604020202020204" pitchFamily="34" charset="0"/>
              <a:buNone/>
              <a:defRPr/>
            </a:pPr>
            <a:endParaRPr kumimoji="0" lang="en-US" sz="2800" i="0" u="none" strike="noStrike" kern="1200" cap="none" spc="0" normalizeH="0" baseline="0" noProof="0" dirty="0">
              <a:ln>
                <a:noFill/>
              </a:ln>
              <a:solidFill>
                <a:schemeClr val="tx1"/>
              </a:solidFill>
              <a:effectLst/>
              <a:uLnTx/>
              <a:uFillTx/>
              <a:latin typeface="+mn-lt"/>
              <a:ea typeface="+mn-ea"/>
              <a:cs typeface="+mn-cs"/>
            </a:endParaRPr>
          </a:p>
          <a:p>
            <a:pPr marL="514350" marR="0" lvl="0" indent="-514350" algn="just" defTabSz="914400" rtl="0" eaLnBrk="1" fontAlgn="auto" latinLnBrk="0" hangingPunct="1">
              <a:lnSpc>
                <a:spcPct val="100000"/>
              </a:lnSpc>
              <a:spcBef>
                <a:spcPct val="20000"/>
              </a:spcBef>
              <a:spcAft>
                <a:spcPts val="0"/>
              </a:spcAft>
              <a:buClrTx/>
              <a:buSzTx/>
              <a:buFont typeface="Arial" panose="020B0604020202020204" pitchFamily="34" charset="0"/>
              <a:buAutoNum type="alphaLcParenR"/>
              <a:defRPr/>
            </a:pPr>
            <a:r>
              <a:rPr lang="en-US" sz="2800" noProof="0" dirty="0">
                <a:ln>
                  <a:noFill/>
                </a:ln>
                <a:effectLst/>
                <a:uLnTx/>
                <a:uFillTx/>
                <a:sym typeface="+mn-ea"/>
              </a:rPr>
              <a:t>85km/</a:t>
            </a:r>
            <a:r>
              <a:rPr lang="en-US" sz="2800" noProof="0" dirty="0" err="1">
                <a:ln>
                  <a:noFill/>
                </a:ln>
                <a:effectLst/>
                <a:uLnTx/>
                <a:uFillTx/>
                <a:sym typeface="+mn-ea"/>
              </a:rPr>
              <a:t>hr</a:t>
            </a:r>
            <a:endParaRPr kumimoji="0" lang="en-US" sz="2800" i="0" u="none" strike="noStrike" kern="1200" cap="none" spc="0" normalizeH="0" baseline="0" noProof="0" dirty="0">
              <a:ln>
                <a:noFill/>
              </a:ln>
              <a:solidFill>
                <a:schemeClr val="tx1"/>
              </a:solidFill>
              <a:effectLst/>
              <a:uLnTx/>
              <a:uFillTx/>
              <a:latin typeface="+mn-lt"/>
              <a:ea typeface="+mn-ea"/>
              <a:cs typeface="+mn-cs"/>
            </a:endParaRPr>
          </a:p>
          <a:p>
            <a:pPr marL="514350" marR="0" lvl="0" indent="-514350" algn="just" defTabSz="914400" rtl="0" eaLnBrk="1" fontAlgn="auto" latinLnBrk="0" hangingPunct="1">
              <a:lnSpc>
                <a:spcPct val="100000"/>
              </a:lnSpc>
              <a:spcBef>
                <a:spcPct val="20000"/>
              </a:spcBef>
              <a:spcAft>
                <a:spcPts val="0"/>
              </a:spcAft>
              <a:buClrTx/>
              <a:buSzTx/>
              <a:buFont typeface="Arial" panose="020B0604020202020204" pitchFamily="34" charset="0"/>
              <a:buAutoNum type="alphaLcParenR"/>
              <a:defRPr/>
            </a:pPr>
            <a:r>
              <a:rPr lang="en-US" sz="2800" noProof="0" dirty="0">
                <a:ln>
                  <a:noFill/>
                </a:ln>
                <a:effectLst/>
                <a:uLnTx/>
                <a:uFillTx/>
                <a:sym typeface="+mn-ea"/>
              </a:rPr>
              <a:t>87.5 km/</a:t>
            </a:r>
            <a:r>
              <a:rPr lang="en-US" sz="2800" noProof="0" dirty="0" err="1">
                <a:ln>
                  <a:noFill/>
                </a:ln>
                <a:effectLst/>
                <a:uLnTx/>
                <a:uFillTx/>
                <a:sym typeface="+mn-ea"/>
              </a:rPr>
              <a:t>hr</a:t>
            </a:r>
            <a:endParaRPr kumimoji="0" lang="en-US" sz="2800" i="0" u="none" strike="noStrike" kern="1200" cap="none" spc="0" normalizeH="0" baseline="0" noProof="0" dirty="0">
              <a:ln>
                <a:noFill/>
              </a:ln>
              <a:solidFill>
                <a:schemeClr val="tx1"/>
              </a:solidFill>
              <a:effectLst/>
              <a:uLnTx/>
              <a:uFillTx/>
              <a:latin typeface="+mn-lt"/>
              <a:ea typeface="+mn-ea"/>
              <a:cs typeface="+mn-cs"/>
            </a:endParaRPr>
          </a:p>
          <a:p>
            <a:pPr marL="514350" marR="0" lvl="0" indent="-514350" algn="just" defTabSz="914400" rtl="0" eaLnBrk="1" fontAlgn="auto" latinLnBrk="0" hangingPunct="1">
              <a:lnSpc>
                <a:spcPct val="100000"/>
              </a:lnSpc>
              <a:spcBef>
                <a:spcPct val="20000"/>
              </a:spcBef>
              <a:spcAft>
                <a:spcPts val="0"/>
              </a:spcAft>
              <a:buClrTx/>
              <a:buSzTx/>
              <a:buFont typeface="Arial" panose="020B0604020202020204" pitchFamily="34" charset="0"/>
              <a:buAutoNum type="alphaLcParenR"/>
              <a:defRPr/>
            </a:pPr>
            <a:r>
              <a:rPr lang="en-US" sz="2800" noProof="0" dirty="0">
                <a:ln>
                  <a:noFill/>
                </a:ln>
                <a:effectLst/>
                <a:uLnTx/>
                <a:uFillTx/>
                <a:sym typeface="+mn-ea"/>
              </a:rPr>
              <a:t>90 km/</a:t>
            </a:r>
            <a:r>
              <a:rPr lang="en-US" sz="2800" noProof="0" dirty="0" err="1">
                <a:ln>
                  <a:noFill/>
                </a:ln>
                <a:effectLst/>
                <a:uLnTx/>
                <a:uFillTx/>
                <a:sym typeface="+mn-ea"/>
              </a:rPr>
              <a:t>hr</a:t>
            </a:r>
            <a:endParaRPr kumimoji="0" lang="en-US" sz="2800" i="0" u="none" strike="noStrike" kern="1200" cap="none" spc="0" normalizeH="0" baseline="0" noProof="0" dirty="0">
              <a:ln>
                <a:noFill/>
              </a:ln>
              <a:solidFill>
                <a:schemeClr val="tx1"/>
              </a:solidFill>
              <a:effectLst/>
              <a:uLnTx/>
              <a:uFillTx/>
              <a:latin typeface="+mn-lt"/>
              <a:ea typeface="+mn-ea"/>
              <a:cs typeface="+mn-cs"/>
            </a:endParaRPr>
          </a:p>
          <a:p>
            <a:pPr marL="514350" marR="0" lvl="0" indent="-514350" algn="just" defTabSz="914400" rtl="0" eaLnBrk="1" fontAlgn="auto" latinLnBrk="0" hangingPunct="1">
              <a:lnSpc>
                <a:spcPct val="100000"/>
              </a:lnSpc>
              <a:spcBef>
                <a:spcPct val="20000"/>
              </a:spcBef>
              <a:spcAft>
                <a:spcPts val="0"/>
              </a:spcAft>
              <a:buClrTx/>
              <a:buSzTx/>
              <a:buFont typeface="Arial" panose="020B0604020202020204" pitchFamily="34" charset="0"/>
              <a:buAutoNum type="alphaLcParenR"/>
              <a:defRPr/>
            </a:pPr>
            <a:r>
              <a:rPr lang="en-US" sz="2800" noProof="0" dirty="0">
                <a:ln>
                  <a:noFill/>
                </a:ln>
                <a:effectLst/>
                <a:uLnTx/>
                <a:uFillTx/>
                <a:sym typeface="+mn-ea"/>
              </a:rPr>
              <a:t>None</a:t>
            </a:r>
            <a:endParaRPr kumimoji="0" lang="en-US" altLang="en-US" sz="280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sym typeface="+mn-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23595" y="827405"/>
            <a:ext cx="10530205" cy="5349875"/>
          </a:xfrm>
        </p:spPr>
        <p:txBody>
          <a:bodyPr/>
          <a:lstStyle/>
          <a:p>
            <a:pPr marL="0" marR="0" lvl="0" indent="0" algn="just"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lang="en-US" noProof="0" dirty="0">
                <a:ln>
                  <a:noFill/>
                </a:ln>
                <a:effectLst/>
                <a:uLnTx/>
                <a:uFillTx/>
                <a:sym typeface="+mn-ea"/>
              </a:rPr>
              <a:t>3) A truck covers a distance of 550 meters in 1 minute whereas a train covers a distance of 33 kms in 45 minutes. What is the ratio of their speed?</a:t>
            </a:r>
            <a:endParaRPr kumimoji="0" lang="en-US"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endParaRPr kumimoji="0" lang="en-US" i="0" u="none" strike="noStrike" kern="1200" cap="none" spc="0" normalizeH="0" baseline="0" noProof="0" dirty="0">
              <a:ln>
                <a:noFill/>
              </a:ln>
              <a:solidFill>
                <a:schemeClr val="tx1"/>
              </a:solidFill>
              <a:effectLst/>
              <a:uLnTx/>
              <a:uFillTx/>
              <a:latin typeface="+mn-lt"/>
              <a:ea typeface="+mn-ea"/>
              <a:cs typeface="+mn-cs"/>
            </a:endParaRPr>
          </a:p>
          <a:p>
            <a:pPr marL="0" marR="0" lvl="0" indent="0" algn="just"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lang="en-US" noProof="0" dirty="0">
                <a:ln>
                  <a:noFill/>
                </a:ln>
                <a:effectLst/>
                <a:uLnTx/>
                <a:uFillTx/>
                <a:sym typeface="+mn-ea"/>
              </a:rPr>
              <a:t>a) 4:3</a:t>
            </a:r>
            <a:endParaRPr kumimoji="0" lang="en-US" i="0" u="none" strike="noStrike" kern="1200" cap="none" spc="0" normalizeH="0" baseline="0" noProof="0" dirty="0">
              <a:ln>
                <a:noFill/>
              </a:ln>
              <a:solidFill>
                <a:schemeClr val="tx1"/>
              </a:solidFill>
              <a:effectLst/>
              <a:uLnTx/>
              <a:uFillTx/>
              <a:latin typeface="+mn-lt"/>
              <a:ea typeface="+mn-ea"/>
              <a:cs typeface="+mn-cs"/>
            </a:endParaRPr>
          </a:p>
          <a:p>
            <a:pPr marL="0" marR="0" lvl="0" indent="0" algn="just"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lang="en-US" noProof="0" dirty="0">
                <a:ln>
                  <a:noFill/>
                </a:ln>
                <a:effectLst/>
                <a:uLnTx/>
                <a:uFillTx/>
                <a:sym typeface="+mn-ea"/>
              </a:rPr>
              <a:t>b) 3:4</a:t>
            </a:r>
            <a:endParaRPr kumimoji="0" lang="en-US" i="0" u="none" strike="noStrike" kern="1200" cap="none" spc="0" normalizeH="0" baseline="0" noProof="0" dirty="0">
              <a:ln>
                <a:noFill/>
              </a:ln>
              <a:solidFill>
                <a:schemeClr val="tx1"/>
              </a:solidFill>
              <a:effectLst/>
              <a:uLnTx/>
              <a:uFillTx/>
              <a:latin typeface="+mn-lt"/>
              <a:ea typeface="+mn-ea"/>
              <a:cs typeface="+mn-cs"/>
            </a:endParaRPr>
          </a:p>
          <a:p>
            <a:pPr marL="0" marR="0" lvl="0" indent="0" algn="just"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lang="en-US" noProof="0" dirty="0">
                <a:ln>
                  <a:noFill/>
                </a:ln>
                <a:effectLst/>
                <a:uLnTx/>
                <a:uFillTx/>
                <a:sym typeface="+mn-ea"/>
              </a:rPr>
              <a:t>c) 5:4</a:t>
            </a:r>
            <a:endParaRPr kumimoji="0" lang="en-US" i="0" u="none" strike="noStrike" kern="1200" cap="none" spc="0" normalizeH="0" baseline="0" noProof="0" dirty="0">
              <a:ln>
                <a:noFill/>
              </a:ln>
              <a:solidFill>
                <a:schemeClr val="tx1"/>
              </a:solidFill>
              <a:effectLst/>
              <a:uLnTx/>
              <a:uFillTx/>
              <a:latin typeface="+mn-lt"/>
              <a:ea typeface="+mn-ea"/>
              <a:cs typeface="+mn-cs"/>
            </a:endParaRPr>
          </a:p>
          <a:p>
            <a:pPr marL="0" marR="0" lvl="0" indent="0" algn="just"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lang="en-US" noProof="0" dirty="0">
                <a:ln>
                  <a:noFill/>
                </a:ln>
                <a:effectLst/>
                <a:uLnTx/>
                <a:uFillTx/>
                <a:sym typeface="+mn-ea"/>
              </a:rPr>
              <a:t>d) None</a:t>
            </a:r>
            <a:endParaRPr kumimoji="0" lang="en-US" i="0" u="none" strike="noStrike" kern="1200" cap="none" spc="0" normalizeH="0" baseline="0" noProof="0" dirty="0">
              <a:ln>
                <a:noFill/>
              </a:ln>
              <a:solidFill>
                <a:schemeClr val="tx1"/>
              </a:solidFill>
              <a:effectLst/>
              <a:uLnTx/>
              <a:uFillTx/>
              <a:latin typeface="+mn-lt"/>
              <a:ea typeface="+mn-ea"/>
              <a:cs typeface="+mn-cs"/>
            </a:endParaRPr>
          </a:p>
          <a:p>
            <a:pPr marL="0" marR="0" lvl="0" indent="0" algn="just" defTabSz="914400" rtl="0" eaLnBrk="1" fontAlgn="auto" latinLnBrk="0" hangingPunct="1">
              <a:lnSpc>
                <a:spcPct val="100000"/>
              </a:lnSpc>
              <a:spcBef>
                <a:spcPct val="20000"/>
              </a:spcBef>
              <a:spcAft>
                <a:spcPts val="0"/>
              </a:spcAft>
              <a:buClrTx/>
              <a:buSzTx/>
              <a:buFont typeface="Arial" panose="020B0604020202020204" pitchFamily="34" charset="0"/>
              <a:buNone/>
              <a:defRPr/>
            </a:pPr>
            <a:endParaRPr lang="en-US" altLang="en-US" noProof="0" dirty="0">
              <a:ln>
                <a:noFill/>
              </a:ln>
              <a:solidFill>
                <a:schemeClr val="tx1"/>
              </a:solidFill>
              <a:effectLst/>
              <a:uLnTx/>
              <a:uFillTx/>
              <a:latin typeface="Arial" panose="020B0604020202020204" pitchFamily="34" charset="0"/>
              <a:cs typeface="Arial" panose="020B0604020202020204" pitchFamily="34" charset="0"/>
              <a:sym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52475"/>
            <a:ext cx="10515600" cy="5424805"/>
          </a:xfrm>
        </p:spPr>
        <p:txBody>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lang="en-US" noProof="0" dirty="0">
                <a:ln>
                  <a:noFill/>
                </a:ln>
                <a:effectLst/>
                <a:uLnTx/>
                <a:uFillTx/>
                <a:sym typeface="+mn-ea"/>
              </a:rPr>
              <a:t>4) Two buses travel to a place at 45 km/h and 60 km/h respectively. If the second bus takes 5.5 hours less than the first for the journey, the length (all in km) of the journey is </a:t>
            </a:r>
            <a:endParaRPr kumimoji="0" lang="en-US" i="0" u="none" strike="noStrike" kern="1200" cap="none" spc="0" normalizeH="0" baseline="0" noProof="0" dirty="0">
              <a:ln>
                <a:noFill/>
              </a:ln>
              <a:solidFill>
                <a:schemeClr val="tx1"/>
              </a:solidFill>
              <a:effectLst/>
              <a:uLnTx/>
              <a:uFillTx/>
              <a:latin typeface="+mn-lt"/>
              <a:ea typeface="+mn-ea"/>
              <a:cs typeface="+mn-cs"/>
            </a:endParaRPr>
          </a:p>
          <a:p>
            <a:pPr marL="514350" marR="0" lvl="0" indent="-514350" algn="l" defTabSz="914400" rtl="0" eaLnBrk="1" fontAlgn="auto" latinLnBrk="0" hangingPunct="1">
              <a:lnSpc>
                <a:spcPct val="100000"/>
              </a:lnSpc>
              <a:spcBef>
                <a:spcPct val="20000"/>
              </a:spcBef>
              <a:spcAft>
                <a:spcPts val="0"/>
              </a:spcAft>
              <a:buClrTx/>
              <a:buSzTx/>
              <a:buFont typeface="Arial" panose="020B0604020202020204" pitchFamily="34" charset="0"/>
              <a:buAutoNum type="alphaLcParenR"/>
              <a:defRPr/>
            </a:pPr>
            <a:r>
              <a:rPr lang="en-US" noProof="0" dirty="0">
                <a:ln>
                  <a:noFill/>
                </a:ln>
                <a:effectLst/>
                <a:uLnTx/>
                <a:uFillTx/>
                <a:sym typeface="+mn-ea"/>
              </a:rPr>
              <a:t>900</a:t>
            </a:r>
            <a:endParaRPr kumimoji="0" lang="en-US" i="0" u="none" strike="noStrike" kern="1200" cap="none" spc="0" normalizeH="0" baseline="0" noProof="0" dirty="0">
              <a:ln>
                <a:noFill/>
              </a:ln>
              <a:solidFill>
                <a:schemeClr val="tx1"/>
              </a:solidFill>
              <a:effectLst/>
              <a:uLnTx/>
              <a:uFillTx/>
              <a:latin typeface="+mn-lt"/>
              <a:ea typeface="+mn-ea"/>
              <a:cs typeface="+mn-cs"/>
            </a:endParaRPr>
          </a:p>
          <a:p>
            <a:pPr marL="514350" marR="0" lvl="0" indent="-514350" algn="l" defTabSz="914400" rtl="0" eaLnBrk="1" fontAlgn="auto" latinLnBrk="0" hangingPunct="1">
              <a:lnSpc>
                <a:spcPct val="100000"/>
              </a:lnSpc>
              <a:spcBef>
                <a:spcPct val="20000"/>
              </a:spcBef>
              <a:spcAft>
                <a:spcPts val="0"/>
              </a:spcAft>
              <a:buClrTx/>
              <a:buSzTx/>
              <a:buFont typeface="Arial" panose="020B0604020202020204" pitchFamily="34" charset="0"/>
              <a:buAutoNum type="alphaLcParenR"/>
              <a:defRPr/>
            </a:pPr>
            <a:r>
              <a:rPr lang="en-US" noProof="0" dirty="0">
                <a:ln>
                  <a:noFill/>
                </a:ln>
                <a:effectLst/>
                <a:uLnTx/>
                <a:uFillTx/>
                <a:sym typeface="+mn-ea"/>
              </a:rPr>
              <a:t>945</a:t>
            </a:r>
            <a:endParaRPr kumimoji="0" lang="en-US" i="0" u="none" strike="noStrike" kern="1200" cap="none" spc="0" normalizeH="0" baseline="0" noProof="0" dirty="0">
              <a:ln>
                <a:noFill/>
              </a:ln>
              <a:solidFill>
                <a:schemeClr val="tx1"/>
              </a:solidFill>
              <a:effectLst/>
              <a:uLnTx/>
              <a:uFillTx/>
              <a:latin typeface="+mn-lt"/>
              <a:ea typeface="+mn-ea"/>
              <a:cs typeface="+mn-cs"/>
            </a:endParaRPr>
          </a:p>
          <a:p>
            <a:pPr marL="514350" marR="0" lvl="0" indent="-514350" algn="l" defTabSz="914400" rtl="0" eaLnBrk="1" fontAlgn="auto" latinLnBrk="0" hangingPunct="1">
              <a:lnSpc>
                <a:spcPct val="100000"/>
              </a:lnSpc>
              <a:spcBef>
                <a:spcPct val="20000"/>
              </a:spcBef>
              <a:spcAft>
                <a:spcPts val="0"/>
              </a:spcAft>
              <a:buClrTx/>
              <a:buSzTx/>
              <a:buFont typeface="Arial" panose="020B0604020202020204" pitchFamily="34" charset="0"/>
              <a:buAutoNum type="alphaLcParenR"/>
              <a:defRPr/>
            </a:pPr>
            <a:r>
              <a:rPr lang="en-US" noProof="0" dirty="0">
                <a:ln>
                  <a:noFill/>
                </a:ln>
                <a:effectLst/>
                <a:uLnTx/>
                <a:uFillTx/>
                <a:sym typeface="+mn-ea"/>
              </a:rPr>
              <a:t>990</a:t>
            </a:r>
            <a:endParaRPr kumimoji="0" lang="en-US" i="0" u="none" strike="noStrike" kern="1200" cap="none" spc="0" normalizeH="0" baseline="0" noProof="0" dirty="0">
              <a:ln>
                <a:noFill/>
              </a:ln>
              <a:solidFill>
                <a:schemeClr val="tx1"/>
              </a:solidFill>
              <a:effectLst/>
              <a:uLnTx/>
              <a:uFillTx/>
              <a:latin typeface="+mn-lt"/>
              <a:ea typeface="+mn-ea"/>
              <a:cs typeface="+mn-cs"/>
            </a:endParaRPr>
          </a:p>
          <a:p>
            <a:pPr marL="514350" marR="0" lvl="0" indent="-514350" algn="l" defTabSz="914400" rtl="0" eaLnBrk="1" fontAlgn="auto" latinLnBrk="0" hangingPunct="1">
              <a:lnSpc>
                <a:spcPct val="100000"/>
              </a:lnSpc>
              <a:spcBef>
                <a:spcPct val="20000"/>
              </a:spcBef>
              <a:spcAft>
                <a:spcPts val="0"/>
              </a:spcAft>
              <a:buClrTx/>
              <a:buSzTx/>
              <a:buFont typeface="Arial" panose="020B0604020202020204" pitchFamily="34" charset="0"/>
              <a:buAutoNum type="alphaLcParenR"/>
              <a:defRPr/>
            </a:pPr>
            <a:r>
              <a:rPr lang="en-US" noProof="0" dirty="0">
                <a:ln>
                  <a:noFill/>
                </a:ln>
                <a:effectLst/>
                <a:uLnTx/>
                <a:uFillTx/>
                <a:sym typeface="+mn-ea"/>
              </a:rPr>
              <a:t>1350</a:t>
            </a:r>
            <a:endParaRPr kumimoji="0" lang="en-US" i="0" u="none" strike="noStrike" kern="1200" cap="none" spc="0" normalizeH="0" baseline="0" noProof="0" dirty="0">
              <a:ln>
                <a:noFill/>
              </a:ln>
              <a:solidFill>
                <a:schemeClr val="tx1"/>
              </a:solidFill>
              <a:effectLst/>
              <a:uLnTx/>
              <a:uFillTx/>
              <a:latin typeface="+mn-lt"/>
              <a:ea typeface="+mn-ea"/>
              <a:cs typeface="+mn-cs"/>
            </a:endParaRPr>
          </a:p>
          <a:p>
            <a:pPr marL="514350" marR="0" lvl="0" indent="-514350" algn="l" defTabSz="914400" rtl="0" eaLnBrk="1" fontAlgn="auto" latinLnBrk="0" hangingPunct="1">
              <a:lnSpc>
                <a:spcPct val="100000"/>
              </a:lnSpc>
              <a:spcBef>
                <a:spcPct val="20000"/>
              </a:spcBef>
              <a:spcAft>
                <a:spcPts val="0"/>
              </a:spcAft>
              <a:buClrTx/>
              <a:buSzTx/>
              <a:buFont typeface="Arial" panose="020B0604020202020204" pitchFamily="34" charset="0"/>
              <a:buAutoNum type="alphaLcParenR"/>
              <a:defRPr/>
            </a:pPr>
            <a:endParaRPr kumimoji="0" lang="en-US" altLang="en-US"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97890" y="767715"/>
            <a:ext cx="10455910" cy="5409565"/>
          </a:xfrm>
        </p:spPr>
        <p:txBody>
          <a:bodyPr>
            <a:normAutofit lnSpcReduction="10000"/>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lang="en-US" noProof="0" dirty="0">
                <a:ln>
                  <a:noFill/>
                </a:ln>
                <a:effectLst/>
                <a:uLnTx/>
                <a:uFillTx/>
                <a:cs typeface="Arial" panose="020B0604020202020204" pitchFamily="34" charset="0"/>
                <a:sym typeface="+mn-ea"/>
              </a:rPr>
              <a:t>5) Ram starts from Ludhiana at 6 a.m. at a constant speed of 40 kmph. He halts at Jalandhar for half an hour and then drives at 70 kmph. He reaches Amritsar at 9.30 a.m. which is 180 km away from Ludhiana. What is the distance between Jalandhar and Amritsar?</a:t>
            </a:r>
            <a:endParaRPr kumimoji="0" lang="en-US" i="0" u="none" strike="noStrike" kern="1200" cap="none" spc="0" normalizeH="0" baseline="0" noProof="0" dirty="0">
              <a:ln>
                <a:noFill/>
              </a:ln>
              <a:solidFill>
                <a:schemeClr val="tx1"/>
              </a:solidFill>
              <a:effectLst/>
              <a:uLnTx/>
              <a:uFillTx/>
              <a:latin typeface="+mn-lt"/>
              <a:ea typeface="+mn-ea"/>
              <a:cs typeface="Arial" panose="020B0604020202020204" pitchFamily="34" charset="0"/>
            </a:endParaRPr>
          </a:p>
          <a:p>
            <a:pPr marL="514350" marR="0" lvl="0" indent="-514350" algn="l" defTabSz="914400" rtl="0" eaLnBrk="1" fontAlgn="auto" latinLnBrk="0" hangingPunct="1">
              <a:lnSpc>
                <a:spcPct val="100000"/>
              </a:lnSpc>
              <a:spcBef>
                <a:spcPct val="20000"/>
              </a:spcBef>
              <a:spcAft>
                <a:spcPts val="0"/>
              </a:spcAft>
              <a:buClrTx/>
              <a:buSzTx/>
              <a:buFont typeface="Arial" panose="020B0604020202020204" pitchFamily="34" charset="0"/>
              <a:buAutoNum type="alphaLcParenR"/>
              <a:defRPr/>
            </a:pPr>
            <a:r>
              <a:rPr lang="en-US" noProof="0" dirty="0">
                <a:ln>
                  <a:noFill/>
                </a:ln>
                <a:effectLst/>
                <a:uLnTx/>
                <a:uFillTx/>
                <a:sym typeface="+mn-ea"/>
              </a:rPr>
              <a:t>120 km</a:t>
            </a:r>
            <a:endParaRPr kumimoji="0" lang="en-US" i="0" u="none" strike="noStrike" kern="1200" cap="none" spc="0" normalizeH="0" baseline="0" noProof="0" dirty="0">
              <a:ln>
                <a:noFill/>
              </a:ln>
              <a:solidFill>
                <a:schemeClr val="tx1"/>
              </a:solidFill>
              <a:effectLst/>
              <a:uLnTx/>
              <a:uFillTx/>
              <a:latin typeface="+mn-lt"/>
              <a:ea typeface="+mn-ea"/>
              <a:cs typeface="+mn-cs"/>
            </a:endParaRPr>
          </a:p>
          <a:p>
            <a:pPr marL="514350" marR="0" lvl="0" indent="-514350" algn="l" defTabSz="914400" rtl="0" eaLnBrk="1" fontAlgn="auto" latinLnBrk="0" hangingPunct="1">
              <a:lnSpc>
                <a:spcPct val="100000"/>
              </a:lnSpc>
              <a:spcBef>
                <a:spcPct val="20000"/>
              </a:spcBef>
              <a:spcAft>
                <a:spcPts val="0"/>
              </a:spcAft>
              <a:buClrTx/>
              <a:buSzTx/>
              <a:buFont typeface="Arial" panose="020B0604020202020204" pitchFamily="34" charset="0"/>
              <a:buAutoNum type="alphaLcParenR"/>
              <a:defRPr/>
            </a:pPr>
            <a:r>
              <a:rPr lang="en-US" noProof="0" dirty="0">
                <a:ln>
                  <a:noFill/>
                </a:ln>
                <a:effectLst/>
                <a:uLnTx/>
                <a:uFillTx/>
                <a:sym typeface="+mn-ea"/>
              </a:rPr>
              <a:t>140 km</a:t>
            </a:r>
            <a:endParaRPr kumimoji="0" lang="en-US" i="0" u="none" strike="noStrike" kern="1200" cap="none" spc="0" normalizeH="0" baseline="0" noProof="0" dirty="0">
              <a:ln>
                <a:noFill/>
              </a:ln>
              <a:solidFill>
                <a:schemeClr val="tx1"/>
              </a:solidFill>
              <a:effectLst/>
              <a:uLnTx/>
              <a:uFillTx/>
              <a:latin typeface="+mn-lt"/>
              <a:ea typeface="+mn-ea"/>
              <a:cs typeface="+mn-cs"/>
            </a:endParaRPr>
          </a:p>
          <a:p>
            <a:pPr marL="514350" marR="0" lvl="0" indent="-514350" algn="l" defTabSz="914400" rtl="0" eaLnBrk="1" fontAlgn="auto" latinLnBrk="0" hangingPunct="1">
              <a:lnSpc>
                <a:spcPct val="100000"/>
              </a:lnSpc>
              <a:spcBef>
                <a:spcPct val="20000"/>
              </a:spcBef>
              <a:spcAft>
                <a:spcPts val="0"/>
              </a:spcAft>
              <a:buClrTx/>
              <a:buSzTx/>
              <a:buFont typeface="Arial" panose="020B0604020202020204" pitchFamily="34" charset="0"/>
              <a:buAutoNum type="alphaLcParenR"/>
              <a:defRPr/>
            </a:pPr>
            <a:r>
              <a:rPr lang="en-US" noProof="0" dirty="0">
                <a:ln>
                  <a:noFill/>
                </a:ln>
                <a:effectLst/>
                <a:uLnTx/>
                <a:uFillTx/>
                <a:sym typeface="+mn-ea"/>
              </a:rPr>
              <a:t>100 km</a:t>
            </a:r>
            <a:endParaRPr kumimoji="0" lang="en-US" i="0" u="none" strike="noStrike" kern="1200" cap="none" spc="0" normalizeH="0" baseline="0" noProof="0" dirty="0">
              <a:ln>
                <a:noFill/>
              </a:ln>
              <a:solidFill>
                <a:schemeClr val="tx1"/>
              </a:solidFill>
              <a:effectLst/>
              <a:uLnTx/>
              <a:uFillTx/>
              <a:latin typeface="+mn-lt"/>
              <a:ea typeface="+mn-ea"/>
              <a:cs typeface="+mn-cs"/>
            </a:endParaRPr>
          </a:p>
          <a:p>
            <a:pPr marL="514350" marR="0" lvl="0" indent="-514350" algn="l" defTabSz="914400" rtl="0" eaLnBrk="1" fontAlgn="auto" latinLnBrk="0" hangingPunct="1">
              <a:lnSpc>
                <a:spcPct val="100000"/>
              </a:lnSpc>
              <a:spcBef>
                <a:spcPct val="20000"/>
              </a:spcBef>
              <a:spcAft>
                <a:spcPts val="0"/>
              </a:spcAft>
              <a:buClrTx/>
              <a:buSzTx/>
              <a:buFont typeface="Arial" panose="020B0604020202020204" pitchFamily="34" charset="0"/>
              <a:buAutoNum type="alphaLcParenR"/>
              <a:defRPr/>
            </a:pPr>
            <a:r>
              <a:rPr lang="en-US" noProof="0" dirty="0">
                <a:ln>
                  <a:noFill/>
                </a:ln>
                <a:effectLst/>
                <a:uLnTx/>
                <a:uFillTx/>
                <a:sym typeface="+mn-ea"/>
              </a:rPr>
              <a:t>130 </a:t>
            </a:r>
            <a:r>
              <a:rPr lang="en-US" noProof="0" dirty="0" smtClean="0">
                <a:ln>
                  <a:noFill/>
                </a:ln>
                <a:effectLst/>
                <a:uLnTx/>
                <a:uFillTx/>
                <a:sym typeface="+mn-ea"/>
              </a:rPr>
              <a:t>km</a:t>
            </a:r>
            <a:endParaRPr lang="en-US" altLang="en-US" noProof="0" dirty="0">
              <a:ln>
                <a:noFill/>
              </a:ln>
              <a:solidFill>
                <a:schemeClr val="tx1"/>
              </a:solidFill>
              <a:effectLst/>
              <a:uLnTx/>
              <a:uFillTx/>
              <a:latin typeface="Arial" panose="020B0604020202020204" pitchFamily="34" charset="0"/>
              <a:cs typeface="Arial" panose="020B0604020202020204" pitchFamily="34" charset="0"/>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3735" y="648335"/>
            <a:ext cx="10680065" cy="5528945"/>
          </a:xfrm>
        </p:spPr>
        <p:txBody>
          <a:bodyPr>
            <a:normAutofit lnSpcReduction="10000"/>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lang="en-US" noProof="0" dirty="0">
                <a:ln>
                  <a:noFill/>
                </a:ln>
                <a:effectLst/>
                <a:uLnTx/>
                <a:uFillTx/>
                <a:cs typeface="Arial" panose="020B0604020202020204" pitchFamily="34" charset="0"/>
                <a:sym typeface="+mn-ea"/>
              </a:rPr>
              <a:t>6) A was travelling in a bus. After going 2/3</a:t>
            </a:r>
            <a:r>
              <a:rPr lang="en-US" baseline="30000" noProof="0" dirty="0">
                <a:ln>
                  <a:noFill/>
                </a:ln>
                <a:effectLst/>
                <a:uLnTx/>
                <a:uFillTx/>
                <a:cs typeface="Arial" panose="020B0604020202020204" pitchFamily="34" charset="0"/>
                <a:sym typeface="+mn-ea"/>
              </a:rPr>
              <a:t>rd</a:t>
            </a:r>
            <a:r>
              <a:rPr lang="en-US" noProof="0" dirty="0">
                <a:ln>
                  <a:noFill/>
                </a:ln>
                <a:effectLst/>
                <a:uLnTx/>
                <a:uFillTx/>
                <a:cs typeface="Arial" panose="020B0604020202020204" pitchFamily="34" charset="0"/>
                <a:sym typeface="+mn-ea"/>
              </a:rPr>
              <a:t> of the total distance, the bus broke down. So he hired an auto and completed the rest of the journey. He found that the auto took twice the time the bus took. Find the ratio of the speed of the bus to that of the auto.</a:t>
            </a:r>
            <a:endParaRPr kumimoji="0" lang="en-US" i="0" u="none" strike="noStrike" kern="1200" cap="none" spc="0" normalizeH="0" baseline="0" noProof="0" dirty="0">
              <a:ln>
                <a:noFill/>
              </a:ln>
              <a:solidFill>
                <a:schemeClr val="tx1"/>
              </a:solidFill>
              <a:effectLst/>
              <a:uLnTx/>
              <a:uFillTx/>
              <a:latin typeface="+mn-lt"/>
              <a:ea typeface="+mn-ea"/>
              <a:cs typeface="Arial" panose="020B0604020202020204" pitchFamily="34" charset="0"/>
            </a:endParaRPr>
          </a:p>
          <a:p>
            <a:pPr marL="514350" marR="0" lvl="0" indent="-514350" algn="l" defTabSz="914400" rtl="0" eaLnBrk="1" fontAlgn="auto" latinLnBrk="0" hangingPunct="1">
              <a:lnSpc>
                <a:spcPct val="100000"/>
              </a:lnSpc>
              <a:spcBef>
                <a:spcPct val="20000"/>
              </a:spcBef>
              <a:spcAft>
                <a:spcPts val="0"/>
              </a:spcAft>
              <a:buClrTx/>
              <a:buSzTx/>
              <a:buFont typeface="Arial" panose="020B0604020202020204" pitchFamily="34" charset="0"/>
              <a:buAutoNum type="alphaLcParenR"/>
              <a:defRPr/>
            </a:pPr>
            <a:r>
              <a:rPr lang="en-US" noProof="0" dirty="0">
                <a:ln>
                  <a:noFill/>
                </a:ln>
                <a:effectLst/>
                <a:uLnTx/>
                <a:uFillTx/>
                <a:cs typeface="Arial" panose="020B0604020202020204" pitchFamily="34" charset="0"/>
                <a:sym typeface="+mn-ea"/>
              </a:rPr>
              <a:t>1 : 2</a:t>
            </a:r>
            <a:endParaRPr kumimoji="0" lang="en-US" i="0" u="none" strike="noStrike" kern="1200" cap="none" spc="0" normalizeH="0" baseline="0" noProof="0" dirty="0">
              <a:ln>
                <a:noFill/>
              </a:ln>
              <a:solidFill>
                <a:schemeClr val="tx1"/>
              </a:solidFill>
              <a:effectLst/>
              <a:uLnTx/>
              <a:uFillTx/>
              <a:latin typeface="+mn-lt"/>
              <a:ea typeface="+mn-ea"/>
              <a:cs typeface="Arial" panose="020B0604020202020204" pitchFamily="34" charset="0"/>
            </a:endParaRPr>
          </a:p>
          <a:p>
            <a:pPr marL="514350" marR="0" lvl="0" indent="-514350" algn="l" defTabSz="914400" rtl="0" eaLnBrk="1" fontAlgn="auto" latinLnBrk="0" hangingPunct="1">
              <a:lnSpc>
                <a:spcPct val="100000"/>
              </a:lnSpc>
              <a:spcBef>
                <a:spcPct val="20000"/>
              </a:spcBef>
              <a:spcAft>
                <a:spcPts val="0"/>
              </a:spcAft>
              <a:buClrTx/>
              <a:buSzTx/>
              <a:buFont typeface="Arial" panose="020B0604020202020204" pitchFamily="34" charset="0"/>
              <a:buAutoNum type="alphaLcParenR"/>
              <a:defRPr/>
            </a:pPr>
            <a:r>
              <a:rPr lang="en-US" noProof="0" dirty="0">
                <a:ln>
                  <a:noFill/>
                </a:ln>
                <a:effectLst/>
                <a:uLnTx/>
                <a:uFillTx/>
                <a:cs typeface="Arial" panose="020B0604020202020204" pitchFamily="34" charset="0"/>
                <a:sym typeface="+mn-ea"/>
              </a:rPr>
              <a:t>2 : 1</a:t>
            </a:r>
            <a:endParaRPr kumimoji="0" lang="en-US" i="0" u="none" strike="noStrike" kern="1200" cap="none" spc="0" normalizeH="0" baseline="0" noProof="0" dirty="0">
              <a:ln>
                <a:noFill/>
              </a:ln>
              <a:solidFill>
                <a:schemeClr val="tx1"/>
              </a:solidFill>
              <a:effectLst/>
              <a:uLnTx/>
              <a:uFillTx/>
              <a:latin typeface="+mn-lt"/>
              <a:ea typeface="+mn-ea"/>
              <a:cs typeface="Arial" panose="020B0604020202020204" pitchFamily="34" charset="0"/>
            </a:endParaRPr>
          </a:p>
          <a:p>
            <a:pPr marL="514350" marR="0" lvl="0" indent="-514350" algn="l" defTabSz="914400" rtl="0" eaLnBrk="1" fontAlgn="auto" latinLnBrk="0" hangingPunct="1">
              <a:lnSpc>
                <a:spcPct val="100000"/>
              </a:lnSpc>
              <a:spcBef>
                <a:spcPct val="20000"/>
              </a:spcBef>
              <a:spcAft>
                <a:spcPts val="0"/>
              </a:spcAft>
              <a:buClrTx/>
              <a:buSzTx/>
              <a:buFont typeface="Arial" panose="020B0604020202020204" pitchFamily="34" charset="0"/>
              <a:buAutoNum type="alphaLcParenR"/>
              <a:defRPr/>
            </a:pPr>
            <a:r>
              <a:rPr lang="en-US" noProof="0" dirty="0">
                <a:ln>
                  <a:noFill/>
                </a:ln>
                <a:effectLst/>
                <a:uLnTx/>
                <a:uFillTx/>
                <a:cs typeface="Arial" panose="020B0604020202020204" pitchFamily="34" charset="0"/>
                <a:sym typeface="+mn-ea"/>
              </a:rPr>
              <a:t>3 : 1</a:t>
            </a:r>
            <a:endParaRPr kumimoji="0" lang="en-US" i="0" u="none" strike="noStrike" kern="1200" cap="none" spc="0" normalizeH="0" baseline="0" noProof="0" dirty="0">
              <a:ln>
                <a:noFill/>
              </a:ln>
              <a:solidFill>
                <a:schemeClr val="tx1"/>
              </a:solidFill>
              <a:effectLst/>
              <a:uLnTx/>
              <a:uFillTx/>
              <a:latin typeface="+mn-lt"/>
              <a:ea typeface="+mn-ea"/>
              <a:cs typeface="Arial" panose="020B0604020202020204" pitchFamily="34" charset="0"/>
            </a:endParaRPr>
          </a:p>
          <a:p>
            <a:pPr marL="514350" marR="0" lvl="0" indent="-514350" algn="l" defTabSz="914400" rtl="0" eaLnBrk="1" fontAlgn="auto" latinLnBrk="0" hangingPunct="1">
              <a:lnSpc>
                <a:spcPct val="100000"/>
              </a:lnSpc>
              <a:spcBef>
                <a:spcPct val="20000"/>
              </a:spcBef>
              <a:spcAft>
                <a:spcPts val="0"/>
              </a:spcAft>
              <a:buClrTx/>
              <a:buSzTx/>
              <a:buFont typeface="Arial" panose="020B0604020202020204" pitchFamily="34" charset="0"/>
              <a:buAutoNum type="alphaLcParenR"/>
              <a:defRPr/>
            </a:pPr>
            <a:r>
              <a:rPr lang="en-US" noProof="0" dirty="0">
                <a:ln>
                  <a:noFill/>
                </a:ln>
                <a:effectLst/>
                <a:uLnTx/>
                <a:uFillTx/>
                <a:cs typeface="Arial" panose="020B0604020202020204" pitchFamily="34" charset="0"/>
                <a:sym typeface="+mn-ea"/>
              </a:rPr>
              <a:t>4 : 1</a:t>
            </a:r>
            <a:endParaRPr lang="en-US" altLang="en-US" noProof="0" dirty="0">
              <a:ln>
                <a:noFill/>
              </a:ln>
              <a:solidFill>
                <a:schemeClr val="tx1"/>
              </a:solidFill>
              <a:effectLst/>
              <a:uLnTx/>
              <a:uFillTx/>
              <a:latin typeface="Arial" panose="020B0604020202020204" pitchFamily="34" charset="0"/>
              <a:cs typeface="Arial" panose="020B0604020202020204" pitchFamily="34" charset="0"/>
              <a:sym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77545"/>
            <a:ext cx="10515600" cy="5499735"/>
          </a:xfrm>
        </p:spPr>
        <p:txBody>
          <a:bodyPr/>
          <a:lstStyle/>
          <a:p>
            <a:pPr marL="0" indent="0" algn="just" fontAlgn="ctr">
              <a:buNone/>
            </a:pPr>
            <a:r>
              <a:rPr lang="en-US" dirty="0">
                <a:sym typeface="+mn-ea"/>
              </a:rPr>
              <a:t>7. A person has to cover a distance of 8 km in 50 minutes. If he covers one-half of the distance in two-fifth of the total time, to cover the remaining distance in the remaining time, what should be his speed in km/</a:t>
            </a:r>
            <a:r>
              <a:rPr lang="en-US" dirty="0" err="1">
                <a:sym typeface="+mn-ea"/>
              </a:rPr>
              <a:t>hr</a:t>
            </a:r>
            <a:r>
              <a:rPr lang="en-US" dirty="0">
                <a:sym typeface="+mn-ea"/>
              </a:rPr>
              <a:t>?</a:t>
            </a:r>
            <a:endParaRPr lang="en-US" dirty="0"/>
          </a:p>
          <a:p>
            <a:pPr algn="just" fontAlgn="ctr"/>
            <a:endParaRPr lang="en-IN" dirty="0"/>
          </a:p>
          <a:p>
            <a:pPr marL="0" indent="0" algn="just" fontAlgn="ctr">
              <a:buNone/>
            </a:pPr>
            <a:r>
              <a:rPr lang="en-IN" dirty="0">
                <a:sym typeface="+mn-ea"/>
              </a:rPr>
              <a:t>A. 12 km/hr</a:t>
            </a:r>
            <a:endParaRPr lang="en-IN" dirty="0"/>
          </a:p>
          <a:p>
            <a:pPr marL="0" indent="0" algn="just" fontAlgn="ctr">
              <a:buNone/>
            </a:pPr>
            <a:r>
              <a:rPr lang="en-IN" dirty="0">
                <a:sym typeface="+mn-ea"/>
              </a:rPr>
              <a:t>B. 10 km/hr</a:t>
            </a:r>
            <a:endParaRPr lang="en-IN" dirty="0"/>
          </a:p>
          <a:p>
            <a:pPr marL="0" indent="0" algn="just" fontAlgn="ctr">
              <a:buNone/>
            </a:pPr>
            <a:r>
              <a:rPr lang="en-IN" dirty="0">
                <a:sym typeface="+mn-ea"/>
              </a:rPr>
              <a:t>C. 14 km/hr</a:t>
            </a:r>
            <a:endParaRPr lang="en-IN" dirty="0"/>
          </a:p>
          <a:p>
            <a:pPr marL="0" indent="0" algn="just" fontAlgn="ctr">
              <a:buNone/>
            </a:pPr>
            <a:r>
              <a:rPr lang="en-IN" dirty="0">
                <a:sym typeface="+mn-ea"/>
              </a:rPr>
              <a:t>D. 8 km/hr</a:t>
            </a:r>
            <a:endParaRPr lang="en-IN" dirty="0"/>
          </a:p>
          <a:p>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22960" y="901700"/>
            <a:ext cx="10530840" cy="5275580"/>
          </a:xfrm>
        </p:spPr>
        <p:txBody>
          <a:bodyPr/>
          <a:lstStyle/>
          <a:p>
            <a:pPr marL="0" indent="0" algn="l" eaLnBrk="1" hangingPunct="1">
              <a:buNone/>
            </a:pPr>
            <a:r>
              <a:rPr lang="en-US" altLang="en-US" b="1" dirty="0">
                <a:latin typeface="+mj-lt"/>
                <a:ea typeface="+mj-ea"/>
                <a:cs typeface="+mj-cs"/>
                <a:sym typeface="+mn-ea"/>
              </a:rPr>
              <a:t>8) If a person walks at 14 km/hr instead of 10 km/hr, he would have walked 20 km more. The actual distance travelled by him is:</a:t>
            </a:r>
          </a:p>
          <a:p>
            <a:pPr marL="0" indent="0" algn="l" eaLnBrk="1" hangingPunct="1">
              <a:buNone/>
            </a:pPr>
            <a:endParaRPr lang="en-US" altLang="en-US" noProof="0" dirty="0">
              <a:ln>
                <a:noFill/>
              </a:ln>
              <a:solidFill>
                <a:schemeClr val="tx1"/>
              </a:solidFill>
              <a:effectLst/>
              <a:uLnTx/>
              <a:uFillTx/>
              <a:latin typeface="Arial" panose="020B0604020202020204" pitchFamily="34" charset="0"/>
              <a:cs typeface="Arial" panose="020B0604020202020204" pitchFamily="34" charset="0"/>
              <a:sym typeface="+mn-ea"/>
            </a:endParaRPr>
          </a:p>
          <a:p>
            <a:pPr marL="0" indent="0" algn="just" fontAlgn="ctr">
              <a:buNone/>
            </a:pPr>
            <a:r>
              <a:rPr lang="en-US" altLang="en-IN" dirty="0">
                <a:sym typeface="+mn-ea"/>
              </a:rPr>
              <a:t>A</a:t>
            </a:r>
            <a:r>
              <a:rPr lang="en-IN" dirty="0">
                <a:sym typeface="+mn-ea"/>
              </a:rPr>
              <a:t>.</a:t>
            </a:r>
            <a:r>
              <a:rPr lang="en-US" altLang="en-IN" dirty="0">
                <a:sym typeface="+mn-ea"/>
              </a:rPr>
              <a:t> </a:t>
            </a:r>
            <a:r>
              <a:rPr lang="en-IN" dirty="0">
                <a:sym typeface="+mn-ea"/>
              </a:rPr>
              <a:t>2</a:t>
            </a:r>
            <a:r>
              <a:rPr lang="en-US" altLang="en-IN" dirty="0">
                <a:sym typeface="+mn-ea"/>
              </a:rPr>
              <a:t>0</a:t>
            </a:r>
            <a:r>
              <a:rPr lang="en-IN" dirty="0">
                <a:sym typeface="+mn-ea"/>
              </a:rPr>
              <a:t> km</a:t>
            </a:r>
            <a:endParaRPr lang="en-IN" dirty="0"/>
          </a:p>
          <a:p>
            <a:pPr marL="0" indent="0" algn="just" fontAlgn="ctr">
              <a:buNone/>
            </a:pPr>
            <a:r>
              <a:rPr lang="en-IN" dirty="0">
                <a:sym typeface="+mn-ea"/>
              </a:rPr>
              <a:t>B. </a:t>
            </a:r>
            <a:r>
              <a:rPr lang="en-US" altLang="en-IN" dirty="0">
                <a:sym typeface="+mn-ea"/>
              </a:rPr>
              <a:t>5</a:t>
            </a:r>
            <a:r>
              <a:rPr lang="en-IN" dirty="0">
                <a:sym typeface="+mn-ea"/>
              </a:rPr>
              <a:t>0 km</a:t>
            </a:r>
            <a:endParaRPr lang="en-IN" dirty="0"/>
          </a:p>
          <a:p>
            <a:pPr marL="0" indent="0" algn="just" fontAlgn="ctr">
              <a:buNone/>
            </a:pPr>
            <a:r>
              <a:rPr lang="en-IN" dirty="0">
                <a:sym typeface="+mn-ea"/>
              </a:rPr>
              <a:t>C. 4</a:t>
            </a:r>
            <a:r>
              <a:rPr lang="en-US" altLang="en-IN" dirty="0">
                <a:sym typeface="+mn-ea"/>
              </a:rPr>
              <a:t>0</a:t>
            </a:r>
            <a:r>
              <a:rPr lang="en-IN" dirty="0">
                <a:sym typeface="+mn-ea"/>
              </a:rPr>
              <a:t> km</a:t>
            </a:r>
            <a:endParaRPr lang="en-IN" dirty="0"/>
          </a:p>
          <a:p>
            <a:pPr marL="0" indent="0" algn="just" fontAlgn="ctr">
              <a:buNone/>
            </a:pPr>
            <a:r>
              <a:rPr lang="en-IN" dirty="0">
                <a:sym typeface="+mn-ea"/>
              </a:rPr>
              <a:t>D. 8</a:t>
            </a:r>
            <a:r>
              <a:rPr lang="en-US" altLang="en-IN" dirty="0">
                <a:sym typeface="+mn-ea"/>
              </a:rPr>
              <a:t>0</a:t>
            </a:r>
            <a:r>
              <a:rPr lang="en-IN" dirty="0">
                <a:sym typeface="+mn-ea"/>
              </a:rPr>
              <a:t> km</a:t>
            </a:r>
            <a:endParaRPr lang="en-IN" dirty="0"/>
          </a:p>
          <a:p>
            <a:pPr marL="0" indent="0" algn="l" eaLnBrk="1" hangingPunct="1">
              <a:buNone/>
            </a:pPr>
            <a:endParaRPr lang="en-US"/>
          </a:p>
          <a:p>
            <a:pPr marL="0" indent="0" algn="l" eaLnBrk="1" hangingPunct="1">
              <a:buNone/>
            </a:pPr>
            <a:endParaRPr lang="en-US" altLang="en-US" noProof="0" dirty="0">
              <a:ln>
                <a:noFill/>
              </a:ln>
              <a:solidFill>
                <a:schemeClr val="tx1"/>
              </a:solidFill>
              <a:effectLst/>
              <a:uLnTx/>
              <a:uFillTx/>
              <a:latin typeface="Arial" panose="020B0604020202020204" pitchFamily="34" charset="0"/>
              <a:cs typeface="Arial" panose="020B0604020202020204" pitchFamily="34" charset="0"/>
              <a:sym typeface="+mn-e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2"/>
          <p:cNvSpPr>
            <a:spLocks noGrp="1"/>
          </p:cNvSpPr>
          <p:nvPr>
            <p:ph idx="1"/>
          </p:nvPr>
        </p:nvSpPr>
        <p:spPr>
          <a:xfrm>
            <a:off x="892810" y="786130"/>
            <a:ext cx="10287000" cy="5413375"/>
          </a:xfrm>
        </p:spPr>
        <p:txBody>
          <a:bodyPr vert="horz" wrap="square" lIns="91440" tIns="45720" rIns="91440" bIns="45720" anchor="t" anchorCtr="0"/>
          <a:lstStyle/>
          <a:p>
            <a:pPr marL="0" marR="0" lvl="0" indent="0" algn="just"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en-US" altLang="en-US" noProof="0" dirty="0">
                <a:ln>
                  <a:noFill/>
                </a:ln>
                <a:effectLst/>
                <a:uLnTx/>
                <a:uFillTx/>
                <a:sym typeface="+mn-ea"/>
              </a:rPr>
              <a:t>9) Two cars start from A and B travel towards each other at speeds of 50 km/h and 60 km/h respectively. At the time of their meeting, the second car has travelled </a:t>
            </a:r>
            <a:r>
              <a:rPr lang="en-US" altLang="en-US" noProof="0" dirty="0" smtClean="0">
                <a:ln>
                  <a:noFill/>
                </a:ln>
                <a:effectLst/>
                <a:uLnTx/>
                <a:uFillTx/>
                <a:sym typeface="+mn-ea"/>
              </a:rPr>
              <a:t>120 </a:t>
            </a:r>
            <a:r>
              <a:rPr lang="en-US" altLang="en-US" noProof="0" dirty="0" err="1">
                <a:ln>
                  <a:noFill/>
                </a:ln>
                <a:effectLst/>
                <a:uLnTx/>
                <a:uFillTx/>
                <a:sym typeface="+mn-ea"/>
              </a:rPr>
              <a:t>kms</a:t>
            </a:r>
            <a:r>
              <a:rPr lang="en-US" altLang="en-US" noProof="0" dirty="0">
                <a:ln>
                  <a:noFill/>
                </a:ln>
                <a:effectLst/>
                <a:uLnTx/>
                <a:uFillTx/>
                <a:sym typeface="+mn-ea"/>
              </a:rPr>
              <a:t> more than the first. Find the distance between A and B. </a:t>
            </a:r>
            <a:endParaRPr kumimoji="0" lang="en-US" altLang="en-US"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defRPr/>
            </a:pPr>
            <a:endParaRPr lang="en-US" altLang="en-US" noProof="0" dirty="0">
              <a:ln>
                <a:noFill/>
              </a:ln>
              <a:solidFill>
                <a:schemeClr val="tx1"/>
              </a:solidFill>
              <a:effectLst/>
              <a:uLnTx/>
              <a:uFillTx/>
              <a:latin typeface="Arial" panose="020B0604020202020204" pitchFamily="34" charset="0"/>
              <a:cs typeface="Arial" panose="020B0604020202020204" pitchFamily="34" charset="0"/>
              <a:sym typeface="+mn-ea"/>
            </a:endParaRPr>
          </a:p>
          <a:p>
            <a:pPr marL="0" indent="0" algn="just" fontAlgn="ctr">
              <a:buNone/>
            </a:pPr>
            <a:r>
              <a:rPr lang="en-US" altLang="en-IN" dirty="0">
                <a:sym typeface="+mn-ea"/>
              </a:rPr>
              <a:t>A</a:t>
            </a:r>
            <a:r>
              <a:rPr lang="en-IN" dirty="0">
                <a:sym typeface="+mn-ea"/>
              </a:rPr>
              <a:t>.</a:t>
            </a:r>
            <a:r>
              <a:rPr lang="en-US" altLang="en-IN" dirty="0">
                <a:sym typeface="+mn-ea"/>
              </a:rPr>
              <a:t> 13</a:t>
            </a:r>
            <a:r>
              <a:rPr lang="en-IN" dirty="0">
                <a:sym typeface="+mn-ea"/>
              </a:rPr>
              <a:t>2</a:t>
            </a:r>
            <a:r>
              <a:rPr lang="en-US" altLang="en-IN" dirty="0">
                <a:sym typeface="+mn-ea"/>
              </a:rPr>
              <a:t>0</a:t>
            </a:r>
            <a:r>
              <a:rPr lang="en-IN" dirty="0">
                <a:sym typeface="+mn-ea"/>
              </a:rPr>
              <a:t> km</a:t>
            </a:r>
            <a:endParaRPr lang="en-IN" dirty="0"/>
          </a:p>
          <a:p>
            <a:pPr marL="0" indent="0" algn="just" fontAlgn="ctr">
              <a:buNone/>
            </a:pPr>
            <a:r>
              <a:rPr lang="en-IN" dirty="0">
                <a:sym typeface="+mn-ea"/>
              </a:rPr>
              <a:t>B. </a:t>
            </a:r>
            <a:r>
              <a:rPr lang="en-US" altLang="en-IN" dirty="0">
                <a:sym typeface="+mn-ea"/>
              </a:rPr>
              <a:t>155</a:t>
            </a:r>
            <a:r>
              <a:rPr lang="en-IN" dirty="0">
                <a:sym typeface="+mn-ea"/>
              </a:rPr>
              <a:t>0 km</a:t>
            </a:r>
            <a:endParaRPr lang="en-IN" dirty="0"/>
          </a:p>
          <a:p>
            <a:pPr marL="0" indent="0" algn="just" fontAlgn="ctr">
              <a:buNone/>
            </a:pPr>
            <a:r>
              <a:rPr lang="en-IN" dirty="0">
                <a:sym typeface="+mn-ea"/>
              </a:rPr>
              <a:t>C. </a:t>
            </a:r>
            <a:r>
              <a:rPr lang="en-US" altLang="en-IN" dirty="0">
                <a:sym typeface="+mn-ea"/>
              </a:rPr>
              <a:t>1</a:t>
            </a:r>
            <a:r>
              <a:rPr lang="en-IN" dirty="0">
                <a:sym typeface="+mn-ea"/>
              </a:rPr>
              <a:t>4</a:t>
            </a:r>
            <a:r>
              <a:rPr lang="en-US" altLang="en-IN" dirty="0">
                <a:sym typeface="+mn-ea"/>
              </a:rPr>
              <a:t>50</a:t>
            </a:r>
            <a:r>
              <a:rPr lang="en-IN" dirty="0">
                <a:sym typeface="+mn-ea"/>
              </a:rPr>
              <a:t> km</a:t>
            </a:r>
            <a:endParaRPr lang="en-IN" dirty="0"/>
          </a:p>
          <a:p>
            <a:pPr marL="0" indent="0" algn="just" fontAlgn="ctr">
              <a:buNone/>
            </a:pPr>
            <a:r>
              <a:rPr lang="en-IN" dirty="0">
                <a:sym typeface="+mn-ea"/>
              </a:rPr>
              <a:t>D. </a:t>
            </a:r>
            <a:r>
              <a:rPr lang="en-US" altLang="en-IN" dirty="0">
                <a:sym typeface="+mn-ea"/>
              </a:rPr>
              <a:t>12</a:t>
            </a:r>
            <a:r>
              <a:rPr lang="en-IN" dirty="0">
                <a:sym typeface="+mn-ea"/>
              </a:rPr>
              <a:t>8</a:t>
            </a:r>
            <a:r>
              <a:rPr lang="en-US" altLang="en-IN" dirty="0">
                <a:sym typeface="+mn-ea"/>
              </a:rPr>
              <a:t>0</a:t>
            </a:r>
            <a:r>
              <a:rPr lang="en-IN" dirty="0">
                <a:sym typeface="+mn-ea"/>
              </a:rPr>
              <a:t> km</a:t>
            </a:r>
            <a:endParaRPr lang="en-IN" dirty="0"/>
          </a:p>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defRPr/>
            </a:pPr>
            <a:endParaRPr lang="en-US" altLang="en-US" noProof="0" dirty="0">
              <a:ln>
                <a:noFill/>
              </a:ln>
              <a:solidFill>
                <a:schemeClr val="tx1"/>
              </a:solidFill>
              <a:effectLst/>
              <a:uLnTx/>
              <a:uFillTx/>
              <a:latin typeface="Arial" panose="020B0604020202020204" pitchFamily="34" charset="0"/>
              <a:cs typeface="Arial" panose="020B0604020202020204" pitchFamily="34" charset="0"/>
              <a:sym typeface="+mn-e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53440" y="796925"/>
            <a:ext cx="10500360" cy="5380355"/>
          </a:xfrm>
        </p:spPr>
        <p:txBody>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lang="en-US" noProof="0" dirty="0">
                <a:ln>
                  <a:noFill/>
                </a:ln>
                <a:effectLst/>
                <a:uLnTx/>
                <a:uFillTx/>
                <a:sym typeface="+mn-ea"/>
              </a:rPr>
              <a:t>10) There are 20 windmills with a constant distance between each pole. A car takes 22 seconds to reach the 12</a:t>
            </a:r>
            <a:r>
              <a:rPr lang="en-US" baseline="30000" noProof="0" dirty="0">
                <a:ln>
                  <a:noFill/>
                </a:ln>
                <a:effectLst/>
                <a:uLnTx/>
                <a:uFillTx/>
                <a:sym typeface="+mn-ea"/>
              </a:rPr>
              <a:t>th</a:t>
            </a:r>
            <a:r>
              <a:rPr lang="en-US" noProof="0" dirty="0">
                <a:ln>
                  <a:noFill/>
                </a:ln>
                <a:effectLst/>
                <a:uLnTx/>
                <a:uFillTx/>
                <a:sym typeface="+mn-ea"/>
              </a:rPr>
              <a:t> pole. How much time will it take to reach the last pole?</a:t>
            </a:r>
            <a:endParaRPr kumimoji="0" lang="en-US" i="0" u="none" strike="noStrike" kern="1200" cap="none" spc="0" normalizeH="0" baseline="0" noProof="0" dirty="0">
              <a:ln>
                <a:noFill/>
              </a:ln>
              <a:solidFill>
                <a:schemeClr val="tx1"/>
              </a:solidFill>
              <a:effectLst/>
              <a:uLnTx/>
              <a:uFillTx/>
              <a:latin typeface="+mn-lt"/>
              <a:ea typeface="+mn-ea"/>
              <a:cs typeface="+mn-cs"/>
            </a:endParaRPr>
          </a:p>
          <a:p>
            <a:pPr marL="514350" marR="0" lvl="0" indent="-514350" algn="l" defTabSz="914400" rtl="0" eaLnBrk="1" fontAlgn="auto" latinLnBrk="0" hangingPunct="1">
              <a:lnSpc>
                <a:spcPct val="100000"/>
              </a:lnSpc>
              <a:spcBef>
                <a:spcPct val="20000"/>
              </a:spcBef>
              <a:spcAft>
                <a:spcPts val="0"/>
              </a:spcAft>
              <a:buClrTx/>
              <a:buSzTx/>
              <a:buFont typeface="Arial" panose="020B0604020202020204" pitchFamily="34" charset="0"/>
              <a:buAutoNum type="alphaLcParenR"/>
              <a:defRPr/>
            </a:pPr>
            <a:r>
              <a:rPr lang="en-US" noProof="0" dirty="0">
                <a:ln>
                  <a:noFill/>
                </a:ln>
                <a:effectLst/>
                <a:uLnTx/>
                <a:uFillTx/>
                <a:sym typeface="+mn-ea"/>
              </a:rPr>
              <a:t>36 seconds</a:t>
            </a:r>
            <a:endParaRPr kumimoji="0" lang="en-US" i="0" u="none" strike="noStrike" kern="1200" cap="none" spc="0" normalizeH="0" baseline="0" noProof="0" dirty="0">
              <a:ln>
                <a:noFill/>
              </a:ln>
              <a:solidFill>
                <a:schemeClr val="tx1"/>
              </a:solidFill>
              <a:effectLst/>
              <a:uLnTx/>
              <a:uFillTx/>
              <a:latin typeface="+mn-lt"/>
              <a:ea typeface="+mn-ea"/>
              <a:cs typeface="+mn-cs"/>
            </a:endParaRPr>
          </a:p>
          <a:p>
            <a:pPr marL="514350" marR="0" lvl="0" indent="-514350" algn="l" defTabSz="914400" rtl="0" eaLnBrk="1" fontAlgn="auto" latinLnBrk="0" hangingPunct="1">
              <a:lnSpc>
                <a:spcPct val="100000"/>
              </a:lnSpc>
              <a:spcBef>
                <a:spcPct val="20000"/>
              </a:spcBef>
              <a:spcAft>
                <a:spcPts val="0"/>
              </a:spcAft>
              <a:buClrTx/>
              <a:buSzTx/>
              <a:buFont typeface="Arial" panose="020B0604020202020204" pitchFamily="34" charset="0"/>
              <a:buAutoNum type="alphaLcParenR"/>
              <a:defRPr/>
            </a:pPr>
            <a:r>
              <a:rPr lang="en-US" noProof="0" dirty="0">
                <a:ln>
                  <a:noFill/>
                </a:ln>
                <a:effectLst/>
                <a:uLnTx/>
                <a:uFillTx/>
                <a:sym typeface="+mn-ea"/>
              </a:rPr>
              <a:t>38 seconds</a:t>
            </a:r>
            <a:endParaRPr kumimoji="0" lang="en-US" i="0" u="none" strike="noStrike" kern="1200" cap="none" spc="0" normalizeH="0" baseline="0" noProof="0" dirty="0">
              <a:ln>
                <a:noFill/>
              </a:ln>
              <a:solidFill>
                <a:schemeClr val="tx1"/>
              </a:solidFill>
              <a:effectLst/>
              <a:uLnTx/>
              <a:uFillTx/>
              <a:latin typeface="+mn-lt"/>
              <a:ea typeface="+mn-ea"/>
              <a:cs typeface="+mn-cs"/>
            </a:endParaRPr>
          </a:p>
          <a:p>
            <a:pPr marL="514350" marR="0" lvl="0" indent="-514350" algn="l" defTabSz="914400" rtl="0" eaLnBrk="1" fontAlgn="auto" latinLnBrk="0" hangingPunct="1">
              <a:lnSpc>
                <a:spcPct val="100000"/>
              </a:lnSpc>
              <a:spcBef>
                <a:spcPct val="20000"/>
              </a:spcBef>
              <a:spcAft>
                <a:spcPts val="0"/>
              </a:spcAft>
              <a:buClrTx/>
              <a:buSzTx/>
              <a:buFont typeface="Arial" panose="020B0604020202020204" pitchFamily="34" charset="0"/>
              <a:buAutoNum type="alphaLcParenR"/>
              <a:defRPr/>
            </a:pPr>
            <a:r>
              <a:rPr lang="en-US" noProof="0" dirty="0">
                <a:ln>
                  <a:noFill/>
                </a:ln>
                <a:effectLst/>
                <a:uLnTx/>
                <a:uFillTx/>
                <a:sym typeface="+mn-ea"/>
              </a:rPr>
              <a:t>40 seconds</a:t>
            </a:r>
            <a:endParaRPr kumimoji="0" lang="en-US" i="0" u="none" strike="noStrike" kern="1200" cap="none" spc="0" normalizeH="0" baseline="0" noProof="0" dirty="0">
              <a:ln>
                <a:noFill/>
              </a:ln>
              <a:solidFill>
                <a:schemeClr val="tx1"/>
              </a:solidFill>
              <a:effectLst/>
              <a:uLnTx/>
              <a:uFillTx/>
              <a:latin typeface="+mn-lt"/>
              <a:ea typeface="+mn-ea"/>
              <a:cs typeface="+mn-cs"/>
            </a:endParaRPr>
          </a:p>
          <a:p>
            <a:pPr marL="514350" marR="0" lvl="0" indent="-514350" algn="l" defTabSz="914400" rtl="0" eaLnBrk="1" fontAlgn="auto" latinLnBrk="0" hangingPunct="1">
              <a:lnSpc>
                <a:spcPct val="100000"/>
              </a:lnSpc>
              <a:spcBef>
                <a:spcPct val="20000"/>
              </a:spcBef>
              <a:spcAft>
                <a:spcPts val="0"/>
              </a:spcAft>
              <a:buClrTx/>
              <a:buSzTx/>
              <a:buFont typeface="Arial" panose="020B0604020202020204" pitchFamily="34" charset="0"/>
              <a:buAutoNum type="alphaLcParenR"/>
              <a:defRPr/>
            </a:pPr>
            <a:r>
              <a:rPr lang="en-US" noProof="0" dirty="0">
                <a:ln>
                  <a:noFill/>
                </a:ln>
                <a:effectLst/>
                <a:uLnTx/>
                <a:uFillTx/>
                <a:sym typeface="+mn-ea"/>
              </a:rPr>
              <a:t>42 seconds</a:t>
            </a:r>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1"/>
          <p:cNvPicPr>
            <a:picLocks noChangeAspect="1"/>
          </p:cNvPicPr>
          <p:nvPr/>
        </p:nvPicPr>
        <p:blipFill>
          <a:blip r:embed="rId2"/>
          <a:stretch>
            <a:fillRect/>
          </a:stretch>
        </p:blipFill>
        <p:spPr>
          <a:xfrm>
            <a:off x="2208213" y="981075"/>
            <a:ext cx="7883525" cy="4846638"/>
          </a:xfrm>
          <a:prstGeom prst="rect">
            <a:avLst/>
          </a:prstGeom>
          <a:noFill/>
          <a:ln w="9525">
            <a:no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839</Words>
  <Application>Microsoft Office PowerPoint</Application>
  <PresentationFormat>Custom</PresentationFormat>
  <Paragraphs>177</Paragraphs>
  <Slides>25</Slides>
  <Notes>8</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Office Theme</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PEA 516 LECTURE-1 Time and Work </dc:title>
  <dc:creator/>
  <cp:lastModifiedBy>rahul</cp:lastModifiedBy>
  <cp:revision>24</cp:revision>
  <dcterms:created xsi:type="dcterms:W3CDTF">2025-01-03T10:26:00Z</dcterms:created>
  <dcterms:modified xsi:type="dcterms:W3CDTF">2025-01-12T05:17:11Z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C7455BE7D95F46A7B59DA7665120D117_11</vt:lpwstr>
  </property>
  <property fmtid="{D5CDD505-2E9C-101B-9397-08002B2CF9AE}" pid="3" name="KSOProductBuildVer">
    <vt:lpwstr>1033-12.2.0.19307</vt:lpwstr>
  </property>
</Properties>
</file>