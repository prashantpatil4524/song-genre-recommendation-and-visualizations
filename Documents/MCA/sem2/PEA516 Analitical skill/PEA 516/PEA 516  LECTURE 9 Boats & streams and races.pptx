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312" r:id="rId2"/>
    <p:sldId id="259" r:id="rId3"/>
    <p:sldId id="402" r:id="rId4"/>
    <p:sldId id="401" r:id="rId5"/>
    <p:sldId id="385" r:id="rId6"/>
    <p:sldId id="403" r:id="rId7"/>
    <p:sldId id="405" r:id="rId8"/>
    <p:sldId id="364" r:id="rId9"/>
    <p:sldId id="404" r:id="rId10"/>
    <p:sldId id="362" r:id="rId11"/>
    <p:sldId id="365" r:id="rId12"/>
    <p:sldId id="344" r:id="rId13"/>
    <p:sldId id="387" r:id="rId14"/>
    <p:sldId id="347" r:id="rId15"/>
    <p:sldId id="346" r:id="rId16"/>
    <p:sldId id="388" r:id="rId17"/>
    <p:sldId id="345" r:id="rId18"/>
    <p:sldId id="366" r:id="rId19"/>
    <p:sldId id="367" r:id="rId20"/>
    <p:sldId id="267" r:id="rId21"/>
    <p:sldId id="313" r:id="rId22"/>
    <p:sldId id="386" r:id="rId23"/>
    <p:sldId id="406" r:id="rId24"/>
    <p:sldId id="407" r:id="rId25"/>
    <p:sldId id="408" r:id="rId26"/>
    <p:sldId id="28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p:scale>
          <a:sx n="81" d="100"/>
          <a:sy n="81" d="100"/>
        </p:scale>
        <p:origin x="-246"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12-Jan-25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2178197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dirty="0">
                <a:latin typeface="Arial" panose="020B0604020202020204" pitchFamily="34" charset="0"/>
                <a:sym typeface="+mn-ea"/>
              </a:rPr>
              <a:t>Ans: 92.86 miles/hour </a:t>
            </a:r>
            <a:endParaRPr lang="en-IN" altLang="en-US" dirty="0">
              <a:latin typeface="Arial" panose="020B0604020202020204" pitchFamily="34" charset="0"/>
            </a:endParaRPr>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12-Jan-25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12-Jan-25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12-Jan-25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12-Jan-25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8667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7238" y="4983163"/>
            <a:ext cx="8183563" cy="1052513"/>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600" b="1" i="0" u="none" strike="noStrike" kern="1200" cap="none" spc="0" normalizeH="0" baseline="0" noProof="0" dirty="0">
                <a:ln>
                  <a:noFill/>
                </a:ln>
                <a:solidFill>
                  <a:srgbClr val="6594DA"/>
                </a:solidFill>
                <a:effectLst>
                  <a:outerShdw blurRad="53975" dist="22860" dir="5400000" algn="tl" rotWithShape="0">
                    <a:srgbClr val="000000">
                      <a:alpha val="55000"/>
                    </a:srgbClr>
                  </a:outerShdw>
                </a:effectLst>
                <a:uLnTx/>
                <a:uFillTx/>
                <a:latin typeface="+mj-lt"/>
                <a:ea typeface="+mj-ea"/>
                <a:cs typeface="+mj-cs"/>
              </a:rPr>
              <a:t> </a:t>
            </a:r>
          </a:p>
        </p:txBody>
      </p:sp>
      <p:sp>
        <p:nvSpPr>
          <p:cNvPr id="120834" name="Content Placeholder 4"/>
          <p:cNvSpPr>
            <a:spLocks noGrp="1"/>
          </p:cNvSpPr>
          <p:nvPr>
            <p:ph idx="1"/>
          </p:nvPr>
        </p:nvSpPr>
        <p:spPr>
          <a:xfrm>
            <a:off x="2027238" y="530225"/>
            <a:ext cx="8183562" cy="4187825"/>
          </a:xfrm>
        </p:spPr>
        <p:txBody>
          <a:bodyPr vert="horz" wrap="square" lIns="182880" tIns="91440" rIns="91440" bIns="45720" anchor="t" anchorCtr="0"/>
          <a:lstStyle/>
          <a:p>
            <a:pPr marL="0" indent="0" algn="ctr">
              <a:buNone/>
            </a:pPr>
            <a:endParaRPr lang="en-US" altLang="en-US" sz="4000" b="1" u="sng" dirty="0">
              <a:solidFill>
                <a:schemeClr val="tx1"/>
              </a:solidFill>
              <a:latin typeface="Algerian" panose="04020705040A02060702" pitchFamily="82" charset="0"/>
            </a:endParaRPr>
          </a:p>
          <a:p>
            <a:pPr marL="0" indent="0" algn="ctr">
              <a:buNone/>
            </a:pPr>
            <a:endParaRPr lang="en-US" altLang="en-US" sz="4000" b="1" u="sng" dirty="0">
              <a:solidFill>
                <a:schemeClr val="tx1"/>
              </a:solidFill>
              <a:latin typeface="Algerian" panose="04020705040A02060702" pitchFamily="82" charset="0"/>
            </a:endParaRPr>
          </a:p>
          <a:p>
            <a:pPr marL="0" indent="0" algn="ctr">
              <a:buNone/>
            </a:pPr>
            <a:r>
              <a:rPr lang="en-US" altLang="en-US" sz="4000" b="1" u="sng" dirty="0">
                <a:solidFill>
                  <a:schemeClr val="tx1"/>
                </a:solidFill>
                <a:latin typeface="Algerian" panose="04020705040A02060702" pitchFamily="82" charset="0"/>
              </a:rPr>
              <a:t>pea 516</a:t>
            </a:r>
          </a:p>
          <a:p>
            <a:pPr marL="0" indent="0" algn="ctr">
              <a:buNone/>
            </a:pPr>
            <a:r>
              <a:rPr lang="en-US" altLang="en-US" sz="4000" b="1" u="sng" dirty="0" smtClean="0">
                <a:solidFill>
                  <a:schemeClr val="tx1"/>
                </a:solidFill>
                <a:latin typeface="Algerian" panose="04020705040A02060702" pitchFamily="82" charset="0"/>
              </a:rPr>
              <a:t>Lecture-9</a:t>
            </a:r>
            <a:endParaRPr lang="en-US" altLang="en-US" sz="4000" b="1" u="sng" dirty="0">
              <a:solidFill>
                <a:schemeClr val="tx1"/>
              </a:solidFill>
              <a:latin typeface="Algerian" panose="04020705040A02060702" pitchFamily="82" charset="0"/>
            </a:endParaRPr>
          </a:p>
          <a:p>
            <a:pPr marL="0" algn="ctr">
              <a:buClrTx/>
              <a:buSzTx/>
              <a:buNone/>
            </a:pPr>
            <a:r>
              <a:rPr lang="en-US" altLang="en-US" sz="4000" b="1" u="sng" dirty="0">
                <a:latin typeface="Algerian" panose="04020705040A02060702" pitchFamily="82" charset="0"/>
              </a:rPr>
              <a:t> Boats &amp; streams and races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marL="0" indent="0">
              <a:buNone/>
            </a:pPr>
            <a:r>
              <a:rPr lang="en-US" sz="4000" b="1" noProof="0" dirty="0" smtClean="0">
                <a:ln>
                  <a:noFill/>
                </a:ln>
                <a:effectLst/>
                <a:uLnTx/>
                <a:uFillTx/>
                <a:sym typeface="+mn-ea"/>
              </a:rPr>
              <a:t>Contents:</a:t>
            </a:r>
            <a:endParaRPr lang="en-US" altLang="en-US" sz="4000" b="1"/>
          </a:p>
          <a:p>
            <a:pPr marL="0" indent="0">
              <a:buNone/>
            </a:pPr>
            <a:endParaRPr lang="en-US" altLang="en-US"/>
          </a:p>
          <a:p>
            <a:pPr>
              <a:buFont typeface="Wingdings" panose="05000000000000000000" charset="0"/>
              <a:buChar char="v"/>
            </a:pPr>
            <a:r>
              <a:rPr lang="en-US" altLang="en-US"/>
              <a:t>Concept of downstream and upstream</a:t>
            </a:r>
          </a:p>
          <a:p>
            <a:pPr>
              <a:buFont typeface="Wingdings" panose="05000000000000000000" charset="0"/>
              <a:buChar char="v"/>
            </a:pPr>
            <a:endParaRPr lang="en-US" altLang="en-US"/>
          </a:p>
          <a:p>
            <a:pPr>
              <a:buFont typeface="Wingdings" panose="05000000000000000000" charset="0"/>
              <a:buChar char="v"/>
            </a:pPr>
            <a:r>
              <a:rPr lang="en-US" altLang="en-US"/>
              <a:t>linear and circular track problems</a:t>
            </a:r>
          </a:p>
        </p:txBody>
      </p:sp>
      <p:pic>
        <p:nvPicPr>
          <p:cNvPr id="8" name="Content Placeholder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15405" y="2225675"/>
            <a:ext cx="4693920" cy="35509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12495" y="1524000"/>
            <a:ext cx="9298305" cy="4831080"/>
          </a:xfrm>
          <a:prstGeom prst="rect">
            <a:avLst/>
          </a:prstGeom>
        </p:spPr>
        <p:txBody>
          <a:bodyPr wrap="square">
            <a:spAutoFit/>
          </a:bodyPr>
          <a:lstStyle/>
          <a:p>
            <a:pPr algn="just"/>
            <a:r>
              <a:rPr lang="en-US" sz="2800" dirty="0">
                <a:solidFill>
                  <a:srgbClr val="610B38"/>
                </a:solidFill>
              </a:rPr>
              <a:t>General terms:</a:t>
            </a:r>
          </a:p>
          <a:p>
            <a:pPr algn="just"/>
            <a:r>
              <a:rPr lang="en-US" sz="2800" dirty="0">
                <a:solidFill>
                  <a:srgbClr val="333333"/>
                </a:solidFill>
              </a:rPr>
              <a:t>1) </a:t>
            </a:r>
            <a:r>
              <a:rPr lang="en-US" sz="2800" b="1" dirty="0">
                <a:solidFill>
                  <a:srgbClr val="333333"/>
                </a:solidFill>
              </a:rPr>
              <a:t>Still water:</a:t>
            </a:r>
            <a:r>
              <a:rPr lang="en-US" sz="2800" dirty="0">
                <a:solidFill>
                  <a:srgbClr val="333333"/>
                </a:solidFill>
              </a:rPr>
              <a:t> The water of a river or any other water body which is not flowing is known as still water.</a:t>
            </a:r>
          </a:p>
          <a:p>
            <a:pPr algn="just"/>
            <a:r>
              <a:rPr lang="en-US" sz="2800" dirty="0">
                <a:solidFill>
                  <a:srgbClr val="333333"/>
                </a:solidFill>
              </a:rPr>
              <a:t>2) </a:t>
            </a:r>
            <a:r>
              <a:rPr lang="en-US" sz="2800" b="1" dirty="0">
                <a:solidFill>
                  <a:srgbClr val="333333"/>
                </a:solidFill>
              </a:rPr>
              <a:t>Stream:</a:t>
            </a:r>
            <a:r>
              <a:rPr lang="en-US" sz="2800" dirty="0">
                <a:solidFill>
                  <a:srgbClr val="333333"/>
                </a:solidFill>
              </a:rPr>
              <a:t> It is the flowing water of a river which is moving at a certain speed.</a:t>
            </a:r>
          </a:p>
          <a:p>
            <a:pPr algn="just"/>
            <a:r>
              <a:rPr lang="en-US" sz="2800" dirty="0">
                <a:solidFill>
                  <a:srgbClr val="333333"/>
                </a:solidFill>
              </a:rPr>
              <a:t>3) </a:t>
            </a:r>
            <a:r>
              <a:rPr lang="en-US" sz="2800" b="1" dirty="0">
                <a:solidFill>
                  <a:srgbClr val="333333"/>
                </a:solidFill>
              </a:rPr>
              <a:t>Upstream:</a:t>
            </a:r>
            <a:r>
              <a:rPr lang="en-US" sz="2800" dirty="0">
                <a:solidFill>
                  <a:srgbClr val="333333"/>
                </a:solidFill>
              </a:rPr>
              <a:t> The boat or a swimmer moving against the stream is known as moving upstream i.e. against the flow of water.</a:t>
            </a:r>
          </a:p>
          <a:p>
            <a:pPr algn="just"/>
            <a:r>
              <a:rPr lang="en-US" sz="2800" dirty="0">
                <a:solidFill>
                  <a:srgbClr val="333333"/>
                </a:solidFill>
              </a:rPr>
              <a:t>4) </a:t>
            </a:r>
            <a:r>
              <a:rPr lang="en-US" sz="2800" b="1" dirty="0">
                <a:solidFill>
                  <a:srgbClr val="333333"/>
                </a:solidFill>
              </a:rPr>
              <a:t>Downstream:</a:t>
            </a:r>
            <a:r>
              <a:rPr lang="en-US" sz="2800" dirty="0">
                <a:solidFill>
                  <a:srgbClr val="333333"/>
                </a:solidFill>
              </a:rPr>
              <a:t> The boat or a swimmer moving along the stream is known as moving downstream i.e. along the flow of water.</a:t>
            </a:r>
            <a:endParaRPr lang="en-US" sz="2800" b="0" i="0" dirty="0">
              <a:solidFill>
                <a:srgbClr val="333333"/>
              </a:solidFill>
              <a:effectLst/>
            </a:endParaRPr>
          </a:p>
        </p:txBody>
      </p:sp>
      <p:sp>
        <p:nvSpPr>
          <p:cNvPr id="4" name="Rectangle 3"/>
          <p:cNvSpPr/>
          <p:nvPr/>
        </p:nvSpPr>
        <p:spPr>
          <a:xfrm>
            <a:off x="912495" y="602615"/>
            <a:ext cx="9478010" cy="921385"/>
          </a:xfrm>
          <a:prstGeom prst="rect">
            <a:avLst/>
          </a:prstGeom>
          <a:solidFill>
            <a:srgbClr val="C00000"/>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en-IN" sz="2100" b="1" dirty="0">
                <a:solidFill>
                  <a:schemeClr val="bg1"/>
                </a:solidFill>
                <a:latin typeface="Times New Roman" panose="02020603050405020304" pitchFamily="18" charset="0"/>
                <a:cs typeface="Times New Roman" panose="02020603050405020304" pitchFamily="18" charset="0"/>
              </a:rPr>
              <a:t>Boats and Streams</a:t>
            </a:r>
            <a:endParaRPr lang="en-US" sz="21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40435" y="771525"/>
            <a:ext cx="9450070" cy="752475"/>
          </a:xfrm>
          <a:prstGeom prst="rect">
            <a:avLst/>
          </a:prstGeom>
          <a:solidFill>
            <a:srgbClr val="C00000"/>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r>
              <a:rPr lang="en-IN" sz="2100" b="1" dirty="0">
                <a:solidFill>
                  <a:schemeClr val="bg1"/>
                </a:solidFill>
                <a:latin typeface="Times New Roman" panose="02020603050405020304" pitchFamily="18" charset="0"/>
                <a:cs typeface="Times New Roman" panose="02020603050405020304" pitchFamily="18" charset="0"/>
              </a:rPr>
              <a:t>Boats and Streams</a:t>
            </a:r>
            <a:endParaRPr lang="en-US" sz="2100" b="1" dirty="0">
              <a:solidFill>
                <a:schemeClr val="bg1"/>
              </a:solidFill>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2265" y="1981200"/>
            <a:ext cx="2886075" cy="4148455"/>
          </a:xfrm>
          <a:prstGeom prst="rect">
            <a:avLst/>
          </a:prstGeom>
        </p:spPr>
      </p:pic>
      <p:graphicFrame>
        <p:nvGraphicFramePr>
          <p:cNvPr id="9" name="Table 8"/>
          <p:cNvGraphicFramePr>
            <a:graphicFrameLocks noGrp="1"/>
          </p:cNvGraphicFramePr>
          <p:nvPr>
            <p:custDataLst>
              <p:tags r:id="rId1"/>
            </p:custDataLst>
          </p:nvPr>
        </p:nvGraphicFramePr>
        <p:xfrm>
          <a:off x="939800" y="1787525"/>
          <a:ext cx="6904990" cy="4293870"/>
        </p:xfrm>
        <a:graphic>
          <a:graphicData uri="http://schemas.openxmlformats.org/drawingml/2006/table">
            <a:tbl>
              <a:tblPr/>
              <a:tblGrid>
                <a:gridCol w="3452495"/>
                <a:gridCol w="3452495"/>
              </a:tblGrid>
              <a:tr h="775335">
                <a:tc>
                  <a:txBody>
                    <a:bodyPr/>
                    <a:lstStyle/>
                    <a:p>
                      <a:pPr fontAlgn="t"/>
                      <a:r>
                        <a:rPr lang="en-IN" sz="2800">
                          <a:effectLst/>
                        </a:rPr>
                        <a:t>Upstream</a:t>
                      </a:r>
                    </a:p>
                  </a:txBody>
                  <a:tcPr>
                    <a:lnL>
                      <a:noFill/>
                    </a:lnL>
                    <a:lnR>
                      <a:noFill/>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E9FBE5"/>
                    </a:solidFill>
                  </a:tcPr>
                </a:tc>
                <a:tc>
                  <a:txBody>
                    <a:bodyPr/>
                    <a:lstStyle/>
                    <a:p>
                      <a:pPr fontAlgn="t"/>
                      <a:r>
                        <a:rPr lang="en-IN" sz="2800" b="1">
                          <a:effectLst/>
                        </a:rPr>
                        <a:t>(u−v) km/hr</a:t>
                      </a:r>
                    </a:p>
                  </a:txBody>
                  <a:tcPr>
                    <a:lnL>
                      <a:noFill/>
                    </a:lnL>
                    <a:lnR>
                      <a:noFill/>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E9FBE5"/>
                    </a:solidFill>
                  </a:tcPr>
                </a:tc>
              </a:tr>
              <a:tr h="775335">
                <a:tc>
                  <a:txBody>
                    <a:bodyPr/>
                    <a:lstStyle/>
                    <a:p>
                      <a:pPr fontAlgn="t"/>
                      <a:r>
                        <a:rPr lang="en-IN" sz="2800">
                          <a:effectLst/>
                        </a:rPr>
                        <a:t>Downstream</a:t>
                      </a:r>
                    </a:p>
                  </a:txBody>
                  <a:tcPr>
                    <a:lnL>
                      <a:noFill/>
                    </a:lnL>
                    <a:lnR>
                      <a:noFill/>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E9FBE5"/>
                    </a:solidFill>
                  </a:tcPr>
                </a:tc>
                <a:tc>
                  <a:txBody>
                    <a:bodyPr/>
                    <a:lstStyle/>
                    <a:p>
                      <a:pPr fontAlgn="t"/>
                      <a:r>
                        <a:rPr lang="en-IN" sz="2800" b="1">
                          <a:effectLst/>
                        </a:rPr>
                        <a:t>(u+v)Km/hr</a:t>
                      </a:r>
                    </a:p>
                  </a:txBody>
                  <a:tcPr>
                    <a:lnL>
                      <a:noFill/>
                    </a:lnL>
                    <a:lnR>
                      <a:noFill/>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E9FBE5"/>
                    </a:solidFill>
                  </a:tcPr>
                </a:tc>
              </a:tr>
              <a:tr h="1357630">
                <a:tc>
                  <a:txBody>
                    <a:bodyPr/>
                    <a:lstStyle/>
                    <a:p>
                      <a:pPr fontAlgn="t"/>
                      <a:r>
                        <a:rPr lang="en-US" sz="2800">
                          <a:effectLst/>
                        </a:rPr>
                        <a:t>Speed of Boat in Still Water</a:t>
                      </a:r>
                    </a:p>
                  </a:txBody>
                  <a:tcPr>
                    <a:lnL>
                      <a:noFill/>
                    </a:lnL>
                    <a:lnR>
                      <a:noFill/>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E9FBE5"/>
                    </a:solidFill>
                  </a:tcPr>
                </a:tc>
                <a:tc>
                  <a:txBody>
                    <a:bodyPr/>
                    <a:lstStyle/>
                    <a:p>
                      <a:pPr fontAlgn="t"/>
                      <a:r>
                        <a:rPr lang="en-IN" sz="2800" b="1">
                          <a:effectLst/>
                        </a:rPr>
                        <a:t>½ (Downstream Speed + Upstream Speed)</a:t>
                      </a:r>
                    </a:p>
                  </a:txBody>
                  <a:tcPr>
                    <a:lnL>
                      <a:noFill/>
                    </a:lnL>
                    <a:lnR>
                      <a:noFill/>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E9FBE5"/>
                    </a:solidFill>
                  </a:tcPr>
                </a:tc>
              </a:tr>
              <a:tr h="1356995">
                <a:tc>
                  <a:txBody>
                    <a:bodyPr/>
                    <a:lstStyle/>
                    <a:p>
                      <a:pPr fontAlgn="t"/>
                      <a:r>
                        <a:rPr lang="en-IN" sz="2800">
                          <a:effectLst/>
                        </a:rPr>
                        <a:t>Speed of Stream </a:t>
                      </a:r>
                    </a:p>
                  </a:txBody>
                  <a:tcPr>
                    <a:lnL>
                      <a:noFill/>
                    </a:lnL>
                    <a:lnR>
                      <a:noFill/>
                    </a:lnR>
                    <a:lnT w="7620" cap="flat" cmpd="sng" algn="ctr">
                      <a:solidFill>
                        <a:srgbClr val="DEE2E6"/>
                      </a:solidFill>
                      <a:prstDash val="solid"/>
                      <a:round/>
                      <a:headEnd type="none" w="med" len="med"/>
                      <a:tailEnd type="none" w="med" len="med"/>
                    </a:lnT>
                    <a:lnB>
                      <a:noFill/>
                    </a:lnB>
                    <a:solidFill>
                      <a:srgbClr val="E9FBE5"/>
                    </a:solidFill>
                  </a:tcPr>
                </a:tc>
                <a:tc>
                  <a:txBody>
                    <a:bodyPr/>
                    <a:lstStyle/>
                    <a:p>
                      <a:pPr fontAlgn="t"/>
                      <a:r>
                        <a:rPr lang="en-IN" sz="2800" b="1" dirty="0">
                          <a:effectLst/>
                        </a:rPr>
                        <a:t>½ (Downstream Speed – Upstream Speed)</a:t>
                      </a:r>
                    </a:p>
                  </a:txBody>
                  <a:tcPr>
                    <a:lnL>
                      <a:noFill/>
                    </a:lnL>
                    <a:lnR>
                      <a:noFill/>
                    </a:lnR>
                    <a:lnT w="7620" cap="flat" cmpd="sng" algn="ctr">
                      <a:solidFill>
                        <a:srgbClr val="DEE2E6"/>
                      </a:solidFill>
                      <a:prstDash val="solid"/>
                      <a:round/>
                      <a:headEnd type="none" w="med" len="med"/>
                      <a:tailEnd type="none" w="med" len="med"/>
                    </a:lnT>
                    <a:lnB>
                      <a:noFill/>
                    </a:lnB>
                    <a:solidFill>
                      <a:srgbClr val="E9FBE5"/>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2"/>
          <p:cNvSpPr>
            <a:spLocks noGrp="1"/>
          </p:cNvSpPr>
          <p:nvPr>
            <p:ph idx="1"/>
          </p:nvPr>
        </p:nvSpPr>
        <p:spPr>
          <a:xfrm>
            <a:off x="952500" y="808990"/>
            <a:ext cx="9987915" cy="5591810"/>
          </a:xfrm>
        </p:spPr>
        <p:txBody>
          <a:bodyPr vert="horz" wrap="square" lIns="91440" tIns="45720" rIns="91440" bIns="45720" anchor="t" anchorCtr="0">
            <a:norm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noProof="0" dirty="0" smtClean="0">
                <a:ln>
                  <a:noFill/>
                </a:ln>
                <a:effectLst/>
                <a:uLnTx/>
                <a:uFillTx/>
                <a:sym typeface="+mn-ea"/>
              </a:rPr>
              <a:t>1) A </a:t>
            </a:r>
            <a:r>
              <a:rPr lang="en-US" noProof="0" dirty="0">
                <a:ln>
                  <a:noFill/>
                </a:ln>
                <a:effectLst/>
                <a:uLnTx/>
                <a:uFillTx/>
                <a:sym typeface="+mn-ea"/>
              </a:rPr>
              <a:t>boat can travel with a speed of 13 km/</a:t>
            </a:r>
            <a:r>
              <a:rPr lang="en-US" noProof="0" dirty="0" err="1">
                <a:ln>
                  <a:noFill/>
                </a:ln>
                <a:effectLst/>
                <a:uLnTx/>
                <a:uFillTx/>
                <a:sym typeface="+mn-ea"/>
              </a:rPr>
              <a:t>hr</a:t>
            </a:r>
            <a:r>
              <a:rPr lang="en-US" noProof="0" dirty="0">
                <a:ln>
                  <a:noFill/>
                </a:ln>
                <a:effectLst/>
                <a:uLnTx/>
                <a:uFillTx/>
                <a:sym typeface="+mn-ea"/>
              </a:rPr>
              <a:t> in still water. If the speed of the stream is 4 km/</a:t>
            </a:r>
            <a:r>
              <a:rPr lang="en-US" noProof="0" dirty="0" err="1">
                <a:ln>
                  <a:noFill/>
                </a:ln>
                <a:effectLst/>
                <a:uLnTx/>
                <a:uFillTx/>
                <a:sym typeface="+mn-ea"/>
              </a:rPr>
              <a:t>hr</a:t>
            </a:r>
            <a:r>
              <a:rPr lang="en-US" noProof="0" dirty="0">
                <a:ln>
                  <a:noFill/>
                </a:ln>
                <a:effectLst/>
                <a:uLnTx/>
                <a:uFillTx/>
                <a:sym typeface="+mn-ea"/>
              </a:rPr>
              <a:t>, find the time taken by the boat to go 68 km </a:t>
            </a:r>
            <a:r>
              <a:rPr lang="en-US" noProof="0" dirty="0" smtClean="0">
                <a:ln>
                  <a:noFill/>
                </a:ln>
                <a:effectLst/>
                <a:uLnTx/>
                <a:uFillTx/>
                <a:sym typeface="+mn-ea"/>
              </a:rPr>
              <a:t>upstream</a:t>
            </a:r>
            <a:r>
              <a:rPr lang="en-US" noProof="0" dirty="0">
                <a:ln>
                  <a:noFill/>
                </a:ln>
                <a:effectLst/>
                <a:uLnTx/>
                <a:uFillTx/>
                <a:sym typeface="+mn-ea"/>
              </a:rPr>
              <a:t>.</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2 hours</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3 hours</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4 hours</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smtClean="0">
                <a:ln>
                  <a:noFill/>
                </a:ln>
                <a:effectLst/>
                <a:uLnTx/>
                <a:uFillTx/>
                <a:sym typeface="+mn-ea"/>
              </a:rPr>
              <a:t>7.5 </a:t>
            </a:r>
            <a:r>
              <a:rPr lang="en-US" noProof="0" dirty="0">
                <a:ln>
                  <a:noFill/>
                </a:ln>
                <a:effectLst/>
                <a:uLnTx/>
                <a:uFillTx/>
                <a:sym typeface="+mn-ea"/>
              </a:rPr>
              <a:t>hours</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8510" y="962025"/>
            <a:ext cx="10575290" cy="5215255"/>
          </a:xfrm>
        </p:spPr>
        <p:txBody>
          <a:bodyPr/>
          <a:lstStyle/>
          <a:p>
            <a:pPr marL="0" indent="0" fontAlgn="t">
              <a:buNone/>
            </a:pPr>
            <a:r>
              <a:rPr lang="en-US" altLang="en-IN" dirty="0">
                <a:latin typeface="Calibri (Body)" charset="0"/>
                <a:cs typeface="Calibri (Body)" charset="0"/>
                <a:sym typeface="+mn-ea"/>
              </a:rPr>
              <a:t>2) </a:t>
            </a:r>
            <a:r>
              <a:rPr lang="en-IN" dirty="0">
                <a:latin typeface="Calibri (Body)" charset="0"/>
                <a:cs typeface="Calibri (Body)" charset="0"/>
                <a:sym typeface="+mn-ea"/>
              </a:rPr>
              <a:t>Ravi can row upstream at 9 km/h and downstream at 15 km/h. Find the Ravi’s speed in still water?</a:t>
            </a:r>
            <a:endParaRPr lang="en-IN" dirty="0">
              <a:latin typeface="Calibri (Body)" charset="0"/>
              <a:cs typeface="Calibri (Body)" charset="0"/>
            </a:endParaRPr>
          </a:p>
          <a:p>
            <a:pPr fontAlgn="t"/>
            <a:endParaRPr lang="en-IN" dirty="0">
              <a:latin typeface="Calibri (Body)" charset="0"/>
              <a:cs typeface="Calibri (Body)" charset="0"/>
            </a:endParaRPr>
          </a:p>
          <a:p>
            <a:pPr marL="0" indent="0" fontAlgn="t">
              <a:buNone/>
            </a:pPr>
            <a:r>
              <a:rPr lang="en-IN" dirty="0">
                <a:latin typeface="Calibri (Body)" charset="0"/>
                <a:cs typeface="Calibri (Body)" charset="0"/>
                <a:sym typeface="+mn-ea"/>
              </a:rPr>
              <a:t>A]12                                         </a:t>
            </a:r>
          </a:p>
          <a:p>
            <a:pPr marL="0" indent="0" fontAlgn="t">
              <a:buNone/>
            </a:pPr>
            <a:r>
              <a:rPr lang="en-IN" dirty="0">
                <a:latin typeface="Calibri (Body)" charset="0"/>
                <a:cs typeface="Calibri (Body)" charset="0"/>
                <a:sym typeface="+mn-ea"/>
              </a:rPr>
              <a:t>B]11         </a:t>
            </a:r>
            <a:endParaRPr lang="en-IN" dirty="0">
              <a:latin typeface="Calibri (Body)" charset="0"/>
              <a:cs typeface="Calibri (Body)" charset="0"/>
            </a:endParaRPr>
          </a:p>
          <a:p>
            <a:pPr marL="0" indent="0" fontAlgn="t">
              <a:buNone/>
            </a:pPr>
            <a:r>
              <a:rPr lang="en-IN" dirty="0">
                <a:latin typeface="Calibri (Body)" charset="0"/>
                <a:cs typeface="Calibri (Body)" charset="0"/>
                <a:sym typeface="+mn-ea"/>
              </a:rPr>
              <a:t>C]13                                         </a:t>
            </a:r>
          </a:p>
          <a:p>
            <a:pPr marL="0" indent="0" fontAlgn="t">
              <a:buNone/>
            </a:pPr>
            <a:r>
              <a:rPr lang="en-IN" dirty="0">
                <a:latin typeface="Calibri (Body)" charset="0"/>
                <a:cs typeface="Calibri (Body)" charset="0"/>
                <a:sym typeface="+mn-ea"/>
              </a:rPr>
              <a:t>D]14</a:t>
            </a:r>
            <a:endParaRPr lang="en-IN" dirty="0">
              <a:latin typeface="Calibri (Body)" charset="0"/>
              <a:cs typeface="Calibri (Body)" charset="0"/>
            </a:endParaRPr>
          </a:p>
          <a:p>
            <a:endParaRPr lang="en-US">
              <a:latin typeface="Calibri (Body)" charset="0"/>
              <a:cs typeface="Calibri (Body)"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42645"/>
            <a:ext cx="10515600" cy="5334635"/>
          </a:xfrm>
        </p:spPr>
        <p:txBody>
          <a:bodyPr/>
          <a:lstStyle/>
          <a:p>
            <a:pPr marL="0" indent="0">
              <a:buNone/>
            </a:pPr>
            <a:r>
              <a:rPr lang="en-US" dirty="0">
                <a:sym typeface="+mn-ea"/>
              </a:rPr>
              <a:t>3) A boat goes 13 km upstream in 39 minutes. The speed of stream is 3 </a:t>
            </a:r>
            <a:r>
              <a:rPr lang="en-US" dirty="0" err="1">
                <a:sym typeface="+mn-ea"/>
              </a:rPr>
              <a:t>kmph</a:t>
            </a:r>
            <a:r>
              <a:rPr lang="en-US" dirty="0">
                <a:sym typeface="+mn-ea"/>
              </a:rPr>
              <a:t>. The speed of boat in still water is?	  </a:t>
            </a:r>
            <a:endParaRPr lang="en-US" dirty="0"/>
          </a:p>
          <a:p>
            <a:pPr marL="0" indent="0">
              <a:buNone/>
            </a:pPr>
            <a:endParaRPr lang="en-US" dirty="0"/>
          </a:p>
          <a:p>
            <a:pPr marL="457200" lvl="0" indent="-457200">
              <a:buAutoNum type="alphaUcParenR"/>
            </a:pPr>
            <a:r>
              <a:rPr lang="en-US" dirty="0">
                <a:sym typeface="+mn-ea"/>
              </a:rPr>
              <a:t>27 </a:t>
            </a:r>
            <a:r>
              <a:rPr lang="en-US" dirty="0" err="1">
                <a:sym typeface="+mn-ea"/>
              </a:rPr>
              <a:t>kmph</a:t>
            </a:r>
            <a:r>
              <a:rPr lang="en-US" dirty="0">
                <a:sym typeface="+mn-ea"/>
              </a:rPr>
              <a:t>	</a:t>
            </a:r>
            <a:endParaRPr lang="en-US" dirty="0"/>
          </a:p>
          <a:p>
            <a:pPr marL="457200" lvl="0" indent="-457200">
              <a:buAutoNum type="alphaUcParenR"/>
            </a:pPr>
            <a:r>
              <a:rPr lang="en-US" dirty="0">
                <a:sym typeface="+mn-ea"/>
              </a:rPr>
              <a:t>23 </a:t>
            </a:r>
            <a:r>
              <a:rPr lang="en-US" dirty="0" err="1">
                <a:sym typeface="+mn-ea"/>
              </a:rPr>
              <a:t>kmph</a:t>
            </a:r>
            <a:r>
              <a:rPr lang="en-US" dirty="0">
                <a:sym typeface="+mn-ea"/>
              </a:rPr>
              <a:t>		</a:t>
            </a:r>
            <a:endParaRPr lang="en-US" dirty="0"/>
          </a:p>
          <a:p>
            <a:pPr marL="457200" lvl="0" indent="-457200">
              <a:buAutoNum type="alphaUcParenR"/>
            </a:pPr>
            <a:r>
              <a:rPr lang="en-US" dirty="0">
                <a:sym typeface="+mn-ea"/>
              </a:rPr>
              <a:t>25 </a:t>
            </a:r>
            <a:r>
              <a:rPr lang="en-US" dirty="0" err="1">
                <a:sym typeface="+mn-ea"/>
              </a:rPr>
              <a:t>kmph</a:t>
            </a:r>
            <a:r>
              <a:rPr lang="en-US" dirty="0">
                <a:sym typeface="+mn-ea"/>
              </a:rPr>
              <a:t>		</a:t>
            </a:r>
            <a:endParaRPr lang="en-US" dirty="0"/>
          </a:p>
          <a:p>
            <a:pPr marL="457200" lvl="0" indent="-457200">
              <a:buAutoNum type="alphaUcParenR"/>
            </a:pPr>
            <a:r>
              <a:rPr lang="en-US" dirty="0">
                <a:sym typeface="+mn-ea"/>
              </a:rPr>
              <a:t>None</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230" y="768350"/>
            <a:ext cx="10529570" cy="5408930"/>
          </a:xfrm>
        </p:spPr>
        <p:txBody>
          <a:bodyPr>
            <a:noAutofit/>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sz="2700" noProof="0" dirty="0" smtClean="0">
                <a:ln>
                  <a:noFill/>
                </a:ln>
                <a:effectLst/>
                <a:uLnTx/>
                <a:uFillTx/>
                <a:sym typeface="+mn-ea"/>
              </a:rPr>
              <a:t>4) A </a:t>
            </a:r>
            <a:r>
              <a:rPr lang="en-US" sz="2700" noProof="0" dirty="0">
                <a:ln>
                  <a:noFill/>
                </a:ln>
                <a:effectLst/>
                <a:uLnTx/>
                <a:uFillTx/>
                <a:sym typeface="+mn-ea"/>
              </a:rPr>
              <a:t>boat running downstream covers a distance of 16 km in 2 hours while for covering the same distance upstream, it takes 4 hours. What is the speed of the boat in still water?</a:t>
            </a:r>
            <a:endParaRPr kumimoji="0" lang="en-US" sz="27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27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sz="2700" noProof="0" dirty="0">
                <a:ln>
                  <a:noFill/>
                </a:ln>
                <a:effectLst/>
                <a:uLnTx/>
                <a:uFillTx/>
                <a:sym typeface="+mn-ea"/>
              </a:rPr>
              <a:t>4 km/</a:t>
            </a:r>
            <a:r>
              <a:rPr lang="en-US" sz="2700" noProof="0" dirty="0" err="1">
                <a:ln>
                  <a:noFill/>
                </a:ln>
                <a:effectLst/>
                <a:uLnTx/>
                <a:uFillTx/>
                <a:sym typeface="+mn-ea"/>
              </a:rPr>
              <a:t>hr</a:t>
            </a:r>
            <a:endParaRPr kumimoji="0" lang="en-US" sz="27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sz="2700" noProof="0" dirty="0">
                <a:ln>
                  <a:noFill/>
                </a:ln>
                <a:effectLst/>
                <a:uLnTx/>
                <a:uFillTx/>
                <a:sym typeface="+mn-ea"/>
              </a:rPr>
              <a:t>6 km/</a:t>
            </a:r>
            <a:r>
              <a:rPr lang="en-US" sz="2700" noProof="0" dirty="0" err="1">
                <a:ln>
                  <a:noFill/>
                </a:ln>
                <a:effectLst/>
                <a:uLnTx/>
                <a:uFillTx/>
                <a:sym typeface="+mn-ea"/>
              </a:rPr>
              <a:t>hr</a:t>
            </a:r>
            <a:endParaRPr kumimoji="0" lang="en-US" sz="27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sz="2700" noProof="0" dirty="0">
                <a:ln>
                  <a:noFill/>
                </a:ln>
                <a:effectLst/>
                <a:uLnTx/>
                <a:uFillTx/>
                <a:sym typeface="+mn-ea"/>
              </a:rPr>
              <a:t>8 km/</a:t>
            </a:r>
            <a:r>
              <a:rPr lang="en-US" sz="2700" noProof="0" dirty="0" err="1">
                <a:ln>
                  <a:noFill/>
                </a:ln>
                <a:effectLst/>
                <a:uLnTx/>
                <a:uFillTx/>
                <a:sym typeface="+mn-ea"/>
              </a:rPr>
              <a:t>hr</a:t>
            </a:r>
            <a:endParaRPr kumimoji="0" lang="en-US" sz="27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sz="2700" noProof="0" dirty="0">
                <a:ln>
                  <a:noFill/>
                </a:ln>
                <a:effectLst/>
                <a:uLnTx/>
                <a:uFillTx/>
                <a:sym typeface="+mn-ea"/>
              </a:rPr>
              <a:t>Data inadequate</a:t>
            </a:r>
            <a:endParaRPr kumimoji="0" lang="en-US" sz="27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lang="en-US" altLang="en-US" sz="2700" baseline="-25000" dirty="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2015" y="856615"/>
            <a:ext cx="10471785" cy="5320665"/>
          </a:xfrm>
        </p:spPr>
        <p:txBody>
          <a:bodyPr/>
          <a:lstStyle/>
          <a:p>
            <a:pPr marL="0" indent="0">
              <a:buNone/>
            </a:pPr>
            <a:r>
              <a:rPr lang="en-US" altLang="en-IN" dirty="0">
                <a:latin typeface="Calibri (Body)" charset="0"/>
                <a:cs typeface="Calibri (Body)" charset="0"/>
                <a:sym typeface="+mn-ea"/>
              </a:rPr>
              <a:t>5) </a:t>
            </a:r>
            <a:r>
              <a:rPr lang="en-IN" dirty="0">
                <a:latin typeface="Calibri (Body)" charset="0"/>
                <a:cs typeface="Calibri (Body)" charset="0"/>
                <a:sym typeface="+mn-ea"/>
              </a:rPr>
              <a:t>A man can row upstream 18 km and 36 km downstream each in 6 hrs. The speed (in kmph) of the  current is?</a:t>
            </a:r>
            <a:endParaRPr lang="en-IN" dirty="0">
              <a:latin typeface="Calibri (Body)" charset="0"/>
              <a:cs typeface="Calibri (Body)" charset="0"/>
            </a:endParaRPr>
          </a:p>
          <a:p>
            <a:endParaRPr lang="en-IN" dirty="0">
              <a:latin typeface="Calibri (Body)" charset="0"/>
              <a:cs typeface="Calibri (Body)" charset="0"/>
            </a:endParaRPr>
          </a:p>
          <a:p>
            <a:pPr marL="0" indent="0">
              <a:buNone/>
            </a:pPr>
            <a:r>
              <a:rPr lang="en-IN" dirty="0">
                <a:latin typeface="Calibri (Body)" charset="0"/>
                <a:cs typeface="Calibri (Body)" charset="0"/>
                <a:sym typeface="+mn-ea"/>
              </a:rPr>
              <a:t>A]2                                      </a:t>
            </a:r>
          </a:p>
          <a:p>
            <a:pPr marL="0" indent="0">
              <a:buNone/>
            </a:pPr>
            <a:r>
              <a:rPr lang="en-IN" dirty="0">
                <a:latin typeface="Calibri (Body)" charset="0"/>
                <a:cs typeface="Calibri (Body)" charset="0"/>
                <a:sym typeface="+mn-ea"/>
              </a:rPr>
              <a:t>B]1.5</a:t>
            </a:r>
            <a:endParaRPr lang="en-IN" dirty="0">
              <a:latin typeface="Calibri (Body)" charset="0"/>
              <a:cs typeface="Calibri (Body)" charset="0"/>
            </a:endParaRPr>
          </a:p>
          <a:p>
            <a:pPr marL="0" indent="0">
              <a:buNone/>
            </a:pPr>
            <a:r>
              <a:rPr lang="en-IN" dirty="0">
                <a:latin typeface="Calibri (Body)" charset="0"/>
                <a:cs typeface="Calibri (Body)" charset="0"/>
                <a:sym typeface="+mn-ea"/>
              </a:rPr>
              <a:t>C]3                                      </a:t>
            </a:r>
          </a:p>
          <a:p>
            <a:pPr marL="0" indent="0">
              <a:buNone/>
            </a:pPr>
            <a:r>
              <a:rPr lang="en-IN" dirty="0">
                <a:latin typeface="Calibri (Body)" charset="0"/>
                <a:cs typeface="Calibri (Body)" charset="0"/>
                <a:sym typeface="+mn-ea"/>
              </a:rPr>
              <a:t>D]4</a:t>
            </a:r>
            <a:endParaRPr lang="en-IN" dirty="0">
              <a:latin typeface="Calibri (Body)" charset="0"/>
              <a:cs typeface="Calibri (Body)" charset="0"/>
            </a:endParaRPr>
          </a:p>
          <a:p>
            <a:endParaRPr lang="en-US">
              <a:latin typeface="Calibri (Body)" charset="0"/>
              <a:cs typeface="Calibri (Body)"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1700"/>
            <a:ext cx="10515600" cy="5275580"/>
          </a:xfrm>
        </p:spPr>
        <p:txBody>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noProof="0" dirty="0">
                <a:ln>
                  <a:noFill/>
                </a:ln>
                <a:effectLst/>
                <a:uLnTx/>
                <a:uFillTx/>
                <a:sym typeface="+mn-ea"/>
              </a:rPr>
              <a:t>6) The speed of a boat in still water in 15 km/</a:t>
            </a:r>
            <a:r>
              <a:rPr lang="en-US" noProof="0" dirty="0" err="1">
                <a:ln>
                  <a:noFill/>
                </a:ln>
                <a:effectLst/>
                <a:uLnTx/>
                <a:uFillTx/>
                <a:sym typeface="+mn-ea"/>
              </a:rPr>
              <a:t>hr</a:t>
            </a:r>
            <a:r>
              <a:rPr lang="en-US" noProof="0" dirty="0">
                <a:ln>
                  <a:noFill/>
                </a:ln>
                <a:effectLst/>
                <a:uLnTx/>
                <a:uFillTx/>
                <a:sym typeface="+mn-ea"/>
              </a:rPr>
              <a:t> and the rate of current is 3 km/hr. The distance travelled downstream in 12 minutes is</a:t>
            </a:r>
            <a:r>
              <a:rPr lang="en-US" noProof="0" dirty="0" smtClean="0">
                <a:ln>
                  <a:noFill/>
                </a:ln>
                <a:effectLst/>
                <a:uLnTx/>
                <a:uFillTx/>
                <a:sym typeface="+mn-ea"/>
              </a:rPr>
              <a:t>:</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smtClean="0">
                <a:ln>
                  <a:noFill/>
                </a:ln>
                <a:effectLst/>
                <a:uLnTx/>
                <a:uFillTx/>
                <a:sym typeface="+mn-ea"/>
              </a:rPr>
              <a:t>2.4 km</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smtClean="0">
                <a:ln>
                  <a:noFill/>
                </a:ln>
                <a:effectLst/>
                <a:uLnTx/>
                <a:uFillTx/>
                <a:sym typeface="+mn-ea"/>
              </a:rPr>
              <a:t>1.5 km</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smtClean="0">
                <a:ln>
                  <a:noFill/>
                </a:ln>
                <a:effectLst/>
                <a:uLnTx/>
                <a:uFillTx/>
                <a:sym typeface="+mn-ea"/>
              </a:rPr>
              <a:t>3.6 km</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5 </a:t>
            </a:r>
            <a:r>
              <a:rPr lang="en-US" noProof="0" dirty="0" smtClean="0">
                <a:ln>
                  <a:noFill/>
                </a:ln>
                <a:effectLst/>
                <a:uLnTx/>
                <a:uFillTx/>
                <a:sym typeface="+mn-ea"/>
              </a:rPr>
              <a:t>km</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440" y="648970"/>
            <a:ext cx="10500360" cy="5528310"/>
          </a:xfrm>
        </p:spPr>
        <p:txBody>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noProof="0" dirty="0" smtClean="0">
                <a:ln>
                  <a:noFill/>
                </a:ln>
                <a:effectLst/>
                <a:uLnTx/>
                <a:uFillTx/>
                <a:sym typeface="+mn-ea"/>
              </a:rPr>
              <a:t>7) A </a:t>
            </a:r>
            <a:r>
              <a:rPr lang="en-US" noProof="0" dirty="0">
                <a:ln>
                  <a:noFill/>
                </a:ln>
                <a:effectLst/>
                <a:uLnTx/>
                <a:uFillTx/>
                <a:sym typeface="+mn-ea"/>
              </a:rPr>
              <a:t>boat is moving 2 km against the current of the stream in 1 hour and moves 1 km in the direction of the current in 10 minutes. How long will it take the boat to go 5 km in stationary water?</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1 </a:t>
            </a:r>
            <a:r>
              <a:rPr lang="en-US" noProof="0" dirty="0" err="1">
                <a:ln>
                  <a:noFill/>
                </a:ln>
                <a:effectLst/>
                <a:uLnTx/>
                <a:uFillTx/>
                <a:sym typeface="+mn-ea"/>
              </a:rPr>
              <a:t>hr</a:t>
            </a:r>
            <a:r>
              <a:rPr lang="en-US" noProof="0" dirty="0">
                <a:ln>
                  <a:noFill/>
                </a:ln>
                <a:effectLst/>
                <a:uLnTx/>
                <a:uFillTx/>
                <a:sym typeface="+mn-ea"/>
              </a:rPr>
              <a:t> 20 minutes</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1 </a:t>
            </a:r>
            <a:r>
              <a:rPr lang="en-US" noProof="0" dirty="0" err="1">
                <a:ln>
                  <a:noFill/>
                </a:ln>
                <a:effectLst/>
                <a:uLnTx/>
                <a:uFillTx/>
                <a:sym typeface="+mn-ea"/>
              </a:rPr>
              <a:t>hr</a:t>
            </a:r>
            <a:r>
              <a:rPr lang="en-US" noProof="0" dirty="0">
                <a:ln>
                  <a:noFill/>
                </a:ln>
                <a:effectLst/>
                <a:uLnTx/>
                <a:uFillTx/>
                <a:sym typeface="+mn-ea"/>
              </a:rPr>
              <a:t> 30 minutes</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1 </a:t>
            </a:r>
            <a:r>
              <a:rPr lang="en-US" noProof="0" dirty="0" err="1">
                <a:ln>
                  <a:noFill/>
                </a:ln>
                <a:effectLst/>
                <a:uLnTx/>
                <a:uFillTx/>
                <a:sym typeface="+mn-ea"/>
              </a:rPr>
              <a:t>hr</a:t>
            </a:r>
            <a:r>
              <a:rPr lang="en-US" noProof="0" dirty="0">
                <a:ln>
                  <a:noFill/>
                </a:ln>
                <a:effectLst/>
                <a:uLnTx/>
                <a:uFillTx/>
                <a:sym typeface="+mn-ea"/>
              </a:rPr>
              <a:t> 15 minutes</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30 </a:t>
            </a:r>
            <a:r>
              <a:rPr lang="en-US" noProof="0" dirty="0" smtClean="0">
                <a:ln>
                  <a:noFill/>
                </a:ln>
                <a:effectLst/>
                <a:uLnTx/>
                <a:uFillTx/>
                <a:sym typeface="+mn-ea"/>
              </a:rPr>
              <a:t>minutes</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p:cNvSpPr>
            <a:spLocks noGrp="1"/>
          </p:cNvSpPr>
          <p:nvPr>
            <p:ph idx="1"/>
          </p:nvPr>
        </p:nvSpPr>
        <p:spPr>
          <a:xfrm>
            <a:off x="953135" y="772160"/>
            <a:ext cx="9808845" cy="5857240"/>
          </a:xfrm>
        </p:spPr>
        <p:txBody>
          <a:bodyPr vert="horz" wrap="square" lIns="91440" tIns="45720" rIns="91440" bIns="45720" anchor="t" anchorCtr="0"/>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noProof="0" dirty="0" smtClean="0">
                <a:ln>
                  <a:noFill/>
                </a:ln>
                <a:effectLst/>
                <a:uLnTx/>
                <a:uFillTx/>
                <a:sym typeface="+mn-ea"/>
              </a:rPr>
              <a:t>8) Find </a:t>
            </a:r>
            <a:r>
              <a:rPr lang="en-US" noProof="0" dirty="0">
                <a:ln>
                  <a:noFill/>
                </a:ln>
                <a:effectLst/>
                <a:uLnTx/>
                <a:uFillTx/>
                <a:sym typeface="+mn-ea"/>
              </a:rPr>
              <a:t>the average speed of a boat in a round trip between two places 25 km apart. If the speed of the boat in still water is 10km/h and the speed of the river is </a:t>
            </a:r>
            <a:r>
              <a:rPr lang="en-US" noProof="0" dirty="0" smtClean="0">
                <a:ln>
                  <a:noFill/>
                </a:ln>
                <a:effectLst/>
                <a:uLnTx/>
                <a:uFillTx/>
                <a:sym typeface="+mn-ea"/>
              </a:rPr>
              <a:t>5 km/h</a:t>
            </a:r>
            <a:r>
              <a:rPr lang="en-US" noProof="0" dirty="0">
                <a:ln>
                  <a:noFill/>
                </a:ln>
                <a:effectLst/>
                <a:uLnTx/>
                <a:uFillTx/>
                <a:sym typeface="+mn-ea"/>
              </a:rPr>
              <a:t>?</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a:ln>
                  <a:noFill/>
                </a:ln>
                <a:effectLst/>
                <a:uLnTx/>
                <a:uFillTx/>
                <a:sym typeface="+mn-ea"/>
              </a:rPr>
              <a:t>7.5</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a:ln>
                  <a:noFill/>
                </a:ln>
                <a:effectLst/>
                <a:uLnTx/>
                <a:uFillTx/>
                <a:sym typeface="+mn-ea"/>
              </a:rPr>
              <a:t>8.25</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a:ln>
                  <a:noFill/>
                </a:ln>
                <a:effectLst/>
                <a:uLnTx/>
                <a:uFillTx/>
                <a:sym typeface="+mn-ea"/>
              </a:rPr>
              <a:t>9.5</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a:ln>
                  <a:noFill/>
                </a:ln>
                <a:effectLst/>
                <a:uLnTx/>
                <a:uFillTx/>
                <a:sym typeface="+mn-ea"/>
              </a:rPr>
              <a:t>None of these</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lang="en-US" altLang="en-US" dirty="0">
              <a:latin typeface="Calibri (Body)" charset="0"/>
              <a:ea typeface="+mj-ea"/>
              <a:cs typeface="Calibri (Body)"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7870"/>
            <a:ext cx="10515600" cy="5439410"/>
          </a:xfrm>
        </p:spPr>
        <p:txBody>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noProof="0" dirty="0" smtClean="0">
                <a:ln>
                  <a:noFill/>
                </a:ln>
                <a:effectLst/>
                <a:uLnTx/>
                <a:uFillTx/>
                <a:sym typeface="+mn-ea"/>
              </a:rPr>
              <a:t>9) A </a:t>
            </a:r>
            <a:r>
              <a:rPr lang="en-US" noProof="0" dirty="0">
                <a:ln>
                  <a:noFill/>
                </a:ln>
                <a:effectLst/>
                <a:uLnTx/>
                <a:uFillTx/>
                <a:sym typeface="+mn-ea"/>
              </a:rPr>
              <a:t>person can swim in water with a speed of 13 km/</a:t>
            </a:r>
            <a:r>
              <a:rPr lang="en-US" noProof="0" dirty="0" err="1">
                <a:ln>
                  <a:noFill/>
                </a:ln>
                <a:effectLst/>
                <a:uLnTx/>
                <a:uFillTx/>
                <a:sym typeface="+mn-ea"/>
              </a:rPr>
              <a:t>hr</a:t>
            </a:r>
            <a:r>
              <a:rPr lang="en-US" noProof="0" dirty="0">
                <a:ln>
                  <a:noFill/>
                </a:ln>
                <a:effectLst/>
                <a:uLnTx/>
                <a:uFillTx/>
                <a:sym typeface="+mn-ea"/>
              </a:rPr>
              <a:t> in still water. If the speed of the stream is 4 km/</a:t>
            </a:r>
            <a:r>
              <a:rPr lang="en-US" noProof="0" dirty="0" err="1">
                <a:ln>
                  <a:noFill/>
                </a:ln>
                <a:effectLst/>
                <a:uLnTx/>
                <a:uFillTx/>
                <a:sym typeface="+mn-ea"/>
              </a:rPr>
              <a:t>hr</a:t>
            </a:r>
            <a:r>
              <a:rPr lang="en-US" noProof="0" dirty="0">
                <a:ln>
                  <a:noFill/>
                </a:ln>
                <a:effectLst/>
                <a:uLnTx/>
                <a:uFillTx/>
                <a:sym typeface="+mn-ea"/>
              </a:rPr>
              <a:t>, what will be the time taken by the person to go 68 km downstream?</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2.5 hours</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3 hours</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4 hours</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3.5 </a:t>
            </a:r>
            <a:r>
              <a:rPr lang="en-US" noProof="0" dirty="0" smtClean="0">
                <a:ln>
                  <a:noFill/>
                </a:ln>
                <a:effectLst/>
                <a:uLnTx/>
                <a:uFillTx/>
                <a:sym typeface="+mn-ea"/>
              </a:rPr>
              <a:t>hours</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p:cNvSpPr>
            <a:spLocks noGrp="1"/>
          </p:cNvSpPr>
          <p:nvPr>
            <p:ph idx="1"/>
          </p:nvPr>
        </p:nvSpPr>
        <p:spPr>
          <a:xfrm>
            <a:off x="878205" y="786130"/>
            <a:ext cx="10479405" cy="5340350"/>
          </a:xfrm>
        </p:spPr>
        <p:txBody>
          <a:bodyPr vert="horz" wrap="square" lIns="91440" tIns="45720" rIns="91440" bIns="45720" anchor="t" anchorCtr="0"/>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noProof="0" dirty="0" smtClean="0">
                <a:ln>
                  <a:noFill/>
                </a:ln>
                <a:effectLst/>
                <a:uLnTx/>
                <a:uFillTx/>
                <a:sym typeface="+mn-ea"/>
              </a:rPr>
              <a:t>10) A </a:t>
            </a:r>
            <a:r>
              <a:rPr lang="en-US" noProof="0" dirty="0">
                <a:ln>
                  <a:noFill/>
                </a:ln>
                <a:effectLst/>
                <a:uLnTx/>
                <a:uFillTx/>
                <a:sym typeface="+mn-ea"/>
              </a:rPr>
              <a:t>motorboat, whose speed in 15 km/</a:t>
            </a:r>
            <a:r>
              <a:rPr lang="en-US" noProof="0" dirty="0" err="1">
                <a:ln>
                  <a:noFill/>
                </a:ln>
                <a:effectLst/>
                <a:uLnTx/>
                <a:uFillTx/>
                <a:sym typeface="+mn-ea"/>
              </a:rPr>
              <a:t>hr</a:t>
            </a:r>
            <a:r>
              <a:rPr lang="en-US" noProof="0" dirty="0">
                <a:ln>
                  <a:noFill/>
                </a:ln>
                <a:effectLst/>
                <a:uLnTx/>
                <a:uFillTx/>
                <a:sym typeface="+mn-ea"/>
              </a:rPr>
              <a:t> in still water goes 30 km downstream and comes back in a total of 4 hours 30 minutes. The speed of the stream (in km/</a:t>
            </a:r>
            <a:r>
              <a:rPr lang="en-US" noProof="0" dirty="0" err="1">
                <a:ln>
                  <a:noFill/>
                </a:ln>
                <a:effectLst/>
                <a:uLnTx/>
                <a:uFillTx/>
                <a:sym typeface="+mn-ea"/>
              </a:rPr>
              <a:t>hr</a:t>
            </a:r>
            <a:r>
              <a:rPr lang="en-US" noProof="0" dirty="0">
                <a:ln>
                  <a:noFill/>
                </a:ln>
                <a:effectLst/>
                <a:uLnTx/>
                <a:uFillTx/>
                <a:sym typeface="+mn-ea"/>
              </a:rPr>
              <a:t>) is:</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4</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5</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6</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10</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767715"/>
            <a:ext cx="10530840" cy="5409565"/>
          </a:xfrm>
        </p:spPr>
        <p:txBody>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noProof="0" dirty="0" smtClean="0">
                <a:ln>
                  <a:noFill/>
                </a:ln>
                <a:effectLst/>
                <a:uLnTx/>
                <a:uFillTx/>
                <a:sym typeface="+mn-ea"/>
              </a:rPr>
              <a:t>11) A </a:t>
            </a:r>
            <a:r>
              <a:rPr lang="en-US" noProof="0" dirty="0">
                <a:ln>
                  <a:noFill/>
                </a:ln>
                <a:effectLst/>
                <a:uLnTx/>
                <a:uFillTx/>
                <a:sym typeface="+mn-ea"/>
              </a:rPr>
              <a:t>boat takes 90 minutes less to travel 36 miles downstream than to travel the same distance upstream. If the speed of the boat in still water is 10 mph, the speed of the stream is:</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2 mph</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2.5 mph</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3 mph</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mj-lt"/>
              <a:buAutoNum type="alphaLcParenR"/>
              <a:defRPr/>
            </a:pPr>
            <a:r>
              <a:rPr lang="en-US" noProof="0" dirty="0">
                <a:ln>
                  <a:noFill/>
                </a:ln>
                <a:effectLst/>
                <a:uLnTx/>
                <a:uFillTx/>
                <a:sym typeface="+mn-ea"/>
              </a:rPr>
              <a:t>4 mph</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1855"/>
            <a:ext cx="10515600" cy="5305425"/>
          </a:xfrm>
        </p:spPr>
        <p:txBody>
          <a:bodyPr/>
          <a:lstStyle/>
          <a:p>
            <a:pPr marL="0" lvl="0" indent="0" algn="just" fontAlgn="t">
              <a:buNone/>
            </a:pPr>
            <a:r>
              <a:rPr lang="en-US" altLang="en-US" dirty="0">
                <a:solidFill>
                  <a:srgbClr val="000000"/>
                </a:solidFill>
                <a:sym typeface="+mn-ea"/>
              </a:rPr>
              <a:t>12) A jogger running at 9 km/</a:t>
            </a:r>
            <a:r>
              <a:rPr lang="en-US" altLang="en-US" dirty="0" err="1">
                <a:solidFill>
                  <a:srgbClr val="000000"/>
                </a:solidFill>
                <a:sym typeface="+mn-ea"/>
              </a:rPr>
              <a:t>hr</a:t>
            </a:r>
            <a:r>
              <a:rPr lang="en-US" altLang="en-US" dirty="0">
                <a:solidFill>
                  <a:srgbClr val="000000"/>
                </a:solidFill>
                <a:sym typeface="+mn-ea"/>
              </a:rPr>
              <a:t> along side a railway track is 260 m ahead of the engine of a 140 m long train running at 45 km/</a:t>
            </a:r>
            <a:r>
              <a:rPr lang="en-US" altLang="en-US" dirty="0" err="1">
                <a:solidFill>
                  <a:srgbClr val="000000"/>
                </a:solidFill>
                <a:sym typeface="+mn-ea"/>
              </a:rPr>
              <a:t>hr</a:t>
            </a:r>
            <a:r>
              <a:rPr lang="en-US" altLang="en-US" dirty="0">
                <a:solidFill>
                  <a:srgbClr val="000000"/>
                </a:solidFill>
                <a:sym typeface="+mn-ea"/>
              </a:rPr>
              <a:t> in the same direction. In how much time will the train pass the jogger ?</a:t>
            </a:r>
          </a:p>
          <a:p>
            <a:pPr marL="0" lvl="0" indent="0" algn="just" fontAlgn="t">
              <a:buNone/>
            </a:pPr>
            <a:endParaRPr lang="en-US" altLang="en-US" dirty="0">
              <a:solidFill>
                <a:srgbClr val="000000"/>
              </a:solidFill>
              <a:latin typeface="+mn-lt"/>
            </a:endParaRPr>
          </a:p>
          <a:p>
            <a:pPr marL="0" lvl="0" indent="0" algn="just" fontAlgn="t">
              <a:buNone/>
            </a:pPr>
            <a:r>
              <a:rPr lang="en-US" altLang="en-US" dirty="0">
                <a:solidFill>
                  <a:srgbClr val="000000"/>
                </a:solidFill>
                <a:sym typeface="+mn-ea"/>
              </a:rPr>
              <a:t>A) 25 sec		</a:t>
            </a:r>
          </a:p>
          <a:p>
            <a:pPr marL="0" lvl="0" indent="0" algn="just" fontAlgn="t">
              <a:buNone/>
            </a:pPr>
            <a:r>
              <a:rPr lang="en-US" altLang="en-US" dirty="0">
                <a:solidFill>
                  <a:srgbClr val="000000"/>
                </a:solidFill>
                <a:sym typeface="+mn-ea"/>
              </a:rPr>
              <a:t>B) 40 sec		</a:t>
            </a:r>
          </a:p>
          <a:p>
            <a:pPr marL="0" lvl="0" indent="0" algn="just" fontAlgn="t">
              <a:buNone/>
            </a:pPr>
            <a:r>
              <a:rPr lang="en-US" altLang="en-US" dirty="0">
                <a:solidFill>
                  <a:srgbClr val="000000"/>
                </a:solidFill>
                <a:sym typeface="+mn-ea"/>
              </a:rPr>
              <a:t>C) 38 sec		</a:t>
            </a:r>
          </a:p>
          <a:p>
            <a:pPr marL="0" lvl="0" indent="0" algn="just" fontAlgn="t">
              <a:buNone/>
            </a:pPr>
            <a:r>
              <a:rPr lang="en-US" altLang="en-US" dirty="0">
                <a:solidFill>
                  <a:srgbClr val="000000"/>
                </a:solidFill>
                <a:sym typeface="+mn-ea"/>
              </a:rPr>
              <a:t>D) 32 sec</a:t>
            </a:r>
            <a:endParaRPr kumimoji="0" lang="en-US" altLang="en-US" b="0" i="0" u="none" strike="noStrike" cap="none" normalizeH="0" baseline="0" dirty="0">
              <a:ln>
                <a:noFill/>
              </a:ln>
              <a:solidFill>
                <a:schemeClr val="tx1"/>
              </a:solidFill>
              <a:effectLst/>
              <a:latin typeface="+mn-lt"/>
            </a:endParaRPr>
          </a:p>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2475"/>
            <a:ext cx="10515600" cy="5424805"/>
          </a:xfrm>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dirty="0">
                <a:sym typeface="+mn-ea"/>
              </a:rPr>
              <a:t>13) A man can row 6 </a:t>
            </a:r>
            <a:r>
              <a:rPr lang="en-US" dirty="0" err="1">
                <a:sym typeface="+mn-ea"/>
              </a:rPr>
              <a:t>kmph</a:t>
            </a:r>
            <a:r>
              <a:rPr lang="en-US" dirty="0">
                <a:sym typeface="+mn-ea"/>
              </a:rPr>
              <a:t> in still water. If the river is running at 3 </a:t>
            </a:r>
            <a:r>
              <a:rPr lang="en-US" dirty="0" err="1">
                <a:sym typeface="+mn-ea"/>
              </a:rPr>
              <a:t>kmph</a:t>
            </a:r>
            <a:r>
              <a:rPr lang="en-US" dirty="0">
                <a:sym typeface="+mn-ea"/>
              </a:rPr>
              <a:t>, it takes 3 hours more upstream than to for downstream for the same distance. How far is the place? </a:t>
            </a:r>
            <a:endParaRPr lang="en-US" b="1" dirty="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dirty="0">
                <a:sym typeface="+mn-ea"/>
              </a:rPr>
              <a:t>	</a:t>
            </a:r>
            <a:endParaRPr lang="en-US" dirty="0"/>
          </a:p>
          <a:p>
            <a:pPr marL="457200" lvl="0" indent="-457200">
              <a:buAutoNum type="alphaUcParenR"/>
            </a:pPr>
            <a:r>
              <a:rPr lang="en-US" dirty="0">
                <a:sym typeface="+mn-ea"/>
              </a:rPr>
              <a:t>24 km		</a:t>
            </a:r>
            <a:endParaRPr lang="en-US" dirty="0"/>
          </a:p>
          <a:p>
            <a:pPr marL="457200" lvl="0" indent="-457200">
              <a:buAutoNum type="alphaUcParenR"/>
            </a:pPr>
            <a:r>
              <a:rPr lang="en-US" dirty="0">
                <a:sym typeface="+mn-ea"/>
              </a:rPr>
              <a:t>36 km		</a:t>
            </a:r>
            <a:endParaRPr lang="en-US" dirty="0"/>
          </a:p>
          <a:p>
            <a:pPr marL="457200" lvl="0" indent="-457200">
              <a:buAutoNum type="alphaUcParenR"/>
            </a:pPr>
            <a:r>
              <a:rPr lang="en-US" dirty="0">
                <a:sym typeface="+mn-ea"/>
              </a:rPr>
              <a:t>28 km		</a:t>
            </a:r>
            <a:endParaRPr lang="en-US" dirty="0"/>
          </a:p>
          <a:p>
            <a:pPr marL="457200" lvl="0" indent="-457200">
              <a:buAutoNum type="alphaUcParenR"/>
            </a:pPr>
            <a:r>
              <a:rPr lang="en-US" dirty="0">
                <a:sym typeface="+mn-ea"/>
              </a:rPr>
              <a:t>None</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871855"/>
            <a:ext cx="10500995" cy="5305425"/>
          </a:xfrm>
        </p:spPr>
        <p:txBody>
          <a:bodyPr/>
          <a:lstStyle/>
          <a:p>
            <a:pPr marL="0" indent="0" algn="just">
              <a:buNone/>
            </a:pPr>
            <a:r>
              <a:rPr lang="en-US" altLang="en-US" dirty="0">
                <a:sym typeface="+mn-ea"/>
              </a:rPr>
              <a:t>14) The ratio of the speed of the boat in downstream to upstream is 7: 4. A boy takes 4 hours to cover the total distance of 88km upstream. What is the speed of the boat in still water?</a:t>
            </a:r>
            <a:endParaRPr lang="en-US" altLang="en-US" dirty="0"/>
          </a:p>
          <a:p>
            <a:pPr marL="0" indent="0">
              <a:buNone/>
            </a:pPr>
            <a:endParaRPr lang="en-US" altLang="en-US" dirty="0"/>
          </a:p>
          <a:p>
            <a:pPr marL="0" indent="0">
              <a:buNone/>
            </a:pPr>
            <a:r>
              <a:rPr lang="en-US" altLang="en-US" dirty="0">
                <a:sym typeface="+mn-ea"/>
              </a:rPr>
              <a:t>A] 30.25 Kmph	</a:t>
            </a:r>
            <a:endParaRPr lang="en-US" altLang="en-US" dirty="0"/>
          </a:p>
          <a:p>
            <a:pPr marL="0" indent="0">
              <a:buNone/>
            </a:pPr>
            <a:r>
              <a:rPr lang="en-US" altLang="en-US" dirty="0">
                <a:sym typeface="+mn-ea"/>
              </a:rPr>
              <a:t>B] 35 Kmph		</a:t>
            </a:r>
            <a:endParaRPr lang="en-US" altLang="en-US" dirty="0"/>
          </a:p>
          <a:p>
            <a:pPr marL="0" indent="0">
              <a:buNone/>
            </a:pPr>
            <a:r>
              <a:rPr lang="en-US" altLang="en-US" dirty="0">
                <a:sym typeface="+mn-ea"/>
              </a:rPr>
              <a:t>C] 20.15 Kmph	</a:t>
            </a:r>
            <a:endParaRPr lang="en-US" altLang="en-US" dirty="0"/>
          </a:p>
          <a:p>
            <a:pPr marL="0" indent="0">
              <a:buNone/>
            </a:pPr>
            <a:r>
              <a:rPr lang="en-US" altLang="en-US" dirty="0">
                <a:sym typeface="+mn-ea"/>
              </a:rPr>
              <a:t>D] 15 Kmph</a:t>
            </a:r>
            <a:endParaRPr lang="en-US" altLang="en-US" dirty="0"/>
          </a:p>
          <a:p>
            <a:pPr marL="0" indent="0">
              <a:buNone/>
            </a:pP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3270" y="528955"/>
            <a:ext cx="10590530" cy="5648325"/>
          </a:xfrm>
        </p:spPr>
        <p:txBody>
          <a:bodyPr/>
          <a:lstStyle/>
          <a:p>
            <a:pPr>
              <a:buNone/>
            </a:pPr>
            <a:r>
              <a:rPr lang="en-US" altLang="en-IN" sz="4000" b="1" dirty="0">
                <a:latin typeface="Calibri (Body)" charset="0"/>
                <a:cs typeface="Calibri (Body)" charset="0"/>
                <a:sym typeface="+mn-ea"/>
              </a:rPr>
              <a:t>RACE</a:t>
            </a:r>
            <a:endParaRPr lang="en-IN" sz="4000" b="1" dirty="0">
              <a:latin typeface="Calibri (Body)" charset="0"/>
              <a:cs typeface="Calibri (Body)" charset="0"/>
              <a:sym typeface="+mn-ea"/>
            </a:endParaRPr>
          </a:p>
          <a:p>
            <a:pPr>
              <a:buNone/>
            </a:pPr>
            <a:r>
              <a:rPr lang="en-US" altLang="en-IN" dirty="0">
                <a:latin typeface="Calibri (Body)" charset="0"/>
                <a:cs typeface="Calibri (Body)" charset="0"/>
                <a:sym typeface="+mn-ea"/>
              </a:rPr>
              <a:t>15) </a:t>
            </a:r>
            <a:r>
              <a:rPr lang="en-IN" dirty="0">
                <a:latin typeface="Calibri (Body)" charset="0"/>
                <a:cs typeface="Calibri (Body)" charset="0"/>
                <a:sym typeface="+mn-ea"/>
              </a:rPr>
              <a:t>In a race of 1500m, H beats Q by 195 m or 15 seconds. Find Q’s speed</a:t>
            </a:r>
          </a:p>
          <a:p>
            <a:pPr>
              <a:buNone/>
            </a:pPr>
            <a:endParaRPr lang="en-US" dirty="0">
              <a:latin typeface="Calibri (Body)" charset="0"/>
              <a:cs typeface="Calibri (Body)" charset="0"/>
            </a:endParaRPr>
          </a:p>
          <a:p>
            <a:pPr>
              <a:buNone/>
            </a:pPr>
            <a:r>
              <a:rPr lang="en-IN" dirty="0">
                <a:latin typeface="Calibri (Body)" charset="0"/>
                <a:cs typeface="Calibri (Body)" charset="0"/>
                <a:sym typeface="+mn-ea"/>
              </a:rPr>
              <a:t>A. 5</a:t>
            </a:r>
            <a:r>
              <a:rPr lang="en-US" dirty="0">
                <a:latin typeface="Calibri (Body)" charset="0"/>
                <a:cs typeface="Calibri (Body)" charset="0"/>
                <a:sym typeface="+mn-ea"/>
              </a:rPr>
              <a:t>		   </a:t>
            </a:r>
          </a:p>
          <a:p>
            <a:pPr>
              <a:buNone/>
            </a:pPr>
            <a:r>
              <a:rPr lang="en-IN" dirty="0">
                <a:latin typeface="Calibri (Body)" charset="0"/>
                <a:cs typeface="Calibri (Body)" charset="0"/>
                <a:sym typeface="+mn-ea"/>
              </a:rPr>
              <a:t>B. 10</a:t>
            </a:r>
            <a:r>
              <a:rPr lang="en-US" dirty="0">
                <a:latin typeface="Calibri (Body)" charset="0"/>
                <a:cs typeface="Calibri (Body)" charset="0"/>
                <a:sym typeface="+mn-ea"/>
              </a:rPr>
              <a:t>	           	        </a:t>
            </a:r>
          </a:p>
          <a:p>
            <a:pPr>
              <a:buNone/>
            </a:pPr>
            <a:r>
              <a:rPr lang="en-IN" dirty="0">
                <a:latin typeface="Calibri (Body)" charset="0"/>
                <a:cs typeface="Calibri (Body)" charset="0"/>
                <a:sym typeface="+mn-ea"/>
              </a:rPr>
              <a:t>C. 13		  </a:t>
            </a:r>
          </a:p>
          <a:p>
            <a:pPr>
              <a:buNone/>
            </a:pPr>
            <a:r>
              <a:rPr lang="en-IN" dirty="0">
                <a:latin typeface="Calibri (Body)" charset="0"/>
                <a:cs typeface="Calibri (Body)" charset="0"/>
                <a:sym typeface="+mn-ea"/>
              </a:rPr>
              <a:t>D. 20</a:t>
            </a:r>
            <a:endParaRPr lang="en-US">
              <a:latin typeface="Calibri (Body)" charset="0"/>
              <a:cs typeface="Calibri (Body)"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p:cNvSpPr>
            <a:spLocks noGrp="1"/>
          </p:cNvSpPr>
          <p:nvPr>
            <p:ph idx="1"/>
          </p:nvPr>
        </p:nvSpPr>
        <p:spPr>
          <a:xfrm>
            <a:off x="982980" y="893445"/>
            <a:ext cx="10271125" cy="5233035"/>
          </a:xfrm>
        </p:spPr>
        <p:txBody>
          <a:bodyPr vert="horz" wrap="square" lIns="91440" tIns="45720" rIns="91440" bIns="45720" anchor="t" anchorCtr="0"/>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altLang="en-IN" dirty="0">
                <a:latin typeface="Calibri (Body)" charset="0"/>
                <a:cs typeface="Calibri (Body)" charset="0"/>
                <a:sym typeface="+mn-ea"/>
              </a:rPr>
              <a:t>16) </a:t>
            </a:r>
            <a:r>
              <a:rPr lang="en-IN" dirty="0">
                <a:latin typeface="Calibri (Body)" charset="0"/>
                <a:cs typeface="Calibri (Body)" charset="0"/>
                <a:sym typeface="+mn-ea"/>
              </a:rPr>
              <a:t>In a 400 m race, A can give B 30 m and C 50 m start . In the same race B can give to C a start of(approx)</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lang="en-IN" dirty="0">
              <a:latin typeface="Calibri (Body)" charset="0"/>
              <a:cs typeface="Calibri (Body)"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IN" dirty="0">
                <a:latin typeface="Calibri (Body)" charset="0"/>
                <a:cs typeface="Calibri (Body)" charset="0"/>
                <a:sym typeface="+mn-ea"/>
              </a:rPr>
              <a:t>A.21m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IN" dirty="0">
                <a:latin typeface="Calibri (Body)" charset="0"/>
                <a:cs typeface="Calibri (Body)" charset="0"/>
                <a:sym typeface="+mn-ea"/>
              </a:rPr>
              <a:t>B.28m</a:t>
            </a:r>
            <a:r>
              <a:rPr lang="en-US" dirty="0">
                <a:latin typeface="Calibri (Body)" charset="0"/>
                <a:cs typeface="Calibri (Body)" charset="0"/>
                <a:sym typeface="+mn-ea"/>
              </a:rPr>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dirty="0">
                <a:latin typeface="Calibri (Body)" charset="0"/>
                <a:cs typeface="Calibri (Body)" charset="0"/>
                <a:sym typeface="+mn-ea"/>
              </a:rPr>
              <a:t>C</a:t>
            </a:r>
            <a:r>
              <a:rPr lang="en-IN" dirty="0">
                <a:latin typeface="Calibri (Body)" charset="0"/>
                <a:cs typeface="Calibri (Body)" charset="0"/>
                <a:sym typeface="+mn-ea"/>
              </a:rPr>
              <a:t>.30m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IN" dirty="0">
                <a:latin typeface="Calibri (Body)" charset="0"/>
                <a:cs typeface="Calibri (Body)" charset="0"/>
                <a:sym typeface="+mn-ea"/>
              </a:rPr>
              <a:t>D.40m</a:t>
            </a:r>
            <a:endParaRPr lang="en-US" altLang="en-US" noProof="0" dirty="0">
              <a:ln>
                <a:noFill/>
              </a:ln>
              <a:solidFill>
                <a:schemeClr val="tx1"/>
              </a:solidFill>
              <a:effectLst/>
              <a:uLnTx/>
              <a:uFillTx/>
              <a:latin typeface="Calibri (Body)" charset="0"/>
              <a:cs typeface="Calibri (Body)"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2185" y="706755"/>
            <a:ext cx="10381615" cy="5470525"/>
          </a:xfrm>
        </p:spPr>
        <p:txBody>
          <a:bodyPr>
            <a:normAutofit lnSpcReduction="20000"/>
          </a:bodyPr>
          <a:lstStyle/>
          <a:p>
            <a:pPr marL="0" lvl="0" indent="0" algn="just" fontAlgn="t">
              <a:buNone/>
            </a:pPr>
            <a:r>
              <a:rPr lang="en-US" altLang="en-IN" dirty="0">
                <a:latin typeface="Calibri (Body)" charset="0"/>
                <a:cs typeface="Calibri (Body)" charset="0"/>
                <a:sym typeface="+mn-ea"/>
              </a:rPr>
              <a:t>17) </a:t>
            </a:r>
            <a:r>
              <a:rPr lang="en-IN" dirty="0">
                <a:latin typeface="Calibri (Body)" charset="0"/>
                <a:cs typeface="Calibri (Body)" charset="0"/>
                <a:sym typeface="+mn-ea"/>
              </a:rPr>
              <a:t>A and B take part in 500 m race. A runs at 10 m/s. A beats B by 5 seconds. The speed of B is:</a:t>
            </a:r>
          </a:p>
          <a:p>
            <a:pPr marL="0" lvl="0" indent="0" algn="just" fontAlgn="t">
              <a:buNone/>
            </a:pPr>
            <a:endParaRPr lang="en-IN" dirty="0">
              <a:latin typeface="Calibri (Body)" charset="0"/>
              <a:cs typeface="Calibri (Body)" charset="0"/>
            </a:endParaRPr>
          </a:p>
          <a:p>
            <a:pPr marL="0" lvl="0" indent="0" algn="just" fontAlgn="t">
              <a:buNone/>
            </a:pPr>
            <a:r>
              <a:rPr lang="en-IN" dirty="0">
                <a:latin typeface="Calibri (Body)" charset="0"/>
                <a:cs typeface="Calibri (Body)" charset="0"/>
                <a:sym typeface="+mn-ea"/>
              </a:rPr>
              <a:t>A. 9.09 m/s</a:t>
            </a:r>
            <a:r>
              <a:rPr lang="en-US" dirty="0">
                <a:latin typeface="Calibri (Body)" charset="0"/>
                <a:cs typeface="Calibri (Body)" charset="0"/>
                <a:sym typeface="+mn-ea"/>
              </a:rPr>
              <a:t>		</a:t>
            </a:r>
          </a:p>
          <a:p>
            <a:pPr marL="0" lvl="0" indent="0" algn="just" fontAlgn="t">
              <a:buNone/>
            </a:pPr>
            <a:r>
              <a:rPr lang="en-IN" dirty="0">
                <a:latin typeface="Calibri (Body)" charset="0"/>
                <a:cs typeface="Calibri (Body)" charset="0"/>
                <a:sym typeface="+mn-ea"/>
              </a:rPr>
              <a:t>B.11 m/s</a:t>
            </a:r>
            <a:r>
              <a:rPr lang="en-US" dirty="0">
                <a:latin typeface="Calibri (Body)" charset="0"/>
                <a:cs typeface="Calibri (Body)" charset="0"/>
                <a:sym typeface="+mn-ea"/>
              </a:rPr>
              <a:t>	  </a:t>
            </a:r>
          </a:p>
          <a:p>
            <a:pPr marL="0" lvl="0" indent="0" algn="just" fontAlgn="t">
              <a:buNone/>
            </a:pPr>
            <a:r>
              <a:rPr lang="en-IN" dirty="0">
                <a:latin typeface="Calibri (Body)" charset="0"/>
                <a:cs typeface="Calibri (Body)" charset="0"/>
                <a:sym typeface="+mn-ea"/>
              </a:rPr>
              <a:t>C.12.12m/s	   </a:t>
            </a:r>
          </a:p>
          <a:p>
            <a:pPr marL="0" lvl="0" indent="0" algn="just" fontAlgn="t">
              <a:buNone/>
            </a:pPr>
            <a:r>
              <a:rPr lang="en-IN" dirty="0">
                <a:latin typeface="Calibri (Body)" charset="0"/>
                <a:cs typeface="Calibri (Body)" charset="0"/>
                <a:sym typeface="+mn-ea"/>
              </a:rPr>
              <a:t>D.1.8m/s</a:t>
            </a:r>
            <a:endParaRPr lang="en-US" altLang="en-US" noProof="0" dirty="0">
              <a:ln>
                <a:noFill/>
              </a:ln>
              <a:solidFill>
                <a:schemeClr val="tx1"/>
              </a:solidFill>
              <a:effectLst/>
              <a:uLnTx/>
              <a:uFillTx/>
              <a:latin typeface="Calibri (Body)" charset="0"/>
              <a:cs typeface="Calibri (Body)"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12165"/>
            <a:ext cx="10515600" cy="5365115"/>
          </a:xfrm>
        </p:spPr>
        <p:txBody>
          <a:bodyPr>
            <a:normAutofit lnSpcReduction="10000"/>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altLang="en-IN" dirty="0">
                <a:latin typeface="Calibri (Body)" charset="0"/>
                <a:cs typeface="Calibri (Body)" charset="0"/>
                <a:sym typeface="+mn-ea"/>
              </a:rPr>
              <a:t>18) </a:t>
            </a:r>
            <a:r>
              <a:rPr lang="en-IN" dirty="0">
                <a:latin typeface="Calibri (Body)" charset="0"/>
                <a:cs typeface="Calibri (Body)" charset="0"/>
                <a:sym typeface="+mn-ea"/>
              </a:rPr>
              <a:t>In a 1800 m race, the ratio of the speeds of two contestants W and F is 7: 9. W has a start of 330 m. Then, F wins by?</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lang="en-US" dirty="0">
              <a:latin typeface="Calibri (Body)" charset="0"/>
              <a:cs typeface="Calibri (Body)" charset="0"/>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IN" dirty="0">
                <a:latin typeface="Calibri (Body)" charset="0"/>
                <a:cs typeface="Calibri (Body)" charset="0"/>
                <a:sym typeface="+mn-ea"/>
              </a:rPr>
              <a:t>A.50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IN" dirty="0">
                <a:latin typeface="Calibri (Body)" charset="0"/>
                <a:cs typeface="Calibri (Body)" charset="0"/>
                <a:sym typeface="+mn-ea"/>
              </a:rPr>
              <a:t>B.90</a:t>
            </a:r>
            <a:r>
              <a:rPr lang="en-US" dirty="0">
                <a:latin typeface="Calibri (Body)" charset="0"/>
                <a:cs typeface="Calibri (Body)" charset="0"/>
                <a:sym typeface="+mn-ea"/>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IN" dirty="0">
                <a:latin typeface="Calibri (Body)" charset="0"/>
                <a:cs typeface="Calibri (Body)" charset="0"/>
                <a:sym typeface="+mn-ea"/>
              </a:rPr>
              <a:t>C.150</a:t>
            </a:r>
            <a:r>
              <a:rPr lang="en-US" dirty="0">
                <a:latin typeface="Calibri (Body)" charset="0"/>
                <a:cs typeface="Calibri (Body)" charset="0"/>
                <a:sym typeface="+mn-ea"/>
              </a:rPr>
              <a:t>		</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IN" dirty="0">
                <a:latin typeface="Calibri (Body)" charset="0"/>
                <a:cs typeface="Calibri (Body)" charset="0"/>
                <a:sym typeface="+mn-ea"/>
              </a:rPr>
              <a:t>D. 200</a:t>
            </a:r>
            <a:endParaRPr lang="en-US">
              <a:latin typeface="Calibri (Body)" charset="0"/>
              <a:cs typeface="Calibri (Body)"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2015" y="901700"/>
            <a:ext cx="10471785" cy="5275580"/>
          </a:xfrm>
        </p:spPr>
        <p:txBody>
          <a:bodyPr/>
          <a:lstStyle/>
          <a:p>
            <a:pPr marL="0" indent="0">
              <a:buNone/>
            </a:pPr>
            <a:r>
              <a:rPr lang="en-US" altLang="en-IN" dirty="0">
                <a:latin typeface="Calibri (Body)" charset="0"/>
                <a:cs typeface="Calibri (Body)" charset="0"/>
                <a:sym typeface="+mn-ea"/>
              </a:rPr>
              <a:t>19) </a:t>
            </a:r>
            <a:r>
              <a:rPr lang="en-IN" dirty="0">
                <a:latin typeface="Calibri (Body)" charset="0"/>
                <a:cs typeface="Calibri (Body)" charset="0"/>
                <a:sym typeface="+mn-ea"/>
              </a:rPr>
              <a:t>A runs 3 times as fast as B. If A gives B a start of 45 m, how far must the winning post be so that A win by 15 meter?</a:t>
            </a:r>
          </a:p>
          <a:p>
            <a:pPr marL="0" indent="0">
              <a:buNone/>
            </a:pPr>
            <a:endParaRPr lang="en-IN" dirty="0">
              <a:latin typeface="Calibri (Body)" charset="0"/>
              <a:cs typeface="Calibri (Body)" charset="0"/>
            </a:endParaRPr>
          </a:p>
          <a:p>
            <a:pPr marL="0" indent="0">
              <a:buNone/>
            </a:pPr>
            <a:r>
              <a:rPr lang="en-IN" dirty="0">
                <a:latin typeface="Calibri (Body)" charset="0"/>
                <a:cs typeface="Calibri (Body)" charset="0"/>
                <a:sym typeface="+mn-ea"/>
              </a:rPr>
              <a:t>A.80m		      </a:t>
            </a:r>
          </a:p>
          <a:p>
            <a:pPr marL="0" indent="0">
              <a:buNone/>
            </a:pPr>
            <a:r>
              <a:rPr lang="en-IN" dirty="0">
                <a:latin typeface="Calibri (Body)" charset="0"/>
                <a:cs typeface="Calibri (Body)" charset="0"/>
                <a:sym typeface="+mn-ea"/>
              </a:rPr>
              <a:t>B.120m</a:t>
            </a:r>
            <a:r>
              <a:rPr lang="en-US" dirty="0">
                <a:latin typeface="Calibri (Body)" charset="0"/>
                <a:cs typeface="Calibri (Body)" charset="0"/>
                <a:sym typeface="+mn-ea"/>
              </a:rPr>
              <a:t>	           </a:t>
            </a:r>
          </a:p>
          <a:p>
            <a:pPr marL="0" indent="0">
              <a:buNone/>
            </a:pPr>
            <a:r>
              <a:rPr lang="en-IN" dirty="0">
                <a:latin typeface="Calibri (Body)" charset="0"/>
                <a:cs typeface="Calibri (Body)" charset="0"/>
                <a:sym typeface="+mn-ea"/>
              </a:rPr>
              <a:t>C.135m           	 </a:t>
            </a:r>
          </a:p>
          <a:p>
            <a:pPr marL="0" indent="0">
              <a:buNone/>
            </a:pPr>
            <a:r>
              <a:rPr lang="en-IN" dirty="0">
                <a:latin typeface="Calibri (Body)" charset="0"/>
                <a:cs typeface="Calibri (Body)" charset="0"/>
                <a:sym typeface="+mn-ea"/>
              </a:rPr>
              <a:t>D. None</a:t>
            </a:r>
            <a:endParaRPr lang="en-IN" dirty="0">
              <a:latin typeface="Calibri (Body)" charset="0"/>
              <a:cs typeface="Calibri (Body)" charset="0"/>
            </a:endParaRPr>
          </a:p>
          <a:p>
            <a:endParaRPr lang="en-US">
              <a:latin typeface="Calibri (Body)" charset="0"/>
              <a:cs typeface="Calibri (Body)"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7870"/>
            <a:ext cx="10515600" cy="5439410"/>
          </a:xfrm>
        </p:spPr>
        <p:txBody>
          <a:bodyPr/>
          <a:lstStyle/>
          <a:p>
            <a:pPr marL="0" indent="0">
              <a:buNone/>
            </a:pPr>
            <a:r>
              <a:rPr lang="en-US" dirty="0">
                <a:latin typeface="Calibri (Body)" charset="0"/>
                <a:cs typeface="Calibri (Body)" charset="0"/>
                <a:sym typeface="+mn-ea"/>
              </a:rPr>
              <a:t>20) Three runners participated in a Circular Race, completes the race in 12 sec, 15 sec and 20 sec respectively. if all the three starts at the same time and the same point then find when all will meet at the first time at starting point?</a:t>
            </a:r>
          </a:p>
          <a:p>
            <a:pPr marL="0" indent="0">
              <a:buNone/>
            </a:pPr>
            <a:endParaRPr lang="en-US" dirty="0">
              <a:latin typeface="Calibri (Body)" charset="0"/>
              <a:cs typeface="Calibri (Body)" charset="0"/>
            </a:endParaRPr>
          </a:p>
          <a:p>
            <a:pPr marL="0" indent="0">
              <a:buNone/>
            </a:pPr>
            <a:r>
              <a:rPr lang="en-US" dirty="0">
                <a:latin typeface="Calibri (Body)" charset="0"/>
                <a:cs typeface="Calibri (Body)" charset="0"/>
                <a:sym typeface="+mn-ea"/>
              </a:rPr>
              <a:t>A.120sec           </a:t>
            </a:r>
          </a:p>
          <a:p>
            <a:pPr marL="0" indent="0">
              <a:buNone/>
            </a:pPr>
            <a:r>
              <a:rPr lang="en-US" dirty="0">
                <a:latin typeface="Calibri (Body)" charset="0"/>
                <a:cs typeface="Calibri (Body)" charset="0"/>
                <a:sym typeface="+mn-ea"/>
              </a:rPr>
              <a:t>B.80sec             </a:t>
            </a:r>
          </a:p>
          <a:p>
            <a:pPr marL="0" indent="0">
              <a:buNone/>
            </a:pPr>
            <a:r>
              <a:rPr lang="en-US" dirty="0">
                <a:latin typeface="Calibri (Body)" charset="0"/>
                <a:cs typeface="Calibri (Body)" charset="0"/>
                <a:sym typeface="+mn-ea"/>
              </a:rPr>
              <a:t>C.60sec           </a:t>
            </a:r>
          </a:p>
          <a:p>
            <a:pPr marL="0" indent="0">
              <a:buNone/>
            </a:pPr>
            <a:r>
              <a:rPr lang="en-US" dirty="0">
                <a:latin typeface="Calibri (Body)" charset="0"/>
                <a:cs typeface="Calibri (Body)" charset="0"/>
                <a:sym typeface="+mn-ea"/>
              </a:rPr>
              <a:t>D.160sec</a:t>
            </a:r>
            <a:endParaRPr lang="en-US" dirty="0">
              <a:latin typeface="Calibri (Body)" charset="0"/>
              <a:cs typeface="Calibri (Body)" charset="0"/>
            </a:endParaRPr>
          </a:p>
          <a:p>
            <a:endParaRPr lang="en-US">
              <a:latin typeface="Calibri (Body)" charset="0"/>
              <a:cs typeface="Calibri (Body)"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3595" y="782955"/>
            <a:ext cx="10530205" cy="5394325"/>
          </a:xfrm>
        </p:spPr>
        <p:txBody>
          <a:bodyPr/>
          <a:lstStyle/>
          <a:p>
            <a:pPr marL="0" indent="0">
              <a:buNone/>
            </a:pPr>
            <a:r>
              <a:rPr lang="en-US" dirty="0" err="1">
                <a:latin typeface="Calibri (Body)" charset="0"/>
                <a:cs typeface="Calibri (Body)" charset="0"/>
                <a:sym typeface="+mn-ea"/>
              </a:rPr>
              <a:t>21) Raju</a:t>
            </a:r>
            <a:r>
              <a:rPr lang="en-US" dirty="0">
                <a:latin typeface="Calibri (Body)" charset="0"/>
                <a:cs typeface="Calibri (Body)" charset="0"/>
                <a:sym typeface="+mn-ea"/>
              </a:rPr>
              <a:t>, </a:t>
            </a:r>
            <a:r>
              <a:rPr lang="en-US" dirty="0" err="1">
                <a:latin typeface="Calibri (Body)" charset="0"/>
                <a:cs typeface="Calibri (Body)" charset="0"/>
                <a:sym typeface="+mn-ea"/>
              </a:rPr>
              <a:t>Ketan</a:t>
            </a:r>
            <a:r>
              <a:rPr lang="en-US" dirty="0">
                <a:latin typeface="Calibri (Body)" charset="0"/>
                <a:cs typeface="Calibri (Body)" charset="0"/>
                <a:sym typeface="+mn-ea"/>
              </a:rPr>
              <a:t> and </a:t>
            </a:r>
            <a:r>
              <a:rPr lang="en-US" dirty="0" err="1">
                <a:latin typeface="Calibri (Body)" charset="0"/>
                <a:cs typeface="Calibri (Body)" charset="0"/>
                <a:sym typeface="+mn-ea"/>
              </a:rPr>
              <a:t>Ritu</a:t>
            </a:r>
            <a:r>
              <a:rPr lang="en-US" dirty="0">
                <a:latin typeface="Calibri (Body)" charset="0"/>
                <a:cs typeface="Calibri (Body)" charset="0"/>
                <a:sym typeface="+mn-ea"/>
              </a:rPr>
              <a:t> run around a circular track of length 2400 m with respective speeds 9, 18, 27 </a:t>
            </a:r>
            <a:r>
              <a:rPr lang="en-US" dirty="0" err="1">
                <a:latin typeface="Calibri (Body)" charset="0"/>
                <a:cs typeface="Calibri (Body)" charset="0"/>
                <a:sym typeface="+mn-ea"/>
              </a:rPr>
              <a:t>kmph</a:t>
            </a:r>
            <a:r>
              <a:rPr lang="en-US" dirty="0">
                <a:latin typeface="Calibri (Body)" charset="0"/>
                <a:cs typeface="Calibri (Body)" charset="0"/>
                <a:sym typeface="+mn-ea"/>
              </a:rPr>
              <a:t>. If they started at the same time from the same point and run in the same direction when will they meet for the first time?</a:t>
            </a:r>
          </a:p>
          <a:p>
            <a:pPr marL="0" indent="0">
              <a:buNone/>
            </a:pPr>
            <a:r>
              <a:rPr lang="en-US" dirty="0">
                <a:latin typeface="Calibri (Body)" charset="0"/>
                <a:cs typeface="Calibri (Body)" charset="0"/>
                <a:sym typeface="+mn-ea"/>
              </a:rPr>
              <a:t/>
            </a:r>
            <a:br>
              <a:rPr lang="en-US" dirty="0">
                <a:latin typeface="Calibri (Body)" charset="0"/>
                <a:cs typeface="Calibri (Body)" charset="0"/>
                <a:sym typeface="+mn-ea"/>
              </a:rPr>
            </a:br>
            <a:r>
              <a:rPr lang="en-US" dirty="0">
                <a:latin typeface="Calibri (Body)" charset="0"/>
                <a:cs typeface="Calibri (Body)" charset="0"/>
                <a:sym typeface="+mn-ea"/>
              </a:rPr>
              <a:t>A.360 sec   	</a:t>
            </a:r>
          </a:p>
          <a:p>
            <a:pPr marL="0" indent="0">
              <a:buNone/>
            </a:pPr>
            <a:r>
              <a:rPr lang="en-US" dirty="0">
                <a:latin typeface="Calibri (Body)" charset="0"/>
                <a:cs typeface="Calibri (Body)" charset="0"/>
                <a:sym typeface="+mn-ea"/>
              </a:rPr>
              <a:t>B.480 sec 	</a:t>
            </a:r>
          </a:p>
          <a:p>
            <a:pPr marL="0" indent="0">
              <a:buNone/>
            </a:pPr>
            <a:r>
              <a:rPr lang="en-US" dirty="0">
                <a:latin typeface="Calibri (Body)" charset="0"/>
                <a:cs typeface="Calibri (Body)" charset="0"/>
                <a:sym typeface="+mn-ea"/>
              </a:rPr>
              <a:t>C.960 sec         </a:t>
            </a:r>
          </a:p>
          <a:p>
            <a:pPr marL="0" indent="0">
              <a:buNone/>
            </a:pPr>
            <a:r>
              <a:rPr lang="en-US" err="1">
                <a:latin typeface="Calibri (Body)" charset="0"/>
                <a:cs typeface="Calibri (Body)" charset="0"/>
                <a:sym typeface="+mn-ea"/>
              </a:rPr>
              <a:t>D</a:t>
            </a:r>
            <a:r>
              <a:rPr lang="en-US">
                <a:latin typeface="Calibri (Body)" charset="0"/>
                <a:cs typeface="Calibri (Body)" charset="0"/>
                <a:sym typeface="+mn-ea"/>
              </a:rPr>
              <a:t>. None</a:t>
            </a:r>
            <a:endParaRPr lang="en-IN" dirty="0">
              <a:latin typeface="Calibri (Body)" charset="0"/>
              <a:cs typeface="Calibri (Body)" charset="0"/>
            </a:endParaRPr>
          </a:p>
          <a:p>
            <a:endParaRPr lang="en-US" dirty="0">
              <a:latin typeface="Calibri (Body)" charset="0"/>
              <a:cs typeface="Calibri (Body)" charset="0"/>
            </a:endParaRPr>
          </a:p>
          <a:p>
            <a:endParaRPr lang="en-US">
              <a:latin typeface="Calibri (Body)" charset="0"/>
              <a:cs typeface="Calibri (Body)"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p:cNvPicPr>
          <p:nvPr/>
        </p:nvPicPr>
        <p:blipFill>
          <a:blip r:embed="rId2"/>
          <a:stretch>
            <a:fillRect/>
          </a:stretch>
        </p:blipFill>
        <p:spPr>
          <a:xfrm>
            <a:off x="2208213" y="981075"/>
            <a:ext cx="7883525" cy="4846638"/>
          </a:xfrm>
          <a:prstGeom prst="rect">
            <a:avLst/>
          </a:prstGeom>
          <a:noFill/>
          <a:ln w="9525">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543*335"/>
  <p:tag name="TABLE_ENDDRAG_RECT" val="74*140*543*33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923</Words>
  <Application>Microsoft Office PowerPoint</Application>
  <PresentationFormat>Custom</PresentationFormat>
  <Paragraphs>153</Paragraphs>
  <Slides>26</Slides>
  <Notes>1</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 516 LECTURE-1 Time and Work </dc:title>
  <dc:creator/>
  <cp:lastModifiedBy>rahul</cp:lastModifiedBy>
  <cp:revision>36</cp:revision>
  <dcterms:created xsi:type="dcterms:W3CDTF">2025-01-03T10:26:00Z</dcterms:created>
  <dcterms:modified xsi:type="dcterms:W3CDTF">2025-01-12T05:12:34Z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C7455BE7D95F46A7B59DA7665120D117_11</vt:lpwstr>
  </property>
  <property fmtid="{D5CDD505-2E9C-101B-9397-08002B2CF9AE}" pid="3" name="KSOProductBuildVer">
    <vt:lpwstr>1033-12.2.0.19307</vt:lpwstr>
  </property>
</Properties>
</file>