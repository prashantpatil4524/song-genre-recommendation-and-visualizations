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sldIdLst>
    <p:sldId id="319" r:id="rId2"/>
    <p:sldId id="331" r:id="rId3"/>
    <p:sldId id="333" r:id="rId4"/>
    <p:sldId id="334" r:id="rId5"/>
    <p:sldId id="347" r:id="rId6"/>
    <p:sldId id="348" r:id="rId7"/>
    <p:sldId id="335" r:id="rId8"/>
    <p:sldId id="349" r:id="rId9"/>
    <p:sldId id="338" r:id="rId10"/>
    <p:sldId id="337" r:id="rId11"/>
    <p:sldId id="336" r:id="rId12"/>
    <p:sldId id="355" r:id="rId13"/>
    <p:sldId id="351" r:id="rId14"/>
    <p:sldId id="352" r:id="rId15"/>
    <p:sldId id="356" r:id="rId16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60" autoAdjust="0"/>
  </p:normalViewPr>
  <p:slideViewPr>
    <p:cSldViewPr snapToGrid="0">
      <p:cViewPr>
        <p:scale>
          <a:sx n="81" d="100"/>
          <a:sy n="81" d="100"/>
        </p:scale>
        <p:origin x="-1068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20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Raj" userId="14d70dd8ca596344" providerId="LiveId" clId="{4872DAA8-63E9-4CEB-BE14-5A9F9B8307A1}"/>
    <pc:docChg chg="modSld">
      <pc:chgData name="Abhishek Raj" userId="14d70dd8ca596344" providerId="LiveId" clId="{4872DAA8-63E9-4CEB-BE14-5A9F9B8307A1}" dt="2025-01-07T09:10:08.493" v="1" actId="20577"/>
      <pc:docMkLst>
        <pc:docMk/>
      </pc:docMkLst>
      <pc:sldChg chg="modSp mod">
        <pc:chgData name="Abhishek Raj" userId="14d70dd8ca596344" providerId="LiveId" clId="{4872DAA8-63E9-4CEB-BE14-5A9F9B8307A1}" dt="2025-01-07T09:10:08.493" v="1" actId="20577"/>
        <pc:sldMkLst>
          <pc:docMk/>
          <pc:sldMk cId="0" sldId="319"/>
        </pc:sldMkLst>
        <pc:spChg chg="mod">
          <ac:chgData name="Abhishek Raj" userId="14d70dd8ca596344" providerId="LiveId" clId="{4872DAA8-63E9-4CEB-BE14-5A9F9B8307A1}" dt="2025-01-07T09:10:08.493" v="1" actId="20577"/>
          <ac:spMkLst>
            <pc:docMk/>
            <pc:sldMk cId="0" sldId="31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EA1980-4576-4AF0-B9EB-9D150046AAAE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488608-87EF-4FD0-9C7B-D2B526DC946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B5770D-423E-4CBB-B0F4-07D6A3FA965D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9E4BAF-1EEA-4D5B-8298-78DEAA6617C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29D0CD-93FD-4AA7-A016-11FDE00CBCE3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2C3F9B-929C-4111-A0CE-3F26E474177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4102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6"/>
            <a:ext cx="54102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F96DC0-12FC-4A3B-86A2-861216B55270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021CE6-14E7-47F0-9D6C-7DBF25914FB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43F61E-9280-4CC2-90AE-A6278023B723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7016E0-0916-4C8E-9815-34F28E5FDDC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2408D7-7DF0-44B4-BF3D-1B5DF5DD0E8C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91AF88-6C98-4A79-A308-5E45955A428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E38901-650A-4FEC-955B-5AA7D4685A03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B85EBC-5A3E-4AD1-9442-EE6512C402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941EA2-F28E-4E7C-B022-8BD180DD6A5D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CF9356-E354-4E51-8A99-9388936155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60AD76-F1EF-4CA7-8DA5-41EDDEF49BFA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1039B5-D9E5-48B1-8EB9-A0CB9A3C637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901BE7-9EF2-4B54-9700-87EE46A6EDB6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EF5A10-F259-42E8-9DB1-4ABC256F1E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4AD406-2DF7-4414-BD58-578652F71040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C1AC12-7156-4DE9-B40E-F139687ADB5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89E7E20-1E5D-4609-83B3-4ECE2E5358EA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055209-94DC-4E84-9BFB-2684EB00D31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0"/>
            <a:ext cx="9124950" cy="8667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encrypted-tbn1.gstatic.com/images?q=tbn:ANd9GcRt12VpKN4hgDcd3EA-xsXom5o8VA7nCFE5-cIPiPbzwteOHBuMa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724854">
            <a:off x="531667" y="3275601"/>
            <a:ext cx="2686050" cy="357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17258" y="700834"/>
            <a:ext cx="7485434" cy="2677656"/>
          </a:xfrm>
          <a:prstGeom prst="rect">
            <a:avLst/>
          </a:prstGeom>
          <a:ln w="381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300" b="1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                        PEA – 516 </a:t>
            </a:r>
          </a:p>
          <a:p>
            <a:endParaRPr lang="en-US" sz="3300" b="1" i="1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r>
              <a:rPr lang="en-US" sz="3300" b="1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                       Lecture – </a:t>
            </a:r>
            <a:r>
              <a:rPr lang="en-US" sz="3300" b="1" i="1" dirty="0" smtClean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16</a:t>
            </a:r>
            <a:endParaRPr lang="en-US" sz="3300" b="1" i="1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endParaRPr lang="en-US" sz="3300" b="1" i="1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             Compound Interest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8587" y="139115"/>
            <a:ext cx="8886825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defRPr/>
            </a:pP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latin typeface="Book Antiqua" pitchFamily="18" charset="0"/>
                <a:cs typeface="Times New Roman" pitchFamily="18" charset="0"/>
              </a:rPr>
              <a:t>Compound Interest:</a:t>
            </a:r>
          </a:p>
          <a:p>
            <a:pPr algn="just" eaLnBrk="1" hangingPunct="1">
              <a:defRPr/>
            </a:pPr>
            <a:endParaRPr lang="en-US" b="1" dirty="0">
              <a:latin typeface="Book Antiqua" pitchFamily="18" charset="0"/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en-US" sz="2000" dirty="0">
                <a:latin typeface="Book Antiqua" pitchFamily="18" charset="0"/>
                <a:cs typeface="Times New Roman" pitchFamily="18" charset="0"/>
              </a:rPr>
              <a:t>Compound interest is the interest earned not only on the original principal, but also on all interests earned previously</a:t>
            </a:r>
          </a:p>
          <a:p>
            <a:pPr algn="just" eaLnBrk="1" hangingPunct="1">
              <a:defRPr/>
            </a:pPr>
            <a:endParaRPr lang="en-US" sz="2000" dirty="0">
              <a:latin typeface="Book Antiqua" pitchFamily="18" charset="0"/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en-US" sz="2000" dirty="0">
                <a:latin typeface="Book Antiqua" pitchFamily="18" charset="0"/>
                <a:cs typeface="Times New Roman" pitchFamily="18" charset="0"/>
              </a:rPr>
              <a:t>Let Principal = P, Rate = R% per annum, Time = </a:t>
            </a:r>
            <a:r>
              <a:rPr lang="en-US" sz="2000" i="1" dirty="0">
                <a:latin typeface="Book Antiqua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Book Antiqua" pitchFamily="18" charset="0"/>
                <a:cs typeface="Times New Roman" pitchFamily="18" charset="0"/>
              </a:rPr>
              <a:t> years.</a:t>
            </a:r>
          </a:p>
          <a:p>
            <a:pPr algn="just" eaLnBrk="1" hangingPunct="1">
              <a:defRPr/>
            </a:pPr>
            <a:endParaRPr lang="en-US" sz="2000" dirty="0">
              <a:latin typeface="Book Antiqua" pitchFamily="18" charset="0"/>
              <a:cs typeface="Times New Roman" pitchFamily="18" charset="0"/>
            </a:endParaRPr>
          </a:p>
          <a:p>
            <a:pPr algn="just" eaLnBrk="1" hangingPunct="1">
              <a:defRPr/>
            </a:pPr>
            <a:endParaRPr lang="en-US" sz="2000" dirty="0">
              <a:latin typeface="Book Antiqua" pitchFamily="18" charset="0"/>
              <a:cs typeface="Times New Roman" pitchFamily="18" charset="0"/>
            </a:endParaRPr>
          </a:p>
          <a:p>
            <a:pPr marL="385763" indent="-385763" algn="just">
              <a:buFontTx/>
              <a:buAutoNum type="arabicPeriod"/>
              <a:defRPr/>
            </a:pPr>
            <a:r>
              <a:rPr lang="en-US" sz="2400" b="1" dirty="0">
                <a:latin typeface="Book Antiqua" pitchFamily="18" charset="0"/>
                <a:cs typeface="Times New Roman" pitchFamily="18" charset="0"/>
              </a:rPr>
              <a:t>When interest is compounded Annually:</a:t>
            </a:r>
          </a:p>
          <a:p>
            <a:pPr algn="just" eaLnBrk="1" hangingPunct="1">
              <a:defRPr/>
            </a:pPr>
            <a:r>
              <a:rPr lang="en-US" sz="2400" dirty="0">
                <a:latin typeface="Book Antiqua" pitchFamily="18" charset="0"/>
                <a:cs typeface="Times New Roman" pitchFamily="18" charset="0"/>
              </a:rPr>
              <a:t>Amount= P(1+R/100)^n</a:t>
            </a:r>
          </a:p>
          <a:p>
            <a:pPr algn="just" eaLnBrk="1" hangingPunct="1">
              <a:defRPr/>
            </a:pPr>
            <a:endParaRPr lang="en-US" sz="2400" dirty="0">
              <a:latin typeface="Book Antiqua" pitchFamily="18" charset="0"/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en-US" sz="2400" b="1" dirty="0">
                <a:latin typeface="Book Antiqua" pitchFamily="18" charset="0"/>
                <a:cs typeface="Times New Roman" pitchFamily="18" charset="0"/>
              </a:rPr>
              <a:t>2. When interest is compounded Half-yearly</a:t>
            </a:r>
            <a:r>
              <a:rPr lang="en-US" sz="2400" b="1" dirty="0">
                <a:latin typeface="Book Antiqua" pitchFamily="18" charset="0"/>
              </a:rPr>
              <a:t>:</a:t>
            </a:r>
          </a:p>
          <a:p>
            <a:pPr algn="just" eaLnBrk="1" hangingPunct="1">
              <a:defRPr/>
            </a:pPr>
            <a:r>
              <a:rPr lang="en-US" sz="2400" dirty="0">
                <a:latin typeface="Book Antiqua" pitchFamily="18" charset="0"/>
                <a:cs typeface="Times New Roman" pitchFamily="18" charset="0"/>
              </a:rPr>
              <a:t>Amount=P[1+(R/2)/100]^2n</a:t>
            </a:r>
          </a:p>
          <a:p>
            <a:pPr algn="just" eaLnBrk="1" hangingPunct="1">
              <a:defRPr/>
            </a:pPr>
            <a:endParaRPr lang="en-US" sz="2400" dirty="0">
              <a:latin typeface="Book Antiqua" pitchFamily="18" charset="0"/>
              <a:cs typeface="Times New Roman" pitchFamily="18" charset="0"/>
            </a:endParaRPr>
          </a:p>
          <a:p>
            <a:pPr algn="just" eaLnBrk="1" hangingPunct="1">
              <a:defRPr/>
            </a:pPr>
            <a:endParaRPr lang="en-US" sz="2400" dirty="0">
              <a:latin typeface="Book Antiqua" pitchFamily="18" charset="0"/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en-US" sz="2400" dirty="0">
                <a:latin typeface="Book Antiqua" pitchFamily="18" charset="0"/>
                <a:cs typeface="Times New Roman" pitchFamily="18" charset="0"/>
              </a:rPr>
              <a:t>3. </a:t>
            </a:r>
            <a:r>
              <a:rPr lang="en-US" sz="2400" b="1" dirty="0">
                <a:latin typeface="Book Antiqua" pitchFamily="18" charset="0"/>
                <a:cs typeface="Times New Roman" pitchFamily="18" charset="0"/>
              </a:rPr>
              <a:t>When interest is compounded Quarterly:</a:t>
            </a:r>
          </a:p>
          <a:p>
            <a:pPr algn="just" eaLnBrk="1" hangingPunct="1">
              <a:defRPr/>
            </a:pPr>
            <a:r>
              <a:rPr lang="en-US" sz="2400" dirty="0">
                <a:latin typeface="Book Antiqua" pitchFamily="18" charset="0"/>
                <a:cs typeface="Times New Roman" pitchFamily="18" charset="0"/>
              </a:rPr>
              <a:t>Amount=P[1+(R/4)/100]^4n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2" y="188010"/>
            <a:ext cx="8229600" cy="851518"/>
          </a:xfrm>
        </p:spPr>
        <p:txBody>
          <a:bodyPr>
            <a:normAutofit/>
          </a:bodyPr>
          <a:lstStyle/>
          <a:p>
            <a:pPr algn="l"/>
            <a:r>
              <a:rPr lang="en-US" sz="4800" b="1" i="1" dirty="0">
                <a:solidFill>
                  <a:schemeClr val="tx2">
                    <a:lumMod val="50000"/>
                  </a:schemeClr>
                </a:solidFill>
                <a:latin typeface="Book Antiqua" panose="02040602050305030304" pitchFamily="18" charset="0"/>
              </a:rPr>
              <a:t>Compound interest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162" y="1265572"/>
            <a:ext cx="87296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 Antiqua" pitchFamily="18" charset="0"/>
              </a:rPr>
              <a:t>If P= Rs.1000, R=10% p.a. T=3 years. Find Compound Interest for 3 years.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8" y="105810"/>
            <a:ext cx="8924424" cy="336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Find the compound interest earned on Rs.20000 for 2 years at 10% p.a. the interest being compounded annually. 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[A] Rs.2100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Rs.4200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Rs.6300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Rs.5600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197" y="152801"/>
            <a:ext cx="8801100" cy="317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Find CI. If P= Rs. 10000, r = 10 % p.a. and  T= 1 year and 73 days.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 algn="just"/>
            <a:r>
              <a:rPr lang="en-US" sz="2400" dirty="0">
                <a:latin typeface="Book Antiqua" pitchFamily="18" charset="0"/>
              </a:rPr>
              <a:t>[A] Rs.2220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Rs.3200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Rs.2120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Rs.1220</a:t>
            </a:r>
          </a:p>
        </p:txBody>
      </p:sp>
    </p:spTree>
    <p:extLst>
      <p:ext uri="{BB962C8B-B14F-4D97-AF65-F5344CB8AC3E}">
        <p14:creationId xmlns:p14="http://schemas.microsoft.com/office/powerpoint/2010/main" val="2702623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5197" y="152801"/>
                <a:ext cx="8801100" cy="3635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>
                    <a:latin typeface="Book Antiqua" panose="02040602050305030304" pitchFamily="18" charset="0"/>
                  </a:rPr>
                  <a:t>Question: </a:t>
                </a:r>
                <a:r>
                  <a:rPr lang="en-US" sz="2400" dirty="0">
                    <a:latin typeface="Book Antiqua" pitchFamily="18" charset="0"/>
                  </a:rPr>
                  <a:t>Find CI. If P= Rs. 10000, r = 10 % p.a. and </a:t>
                </a:r>
              </a:p>
              <a:p>
                <a:pPr algn="just"/>
                <a:r>
                  <a:rPr lang="en-US" sz="2400" dirty="0">
                    <a:latin typeface="Book Antiqua" pitchFamily="18" charset="0"/>
                  </a:rPr>
                  <a:t>T=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  <m:sup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bSup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dirty="0">
                    <a:latin typeface="Book Antiqua" pitchFamily="18" charset="0"/>
                  </a:rPr>
                  <a:t>year.</a:t>
                </a:r>
              </a:p>
              <a:p>
                <a:pPr algn="just"/>
                <a:endParaRPr lang="en-US" sz="2400" dirty="0">
                  <a:latin typeface="Book Antiqua" pitchFamily="18" charset="0"/>
                </a:endParaRPr>
              </a:p>
              <a:p>
                <a:pPr algn="just"/>
                <a:endParaRPr lang="en-US" sz="2400" dirty="0">
                  <a:latin typeface="Book Antiqua" pitchFamily="18" charset="0"/>
                </a:endParaRPr>
              </a:p>
              <a:p>
                <a:pPr algn="just"/>
                <a:r>
                  <a:rPr lang="en-US" sz="2400" dirty="0">
                    <a:latin typeface="Book Antiqua" pitchFamily="18" charset="0"/>
                  </a:rPr>
                  <a:t>[A] Rs.2226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Book Antiqua" pitchFamily="18" charset="0"/>
                  </a:rPr>
                  <a:t>[B] Rs.826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Book Antiqua" pitchFamily="18" charset="0"/>
                  </a:rPr>
                  <a:t>[C] Rs.2628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Book Antiqua" pitchFamily="18" charset="0"/>
                  </a:rPr>
                  <a:t>[D] Rs.2826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7" y="152801"/>
                <a:ext cx="8801100" cy="3635547"/>
              </a:xfrm>
              <a:prstGeom prst="rect">
                <a:avLst/>
              </a:prstGeom>
              <a:blipFill>
                <a:blip r:embed="rId2"/>
                <a:stretch>
                  <a:fillRect l="-1039" t="-1510" b="-33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67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197" y="152801"/>
            <a:ext cx="8801100" cy="373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Find the interest earned in the first year on Rs.400 at 20%p.a. compound interest, the interest being compounded half yearly.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[A] Rs.42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Rs.72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Rs.84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Rs.144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197" y="152801"/>
            <a:ext cx="8801100" cy="3635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Find C.I. on Rs. 8000, 20% P.A. For 9 month compounded quarterly.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 algn="just"/>
            <a:r>
              <a:rPr lang="en-US" sz="2400" dirty="0">
                <a:latin typeface="Book Antiqua" pitchFamily="18" charset="0"/>
              </a:rPr>
              <a:t>[A] Rs.262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Rs.1261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Rs.9261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Rs.831</a:t>
            </a:r>
          </a:p>
        </p:txBody>
      </p:sp>
    </p:spTree>
    <p:extLst>
      <p:ext uri="{BB962C8B-B14F-4D97-AF65-F5344CB8AC3E}">
        <p14:creationId xmlns:p14="http://schemas.microsoft.com/office/powerpoint/2010/main" val="1197444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7" y="133551"/>
            <a:ext cx="8801100" cy="373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A sum of money under compound interest doubles itself in 4 years. In how many years will it become 16 times itself?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[A] 12 years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16 years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8 years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None of these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8" y="95050"/>
            <a:ext cx="8801100" cy="373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A sum doubles in 8 years at compound interest. In how many years will the sum become 4 times the original sum if the interest is compounded annually?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[A] 16 years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24 years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64 years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32 years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17D3D4-DED5-33ED-A922-C4FDEDF8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1AA8564-FB26-E5ED-5543-BFA902859232}"/>
              </a:ext>
            </a:extLst>
          </p:cNvPr>
          <p:cNvSpPr txBox="1"/>
          <p:nvPr/>
        </p:nvSpPr>
        <p:spPr>
          <a:xfrm>
            <a:off x="171450" y="95050"/>
            <a:ext cx="8801100" cy="373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If Rs.2000 amounts to Rs.2880 in 2 years at compound interest, what is the rate of interest per annum if the interest is being compounded annually?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[A] 10%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20%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15%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25%</a:t>
            </a:r>
          </a:p>
        </p:txBody>
      </p:sp>
    </p:spTree>
    <p:extLst>
      <p:ext uri="{BB962C8B-B14F-4D97-AF65-F5344CB8AC3E}">
        <p14:creationId xmlns:p14="http://schemas.microsoft.com/office/powerpoint/2010/main" val="3533200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450" y="95050"/>
            <a:ext cx="8801100" cy="336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Divide Rs. 6100 between A &amp; B, so that A’s share at the end of 3 year = B’s share at end of 5 year. C.I. Rate =20% pa.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[A] 3600, 2500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2000, 4100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2500, 3600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4100, 2000</a:t>
            </a:r>
          </a:p>
        </p:txBody>
      </p:sp>
    </p:spTree>
    <p:extLst>
      <p:ext uri="{BB962C8B-B14F-4D97-AF65-F5344CB8AC3E}">
        <p14:creationId xmlns:p14="http://schemas.microsoft.com/office/powerpoint/2010/main" val="3361784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CCAFAF-0280-976A-64D4-5163FE42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8662C6-E9FB-9955-839E-E8F47AD39357}"/>
              </a:ext>
            </a:extLst>
          </p:cNvPr>
          <p:cNvSpPr txBox="1"/>
          <p:nvPr/>
        </p:nvSpPr>
        <p:spPr>
          <a:xfrm>
            <a:off x="171450" y="95050"/>
            <a:ext cx="8801100" cy="373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A sum of money lent at C.I. For two years at 20% pa give Rs. 723 more if the interest was half year in place of annually. The sum is.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[A] 30000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60000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40000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20000</a:t>
            </a:r>
          </a:p>
        </p:txBody>
      </p:sp>
    </p:spTree>
    <p:extLst>
      <p:ext uri="{BB962C8B-B14F-4D97-AF65-F5344CB8AC3E}">
        <p14:creationId xmlns:p14="http://schemas.microsoft.com/office/powerpoint/2010/main" val="140617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19E945-3B93-EEF9-D338-9A6BD278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CE33BE-FCF1-3E63-0E3E-A0E4B20491D2}"/>
              </a:ext>
            </a:extLst>
          </p:cNvPr>
          <p:cNvSpPr txBox="1"/>
          <p:nvPr/>
        </p:nvSpPr>
        <p:spPr>
          <a:xfrm>
            <a:off x="171450" y="95050"/>
            <a:ext cx="8801100" cy="373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Book Antiqua" panose="02040602050305030304" pitchFamily="18" charset="0"/>
              </a:rPr>
              <a:t>Question: </a:t>
            </a:r>
            <a:r>
              <a:rPr lang="en-US" sz="2400" dirty="0">
                <a:latin typeface="Book Antiqua" pitchFamily="18" charset="0"/>
              </a:rPr>
              <a:t>If the S.I of certain money for 3 years is Rs. 225 &amp; C.I on same money, same rate for 2 years is Rs. 153. then what was the principal amount?</a:t>
            </a:r>
          </a:p>
          <a:p>
            <a:pPr algn="just"/>
            <a:endParaRPr lang="en-US" sz="2400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[A] Rs.875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[B] Rs.1875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[C] Rs.785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ok Antiqua" pitchFamily="18" charset="0"/>
              </a:rPr>
              <a:t>[D] Rs.1785</a:t>
            </a:r>
          </a:p>
        </p:txBody>
      </p:sp>
    </p:spTree>
    <p:extLst>
      <p:ext uri="{BB962C8B-B14F-4D97-AF65-F5344CB8AC3E}">
        <p14:creationId xmlns:p14="http://schemas.microsoft.com/office/powerpoint/2010/main" val="290379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30 Best Ways to Say Thank You for Your Response | FutureofWorking.com">
            <a:extLst>
              <a:ext uri="{FF2B5EF4-FFF2-40B4-BE49-F238E27FC236}">
                <a16:creationId xmlns:a16="http://schemas.microsoft.com/office/drawing/2014/main" xmlns="" id="{915B2CD5-5281-A0CA-8399-973EE47FE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634" y="606389"/>
            <a:ext cx="8470231" cy="5544154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38000"/>
              </a:prstClr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17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1254</TotalTime>
  <Words>591</Words>
  <Application>Microsoft Office PowerPoint</Application>
  <PresentationFormat>On-screen Show (4:3)</PresentationFormat>
  <Paragraphs>92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Compound interest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Factors</dc:title>
  <dc:creator>md asif</dc:creator>
  <cp:lastModifiedBy>rahul</cp:lastModifiedBy>
  <cp:revision>180</cp:revision>
  <dcterms:created xsi:type="dcterms:W3CDTF">2019-08-11T12:51:04Z</dcterms:created>
  <dcterms:modified xsi:type="dcterms:W3CDTF">2025-01-12T05:37:36Z</dcterms:modified>
</cp:coreProperties>
</file>