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258" r:id="rId3"/>
    <p:sldId id="259" r:id="rId4"/>
    <p:sldId id="260" r:id="rId5"/>
    <p:sldId id="261" r:id="rId6"/>
    <p:sldId id="291" r:id="rId7"/>
    <p:sldId id="267" r:id="rId8"/>
    <p:sldId id="271" r:id="rId9"/>
    <p:sldId id="272" r:id="rId10"/>
    <p:sldId id="262" r:id="rId11"/>
    <p:sldId id="264" r:id="rId12"/>
    <p:sldId id="263" r:id="rId13"/>
    <p:sldId id="265" r:id="rId14"/>
    <p:sldId id="266" r:id="rId15"/>
    <p:sldId id="269" r:id="rId16"/>
    <p:sldId id="273" r:id="rId17"/>
    <p:sldId id="270" r:id="rId18"/>
    <p:sldId id="274" r:id="rId19"/>
    <p:sldId id="276" r:id="rId20"/>
    <p:sldId id="277" r:id="rId21"/>
    <p:sldId id="278" r:id="rId22"/>
    <p:sldId id="280" r:id="rId23"/>
    <p:sldId id="279" r:id="rId24"/>
    <p:sldId id="275" r:id="rId25"/>
    <p:sldId id="285"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5981" autoAdjust="0"/>
    <p:restoredTop sz="94660"/>
  </p:normalViewPr>
  <p:slideViewPr>
    <p:cSldViewPr snapToGrid="0">
      <p:cViewPr>
        <p:scale>
          <a:sx n="81" d="100"/>
          <a:sy n="81" d="100"/>
        </p:scale>
        <p:origin x="-246" y="-3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12-Jan-25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12-Jan-25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12-Jan-25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t>12-Jan-25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t>12-Jan-25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t>12-Jan-25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12-Jan-25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12-Jan-25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12-Jan-25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12-Jan-25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12-Jan-25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12-Jan-25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pic>
        <p:nvPicPr>
          <p:cNvPr id="7" name="Picture 6"/>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0"/>
            <a:ext cx="12192000" cy="86677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p:txBody>
          <a:bodyPr vert="horz" wrap="square" lIns="91440" tIns="45720" rIns="91440" bIns="45720" anchor="ctr" anchorCtr="0">
            <a:normAutofit fontScale="90000"/>
          </a:bodyPr>
          <a:lstStyle/>
          <a:p>
            <a:pPr>
              <a:buClrTx/>
              <a:buSzTx/>
              <a:buFontTx/>
            </a:pPr>
            <a:r>
              <a:rPr lang="en-US" b="1" dirty="0"/>
              <a:t/>
            </a:r>
            <a:br>
              <a:rPr lang="en-US" b="1" dirty="0"/>
            </a:br>
            <a:r>
              <a:rPr lang="en-US" b="1" dirty="0"/>
              <a:t/>
            </a:r>
            <a:br>
              <a:rPr lang="en-US" b="1" dirty="0"/>
            </a:br>
            <a:r>
              <a:rPr lang="en-US" b="1" dirty="0"/>
              <a:t>PEA 516</a:t>
            </a:r>
            <a:br>
              <a:rPr lang="en-US" b="1" dirty="0"/>
            </a:br>
            <a:r>
              <a:rPr lang="en-US" b="1" dirty="0"/>
              <a:t/>
            </a:r>
            <a:br>
              <a:rPr lang="en-US" b="1" dirty="0"/>
            </a:br>
            <a:r>
              <a:rPr lang="en-US" b="1" dirty="0" smtClean="0"/>
              <a:t>LECTURE-3</a:t>
            </a:r>
            <a:r>
              <a:rPr lang="en-US" b="1" dirty="0"/>
              <a:t/>
            </a:r>
            <a:br>
              <a:rPr lang="en-US" b="1" dirty="0"/>
            </a:br>
            <a:r>
              <a:rPr lang="en-US" b="1" dirty="0"/>
              <a:t/>
            </a:r>
            <a:br>
              <a:rPr lang="en-US" b="1" dirty="0"/>
            </a:br>
            <a:r>
              <a:rPr b="1" dirty="0"/>
              <a:t>Time and Work</a:t>
            </a:r>
            <a:br>
              <a:rPr b="1" dirty="0"/>
            </a:br>
            <a:endParaRPr b="1" dirty="0"/>
          </a:p>
        </p:txBody>
      </p:sp>
      <p:pic>
        <p:nvPicPr>
          <p:cNvPr id="2" name="Picture 1" descr="sdsfgh"/>
          <p:cNvPicPr>
            <a:picLocks noChangeAspect="1"/>
          </p:cNvPicPr>
          <p:nvPr/>
        </p:nvPicPr>
        <p:blipFill>
          <a:blip r:embed="rId2"/>
          <a:stretch>
            <a:fillRect/>
          </a:stretch>
        </p:blipFill>
        <p:spPr>
          <a:xfrm>
            <a:off x="2860675" y="3324225"/>
            <a:ext cx="6108700" cy="30099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8355" y="961390"/>
            <a:ext cx="10545445" cy="5215890"/>
          </a:xfrm>
        </p:spPr>
        <p:txBody>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en-US" sz="4000" b="1" noProof="0" dirty="0" smtClean="0">
                <a:ln>
                  <a:noFill/>
                </a:ln>
                <a:effectLst/>
                <a:uLnTx/>
                <a:uFillTx/>
                <a:sym typeface="+mn-ea"/>
              </a:rPr>
              <a:t>Contents:</a:t>
            </a:r>
            <a:endParaRPr kumimoji="0" lang="en-US" sz="4000" b="1"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ct val="20000"/>
              </a:spcBef>
              <a:spcAft>
                <a:spcPct val="0"/>
              </a:spcAft>
              <a:buClrTx/>
              <a:buSzTx/>
              <a:buFont typeface="Arial" panose="020B0604020202020204" pitchFamily="34" charset="0"/>
              <a:buAutoNum type="arabicPeriod"/>
              <a:defRPr/>
            </a:pPr>
            <a:endParaRPr lang="en-US" altLang="en-US"/>
          </a:p>
          <a:p>
            <a:pPr marL="514350" marR="0" lvl="0" indent="-514350" algn="l" defTabSz="914400" rtl="0" eaLnBrk="0" fontAlgn="base" latinLnBrk="0" hangingPunct="0">
              <a:lnSpc>
                <a:spcPct val="100000"/>
              </a:lnSpc>
              <a:spcBef>
                <a:spcPct val="20000"/>
              </a:spcBef>
              <a:spcAft>
                <a:spcPct val="0"/>
              </a:spcAft>
              <a:buClrTx/>
              <a:buSzTx/>
              <a:buFont typeface="Arial" panose="020B0604020202020204" pitchFamily="34" charset="0"/>
              <a:buAutoNum type="arabicPeriod"/>
              <a:defRPr/>
            </a:pPr>
            <a:endParaRPr lang="en-US" altLang="en-US"/>
          </a:p>
          <a:p>
            <a:pPr marL="514350" marR="0" lvl="0" indent="-514350" algn="l" defTabSz="914400" rtl="0" eaLnBrk="0" fontAlgn="base" latinLnBrk="0" hangingPunct="0">
              <a:lnSpc>
                <a:spcPct val="100000"/>
              </a:lnSpc>
              <a:spcBef>
                <a:spcPct val="20000"/>
              </a:spcBef>
              <a:spcAft>
                <a:spcPct val="0"/>
              </a:spcAft>
              <a:buClrTx/>
              <a:buSzTx/>
              <a:buFont typeface="Arial" panose="020B0604020202020204" pitchFamily="34" charset="0"/>
              <a:buAutoNum type="arabicPeriod"/>
              <a:defRPr/>
            </a:pPr>
            <a:r>
              <a:rPr lang="en-US" altLang="en-US"/>
              <a:t>Negative and Partial work</a:t>
            </a:r>
          </a:p>
          <a:p>
            <a:pPr marL="514350" marR="0" lvl="0" indent="-514350" algn="l" defTabSz="914400" rtl="0" eaLnBrk="0" fontAlgn="base" latinLnBrk="0" hangingPunct="0">
              <a:lnSpc>
                <a:spcPct val="100000"/>
              </a:lnSpc>
              <a:spcBef>
                <a:spcPct val="20000"/>
              </a:spcBef>
              <a:spcAft>
                <a:spcPct val="0"/>
              </a:spcAft>
              <a:buClrTx/>
              <a:buSzTx/>
              <a:buFont typeface="Arial" panose="020B0604020202020204" pitchFamily="34" charset="0"/>
              <a:buAutoNum type="arabicPeriod"/>
              <a:defRPr/>
            </a:pPr>
            <a:r>
              <a:rPr lang="en-US" altLang="en-US"/>
              <a:t>Work and wages</a:t>
            </a:r>
          </a:p>
          <a:p>
            <a:pPr marL="514350" marR="0" lvl="0" indent="-514350" algn="l" defTabSz="914400" rtl="0" eaLnBrk="0" fontAlgn="base" latinLnBrk="0" hangingPunct="0">
              <a:lnSpc>
                <a:spcPct val="100000"/>
              </a:lnSpc>
              <a:spcBef>
                <a:spcPct val="20000"/>
              </a:spcBef>
              <a:spcAft>
                <a:spcPct val="0"/>
              </a:spcAft>
              <a:buClrTx/>
              <a:buSzTx/>
              <a:buFont typeface="Arial" panose="020B0604020202020204" pitchFamily="34" charset="0"/>
              <a:buAutoNum type="arabicPeriod"/>
              <a:defRPr/>
            </a:pPr>
            <a:r>
              <a:rPr lang="en-US" altLang="en-US"/>
              <a:t>Chain rule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altLang="en-US" b="1" dirty="0">
                <a:solidFill>
                  <a:srgbClr val="000000"/>
                </a:solidFill>
                <a:latin typeface="Arial" panose="020B0604020202020204" pitchFamily="34" charset="0"/>
                <a:sym typeface="+mn-ea"/>
              </a:rPr>
              <a:t>Negative Work Done:</a:t>
            </a:r>
          </a:p>
          <a:p>
            <a:pPr marL="0" indent="0">
              <a:buNone/>
            </a:pPr>
            <a:endParaRPr lang="en-US">
              <a:latin typeface="Calibri (Body)" charset="0"/>
              <a:cs typeface="Calibri (Body)" charset="0"/>
            </a:endParaRPr>
          </a:p>
          <a:p>
            <a:pPr marL="0" indent="0">
              <a:buNone/>
            </a:pPr>
            <a:r>
              <a:rPr lang="en-US" altLang="en-US" b="1" dirty="0">
                <a:solidFill>
                  <a:srgbClr val="000000"/>
                </a:solidFill>
                <a:latin typeface="Calibri (Body)" charset="0"/>
                <a:cs typeface="Calibri (Body)" charset="0"/>
                <a:sym typeface="+mn-ea"/>
              </a:rPr>
              <a:t>Example: </a:t>
            </a:r>
            <a:r>
              <a:rPr lang="en-US" altLang="en-US" dirty="0">
                <a:solidFill>
                  <a:srgbClr val="000000"/>
                </a:solidFill>
                <a:latin typeface="Calibri (Body)" charset="0"/>
                <a:cs typeface="Calibri (Body)" charset="0"/>
                <a:sym typeface="+mn-ea"/>
              </a:rPr>
              <a:t>A can do some work in 5 days, B can destroy the same work in 10 days. If they are working together, In how much time the work will be done.</a:t>
            </a:r>
            <a:endParaRPr lang="en-US" altLang="en-US" dirty="0">
              <a:solidFill>
                <a:srgbClr val="000000"/>
              </a:solidFill>
              <a:latin typeface="Calibri (Body)" charset="0"/>
              <a:cs typeface="Calibri (Body)" charset="0"/>
            </a:endParaRPr>
          </a:p>
          <a:p>
            <a:pPr marL="0" indent="0">
              <a:buNone/>
            </a:pPr>
            <a:endParaRPr lang="en-US" altLang="en-US" b="1" dirty="0">
              <a:solidFill>
                <a:srgbClr val="000000"/>
              </a:solidFill>
              <a:latin typeface="Arial" panose="020B0604020202020204" pitchFamily="34" charset="0"/>
            </a:endParaRPr>
          </a:p>
          <a:p>
            <a:pPr marL="0" indent="0">
              <a:buNone/>
            </a:pPr>
            <a:endParaRPr lang="en-US" altLang="en-US" dirty="0">
              <a:solidFill>
                <a:srgbClr val="000000"/>
              </a:solidFill>
              <a:latin typeface="Arial" panose="020B0604020202020204" pitchFamily="34" charset="0"/>
              <a:ea typeface="Arial" panose="020B0604020202020204" pitchFamily="34" charset="0"/>
            </a:endParaRPr>
          </a:p>
          <a:p>
            <a:pPr marL="0" indent="0">
              <a:buNone/>
            </a:pP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32180"/>
            <a:ext cx="10515600" cy="5245100"/>
          </a:xfrm>
        </p:spPr>
        <p:txBody>
          <a:bodyPr/>
          <a:lstStyle/>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r>
              <a:rPr lang="en-US" altLang="en-US" noProof="0" dirty="0">
                <a:ln>
                  <a:noFill/>
                </a:ln>
                <a:solidFill>
                  <a:srgbClr val="000000"/>
                </a:solidFill>
                <a:effectLst/>
                <a:uLnTx/>
                <a:uFillTx/>
                <a:latin typeface="Calibri (Body)" charset="0"/>
                <a:cs typeface="Calibri (Body)" charset="0"/>
                <a:sym typeface="+mn-ea"/>
              </a:rPr>
              <a:t> 1) A can do some work in 5 days, B can do the same work in 8 days, C can destroy it in 10 days. If they are working together, In how much time the work will be done.</a:t>
            </a:r>
            <a:endParaRPr kumimoji="0" lang="en-US" altLang="en-US" b="0" i="0" u="none" strike="noStrike" kern="1200" cap="none" spc="0" normalizeH="0" baseline="0" noProof="0" dirty="0">
              <a:ln>
                <a:noFill/>
              </a:ln>
              <a:solidFill>
                <a:srgbClr val="000000"/>
              </a:solidFill>
              <a:effectLst/>
              <a:uLnTx/>
              <a:uFillTx/>
              <a:latin typeface="Calibri (Body)" charset="0"/>
              <a:ea typeface="+mn-ea"/>
              <a:cs typeface="Calibri (Body)" charset="0"/>
            </a:endParaRPr>
          </a:p>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endParaRPr kumimoji="0" lang="en-US" altLang="en-US" b="0" i="0" u="none" strike="noStrike" kern="1200" cap="none" spc="0" normalizeH="0" baseline="0" noProof="0" dirty="0">
              <a:ln>
                <a:noFill/>
              </a:ln>
              <a:solidFill>
                <a:srgbClr val="000000"/>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rgbClr val="000000"/>
                </a:solidFill>
                <a:effectLst/>
                <a:uLnTx/>
                <a:uFillTx/>
                <a:latin typeface="Calibri (Body)" charset="0"/>
                <a:cs typeface="Calibri (Body)" charset="0"/>
                <a:sym typeface="+mn-ea"/>
              </a:rPr>
              <a:t>40/9 days</a:t>
            </a:r>
            <a:endParaRPr kumimoji="0" lang="en-US" altLang="en-US" b="0" i="0" u="none" strike="noStrike" kern="1200" cap="none" spc="0" normalizeH="0" baseline="0" noProof="0" dirty="0">
              <a:ln>
                <a:noFill/>
              </a:ln>
              <a:solidFill>
                <a:srgbClr val="000000"/>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rgbClr val="000000"/>
                </a:solidFill>
                <a:effectLst/>
                <a:uLnTx/>
                <a:uFillTx/>
                <a:latin typeface="Calibri (Body)" charset="0"/>
                <a:cs typeface="Calibri (Body)" charset="0"/>
                <a:sym typeface="+mn-ea"/>
              </a:rPr>
              <a:t>20/3 days</a:t>
            </a:r>
            <a:endParaRPr kumimoji="0" lang="en-US" altLang="en-US" b="0" i="0" u="none" strike="noStrike" kern="1200" cap="none" spc="0" normalizeH="0" baseline="0" noProof="0" dirty="0">
              <a:ln>
                <a:noFill/>
              </a:ln>
              <a:solidFill>
                <a:srgbClr val="000000"/>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rgbClr val="000000"/>
                </a:solidFill>
                <a:effectLst/>
                <a:uLnTx/>
                <a:uFillTx/>
                <a:latin typeface="Calibri (Body)" charset="0"/>
                <a:cs typeface="Calibri (Body)" charset="0"/>
                <a:sym typeface="+mn-ea"/>
              </a:rPr>
              <a:t>5 days</a:t>
            </a:r>
            <a:endParaRPr kumimoji="0" lang="en-US" altLang="en-US" b="0" i="0" u="none" strike="noStrike" kern="1200" cap="none" spc="0" normalizeH="0" baseline="0" noProof="0" dirty="0">
              <a:ln>
                <a:noFill/>
              </a:ln>
              <a:solidFill>
                <a:srgbClr val="000000"/>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rgbClr val="000000"/>
                </a:solidFill>
                <a:effectLst/>
                <a:uLnTx/>
                <a:uFillTx/>
                <a:latin typeface="Calibri (Body)" charset="0"/>
                <a:cs typeface="Calibri (Body)" charset="0"/>
                <a:sym typeface="+mn-ea"/>
              </a:rPr>
              <a:t>16/3 days</a:t>
            </a:r>
            <a:endParaRPr lang="en-US">
              <a:latin typeface="Calibri (Body)" charset="0"/>
              <a:cs typeface="Calibri (Body)"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83285" y="871220"/>
            <a:ext cx="10470515" cy="5306060"/>
          </a:xfrm>
        </p:spPr>
        <p:txBody>
          <a:bodyPr/>
          <a:lstStyle/>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r>
              <a:rPr lang="en-US" altLang="en-US" noProof="0" dirty="0">
                <a:ln>
                  <a:noFill/>
                </a:ln>
                <a:solidFill>
                  <a:schemeClr val="tx1"/>
                </a:solidFill>
                <a:effectLst/>
                <a:uLnTx/>
                <a:uFillTx/>
                <a:latin typeface="Calibri (Body)" charset="0"/>
                <a:cs typeface="Calibri (Body)" charset="0"/>
                <a:sym typeface="+mn-ea"/>
              </a:rPr>
              <a:t>2) A can complete a piece of work in 15 days and B can destroy the same piece of work in 20 days. Then in how many days the work will be completed if they are working together?</a:t>
            </a:r>
            <a:endParaRPr kumimoji="0" lang="en-US" alt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endParaRPr kumimoji="0" lang="en-US" alt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Calibri (Body)" charset="0"/>
                <a:cs typeface="Calibri (Body)" charset="0"/>
                <a:sym typeface="+mn-ea"/>
              </a:rPr>
              <a:t>30 days</a:t>
            </a:r>
            <a:endParaRPr kumimoji="0" lang="en-US" alt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Calibri (Body)" charset="0"/>
                <a:cs typeface="Calibri (Body)" charset="0"/>
                <a:sym typeface="+mn-ea"/>
              </a:rPr>
              <a:t>45 days</a:t>
            </a:r>
            <a:endParaRPr kumimoji="0" lang="en-US" alt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Calibri (Body)" charset="0"/>
                <a:cs typeface="Calibri (Body)" charset="0"/>
                <a:sym typeface="+mn-ea"/>
              </a:rPr>
              <a:t>60 days</a:t>
            </a:r>
            <a:endParaRPr kumimoji="0" lang="en-US" alt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Calibri (Body)" charset="0"/>
                <a:cs typeface="Calibri (Body)" charset="0"/>
                <a:sym typeface="+mn-ea"/>
              </a:rPr>
              <a:t>None of these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2960" y="841375"/>
            <a:ext cx="10530840" cy="5335905"/>
          </a:xfrm>
        </p:spPr>
        <p:txBody>
          <a:bodyPr/>
          <a:lstStyle/>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r>
              <a:rPr lang="en-US" altLang="en-US" noProof="0" dirty="0">
                <a:ln>
                  <a:noFill/>
                </a:ln>
                <a:solidFill>
                  <a:srgbClr val="000000"/>
                </a:solidFill>
                <a:effectLst/>
                <a:uLnTx/>
                <a:uFillTx/>
                <a:latin typeface="Calibri (Body)" charset="0"/>
                <a:cs typeface="Calibri (Body)" charset="0"/>
                <a:sym typeface="+mn-ea"/>
              </a:rPr>
              <a:t>3) A can do some work in 10 days, B can do the same work in 15 days, C can destroy it in 12 days. If they are working together, In how much time the work will be done.</a:t>
            </a:r>
            <a:endParaRPr kumimoji="0" lang="en-US" altLang="en-US" b="0" i="0" u="none" strike="noStrike" kern="1200" cap="none" spc="0" normalizeH="0" baseline="0" noProof="0" dirty="0">
              <a:ln>
                <a:noFill/>
              </a:ln>
              <a:solidFill>
                <a:srgbClr val="000000"/>
              </a:solidFill>
              <a:effectLst/>
              <a:uLnTx/>
              <a:uFillTx/>
              <a:latin typeface="Calibri (Body)" charset="0"/>
              <a:ea typeface="+mn-ea"/>
              <a:cs typeface="Calibri (Body)" charset="0"/>
            </a:endParaRPr>
          </a:p>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endParaRPr kumimoji="0" lang="en-US" altLang="en-US" b="0" i="0" u="none" strike="noStrike" kern="1200" cap="none" spc="0" normalizeH="0" baseline="0" noProof="0" dirty="0">
              <a:ln>
                <a:noFill/>
              </a:ln>
              <a:solidFill>
                <a:srgbClr val="000000"/>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rgbClr val="000000"/>
                </a:solidFill>
                <a:effectLst/>
                <a:uLnTx/>
                <a:uFillTx/>
                <a:latin typeface="Calibri (Body)" charset="0"/>
                <a:cs typeface="Calibri (Body)" charset="0"/>
                <a:sym typeface="+mn-ea"/>
              </a:rPr>
              <a:t>58 days</a:t>
            </a:r>
            <a:endParaRPr kumimoji="0" lang="en-US" altLang="en-US" b="0" i="0" u="none" strike="noStrike" kern="1200" cap="none" spc="0" normalizeH="0" baseline="0" noProof="0" dirty="0">
              <a:ln>
                <a:noFill/>
              </a:ln>
              <a:solidFill>
                <a:srgbClr val="000000"/>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rgbClr val="000000"/>
                </a:solidFill>
                <a:effectLst/>
                <a:uLnTx/>
                <a:uFillTx/>
                <a:latin typeface="Calibri (Body)" charset="0"/>
                <a:cs typeface="Calibri (Body)" charset="0"/>
                <a:sym typeface="+mn-ea"/>
              </a:rPr>
              <a:t>57 days</a:t>
            </a:r>
            <a:endParaRPr kumimoji="0" lang="en-US" altLang="en-US" b="0" i="0" u="none" strike="noStrike" kern="1200" cap="none" spc="0" normalizeH="0" baseline="0" noProof="0" dirty="0">
              <a:ln>
                <a:noFill/>
              </a:ln>
              <a:solidFill>
                <a:srgbClr val="000000"/>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rgbClr val="000000"/>
                </a:solidFill>
                <a:effectLst/>
                <a:uLnTx/>
                <a:uFillTx/>
                <a:latin typeface="Calibri (Body)" charset="0"/>
                <a:cs typeface="Calibri (Body)" charset="0"/>
                <a:sym typeface="+mn-ea"/>
              </a:rPr>
              <a:t>59 days</a:t>
            </a:r>
            <a:endParaRPr kumimoji="0" lang="en-US" altLang="en-US" b="0" i="0" u="none" strike="noStrike" kern="1200" cap="none" spc="0" normalizeH="0" baseline="0" noProof="0" dirty="0">
              <a:ln>
                <a:noFill/>
              </a:ln>
              <a:solidFill>
                <a:srgbClr val="000000"/>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rgbClr val="000000"/>
                </a:solidFill>
                <a:effectLst/>
                <a:uLnTx/>
                <a:uFillTx/>
                <a:latin typeface="Calibri (Body)" charset="0"/>
                <a:cs typeface="Calibri (Body)" charset="0"/>
                <a:sym typeface="+mn-ea"/>
              </a:rPr>
              <a:t>None of these</a:t>
            </a:r>
            <a:endParaRPr kumimoji="0" lang="en-US" altLang="en-US" b="0" i="0" u="none" strike="noStrike" kern="1200" cap="none" spc="0" normalizeH="0" baseline="0" noProof="0" dirty="0">
              <a:ln>
                <a:noFill/>
              </a:ln>
              <a:solidFill>
                <a:srgbClr val="000000"/>
              </a:solidFill>
              <a:effectLst/>
              <a:uLnTx/>
              <a:uFillTx/>
              <a:latin typeface="Calibri (Body)" charset="0"/>
              <a:ea typeface="+mn-ea"/>
              <a:cs typeface="Calibri (Body)" charset="0"/>
            </a:endParaRPr>
          </a:p>
          <a:p>
            <a:endParaRPr lang="en-US">
              <a:latin typeface="Calibri (Body)" charset="0"/>
              <a:cs typeface="Calibri (Body)"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p:cNvSpPr>
            <a:spLocks noGrp="1"/>
          </p:cNvSpPr>
          <p:nvPr>
            <p:ph idx="1"/>
          </p:nvPr>
        </p:nvSpPr>
        <p:spPr>
          <a:xfrm>
            <a:off x="923290" y="772160"/>
            <a:ext cx="10121900" cy="5354320"/>
          </a:xfrm>
        </p:spPr>
        <p:txBody>
          <a:bodyPr vert="horz" wrap="square" lIns="91440" tIns="45720" rIns="91440" bIns="45720" anchor="t" anchorCtr="0"/>
          <a:lstStyle/>
          <a:p>
            <a:pPr marL="0" indent="0">
              <a:buNone/>
            </a:pPr>
            <a:r>
              <a:rPr lang="en-US" altLang="en-US" b="1" dirty="0">
                <a:solidFill>
                  <a:srgbClr val="000000"/>
                </a:solidFill>
                <a:latin typeface="Arial" panose="020B0604020202020204" pitchFamily="34" charset="0"/>
                <a:sym typeface="+mn-ea"/>
              </a:rPr>
              <a:t>Constructive and destructive  work on alternate days:</a:t>
            </a:r>
            <a:endParaRPr lang="en-US" altLang="en-US" b="1" dirty="0">
              <a:solidFill>
                <a:srgbClr val="000000"/>
              </a:solidFill>
              <a:latin typeface="Arial" panose="020B0604020202020204" pitchFamily="34" charset="0"/>
            </a:endParaRPr>
          </a:p>
          <a:p>
            <a:pPr marL="0" indent="0">
              <a:buNone/>
            </a:pPr>
            <a:r>
              <a:rPr dirty="0"/>
              <a:t/>
            </a:r>
            <a:br>
              <a:rPr dirty="0"/>
            </a:br>
            <a:r>
              <a:rPr lang="en-US" altLang="en-US" dirty="0">
                <a:solidFill>
                  <a:srgbClr val="000000"/>
                </a:solidFill>
                <a:latin typeface="Calibri (Body)" charset="0"/>
                <a:cs typeface="Calibri (Body)" charset="0"/>
                <a:sym typeface="+mn-ea"/>
              </a:rPr>
              <a:t>Example: A can do some work in 2 days, B can destroy the same work in 3 days. If they are working on alternate days ,In how much time the work will be done.</a:t>
            </a:r>
            <a:endParaRPr lang="en-US" altLang="en-US" dirty="0">
              <a:solidFill>
                <a:srgbClr val="000000"/>
              </a:solidFill>
              <a:latin typeface="Arial" panose="020B0604020202020204" pitchFamily="34" charset="0"/>
            </a:endParaRPr>
          </a:p>
          <a:p>
            <a:pPr marL="0" indent="0">
              <a:buNone/>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ontent Placeholder 2"/>
          <p:cNvSpPr>
            <a:spLocks noGrp="1"/>
          </p:cNvSpPr>
          <p:nvPr>
            <p:ph idx="1"/>
          </p:nvPr>
        </p:nvSpPr>
        <p:spPr>
          <a:xfrm>
            <a:off x="967740" y="685165"/>
            <a:ext cx="10227310" cy="5944235"/>
          </a:xfrm>
        </p:spPr>
        <p:txBody>
          <a:bodyPr vert="horz" wrap="square" lIns="91440" tIns="45720" rIns="91440" bIns="45720" anchor="t" anchorCtr="0"/>
          <a:lstStyle/>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r>
              <a:rPr lang="en-US" altLang="en-US" noProof="0" dirty="0">
                <a:ln>
                  <a:noFill/>
                </a:ln>
                <a:solidFill>
                  <a:schemeClr val="tx1"/>
                </a:solidFill>
                <a:effectLst/>
                <a:uLnTx/>
                <a:uFillTx/>
                <a:latin typeface="Calibri (Body)" charset="0"/>
                <a:cs typeface="Calibri (Body)" charset="0"/>
                <a:sym typeface="+mn-ea"/>
              </a:rPr>
              <a:t>4) A can do some work in </a:t>
            </a:r>
            <a:r>
              <a:rPr lang="en-US" altLang="en-US" noProof="0" dirty="0" smtClean="0">
                <a:ln>
                  <a:noFill/>
                </a:ln>
                <a:solidFill>
                  <a:schemeClr val="tx1"/>
                </a:solidFill>
                <a:effectLst/>
                <a:uLnTx/>
                <a:uFillTx/>
                <a:latin typeface="Calibri (Body)" charset="0"/>
                <a:cs typeface="Calibri (Body)" charset="0"/>
                <a:sym typeface="+mn-ea"/>
              </a:rPr>
              <a:t>20 days</a:t>
            </a:r>
            <a:r>
              <a:rPr lang="en-US" altLang="en-US" noProof="0" dirty="0">
                <a:ln>
                  <a:noFill/>
                </a:ln>
                <a:solidFill>
                  <a:schemeClr val="tx1"/>
                </a:solidFill>
                <a:effectLst/>
                <a:uLnTx/>
                <a:uFillTx/>
                <a:latin typeface="Calibri (Body)" charset="0"/>
                <a:cs typeface="Calibri (Body)" charset="0"/>
                <a:sym typeface="+mn-ea"/>
              </a:rPr>
              <a:t>, B can destroy the same in 30 </a:t>
            </a:r>
            <a:r>
              <a:rPr lang="en-US" altLang="en-US" noProof="0" dirty="0" smtClean="0">
                <a:ln>
                  <a:noFill/>
                </a:ln>
                <a:solidFill>
                  <a:schemeClr val="tx1"/>
                </a:solidFill>
                <a:effectLst/>
                <a:uLnTx/>
                <a:uFillTx/>
                <a:latin typeface="Calibri (Body)" charset="0"/>
                <a:cs typeface="Calibri (Body)" charset="0"/>
                <a:sym typeface="+mn-ea"/>
              </a:rPr>
              <a:t>days. </a:t>
            </a:r>
            <a:r>
              <a:rPr lang="en-US" altLang="en-US" noProof="0" dirty="0">
                <a:ln>
                  <a:noFill/>
                </a:ln>
                <a:solidFill>
                  <a:schemeClr val="tx1"/>
                </a:solidFill>
                <a:effectLst/>
                <a:uLnTx/>
                <a:uFillTx/>
                <a:latin typeface="Calibri (Body)" charset="0"/>
                <a:cs typeface="Calibri (Body)" charset="0"/>
                <a:sym typeface="+mn-ea"/>
              </a:rPr>
              <a:t>In how much time the work will be done. If they are working on alternate days.</a:t>
            </a:r>
            <a:endParaRPr kumimoji="0" lang="en-US" alt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Calibri (Body)" charset="0"/>
                <a:cs typeface="Calibri (Body)" charset="0"/>
                <a:sym typeface="+mn-ea"/>
              </a:rPr>
              <a:t>60days</a:t>
            </a:r>
            <a:endParaRPr kumimoji="0" lang="en-US" alt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Calibri (Body)" charset="0"/>
                <a:cs typeface="Calibri (Body)" charset="0"/>
                <a:sym typeface="+mn-ea"/>
              </a:rPr>
              <a:t>120 days</a:t>
            </a:r>
            <a:endParaRPr kumimoji="0" lang="en-US" alt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Calibri (Body)" charset="0"/>
                <a:cs typeface="Calibri (Body)" charset="0"/>
                <a:sym typeface="+mn-ea"/>
              </a:rPr>
              <a:t>119 days</a:t>
            </a:r>
            <a:endParaRPr kumimoji="0" lang="en-US" alt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Calibri (Body)" charset="0"/>
                <a:cs typeface="Calibri (Body)" charset="0"/>
                <a:sym typeface="+mn-ea"/>
              </a:rPr>
              <a:t>None of these</a:t>
            </a:r>
            <a:endParaRPr kumimoji="0" lang="en-US" alt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endParaRPr kumimoji="0" lang="en-US" alt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0" indent="0">
              <a:buNone/>
            </a:pPr>
            <a:endParaRPr kumimoji="0" lang="en-US" alt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Content Placeholder 2"/>
          <p:cNvSpPr>
            <a:spLocks noGrp="1"/>
          </p:cNvSpPr>
          <p:nvPr>
            <p:ph idx="1"/>
          </p:nvPr>
        </p:nvSpPr>
        <p:spPr>
          <a:xfrm>
            <a:off x="1102360" y="772795"/>
            <a:ext cx="10048240" cy="5353685"/>
          </a:xfrm>
        </p:spPr>
        <p:txBody>
          <a:bodyPr vert="horz" wrap="square" lIns="91440" tIns="45720" rIns="91440" bIns="45720" anchor="t" anchorCtr="0"/>
          <a:lstStyle/>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r>
              <a:rPr lang="en-US" altLang="en-US" noProof="0" dirty="0">
                <a:ln>
                  <a:noFill/>
                </a:ln>
                <a:solidFill>
                  <a:schemeClr val="tx1"/>
                </a:solidFill>
                <a:effectLst/>
                <a:uLnTx/>
                <a:uFillTx/>
                <a:latin typeface="Calibri (Body)" charset="0"/>
                <a:cs typeface="Calibri (Body)" charset="0"/>
                <a:sym typeface="+mn-ea"/>
              </a:rPr>
              <a:t>5) A and B can complete a piece of work in 15, 25 days respectively and C can destroy the same work in 30 days. A and B Work on alternative days and C works daily. In what time they completed work  </a:t>
            </a:r>
            <a:endParaRPr kumimoji="0" lang="en-US" alt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Calibri (Body)" charset="0"/>
                <a:cs typeface="Calibri (Body)" charset="0"/>
                <a:sym typeface="+mn-ea"/>
              </a:rPr>
              <a:t>50</a:t>
            </a:r>
            <a:endParaRPr kumimoji="0" lang="en-US" alt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Calibri (Body)" charset="0"/>
                <a:cs typeface="Calibri (Body)" charset="0"/>
                <a:sym typeface="+mn-ea"/>
              </a:rPr>
              <a:t>100</a:t>
            </a:r>
            <a:endParaRPr kumimoji="0" lang="en-US" alt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Calibri (Body)" charset="0"/>
                <a:cs typeface="Calibri (Body)" charset="0"/>
                <a:sym typeface="+mn-ea"/>
              </a:rPr>
              <a:t>25</a:t>
            </a:r>
            <a:endParaRPr kumimoji="0" lang="en-US" alt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Calibri (Body)" charset="0"/>
                <a:cs typeface="Calibri (Body)" charset="0"/>
                <a:sym typeface="+mn-ea"/>
              </a:rPr>
              <a:t>30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marR="0" lvl="0" indent="0" algn="just"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r>
              <a:rPr lang="en-US" altLang="en-US" noProof="0" dirty="0">
                <a:ln>
                  <a:noFill/>
                </a:ln>
                <a:solidFill>
                  <a:srgbClr val="000000"/>
                </a:solidFill>
                <a:effectLst/>
                <a:uLnTx/>
                <a:uFillTx/>
                <a:latin typeface="Calibri (Body)" charset="0"/>
                <a:cs typeface="Calibri (Body)" charset="0"/>
                <a:sym typeface="+mn-ea"/>
              </a:rPr>
              <a:t>The wages for any amount of work is directly proportional to the work done.</a:t>
            </a:r>
          </a:p>
          <a:p>
            <a:pPr marL="0" marR="0" lvl="0" indent="0" algn="just"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endParaRPr lang="en-US">
              <a:latin typeface="Calibri (Body)" charset="0"/>
              <a:cs typeface="Calibri (Body)" charset="0"/>
            </a:endParaRPr>
          </a:p>
          <a:p>
            <a:pPr marL="0" indent="0" algn="just">
              <a:buNone/>
            </a:pPr>
            <a:r>
              <a:rPr lang="en-US" altLang="en-US" b="1" dirty="0">
                <a:solidFill>
                  <a:srgbClr val="000000"/>
                </a:solidFill>
                <a:latin typeface="Calibri (Body)" charset="0"/>
                <a:cs typeface="Calibri (Body)" charset="0"/>
                <a:sym typeface="+mn-ea"/>
              </a:rPr>
              <a:t>Example</a:t>
            </a:r>
            <a:r>
              <a:rPr lang="en-US" altLang="en-US" dirty="0">
                <a:solidFill>
                  <a:srgbClr val="000000"/>
                </a:solidFill>
                <a:latin typeface="Calibri (Body)" charset="0"/>
                <a:cs typeface="Calibri (Body)" charset="0"/>
                <a:sym typeface="+mn-ea"/>
              </a:rPr>
              <a:t>: A can fabricate a divider in 30 days , while B alone can assemble it in 40 days, If they construct it together and get an installment of RS. 7000, what B's offer?</a:t>
            </a:r>
            <a:endParaRPr lang="en-US" altLang="en-US" dirty="0">
              <a:solidFill>
                <a:srgbClr val="000000"/>
              </a:solidFill>
              <a:latin typeface="Calibri (Body)" charset="0"/>
              <a:cs typeface="Calibri (Body)" charset="0"/>
            </a:endParaRPr>
          </a:p>
          <a:p>
            <a:pPr marL="0" indent="0" algn="just">
              <a:buNone/>
            </a:pPr>
            <a:endParaRPr lang="en-US" altLang="en-US" dirty="0">
              <a:solidFill>
                <a:srgbClr val="000000"/>
              </a:solidFill>
              <a:latin typeface="Arial" panose="020B0604020202020204" pitchFamily="34" charset="0"/>
              <a:ea typeface="Arial" panose="020B0604020202020204" pitchFamily="34" charset="0"/>
            </a:endParaRPr>
          </a:p>
          <a:p>
            <a:pPr marL="0" marR="0" lvl="0" indent="0" algn="just"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endParaRPr lang="en-US">
              <a:latin typeface="Calibri (Body)" charset="0"/>
              <a:cs typeface="Calibri (Body)" charset="0"/>
            </a:endParaRPr>
          </a:p>
        </p:txBody>
      </p:sp>
      <p:sp>
        <p:nvSpPr>
          <p:cNvPr id="2" name="Text Box 1"/>
          <p:cNvSpPr txBox="1"/>
          <p:nvPr/>
        </p:nvSpPr>
        <p:spPr>
          <a:xfrm>
            <a:off x="838835" y="462915"/>
            <a:ext cx="7306310" cy="1363345"/>
          </a:xfrm>
          <a:prstGeom prst="rect">
            <a:avLst/>
          </a:prstGeom>
          <a:noFill/>
        </p:spPr>
        <p:txBody>
          <a:bodyPr wrap="square" rtlCol="0" anchor="t">
            <a:noAutofit/>
          </a:bodyPr>
          <a:lstStyle/>
          <a:p>
            <a:pPr marL="0" marR="0" lvl="0" indent="0" algn="just"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r>
              <a:rPr lang="en-US" altLang="en-US" sz="3000" b="1" noProof="0" dirty="0">
                <a:ln>
                  <a:noFill/>
                </a:ln>
                <a:solidFill>
                  <a:srgbClr val="000000"/>
                </a:solidFill>
                <a:effectLst/>
                <a:uLnTx/>
                <a:uFillTx/>
                <a:latin typeface="Arial" panose="020B0604020202020204" pitchFamily="34" charset="0"/>
                <a:cs typeface="Arial" panose="020B0604020202020204" pitchFamily="34" charset="0"/>
                <a:sym typeface="+mn-ea"/>
              </a:rPr>
              <a:t>Work and Wages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2805" y="1021080"/>
            <a:ext cx="10500995" cy="5156200"/>
          </a:xfrm>
        </p:spPr>
        <p:txBody>
          <a:bodyPr/>
          <a:lstStyle/>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r>
              <a:rPr lang="en-US" noProof="0" dirty="0">
                <a:ln>
                  <a:noFill/>
                </a:ln>
                <a:solidFill>
                  <a:schemeClr val="tx1"/>
                </a:solidFill>
                <a:effectLst/>
                <a:uLnTx/>
                <a:uFillTx/>
                <a:latin typeface="Calibri (Body)" charset="0"/>
                <a:cs typeface="Calibri (Body)" charset="0"/>
                <a:sym typeface="+mn-ea"/>
              </a:rPr>
              <a:t>6) Suman can do a work in 3 days. Sumati can do the same work in</a:t>
            </a:r>
            <a:endParaRPr kumimoji="0" 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r>
              <a:rPr lang="en-US" noProof="0" dirty="0">
                <a:ln>
                  <a:noFill/>
                </a:ln>
                <a:solidFill>
                  <a:schemeClr val="tx1"/>
                </a:solidFill>
                <a:effectLst/>
                <a:uLnTx/>
                <a:uFillTx/>
                <a:latin typeface="Calibri (Body)" charset="0"/>
                <a:cs typeface="Calibri (Body)" charset="0"/>
                <a:sym typeface="+mn-ea"/>
              </a:rPr>
              <a:t>2 days. Both of them finish the work together and get 150. What is the share of Suman ?</a:t>
            </a:r>
            <a:endParaRPr kumimoji="0" 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endParaRPr kumimoji="0" 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mj-lt"/>
              <a:buAutoNum type="alphaLcParenR"/>
              <a:defRPr/>
            </a:pPr>
            <a:r>
              <a:rPr lang="en-US" noProof="0" dirty="0">
                <a:ln>
                  <a:noFill/>
                </a:ln>
                <a:solidFill>
                  <a:schemeClr val="tx1"/>
                </a:solidFill>
                <a:effectLst/>
                <a:uLnTx/>
                <a:uFillTx/>
                <a:latin typeface="Calibri (Body)" charset="0"/>
                <a:cs typeface="Calibri (Body)" charset="0"/>
                <a:sym typeface="+mn-ea"/>
              </a:rPr>
              <a:t>30</a:t>
            </a:r>
            <a:endParaRPr kumimoji="0" 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mj-lt"/>
              <a:buAutoNum type="alphaLcParenR"/>
              <a:defRPr/>
            </a:pPr>
            <a:r>
              <a:rPr lang="en-US" noProof="0" dirty="0">
                <a:ln>
                  <a:noFill/>
                </a:ln>
                <a:solidFill>
                  <a:schemeClr val="tx1"/>
                </a:solidFill>
                <a:effectLst/>
                <a:uLnTx/>
                <a:uFillTx/>
                <a:latin typeface="Calibri (Body)" charset="0"/>
                <a:cs typeface="Calibri (Body)" charset="0"/>
                <a:sym typeface="+mn-ea"/>
              </a:rPr>
              <a:t>60</a:t>
            </a:r>
            <a:endParaRPr kumimoji="0" 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mj-lt"/>
              <a:buAutoNum type="alphaLcParenR"/>
              <a:defRPr/>
            </a:pPr>
            <a:r>
              <a:rPr lang="en-US" noProof="0" dirty="0">
                <a:ln>
                  <a:noFill/>
                </a:ln>
                <a:solidFill>
                  <a:schemeClr val="tx1"/>
                </a:solidFill>
                <a:effectLst/>
                <a:uLnTx/>
                <a:uFillTx/>
                <a:latin typeface="Calibri (Body)" charset="0"/>
                <a:cs typeface="Calibri (Body)" charset="0"/>
                <a:sym typeface="+mn-ea"/>
              </a:rPr>
              <a:t>70 </a:t>
            </a:r>
            <a:endParaRPr kumimoji="0" 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mj-lt"/>
              <a:buAutoNum type="alphaLcParenR"/>
              <a:defRPr/>
            </a:pPr>
            <a:r>
              <a:rPr lang="en-US" noProof="0" dirty="0">
                <a:ln>
                  <a:noFill/>
                </a:ln>
                <a:solidFill>
                  <a:schemeClr val="tx1"/>
                </a:solidFill>
                <a:effectLst/>
                <a:uLnTx/>
                <a:uFillTx/>
                <a:latin typeface="Calibri (Body)" charset="0"/>
                <a:cs typeface="Calibri (Body)" charset="0"/>
                <a:sym typeface="+mn-ea"/>
              </a:rPr>
              <a:t>75</a:t>
            </a:r>
            <a:endParaRPr kumimoji="0" lang="en-US" b="0" i="0" u="none" strike="noStrike" kern="1200" cap="none" spc="0" normalizeH="0" baseline="0" noProof="0" dirty="0">
              <a:ln>
                <a:noFill/>
              </a:ln>
              <a:solidFill>
                <a:schemeClr val="tx1"/>
              </a:solidFill>
              <a:effectLst/>
              <a:uLnTx/>
              <a:uFillTx/>
              <a:latin typeface="Calibri (Body)" charset="0"/>
              <a:ea typeface="+mn-ea"/>
              <a:cs typeface="Calibri (Body)" charset="0"/>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2805" y="902335"/>
            <a:ext cx="10500995" cy="5274945"/>
          </a:xfrm>
        </p:spPr>
        <p:txBody>
          <a:bodyPr/>
          <a:lstStyle/>
          <a:p>
            <a:pPr marL="0" marR="0" lvl="0" indent="0" algn="just"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r>
              <a:rPr lang="en-US" altLang="en-US" noProof="0" dirty="0">
                <a:ln>
                  <a:noFill/>
                </a:ln>
                <a:solidFill>
                  <a:srgbClr val="000000"/>
                </a:solidFill>
                <a:effectLst/>
                <a:uLnTx/>
                <a:uFillTx/>
                <a:latin typeface="Calibri (Body)" charset="0"/>
                <a:cs typeface="Calibri (Body)" charset="0"/>
                <a:sym typeface="+mn-ea"/>
              </a:rPr>
              <a:t>7) A alone can do a piece of work in 6 days and B alone in 8 days. A and B undertook to do it for Rs. 3200. With the help of C, they completed the work in 3 days. How much is to be paid to C?</a:t>
            </a:r>
            <a:endParaRPr kumimoji="0" lang="en-US" altLang="en-US" b="0" i="0" u="none" strike="noStrike" kern="1200" cap="none" spc="0" normalizeH="0" baseline="0" noProof="0" dirty="0">
              <a:ln>
                <a:noFill/>
              </a:ln>
              <a:solidFill>
                <a:srgbClr val="000000"/>
              </a:solidFill>
              <a:effectLst/>
              <a:uLnTx/>
              <a:uFillTx/>
              <a:latin typeface="Calibri (Body)" charset="0"/>
              <a:ea typeface="+mn-ea"/>
              <a:cs typeface="Calibri (Body)" charset="0"/>
            </a:endParaRPr>
          </a:p>
          <a:p>
            <a:pPr marL="0" marR="0" lvl="0" indent="0" algn="just"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endParaRPr kumimoji="0" lang="en-US" altLang="en-US" b="0" i="0" u="none" strike="noStrike" kern="1200" cap="none" spc="0" normalizeH="0" baseline="0" noProof="0" dirty="0">
              <a:ln>
                <a:noFill/>
              </a:ln>
              <a:solidFill>
                <a:srgbClr val="000000"/>
              </a:solidFill>
              <a:effectLst/>
              <a:uLnTx/>
              <a:uFillTx/>
              <a:latin typeface="Calibri (Body)" charset="0"/>
              <a:ea typeface="+mn-ea"/>
              <a:cs typeface="Calibri (Body)" charset="0"/>
            </a:endParaRPr>
          </a:p>
          <a:p>
            <a:pPr marL="342900" marR="0" lvl="0" indent="-342900" algn="just"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rgbClr val="000000"/>
                </a:solidFill>
                <a:effectLst/>
                <a:uLnTx/>
                <a:uFillTx/>
                <a:latin typeface="Calibri (Body)" charset="0"/>
                <a:cs typeface="Calibri (Body)" charset="0"/>
                <a:sym typeface="+mn-ea"/>
              </a:rPr>
              <a:t>Rs. 375</a:t>
            </a:r>
            <a:endParaRPr kumimoji="0" lang="en-US" altLang="en-US" b="0" i="0" u="none" strike="noStrike" kern="1200" cap="none" spc="0" normalizeH="0" baseline="0" noProof="0" dirty="0">
              <a:ln>
                <a:noFill/>
              </a:ln>
              <a:solidFill>
                <a:srgbClr val="000000"/>
              </a:solidFill>
              <a:effectLst/>
              <a:uLnTx/>
              <a:uFillTx/>
              <a:latin typeface="Calibri (Body)" charset="0"/>
              <a:ea typeface="+mn-ea"/>
              <a:cs typeface="Calibri (Body)" charset="0"/>
            </a:endParaRPr>
          </a:p>
          <a:p>
            <a:pPr marL="342900" marR="0" lvl="0" indent="-342900" algn="just"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rgbClr val="000000"/>
                </a:solidFill>
                <a:effectLst/>
                <a:uLnTx/>
                <a:uFillTx/>
                <a:latin typeface="Calibri (Body)" charset="0"/>
                <a:cs typeface="Calibri (Body)" charset="0"/>
                <a:sym typeface="+mn-ea"/>
              </a:rPr>
              <a:t>Rs. 400</a:t>
            </a:r>
            <a:endParaRPr kumimoji="0" lang="en-US" altLang="en-US" b="0" i="0" u="none" strike="noStrike" kern="1200" cap="none" spc="0" normalizeH="0" baseline="0" noProof="0" dirty="0">
              <a:ln>
                <a:noFill/>
              </a:ln>
              <a:solidFill>
                <a:srgbClr val="000000"/>
              </a:solidFill>
              <a:effectLst/>
              <a:uLnTx/>
              <a:uFillTx/>
              <a:latin typeface="Calibri (Body)" charset="0"/>
              <a:ea typeface="+mn-ea"/>
              <a:cs typeface="Calibri (Body)" charset="0"/>
            </a:endParaRPr>
          </a:p>
          <a:p>
            <a:pPr marL="342900" marR="0" lvl="0" indent="-342900" algn="just"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rgbClr val="000000"/>
                </a:solidFill>
                <a:effectLst/>
                <a:uLnTx/>
                <a:uFillTx/>
                <a:latin typeface="Calibri (Body)" charset="0"/>
                <a:cs typeface="Calibri (Body)" charset="0"/>
                <a:sym typeface="+mn-ea"/>
              </a:rPr>
              <a:t>Rs. 600</a:t>
            </a:r>
            <a:endParaRPr kumimoji="0" lang="en-US" altLang="en-US" b="0" i="0" u="none" strike="noStrike" kern="1200" cap="none" spc="0" normalizeH="0" baseline="0" noProof="0" dirty="0">
              <a:ln>
                <a:noFill/>
              </a:ln>
              <a:solidFill>
                <a:srgbClr val="000000"/>
              </a:solidFill>
              <a:effectLst/>
              <a:uLnTx/>
              <a:uFillTx/>
              <a:latin typeface="Calibri (Body)" charset="0"/>
              <a:ea typeface="+mn-ea"/>
              <a:cs typeface="Calibri (Body)" charset="0"/>
            </a:endParaRPr>
          </a:p>
          <a:p>
            <a:pPr marL="342900" marR="0" lvl="0" indent="-342900" algn="just"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rgbClr val="000000"/>
                </a:solidFill>
                <a:effectLst/>
                <a:uLnTx/>
                <a:uFillTx/>
                <a:latin typeface="Calibri (Body)" charset="0"/>
                <a:cs typeface="Calibri (Body)" charset="0"/>
                <a:sym typeface="+mn-ea"/>
              </a:rPr>
              <a:t>Rs. 800</a:t>
            </a:r>
            <a:endParaRPr kumimoji="0" 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2805" y="662940"/>
            <a:ext cx="10500995" cy="5514340"/>
          </a:xfrm>
        </p:spPr>
        <p:txBody>
          <a:bodyPr/>
          <a:lstStyle/>
          <a:p>
            <a:pPr marL="0" indent="0">
              <a:buNone/>
            </a:pPr>
            <a:r>
              <a:rPr lang="en-US" altLang="en-US" dirty="0">
                <a:solidFill>
                  <a:schemeClr val="tx1"/>
                </a:solidFill>
                <a:latin typeface="Calibri (Body)" charset="0"/>
                <a:cs typeface="Calibri (Body)" charset="0"/>
                <a:sym typeface="+mn-ea"/>
              </a:rPr>
              <a:t>8) Babli alone can do a piece of work in 10 days Ashu alone can do it in 15 days. The total wages for the work in Rs.5000. How much should Babli be paid off they work together for entire duration of the work?</a:t>
            </a:r>
            <a:endParaRPr lang="en-US" altLang="en-US" dirty="0">
              <a:solidFill>
                <a:schemeClr val="tx1"/>
              </a:solidFill>
              <a:latin typeface="Calibri (Body)" charset="0"/>
              <a:cs typeface="Calibri (Body)" charset="0"/>
            </a:endParaRPr>
          </a:p>
          <a:p>
            <a:pPr marL="0" indent="0">
              <a:buNone/>
            </a:pPr>
            <a:endParaRPr lang="en-US" altLang="en-US" dirty="0">
              <a:solidFill>
                <a:schemeClr val="tx1"/>
              </a:solidFill>
              <a:latin typeface="Calibri (Body)" charset="0"/>
              <a:cs typeface="Calibri (Body)" charset="0"/>
            </a:endParaRPr>
          </a:p>
          <a:p>
            <a:pPr marL="0" indent="0">
              <a:buNone/>
            </a:pPr>
            <a:r>
              <a:rPr lang="en-US" altLang="en-US" dirty="0">
                <a:solidFill>
                  <a:schemeClr val="tx1"/>
                </a:solidFill>
                <a:latin typeface="Calibri (Body)" charset="0"/>
                <a:cs typeface="Calibri (Body)" charset="0"/>
                <a:sym typeface="+mn-ea"/>
              </a:rPr>
              <a:t>A] 5000		</a:t>
            </a:r>
            <a:endParaRPr lang="en-US" altLang="en-US" dirty="0">
              <a:solidFill>
                <a:schemeClr val="tx1"/>
              </a:solidFill>
              <a:latin typeface="Calibri (Body)" charset="0"/>
              <a:cs typeface="Calibri (Body)" charset="0"/>
            </a:endParaRPr>
          </a:p>
          <a:p>
            <a:pPr marL="0" indent="0">
              <a:buNone/>
            </a:pPr>
            <a:r>
              <a:rPr lang="en-US" altLang="en-US" dirty="0">
                <a:solidFill>
                  <a:schemeClr val="tx1"/>
                </a:solidFill>
                <a:latin typeface="Calibri (Body)" charset="0"/>
                <a:cs typeface="Calibri (Body)" charset="0"/>
                <a:sym typeface="+mn-ea"/>
              </a:rPr>
              <a:t>B] 4000			</a:t>
            </a:r>
            <a:endParaRPr lang="en-US" altLang="en-US" dirty="0">
              <a:solidFill>
                <a:schemeClr val="tx1"/>
              </a:solidFill>
              <a:latin typeface="Calibri (Body)" charset="0"/>
              <a:cs typeface="Calibri (Body)" charset="0"/>
            </a:endParaRPr>
          </a:p>
          <a:p>
            <a:pPr marL="0" indent="0">
              <a:buNone/>
            </a:pPr>
            <a:r>
              <a:rPr lang="en-US" altLang="en-US" dirty="0">
                <a:solidFill>
                  <a:schemeClr val="tx1"/>
                </a:solidFill>
                <a:latin typeface="Calibri (Body)" charset="0"/>
                <a:cs typeface="Calibri (Body)" charset="0"/>
                <a:sym typeface="+mn-ea"/>
              </a:rPr>
              <a:t>C] 3000			</a:t>
            </a:r>
            <a:endParaRPr lang="en-US" altLang="en-US" dirty="0">
              <a:solidFill>
                <a:schemeClr val="tx1"/>
              </a:solidFill>
              <a:latin typeface="Calibri (Body)" charset="0"/>
              <a:cs typeface="Calibri (Body)" charset="0"/>
            </a:endParaRPr>
          </a:p>
          <a:p>
            <a:pPr marL="0" indent="0">
              <a:buNone/>
            </a:pPr>
            <a:r>
              <a:rPr lang="en-US" altLang="en-US" dirty="0">
                <a:solidFill>
                  <a:schemeClr val="tx1"/>
                </a:solidFill>
                <a:latin typeface="Calibri (Body)" charset="0"/>
                <a:cs typeface="Calibri (Body)" charset="0"/>
                <a:sym typeface="+mn-ea"/>
              </a:rPr>
              <a:t>D] 2000</a:t>
            </a:r>
            <a:endParaRPr kumimoji="0" lang="en-US" altLang="en-US" b="0" i="0" u="none" strike="noStrike" kern="1200" cap="none" spc="0" normalizeH="0" baseline="0" noProof="0" dirty="0">
              <a:ln>
                <a:noFill/>
              </a:ln>
              <a:solidFill>
                <a:schemeClr val="tx1"/>
              </a:solidFill>
              <a:effectLst/>
              <a:uLnTx/>
              <a:uFillTx/>
              <a:latin typeface="Calibri (Body)" charset="0"/>
              <a:ea typeface="+mn-ea"/>
              <a:cs typeface="Calibri (Body)" charset="0"/>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00000"/>
                </a:solidFill>
                <a:latin typeface="Arial" panose="020B0604020202020204" pitchFamily="34" charset="0"/>
                <a:sym typeface="+mn-ea"/>
              </a:rPr>
              <a:t>MDH formula/ Chain Rule</a:t>
            </a:r>
            <a:endParaRPr lang="en-US" altLang="en-US" b="1"/>
          </a:p>
        </p:txBody>
      </p:sp>
      <p:pic>
        <p:nvPicPr>
          <p:cNvPr id="74754" name="Picture 2"/>
          <p:cNvPicPr>
            <a:picLocks noGrp="1" noChangeAspect="1"/>
          </p:cNvPicPr>
          <p:nvPr>
            <p:ph sz="half" idx="2"/>
          </p:nvPr>
        </p:nvPicPr>
        <p:blipFill>
          <a:blip r:embed="rId2"/>
          <a:stretch>
            <a:fillRect/>
          </a:stretch>
        </p:blipFill>
        <p:spPr>
          <a:xfrm>
            <a:off x="1104900" y="1691005"/>
            <a:ext cx="6430010" cy="1708150"/>
          </a:xfrm>
          <a:prstGeom prst="rect">
            <a:avLst/>
          </a:prstGeom>
          <a:noFill/>
          <a:ln w="9525">
            <a:noFill/>
          </a:ln>
        </p:spPr>
      </p:pic>
      <p:sp>
        <p:nvSpPr>
          <p:cNvPr id="5" name="Text Box 4"/>
          <p:cNvSpPr txBox="1"/>
          <p:nvPr/>
        </p:nvSpPr>
        <p:spPr>
          <a:xfrm>
            <a:off x="837565" y="3634105"/>
            <a:ext cx="9529445" cy="2286635"/>
          </a:xfrm>
          <a:prstGeom prst="rect">
            <a:avLst/>
          </a:prstGeom>
          <a:noFill/>
        </p:spPr>
        <p:txBody>
          <a:bodyPr wrap="square" rtlCol="0" anchor="t">
            <a:noAutofit/>
          </a:bodyPr>
          <a:lstStyle/>
          <a:p>
            <a:pPr marL="0" indent="0" algn="just">
              <a:buNone/>
            </a:pPr>
            <a:r>
              <a:rPr lang="en-US" altLang="en-US" sz="2800" dirty="0">
                <a:solidFill>
                  <a:srgbClr val="000000"/>
                </a:solidFill>
                <a:latin typeface="Arial" panose="020B0604020202020204" pitchFamily="34" charset="0"/>
                <a:sym typeface="+mn-ea"/>
              </a:rPr>
              <a:t>Where M denotes the number of men/women/boys, D denotes the number of days, H denotes the number of hours in a day, E denotes the efficiency of 1 man, and W</a:t>
            </a:r>
            <a:endParaRPr lang="en-US" altLang="en-US" sz="2800" dirty="0">
              <a:solidFill>
                <a:srgbClr val="000000"/>
              </a:solidFill>
              <a:latin typeface="Arial" panose="020B0604020202020204" pitchFamily="34" charset="0"/>
            </a:endParaRPr>
          </a:p>
          <a:p>
            <a:pPr marL="0" indent="0" algn="just">
              <a:buNone/>
            </a:pPr>
            <a:r>
              <a:rPr lang="en-US" altLang="en-US" sz="2800" dirty="0">
                <a:solidFill>
                  <a:srgbClr val="000000"/>
                </a:solidFill>
                <a:latin typeface="Arial" panose="020B0604020202020204" pitchFamily="34" charset="0"/>
                <a:sym typeface="+mn-ea"/>
              </a:rPr>
              <a:t>denotes part of work done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p:cNvSpPr>
            <a:spLocks noGrp="1"/>
          </p:cNvSpPr>
          <p:nvPr>
            <p:ph idx="1"/>
          </p:nvPr>
        </p:nvSpPr>
        <p:spPr>
          <a:xfrm>
            <a:off x="1012825" y="831850"/>
            <a:ext cx="9883775" cy="5294630"/>
          </a:xfrm>
        </p:spPr>
        <p:txBody>
          <a:bodyPr vert="horz" wrap="square" lIns="91440" tIns="45720" rIns="91440" bIns="45720" anchor="t" anchorCtr="0"/>
          <a:lstStyle/>
          <a:p>
            <a:pPr marL="0" indent="0" algn="just">
              <a:buNone/>
            </a:pPr>
            <a:r>
              <a:rPr lang="en-US" altLang="en-US" b="1" dirty="0">
                <a:solidFill>
                  <a:srgbClr val="000000"/>
                </a:solidFill>
                <a:latin typeface="Calibri (Body)" charset="0"/>
                <a:cs typeface="Calibri (Body)" charset="0"/>
                <a:sym typeface="+mn-ea"/>
              </a:rPr>
              <a:t>Example:</a:t>
            </a:r>
            <a:r>
              <a:rPr lang="en-US" altLang="en-US" dirty="0">
                <a:solidFill>
                  <a:srgbClr val="000000"/>
                </a:solidFill>
                <a:latin typeface="Calibri (Body)" charset="0"/>
                <a:cs typeface="Calibri (Body)" charset="0"/>
                <a:sym typeface="+mn-ea"/>
              </a:rPr>
              <a:t> 6 men can pack 12 boxes in 7 days by working for 7 hours a day. In how many days can 14 men pack 18 boxes if they work for 9 hours a day?</a:t>
            </a:r>
            <a:endParaRPr lang="en-US" altLang="en-US" dirty="0">
              <a:solidFill>
                <a:srgbClr val="000000"/>
              </a:solidFill>
              <a:latin typeface="Calibri (Body)" charset="0"/>
              <a:cs typeface="Calibri (Body)" charset="0"/>
            </a:endParaRPr>
          </a:p>
          <a:p>
            <a:pPr marL="0" indent="0" algn="just">
              <a:buNone/>
            </a:pPr>
            <a:endParaRPr dirty="0">
              <a:latin typeface="Calibri (Body)" charset="0"/>
              <a:cs typeface="Calibri (Body)"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3595" y="767715"/>
            <a:ext cx="10530205" cy="5409565"/>
          </a:xfrm>
        </p:spPr>
        <p:txBody>
          <a:bodyPr/>
          <a:lstStyle/>
          <a:p>
            <a:pPr marL="0" indent="0">
              <a:buNone/>
            </a:pPr>
            <a:r>
              <a:rPr lang="en-US" altLang="en-US" dirty="0">
                <a:solidFill>
                  <a:schemeClr val="tx1"/>
                </a:solidFill>
                <a:latin typeface="Calibri (Body)" charset="0"/>
                <a:cs typeface="Calibri (Body)" charset="0"/>
                <a:sym typeface="+mn-ea"/>
              </a:rPr>
              <a:t>9) In a farm, 50 hens give 200 eggs in 2 days. In how many days, will 20 hens give 400 eggs?</a:t>
            </a:r>
            <a:endParaRPr lang="en-US" altLang="en-US" dirty="0">
              <a:solidFill>
                <a:schemeClr val="tx1"/>
              </a:solidFill>
              <a:latin typeface="Calibri (Body)" charset="0"/>
              <a:cs typeface="Calibri (Body)" charset="0"/>
            </a:endParaRPr>
          </a:p>
          <a:p>
            <a:pPr marL="0" indent="0">
              <a:buNone/>
            </a:pPr>
            <a:endParaRPr lang="en-US" altLang="en-US" dirty="0">
              <a:solidFill>
                <a:schemeClr val="tx1"/>
              </a:solidFill>
              <a:latin typeface="Calibri (Body)" charset="0"/>
              <a:cs typeface="Calibri (Body)" charset="0"/>
            </a:endParaRPr>
          </a:p>
          <a:p>
            <a:pPr marL="0" indent="0">
              <a:buNone/>
            </a:pPr>
            <a:r>
              <a:rPr lang="en-US" altLang="en-US" dirty="0">
                <a:solidFill>
                  <a:schemeClr val="tx1"/>
                </a:solidFill>
                <a:latin typeface="Calibri (Body)" charset="0"/>
                <a:cs typeface="Calibri (Body)" charset="0"/>
                <a:sym typeface="+mn-ea"/>
              </a:rPr>
              <a:t>A] 15			</a:t>
            </a:r>
            <a:endParaRPr lang="en-US" altLang="en-US" dirty="0">
              <a:solidFill>
                <a:schemeClr val="tx1"/>
              </a:solidFill>
              <a:latin typeface="Calibri (Body)" charset="0"/>
              <a:cs typeface="Calibri (Body)" charset="0"/>
            </a:endParaRPr>
          </a:p>
          <a:p>
            <a:pPr marL="0" indent="0">
              <a:buNone/>
            </a:pPr>
            <a:r>
              <a:rPr lang="en-US" altLang="en-US" dirty="0">
                <a:solidFill>
                  <a:schemeClr val="tx1"/>
                </a:solidFill>
                <a:latin typeface="Calibri (Body)" charset="0"/>
                <a:cs typeface="Calibri (Body)" charset="0"/>
                <a:sym typeface="+mn-ea"/>
              </a:rPr>
              <a:t>B] 10			</a:t>
            </a:r>
            <a:endParaRPr lang="en-US" altLang="en-US" dirty="0">
              <a:solidFill>
                <a:schemeClr val="tx1"/>
              </a:solidFill>
              <a:latin typeface="Calibri (Body)" charset="0"/>
              <a:cs typeface="Calibri (Body)" charset="0"/>
            </a:endParaRPr>
          </a:p>
          <a:p>
            <a:pPr marL="0" indent="0">
              <a:buNone/>
            </a:pPr>
            <a:r>
              <a:rPr lang="en-US" altLang="en-US" dirty="0">
                <a:solidFill>
                  <a:schemeClr val="tx1"/>
                </a:solidFill>
                <a:latin typeface="Calibri (Body)" charset="0"/>
                <a:cs typeface="Calibri (Body)" charset="0"/>
                <a:sym typeface="+mn-ea"/>
              </a:rPr>
              <a:t>C] 5			</a:t>
            </a:r>
            <a:endParaRPr lang="en-US" altLang="en-US" dirty="0">
              <a:solidFill>
                <a:schemeClr val="tx1"/>
              </a:solidFill>
              <a:latin typeface="Calibri (Body)" charset="0"/>
              <a:cs typeface="Calibri (Body)" charset="0"/>
            </a:endParaRPr>
          </a:p>
          <a:p>
            <a:pPr marL="0" indent="0">
              <a:buNone/>
            </a:pPr>
            <a:r>
              <a:rPr lang="en-US" altLang="en-US" dirty="0">
                <a:solidFill>
                  <a:schemeClr val="tx1"/>
                </a:solidFill>
                <a:latin typeface="Calibri (Body)" charset="0"/>
                <a:cs typeface="Calibri (Body)" charset="0"/>
                <a:sym typeface="+mn-ea"/>
              </a:rPr>
              <a:t>D] 8</a:t>
            </a:r>
            <a:endParaRPr kumimoji="0" lang="en-US" altLang="en-US" b="0" i="0" u="none" strike="noStrike" kern="1200" cap="none" spc="0" normalizeH="0" baseline="0" noProof="0" dirty="0">
              <a:ln>
                <a:noFill/>
              </a:ln>
              <a:solidFill>
                <a:schemeClr val="tx1"/>
              </a:solidFill>
              <a:effectLst/>
              <a:uLnTx/>
              <a:uFillTx/>
              <a:latin typeface="Calibri (Body)" charset="0"/>
              <a:ea typeface="+mn-ea"/>
              <a:cs typeface="Calibri (Body)" charset="0"/>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46150"/>
            <a:ext cx="10515600" cy="5231130"/>
          </a:xfrm>
        </p:spPr>
        <p:txBody>
          <a:bodyPr/>
          <a:lstStyle/>
          <a:p>
            <a:pPr marL="0" indent="0">
              <a:buNone/>
            </a:pPr>
            <a:r>
              <a:rPr lang="en-US" altLang="en-US" dirty="0">
                <a:solidFill>
                  <a:schemeClr val="tx1"/>
                </a:solidFill>
                <a:latin typeface="Calibri (Body)" charset="0"/>
                <a:cs typeface="Calibri (Body)" charset="0"/>
                <a:sym typeface="+mn-ea"/>
              </a:rPr>
              <a:t>10) Pardeep receives an export order for garments. He has 30 machines to complete the order in 60 days. How many machines would be required to complete the job in 40 days?</a:t>
            </a:r>
            <a:endParaRPr lang="en-US" altLang="en-US" dirty="0">
              <a:solidFill>
                <a:schemeClr val="tx1"/>
              </a:solidFill>
              <a:latin typeface="Calibri (Body)" charset="0"/>
              <a:cs typeface="Calibri (Body)" charset="0"/>
            </a:endParaRPr>
          </a:p>
          <a:p>
            <a:pPr marL="0" indent="0">
              <a:buNone/>
            </a:pPr>
            <a:endParaRPr lang="en-US" altLang="en-US" dirty="0">
              <a:solidFill>
                <a:schemeClr val="tx1"/>
              </a:solidFill>
              <a:latin typeface="Calibri (Body)" charset="0"/>
              <a:cs typeface="Calibri (Body)" charset="0"/>
            </a:endParaRPr>
          </a:p>
          <a:p>
            <a:pPr marL="0" indent="0">
              <a:buNone/>
            </a:pPr>
            <a:r>
              <a:rPr lang="en-US" altLang="en-US" dirty="0">
                <a:solidFill>
                  <a:schemeClr val="tx1"/>
                </a:solidFill>
                <a:latin typeface="Calibri (Body)" charset="0"/>
                <a:cs typeface="Calibri (Body)" charset="0"/>
                <a:sym typeface="+mn-ea"/>
              </a:rPr>
              <a:t>A] 50			</a:t>
            </a:r>
            <a:endParaRPr lang="en-US" altLang="en-US" dirty="0">
              <a:solidFill>
                <a:schemeClr val="tx1"/>
              </a:solidFill>
              <a:latin typeface="Calibri (Body)" charset="0"/>
              <a:cs typeface="Calibri (Body)" charset="0"/>
            </a:endParaRPr>
          </a:p>
          <a:p>
            <a:pPr marL="0" indent="0">
              <a:buNone/>
            </a:pPr>
            <a:r>
              <a:rPr lang="en-US" altLang="en-US" dirty="0">
                <a:solidFill>
                  <a:schemeClr val="tx1"/>
                </a:solidFill>
                <a:latin typeface="Calibri (Body)" charset="0"/>
                <a:cs typeface="Calibri (Body)" charset="0"/>
                <a:sym typeface="+mn-ea"/>
              </a:rPr>
              <a:t>B] 25			</a:t>
            </a:r>
            <a:endParaRPr lang="en-US" altLang="en-US" dirty="0">
              <a:solidFill>
                <a:schemeClr val="tx1"/>
              </a:solidFill>
              <a:latin typeface="Calibri (Body)" charset="0"/>
              <a:cs typeface="Calibri (Body)" charset="0"/>
            </a:endParaRPr>
          </a:p>
          <a:p>
            <a:pPr marL="0" indent="0">
              <a:buNone/>
            </a:pPr>
            <a:r>
              <a:rPr lang="en-US" altLang="en-US" dirty="0">
                <a:solidFill>
                  <a:schemeClr val="tx1"/>
                </a:solidFill>
                <a:latin typeface="Calibri (Body)" charset="0"/>
                <a:cs typeface="Calibri (Body)" charset="0"/>
                <a:sym typeface="+mn-ea"/>
              </a:rPr>
              <a:t>C] 35			</a:t>
            </a:r>
            <a:endParaRPr lang="en-US" altLang="en-US" dirty="0">
              <a:solidFill>
                <a:schemeClr val="tx1"/>
              </a:solidFill>
              <a:latin typeface="Calibri (Body)" charset="0"/>
              <a:cs typeface="Calibri (Body)" charset="0"/>
            </a:endParaRPr>
          </a:p>
          <a:p>
            <a:pPr marL="0" indent="0">
              <a:buNone/>
            </a:pPr>
            <a:r>
              <a:rPr lang="en-US" altLang="en-US" dirty="0">
                <a:solidFill>
                  <a:schemeClr val="tx1"/>
                </a:solidFill>
                <a:latin typeface="Calibri (Body)" charset="0"/>
                <a:cs typeface="Calibri (Body)" charset="0"/>
                <a:sym typeface="+mn-ea"/>
              </a:rPr>
              <a:t>D] 45</a:t>
            </a:r>
            <a:endParaRPr kumimoji="0" lang="en-US" altLang="en-US" b="0" i="0" u="none" strike="noStrike" kern="1200" cap="none" spc="0" normalizeH="0" baseline="0" noProof="0" dirty="0">
              <a:ln>
                <a:noFill/>
              </a:ln>
              <a:solidFill>
                <a:schemeClr val="tx1"/>
              </a:solidFill>
              <a:effectLst/>
              <a:uLnTx/>
              <a:uFillTx/>
              <a:latin typeface="Calibri (Body)" charset="0"/>
              <a:ea typeface="+mn-ea"/>
              <a:cs typeface="Calibri (Body)" charset="0"/>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68045" y="830580"/>
            <a:ext cx="10485755" cy="5171440"/>
          </a:xfrm>
        </p:spPr>
        <p:txBody>
          <a:bodyPr/>
          <a:lstStyle/>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r>
              <a:rPr lang="en-US" noProof="0" dirty="0">
                <a:ln>
                  <a:noFill/>
                </a:ln>
                <a:solidFill>
                  <a:schemeClr val="tx1"/>
                </a:solidFill>
                <a:effectLst/>
                <a:uLnTx/>
                <a:uFillTx/>
                <a:latin typeface="Calibri (Body)" charset="0"/>
                <a:cs typeface="Calibri (Body)" charset="0"/>
                <a:sym typeface="+mn-ea"/>
              </a:rPr>
              <a:t>11) A and B can do a given piece of work in 8 days, B and C can do the same work in 12 days and A, B, C complete it in 6 days. Number of days required to finish the work by A and C is</a:t>
            </a:r>
            <a:endParaRPr kumimoji="0" 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mj-lt"/>
              <a:buAutoNum type="alphaLcParenR"/>
              <a:defRPr/>
            </a:pPr>
            <a:r>
              <a:rPr lang="en-US" noProof="0" dirty="0">
                <a:ln>
                  <a:noFill/>
                </a:ln>
                <a:solidFill>
                  <a:schemeClr val="tx1"/>
                </a:solidFill>
                <a:effectLst/>
                <a:uLnTx/>
                <a:uFillTx/>
                <a:latin typeface="Calibri (Body)" charset="0"/>
                <a:cs typeface="Calibri (Body)" charset="0"/>
                <a:sym typeface="+mn-ea"/>
              </a:rPr>
              <a:t>16</a:t>
            </a:r>
            <a:endParaRPr kumimoji="0" 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mj-lt"/>
              <a:buAutoNum type="alphaLcParenR"/>
              <a:defRPr/>
            </a:pPr>
            <a:r>
              <a:rPr lang="en-US" noProof="0" dirty="0">
                <a:ln>
                  <a:noFill/>
                </a:ln>
                <a:solidFill>
                  <a:schemeClr val="tx1"/>
                </a:solidFill>
                <a:effectLst/>
                <a:uLnTx/>
                <a:uFillTx/>
                <a:latin typeface="Calibri (Body)" charset="0"/>
                <a:cs typeface="Calibri (Body)" charset="0"/>
                <a:sym typeface="+mn-ea"/>
              </a:rPr>
              <a:t>8</a:t>
            </a:r>
            <a:endParaRPr kumimoji="0" 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mj-lt"/>
              <a:buAutoNum type="alphaLcParenR"/>
              <a:defRPr/>
            </a:pPr>
            <a:r>
              <a:rPr lang="en-US" noProof="0" dirty="0">
                <a:ln>
                  <a:noFill/>
                </a:ln>
                <a:solidFill>
                  <a:schemeClr val="tx1"/>
                </a:solidFill>
                <a:effectLst/>
                <a:uLnTx/>
                <a:uFillTx/>
                <a:latin typeface="Calibri (Body)" charset="0"/>
                <a:cs typeface="Calibri (Body)" charset="0"/>
                <a:sym typeface="+mn-ea"/>
              </a:rPr>
              <a:t>12 </a:t>
            </a:r>
            <a:endParaRPr kumimoji="0" 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mj-lt"/>
              <a:buAutoNum type="alphaLcParenR"/>
              <a:defRPr/>
            </a:pPr>
            <a:r>
              <a:rPr lang="en-US" noProof="0" dirty="0">
                <a:ln>
                  <a:noFill/>
                </a:ln>
                <a:solidFill>
                  <a:schemeClr val="tx1"/>
                </a:solidFill>
                <a:effectLst/>
                <a:uLnTx/>
                <a:uFillTx/>
                <a:latin typeface="Calibri (Body)" charset="0"/>
                <a:cs typeface="Calibri (Body)" charset="0"/>
                <a:sym typeface="+mn-ea"/>
              </a:rPr>
              <a:t>24</a:t>
            </a:r>
            <a:endParaRPr kumimoji="0" 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endParaRPr kumimoji="0" 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2805" y="827405"/>
            <a:ext cx="10515600" cy="5349875"/>
          </a:xfrm>
        </p:spPr>
        <p:txBody>
          <a:bodyPr/>
          <a:lstStyle/>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r>
              <a:rPr lang="en-US" noProof="0" dirty="0">
                <a:ln>
                  <a:noFill/>
                </a:ln>
                <a:solidFill>
                  <a:schemeClr val="tx1"/>
                </a:solidFill>
                <a:effectLst/>
                <a:uLnTx/>
                <a:uFillTx/>
                <a:latin typeface="Calibri (Body)" charset="0"/>
                <a:cs typeface="Calibri (Body)" charset="0"/>
                <a:sym typeface="+mn-ea"/>
              </a:rPr>
              <a:t>12) If 12 men or 24 boys can do a work in 66 days, the number of days in which 15 men and 6 boys can do it is</a:t>
            </a:r>
            <a:endParaRPr kumimoji="0" 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endParaRPr kumimoji="0" 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mj-lt"/>
              <a:buAutoNum type="alphaLcParenR"/>
              <a:defRPr/>
            </a:pPr>
            <a:r>
              <a:rPr lang="en-US" noProof="0" dirty="0">
                <a:ln>
                  <a:noFill/>
                </a:ln>
                <a:solidFill>
                  <a:schemeClr val="tx1"/>
                </a:solidFill>
                <a:effectLst/>
                <a:uLnTx/>
                <a:uFillTx/>
                <a:latin typeface="Calibri (Body)" charset="0"/>
                <a:cs typeface="Calibri (Body)" charset="0"/>
                <a:sym typeface="+mn-ea"/>
              </a:rPr>
              <a:t>44</a:t>
            </a:r>
            <a:endParaRPr kumimoji="0" 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mj-lt"/>
              <a:buAutoNum type="alphaLcParenR"/>
              <a:defRPr/>
            </a:pPr>
            <a:r>
              <a:rPr lang="en-US" noProof="0" dirty="0">
                <a:ln>
                  <a:noFill/>
                </a:ln>
                <a:solidFill>
                  <a:schemeClr val="tx1"/>
                </a:solidFill>
                <a:effectLst/>
                <a:uLnTx/>
                <a:uFillTx/>
                <a:latin typeface="Calibri (Body)" charset="0"/>
                <a:cs typeface="Calibri (Body)" charset="0"/>
                <a:sym typeface="+mn-ea"/>
              </a:rPr>
              <a:t>33</a:t>
            </a:r>
            <a:endParaRPr kumimoji="0" 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mj-lt"/>
              <a:buAutoNum type="alphaLcParenR"/>
              <a:defRPr/>
            </a:pPr>
            <a:r>
              <a:rPr lang="en-US" noProof="0" dirty="0">
                <a:ln>
                  <a:noFill/>
                </a:ln>
                <a:solidFill>
                  <a:schemeClr val="tx1"/>
                </a:solidFill>
                <a:effectLst/>
                <a:uLnTx/>
                <a:uFillTx/>
                <a:latin typeface="Calibri (Body)" charset="0"/>
                <a:cs typeface="Calibri (Body)" charset="0"/>
                <a:sym typeface="+mn-ea"/>
              </a:rPr>
              <a:t>55</a:t>
            </a:r>
            <a:endParaRPr kumimoji="0" 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mj-lt"/>
              <a:buAutoNum type="alphaLcParenR"/>
              <a:defRPr/>
            </a:pPr>
            <a:r>
              <a:rPr lang="en-US" noProof="0" dirty="0">
                <a:ln>
                  <a:noFill/>
                </a:ln>
                <a:solidFill>
                  <a:schemeClr val="tx1"/>
                </a:solidFill>
                <a:effectLst/>
                <a:uLnTx/>
                <a:uFillTx/>
                <a:latin typeface="Calibri (Body)" charset="0"/>
                <a:cs typeface="Calibri (Body)" charset="0"/>
                <a:sym typeface="+mn-ea"/>
              </a:rPr>
              <a:t>66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12165"/>
            <a:ext cx="10515600" cy="5365115"/>
          </a:xfrm>
        </p:spPr>
        <p:txBody>
          <a:bodyPr/>
          <a:lstStyle/>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r>
              <a:rPr lang="en-US" noProof="0" dirty="0">
                <a:ln>
                  <a:noFill/>
                </a:ln>
                <a:solidFill>
                  <a:schemeClr val="tx1"/>
                </a:solidFill>
                <a:effectLst/>
                <a:uLnTx/>
                <a:uFillTx/>
                <a:latin typeface="Calibri (Body)" charset="0"/>
                <a:cs typeface="Calibri (Body)" charset="0"/>
                <a:sym typeface="+mn-ea"/>
              </a:rPr>
              <a:t>13) 6 men or 12 women can do a piece of work in 20 days. In how many days can 8 men and 16 women do twice as big as this work ?</a:t>
            </a:r>
            <a:endParaRPr kumimoji="0" 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endParaRPr kumimoji="0" 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mj-lt"/>
              <a:buAutoNum type="alphaLcParenR"/>
              <a:defRPr/>
            </a:pPr>
            <a:r>
              <a:rPr lang="en-US" noProof="0" dirty="0">
                <a:ln>
                  <a:noFill/>
                </a:ln>
                <a:solidFill>
                  <a:schemeClr val="tx1"/>
                </a:solidFill>
                <a:effectLst/>
                <a:uLnTx/>
                <a:uFillTx/>
                <a:latin typeface="Calibri (Body)" charset="0"/>
                <a:cs typeface="Calibri (Body)" charset="0"/>
                <a:sym typeface="+mn-ea"/>
              </a:rPr>
              <a:t>2 days</a:t>
            </a:r>
            <a:endParaRPr kumimoji="0" 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mj-lt"/>
              <a:buAutoNum type="alphaLcParenR"/>
              <a:defRPr/>
            </a:pPr>
            <a:r>
              <a:rPr lang="en-US" noProof="0" dirty="0">
                <a:ln>
                  <a:noFill/>
                </a:ln>
                <a:solidFill>
                  <a:schemeClr val="tx1"/>
                </a:solidFill>
                <a:effectLst/>
                <a:uLnTx/>
                <a:uFillTx/>
                <a:latin typeface="Calibri (Body)" charset="0"/>
                <a:cs typeface="Calibri (Body)" charset="0"/>
                <a:sym typeface="+mn-ea"/>
              </a:rPr>
              <a:t>5 days</a:t>
            </a:r>
            <a:endParaRPr kumimoji="0" 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mj-lt"/>
              <a:buAutoNum type="alphaLcParenR"/>
              <a:defRPr/>
            </a:pPr>
            <a:r>
              <a:rPr lang="en-US" noProof="0" dirty="0">
                <a:ln>
                  <a:noFill/>
                </a:ln>
                <a:solidFill>
                  <a:schemeClr val="tx1"/>
                </a:solidFill>
                <a:effectLst/>
                <a:uLnTx/>
                <a:uFillTx/>
                <a:latin typeface="Calibri (Body)" charset="0"/>
                <a:cs typeface="Calibri (Body)" charset="0"/>
                <a:sym typeface="+mn-ea"/>
              </a:rPr>
              <a:t>15 days</a:t>
            </a:r>
            <a:endParaRPr kumimoji="0" 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mj-lt"/>
              <a:buAutoNum type="alphaLcParenR"/>
              <a:defRPr/>
            </a:pPr>
            <a:r>
              <a:rPr lang="en-US" noProof="0" dirty="0">
                <a:ln>
                  <a:noFill/>
                </a:ln>
                <a:solidFill>
                  <a:schemeClr val="tx1"/>
                </a:solidFill>
                <a:effectLst/>
                <a:uLnTx/>
                <a:uFillTx/>
                <a:latin typeface="Calibri (Body)" charset="0"/>
                <a:cs typeface="Calibri (Body)" charset="0"/>
                <a:sym typeface="+mn-ea"/>
              </a:rPr>
              <a:t>10 days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68045" y="842645"/>
            <a:ext cx="10485755" cy="5334635"/>
          </a:xfrm>
        </p:spPr>
        <p:txBody>
          <a:bodyPr/>
          <a:lstStyle/>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r>
              <a:rPr lang="en-US" noProof="0" dirty="0">
                <a:ln>
                  <a:noFill/>
                </a:ln>
                <a:solidFill>
                  <a:schemeClr val="tx1"/>
                </a:solidFill>
                <a:effectLst/>
                <a:uLnTx/>
                <a:uFillTx/>
                <a:latin typeface="Calibri (Body)" charset="0"/>
                <a:cs typeface="Calibri (Body)" charset="0"/>
                <a:sym typeface="+mn-ea"/>
              </a:rPr>
              <a:t>14) If 6 men and 8 boys can do a piece of work in 10 days and 26 men and 48 boys can do the same in 2 days, then the time taken by 15 men and 20 boys to do the same type of work will be :</a:t>
            </a:r>
            <a:endParaRPr kumimoji="0" 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endParaRPr kumimoji="0" 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mj-lt"/>
              <a:buAutoNum type="alphaLcParenR"/>
              <a:defRPr/>
            </a:pPr>
            <a:r>
              <a:rPr lang="en-US" noProof="0" dirty="0">
                <a:ln>
                  <a:noFill/>
                </a:ln>
                <a:solidFill>
                  <a:schemeClr val="tx1"/>
                </a:solidFill>
                <a:effectLst/>
                <a:uLnTx/>
                <a:uFillTx/>
                <a:latin typeface="Calibri (Body)" charset="0"/>
                <a:cs typeface="Calibri (Body)" charset="0"/>
                <a:sym typeface="+mn-ea"/>
              </a:rPr>
              <a:t>5 days </a:t>
            </a:r>
            <a:endParaRPr kumimoji="0" 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mj-lt"/>
              <a:buAutoNum type="alphaLcParenR"/>
              <a:defRPr/>
            </a:pPr>
            <a:r>
              <a:rPr lang="en-US" noProof="0" dirty="0">
                <a:ln>
                  <a:noFill/>
                </a:ln>
                <a:solidFill>
                  <a:schemeClr val="tx1"/>
                </a:solidFill>
                <a:effectLst/>
                <a:uLnTx/>
                <a:uFillTx/>
                <a:latin typeface="Calibri (Body)" charset="0"/>
                <a:cs typeface="Calibri (Body)" charset="0"/>
                <a:sym typeface="+mn-ea"/>
              </a:rPr>
              <a:t>4 days</a:t>
            </a:r>
            <a:endParaRPr kumimoji="0" 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mj-lt"/>
              <a:buAutoNum type="alphaLcParenR"/>
              <a:defRPr/>
            </a:pPr>
            <a:r>
              <a:rPr lang="en-US" noProof="0" dirty="0">
                <a:ln>
                  <a:noFill/>
                </a:ln>
                <a:solidFill>
                  <a:schemeClr val="tx1"/>
                </a:solidFill>
                <a:effectLst/>
                <a:uLnTx/>
                <a:uFillTx/>
                <a:latin typeface="Calibri (Body)" charset="0"/>
                <a:cs typeface="Calibri (Body)" charset="0"/>
                <a:sym typeface="+mn-ea"/>
              </a:rPr>
              <a:t>6 days</a:t>
            </a:r>
            <a:endParaRPr kumimoji="0" 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mj-lt"/>
              <a:buAutoNum type="alphaLcParenR"/>
              <a:defRPr/>
            </a:pPr>
            <a:r>
              <a:rPr lang="en-US" noProof="0" dirty="0">
                <a:ln>
                  <a:noFill/>
                </a:ln>
                <a:solidFill>
                  <a:schemeClr val="tx1"/>
                </a:solidFill>
                <a:effectLst/>
                <a:uLnTx/>
                <a:uFillTx/>
                <a:latin typeface="Calibri (Body)" charset="0"/>
                <a:cs typeface="Calibri (Body)" charset="0"/>
                <a:sym typeface="+mn-ea"/>
              </a:rPr>
              <a:t>7 days</a:t>
            </a:r>
            <a:endParaRPr kumimoji="0" lang="en-US" b="0" i="0" u="none" strike="noStrike" kern="1200" cap="none" spc="0" normalizeH="0" baseline="0" noProof="0" dirty="0">
              <a:ln>
                <a:noFill/>
              </a:ln>
              <a:solidFill>
                <a:schemeClr val="tx1"/>
              </a:solidFill>
              <a:effectLst/>
              <a:uLnTx/>
              <a:uFillTx/>
              <a:latin typeface="Calibri (Body)" charset="0"/>
              <a:ea typeface="+mn-ea"/>
              <a:cs typeface="Calibri (Body)" charset="0"/>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2805" y="812165"/>
            <a:ext cx="10500995" cy="5365115"/>
          </a:xfrm>
        </p:spPr>
        <p:txBody>
          <a:bodyPr/>
          <a:lstStyle/>
          <a:p>
            <a:pPr marL="0" indent="0" algn="just">
              <a:buNone/>
            </a:pPr>
            <a:r>
              <a:rPr lang="en-US" altLang="en-US" dirty="0">
                <a:solidFill>
                  <a:srgbClr val="000000"/>
                </a:solidFill>
                <a:latin typeface="Calibri (Body)" charset="0"/>
                <a:cs typeface="Calibri (Body)" charset="0"/>
                <a:sym typeface="+mn-ea"/>
              </a:rPr>
              <a:t>15) 4 men and 5 boys can do a piece of work in 20 days while 5 men and 4 boys can do the same work in 16 days. In how many days can 4 men and 3 boys do the same work?</a:t>
            </a:r>
            <a:endParaRPr lang="en-US" altLang="en-US" dirty="0">
              <a:solidFill>
                <a:srgbClr val="000000"/>
              </a:solidFill>
              <a:latin typeface="Calibri (Body)" charset="0"/>
              <a:cs typeface="Calibri (Body)" charset="0"/>
            </a:endParaRPr>
          </a:p>
          <a:p>
            <a:pPr marL="0" indent="0" algn="just">
              <a:buNone/>
            </a:pPr>
            <a:endParaRPr lang="en-US" altLang="en-US" dirty="0">
              <a:solidFill>
                <a:srgbClr val="000000"/>
              </a:solidFill>
              <a:latin typeface="Calibri (Body)" charset="0"/>
              <a:cs typeface="Calibri (Body)" charset="0"/>
            </a:endParaRPr>
          </a:p>
          <a:p>
            <a:pPr marL="0" indent="0" algn="just">
              <a:buNone/>
            </a:pPr>
            <a:r>
              <a:rPr lang="en-US" altLang="en-US" dirty="0">
                <a:solidFill>
                  <a:srgbClr val="000000"/>
                </a:solidFill>
                <a:latin typeface="Calibri (Body)" charset="0"/>
                <a:cs typeface="Calibri (Body)" charset="0"/>
                <a:sym typeface="+mn-ea"/>
              </a:rPr>
              <a:t>a. 10 days</a:t>
            </a:r>
            <a:endParaRPr lang="en-US" altLang="en-US" dirty="0">
              <a:solidFill>
                <a:srgbClr val="000000"/>
              </a:solidFill>
              <a:latin typeface="Calibri (Body)" charset="0"/>
              <a:cs typeface="Calibri (Body)" charset="0"/>
            </a:endParaRPr>
          </a:p>
          <a:p>
            <a:pPr marL="0" indent="0" algn="just">
              <a:buNone/>
            </a:pPr>
            <a:r>
              <a:rPr lang="en-US" altLang="en-US" dirty="0">
                <a:solidFill>
                  <a:srgbClr val="000000"/>
                </a:solidFill>
                <a:latin typeface="Calibri (Body)" charset="0"/>
                <a:cs typeface="Calibri (Body)" charset="0"/>
                <a:sym typeface="+mn-ea"/>
              </a:rPr>
              <a:t>b. 15 days</a:t>
            </a:r>
            <a:endParaRPr lang="en-US" altLang="en-US" dirty="0">
              <a:solidFill>
                <a:srgbClr val="000000"/>
              </a:solidFill>
              <a:latin typeface="Calibri (Body)" charset="0"/>
              <a:cs typeface="Calibri (Body)" charset="0"/>
            </a:endParaRPr>
          </a:p>
          <a:p>
            <a:pPr marL="0" indent="0" algn="just">
              <a:buNone/>
            </a:pPr>
            <a:r>
              <a:rPr lang="en-US" altLang="en-US" dirty="0">
                <a:solidFill>
                  <a:srgbClr val="000000"/>
                </a:solidFill>
                <a:latin typeface="Calibri (Body)" charset="0"/>
                <a:cs typeface="Calibri (Body)" charset="0"/>
                <a:sym typeface="+mn-ea"/>
              </a:rPr>
              <a:t>c. 20 days</a:t>
            </a:r>
            <a:endParaRPr lang="en-US" altLang="en-US" dirty="0">
              <a:solidFill>
                <a:srgbClr val="000000"/>
              </a:solidFill>
              <a:latin typeface="Calibri (Body)" charset="0"/>
              <a:cs typeface="Calibri (Body)" charset="0"/>
            </a:endParaRPr>
          </a:p>
          <a:p>
            <a:pPr marL="0" indent="0" algn="just">
              <a:buNone/>
            </a:pPr>
            <a:r>
              <a:rPr lang="en-US" altLang="en-US" dirty="0">
                <a:solidFill>
                  <a:srgbClr val="000000"/>
                </a:solidFill>
                <a:latin typeface="Calibri (Body)" charset="0"/>
                <a:cs typeface="Calibri (Body)" charset="0"/>
                <a:sym typeface="+mn-ea"/>
              </a:rPr>
              <a:t>d. 25 days</a:t>
            </a:r>
            <a:endParaRPr kumimoji="0" 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3440" y="723265"/>
            <a:ext cx="10500360" cy="5454015"/>
          </a:xfrm>
        </p:spPr>
        <p:txBody>
          <a:bodyPr/>
          <a:lstStyle/>
          <a:p>
            <a:pPr marL="0" indent="0">
              <a:buNone/>
            </a:pPr>
            <a:r>
              <a:rPr lang="en-US" altLang="en-US" b="1" dirty="0">
                <a:solidFill>
                  <a:schemeClr val="tx1"/>
                </a:solidFill>
                <a:latin typeface="Calibri (Body)" charset="0"/>
                <a:cs typeface="Calibri (Body)" charset="0"/>
                <a:sym typeface="+mn-ea"/>
              </a:rPr>
              <a:t>Example: </a:t>
            </a:r>
            <a:r>
              <a:rPr lang="en-US" altLang="en-US" dirty="0">
                <a:solidFill>
                  <a:schemeClr val="tx1"/>
                </a:solidFill>
                <a:latin typeface="Calibri (Body)" charset="0"/>
                <a:cs typeface="Calibri (Body)" charset="0"/>
                <a:sym typeface="+mn-ea"/>
              </a:rPr>
              <a:t>In a Fort, 300 soldiers had of food provision for 90 days. after 20, days 50 soldiers left the Fort. how long would the last at the same rate?</a:t>
            </a:r>
            <a:endParaRPr lang="en-US" altLang="en-US" dirty="0">
              <a:solidFill>
                <a:schemeClr val="tx1"/>
              </a:solidFill>
              <a:latin typeface="Calibri (Body)" charset="0"/>
              <a:cs typeface="Calibri (Body)" charset="0"/>
            </a:endParaRPr>
          </a:p>
          <a:p>
            <a:pPr marL="0" indent="0">
              <a:buNone/>
            </a:pPr>
            <a:endParaRPr kumimoji="0" lang="en-US" alt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2805" y="961390"/>
            <a:ext cx="10500995" cy="5215890"/>
          </a:xfrm>
        </p:spPr>
        <p:txBody>
          <a:bodyPr/>
          <a:lstStyle/>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r>
              <a:rPr lang="en-US" noProof="0" dirty="0">
                <a:ln>
                  <a:noFill/>
                </a:ln>
                <a:solidFill>
                  <a:schemeClr val="tx1"/>
                </a:solidFill>
                <a:effectLst/>
                <a:uLnTx/>
                <a:uFillTx/>
                <a:latin typeface="Calibri (Body)" charset="0"/>
                <a:cs typeface="Calibri (Body)" charset="0"/>
                <a:sym typeface="+mn-ea"/>
              </a:rPr>
              <a:t>16) A fort had provisions for  450 soldiers for  40 days. After  10 days, 90 more soldiers came to fort. Find for how many days will the remaining provisions last, if consumed at the same rate ?</a:t>
            </a:r>
            <a:endParaRPr kumimoji="0" 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endParaRPr kumimoji="0" 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noProof="0" dirty="0">
                <a:ln>
                  <a:noFill/>
                </a:ln>
                <a:solidFill>
                  <a:schemeClr val="tx1"/>
                </a:solidFill>
                <a:effectLst/>
                <a:uLnTx/>
                <a:uFillTx/>
                <a:latin typeface="Calibri (Body)" charset="0"/>
                <a:cs typeface="Calibri (Body)" charset="0"/>
                <a:sym typeface="+mn-ea"/>
              </a:rPr>
              <a:t>15days</a:t>
            </a:r>
            <a:endParaRPr kumimoji="0" 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noProof="0" dirty="0">
                <a:ln>
                  <a:noFill/>
                </a:ln>
                <a:solidFill>
                  <a:schemeClr val="tx1"/>
                </a:solidFill>
                <a:effectLst/>
                <a:uLnTx/>
                <a:uFillTx/>
                <a:latin typeface="Calibri (Body)" charset="0"/>
                <a:cs typeface="Calibri (Body)" charset="0"/>
                <a:sym typeface="+mn-ea"/>
              </a:rPr>
              <a:t>25days</a:t>
            </a:r>
            <a:endParaRPr kumimoji="0" 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noProof="0" dirty="0">
                <a:ln>
                  <a:noFill/>
                </a:ln>
                <a:solidFill>
                  <a:schemeClr val="tx1"/>
                </a:solidFill>
                <a:effectLst/>
                <a:uLnTx/>
                <a:uFillTx/>
                <a:latin typeface="Calibri (Body)" charset="0"/>
                <a:cs typeface="Calibri (Body)" charset="0"/>
                <a:sym typeface="+mn-ea"/>
              </a:rPr>
              <a:t>35days</a:t>
            </a:r>
            <a:endParaRPr kumimoji="0" 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noProof="0" dirty="0">
                <a:ln>
                  <a:noFill/>
                </a:ln>
                <a:solidFill>
                  <a:schemeClr val="tx1"/>
                </a:solidFill>
                <a:effectLst/>
                <a:uLnTx/>
                <a:uFillTx/>
                <a:latin typeface="Calibri (Body)" charset="0"/>
                <a:cs typeface="Calibri (Body)" charset="0"/>
                <a:sym typeface="+mn-ea"/>
              </a:rPr>
              <a:t>5days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1"/>
          <p:cNvPicPr>
            <a:picLocks noChangeAspect="1"/>
          </p:cNvPicPr>
          <p:nvPr/>
        </p:nvPicPr>
        <p:blipFill>
          <a:blip r:embed="rId2"/>
          <a:stretch>
            <a:fillRect/>
          </a:stretch>
        </p:blipFill>
        <p:spPr>
          <a:xfrm>
            <a:off x="2208213" y="981075"/>
            <a:ext cx="7883525" cy="4846638"/>
          </a:xfrm>
          <a:prstGeom prst="rect">
            <a:avLst/>
          </a:prstGeom>
          <a:noFill/>
          <a:ln w="9525">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1021</Words>
  <Application>Microsoft Office PowerPoint</Application>
  <PresentationFormat>Custom</PresentationFormat>
  <Paragraphs>116</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  PEA 516  LECTURE-3  Time and Work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MDH formula/ Chain Rule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PEA 516 LECTURE-1 Time and Work </dc:title>
  <dc:creator/>
  <cp:lastModifiedBy>rahul</cp:lastModifiedBy>
  <cp:revision>11</cp:revision>
  <dcterms:created xsi:type="dcterms:W3CDTF">2025-01-03T10:26:00Z</dcterms:created>
  <dcterms:modified xsi:type="dcterms:W3CDTF">2025-01-12T05:20:09Z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C7455BE7D95F46A7B59DA7665120D117_11</vt:lpwstr>
  </property>
  <property fmtid="{D5CDD505-2E9C-101B-9397-08002B2CF9AE}" pid="3" name="KSOProductBuildVer">
    <vt:lpwstr>1033-12.2.0.19307</vt:lpwstr>
  </property>
</Properties>
</file>