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2"/>
  </p:notesMasterIdLst>
  <p:sldIdLst>
    <p:sldId id="380" r:id="rId2"/>
    <p:sldId id="449" r:id="rId3"/>
    <p:sldId id="417" r:id="rId4"/>
    <p:sldId id="418" r:id="rId5"/>
    <p:sldId id="420" r:id="rId6"/>
    <p:sldId id="419" r:id="rId7"/>
    <p:sldId id="421" r:id="rId8"/>
    <p:sldId id="424" r:id="rId9"/>
    <p:sldId id="425" r:id="rId10"/>
    <p:sldId id="426" r:id="rId11"/>
    <p:sldId id="448" r:id="rId12"/>
    <p:sldId id="447" r:id="rId13"/>
    <p:sldId id="429" r:id="rId14"/>
    <p:sldId id="432" r:id="rId15"/>
    <p:sldId id="434" r:id="rId16"/>
    <p:sldId id="436" r:id="rId17"/>
    <p:sldId id="438" r:id="rId18"/>
    <p:sldId id="441" r:id="rId19"/>
    <p:sldId id="443" r:id="rId20"/>
    <p:sldId id="33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63" autoAdjust="0"/>
    <p:restoredTop sz="85011" autoAdjust="0"/>
  </p:normalViewPr>
  <p:slideViewPr>
    <p:cSldViewPr snapToGrid="0">
      <p:cViewPr>
        <p:scale>
          <a:sx n="81" d="100"/>
          <a:sy n="81" d="100"/>
        </p:scale>
        <p:origin x="-462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46A4F-F976-47AD-9E0B-DEB8B87FF1C7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E5F1C-18F0-46A8-B179-598C90B80A1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8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Easy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8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Easy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75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9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57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0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6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63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42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Easy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90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Easy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28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0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116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49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4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</a:t>
            </a:r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Moderate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Option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4E5F1C-18F0-46A8-B179-598C90B80A1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14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7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00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2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2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10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9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3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44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3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9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6E1B-5CD6-457E-B12E-40DB70920123}" type="datetimeFigureOut">
              <a:rPr lang="en-US" smtClean="0"/>
              <a:pPr/>
              <a:t>12-Jan-25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FD98F-884B-4231-90DD-78567DD4FAE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11747" y="1193807"/>
            <a:ext cx="11229474" cy="3260551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Coding Inequalities</a:t>
            </a:r>
            <a:r>
              <a:rPr lang="en-US" b="1" dirty="0">
                <a:solidFill>
                  <a:srgbClr val="00B0F0"/>
                </a:solidFill>
                <a:effectLst/>
              </a:rPr>
              <a:t/>
            </a:r>
            <a:br>
              <a:rPr lang="en-US" b="1" dirty="0">
                <a:solidFill>
                  <a:srgbClr val="00B0F0"/>
                </a:solidFill>
                <a:effectLst/>
              </a:rPr>
            </a:br>
            <a:r>
              <a:rPr lang="en-US" b="1" dirty="0" smtClean="0">
                <a:solidFill>
                  <a:srgbClr val="00B0F0"/>
                </a:solidFill>
                <a:effectLst/>
              </a:rPr>
              <a:t>PEA </a:t>
            </a:r>
            <a:r>
              <a:rPr lang="en-US" b="1" dirty="0" smtClean="0">
                <a:solidFill>
                  <a:srgbClr val="00B0F0"/>
                </a:solidFill>
                <a:effectLst/>
              </a:rPr>
              <a:t>516</a:t>
            </a:r>
            <a:r>
              <a:rPr lang="en-US" b="1" dirty="0" smtClean="0">
                <a:solidFill>
                  <a:srgbClr val="00B0F0"/>
                </a:solidFill>
                <a:effectLst/>
              </a:rPr>
              <a:t/>
            </a:r>
            <a:br>
              <a:rPr lang="en-US" b="1" dirty="0" smtClean="0">
                <a:solidFill>
                  <a:srgbClr val="00B0F0"/>
                </a:solidFill>
                <a:effectLst/>
              </a:rPr>
            </a:br>
            <a:r>
              <a:rPr lang="en-US" b="1" dirty="0" smtClean="0">
                <a:solidFill>
                  <a:srgbClr val="00B0F0"/>
                </a:solidFill>
              </a:rPr>
              <a:t>Lecture 24</a:t>
            </a:r>
            <a:endParaRPr lang="en-US" dirty="0">
              <a:solidFill>
                <a:srgbClr val="00B0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202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286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559169"/>
            <a:ext cx="103397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800" dirty="0" smtClean="0"/>
              <a:t>Problems on inequalities </a:t>
            </a:r>
            <a:r>
              <a:rPr lang="en-GB" sz="2800" dirty="0"/>
              <a:t>and </a:t>
            </a:r>
            <a:r>
              <a:rPr lang="en-GB" sz="2800" dirty="0" smtClean="0"/>
              <a:t>comparisons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 dirty="0"/>
              <a:t>Problems on </a:t>
            </a:r>
            <a:r>
              <a:rPr lang="en-GB" sz="2800" dirty="0" smtClean="0"/>
              <a:t>interchanging operators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 dirty="0"/>
              <a:t>Problems on </a:t>
            </a:r>
            <a:r>
              <a:rPr lang="en-GB" sz="2800" dirty="0" smtClean="0"/>
              <a:t>reverse </a:t>
            </a:r>
            <a:r>
              <a:rPr lang="en-GB" sz="2800" dirty="0"/>
              <a:t>operations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432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arenR"/>
            </a:pPr>
            <a:r>
              <a:rPr lang="en-US" sz="2400" dirty="0"/>
              <a:t>If x &lt; y </a:t>
            </a:r>
          </a:p>
          <a:p>
            <a:r>
              <a:rPr lang="en-US" sz="2400" dirty="0"/>
              <a:t>b) If x ≥ y </a:t>
            </a:r>
          </a:p>
          <a:p>
            <a:r>
              <a:rPr lang="en-US" sz="2400" dirty="0"/>
              <a:t>c) If x &gt; y </a:t>
            </a:r>
          </a:p>
          <a:p>
            <a:r>
              <a:rPr lang="en-US" sz="2400" dirty="0"/>
              <a:t>d) If x = y or no relation can be decided between '</a:t>
            </a:r>
            <a:r>
              <a:rPr lang="en-US" sz="2400" dirty="0" err="1"/>
              <a:t>x’and</a:t>
            </a:r>
            <a:r>
              <a:rPr lang="en-US" sz="2400" dirty="0"/>
              <a:t> 'y'. </a:t>
            </a:r>
          </a:p>
          <a:p>
            <a:r>
              <a:rPr lang="en-US" sz="2400" dirty="0"/>
              <a:t>e) If x ≤ y </a:t>
            </a:r>
          </a:p>
          <a:p>
            <a:pPr marL="514350" indent="-514350">
              <a:buAutoNum type="romanUcPeriod"/>
            </a:pPr>
            <a:r>
              <a:rPr lang="fr-FR" sz="2400" dirty="0" smtClean="0"/>
              <a:t>x </a:t>
            </a:r>
            <a:r>
              <a:rPr lang="fr-FR" sz="2400" dirty="0"/>
              <a:t>= (1764)</a:t>
            </a:r>
            <a:r>
              <a:rPr lang="fr-FR" sz="2400" baseline="30000" dirty="0"/>
              <a:t>1/2 </a:t>
            </a:r>
          </a:p>
          <a:p>
            <a:pPr marL="514350" indent="-514350">
              <a:buAutoNum type="romanUcPeriod"/>
            </a:pPr>
            <a:r>
              <a:rPr lang="fr-FR" sz="2400" dirty="0" smtClean="0"/>
              <a:t>y</a:t>
            </a:r>
            <a:r>
              <a:rPr lang="fr-FR" sz="2400" baseline="30000" dirty="0" smtClean="0"/>
              <a:t>2</a:t>
            </a:r>
            <a:r>
              <a:rPr lang="fr-FR" sz="2400" dirty="0" smtClean="0"/>
              <a:t> </a:t>
            </a:r>
            <a:r>
              <a:rPr lang="fr-FR" sz="2400" dirty="0"/>
              <a:t>= 1764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3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2.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arenR"/>
            </a:pPr>
            <a:r>
              <a:rPr lang="en-US" sz="2400" dirty="0"/>
              <a:t>If x &lt; y </a:t>
            </a:r>
          </a:p>
          <a:p>
            <a:r>
              <a:rPr lang="en-US" sz="2400" dirty="0"/>
              <a:t>b) If x ≥ y </a:t>
            </a:r>
          </a:p>
          <a:p>
            <a:r>
              <a:rPr lang="en-US" sz="2400" dirty="0"/>
              <a:t>c) If x &gt; y </a:t>
            </a:r>
          </a:p>
          <a:p>
            <a:r>
              <a:rPr lang="en-US" sz="2400" dirty="0"/>
              <a:t>d) If x = y or no relation can be decided between '</a:t>
            </a:r>
            <a:r>
              <a:rPr lang="en-US" sz="2400" dirty="0" err="1"/>
              <a:t>x’and</a:t>
            </a:r>
            <a:r>
              <a:rPr lang="en-US" sz="2400" dirty="0"/>
              <a:t> 'y'. </a:t>
            </a:r>
          </a:p>
          <a:p>
            <a:r>
              <a:rPr lang="en-US" sz="2400" dirty="0"/>
              <a:t>e) If x ≤ y </a:t>
            </a:r>
          </a:p>
          <a:p>
            <a:pPr marL="514350" indent="-514350">
              <a:buAutoNum type="romanUcPeriod"/>
            </a:pPr>
            <a:r>
              <a:rPr lang="es-ES" sz="2400" dirty="0"/>
              <a:t>x</a:t>
            </a:r>
            <a:r>
              <a:rPr lang="es-ES" sz="2400" baseline="30000" dirty="0"/>
              <a:t>2</a:t>
            </a:r>
            <a:r>
              <a:rPr lang="es-ES" sz="2400" dirty="0"/>
              <a:t> -16x + 63 = 0 </a:t>
            </a:r>
          </a:p>
          <a:p>
            <a:pPr marL="514350" indent="-514350">
              <a:buAutoNum type="romanUcPeriod"/>
            </a:pPr>
            <a:r>
              <a:rPr lang="es-ES" sz="2400" dirty="0"/>
              <a:t>y</a:t>
            </a:r>
            <a:r>
              <a:rPr lang="es-ES" sz="2400" baseline="30000" dirty="0"/>
              <a:t>2</a:t>
            </a:r>
            <a:r>
              <a:rPr lang="es-ES" sz="2400" dirty="0"/>
              <a:t> - 2y - 35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153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3.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n-US" sz="2400" dirty="0"/>
              <a:t>x</a:t>
            </a:r>
            <a:r>
              <a:rPr lang="en-US" sz="2400" baseline="30000" dirty="0"/>
              <a:t>2</a:t>
            </a:r>
            <a:r>
              <a:rPr lang="en-US" sz="2400" dirty="0"/>
              <a:t> –6x+135 = 0 </a:t>
            </a:r>
          </a:p>
          <a:p>
            <a:pPr marL="514350" indent="-514350">
              <a:buAutoNum type="romanUcPeriod"/>
            </a:pPr>
            <a:r>
              <a:rPr lang="en-US" sz="2400" dirty="0"/>
              <a:t>y</a:t>
            </a:r>
            <a:r>
              <a:rPr lang="en-US" sz="2400" baseline="30000" dirty="0"/>
              <a:t>2</a:t>
            </a:r>
            <a:r>
              <a:rPr lang="en-US" sz="2400" dirty="0"/>
              <a:t> –30y+225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685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4.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s-ES" sz="2400" dirty="0"/>
              <a:t>6x</a:t>
            </a:r>
            <a:r>
              <a:rPr lang="es-ES" sz="2400" baseline="30000" dirty="0"/>
              <a:t>2</a:t>
            </a:r>
            <a:r>
              <a:rPr lang="es-ES" sz="2400" dirty="0"/>
              <a:t> +77x+121=0 </a:t>
            </a:r>
          </a:p>
          <a:p>
            <a:pPr marL="514350" indent="-514350">
              <a:buAutoNum type="romanUcPeriod"/>
            </a:pPr>
            <a:r>
              <a:rPr lang="es-ES" sz="2400" dirty="0"/>
              <a:t>y</a:t>
            </a:r>
            <a:r>
              <a:rPr lang="es-ES" sz="2400" baseline="30000" dirty="0"/>
              <a:t>2</a:t>
            </a:r>
            <a:r>
              <a:rPr lang="es-ES" sz="2400" dirty="0"/>
              <a:t> +9y−22=0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3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5.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s-ES" sz="2400" dirty="0"/>
              <a:t>(x–8) (2y+9) = 25 </a:t>
            </a:r>
          </a:p>
          <a:p>
            <a:pPr marL="514350" indent="-514350">
              <a:buAutoNum type="romanUcPeriod"/>
            </a:pPr>
            <a:r>
              <a:rPr lang="es-ES" sz="2400" dirty="0"/>
              <a:t>(2x–16) (y–4) = 8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0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6.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s-ES" sz="2400" dirty="0"/>
              <a:t>x</a:t>
            </a:r>
            <a:r>
              <a:rPr lang="es-ES" sz="2400" baseline="30000" dirty="0"/>
              <a:t>2</a:t>
            </a:r>
            <a:r>
              <a:rPr lang="es-ES" sz="2400" dirty="0"/>
              <a:t> –15x–364 = 0 </a:t>
            </a:r>
          </a:p>
          <a:p>
            <a:pPr marL="514350" indent="-514350">
              <a:buAutoNum type="romanUcPeriod"/>
            </a:pPr>
            <a:r>
              <a:rPr lang="es-ES" sz="2400" dirty="0"/>
              <a:t>y</a:t>
            </a:r>
            <a:r>
              <a:rPr lang="es-ES" sz="2400" baseline="30000" dirty="0"/>
              <a:t>2</a:t>
            </a:r>
            <a:r>
              <a:rPr lang="es-ES" sz="2400" dirty="0"/>
              <a:t> +31y+240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54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7.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n-US" sz="2400" dirty="0"/>
              <a:t>13x - 8y + 81 = 0 </a:t>
            </a:r>
          </a:p>
          <a:p>
            <a:pPr marL="514350" indent="-514350">
              <a:buAutoNum type="romanUcPeriod"/>
            </a:pPr>
            <a:r>
              <a:rPr lang="en-US" sz="2400" dirty="0"/>
              <a:t>15x + 5y + 65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99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8. Direction: Two equations (I) and (II) are given in each question. On the basis of these equations. You have to decide the relation between 'x’ and 'y’ and give answer. </a:t>
            </a:r>
          </a:p>
          <a:p>
            <a:pPr marL="457200" indent="-457200">
              <a:buAutoNum type="alphaLcPeriod"/>
            </a:pPr>
            <a:r>
              <a:rPr lang="en-US" sz="2400" dirty="0"/>
              <a:t>x &gt;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&lt;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≤ y </a:t>
            </a:r>
          </a:p>
          <a:p>
            <a:pPr marL="457200" indent="-457200">
              <a:buAutoNum type="alphaLcPeriod"/>
            </a:pPr>
            <a:r>
              <a:rPr lang="en-US" sz="2400" dirty="0"/>
              <a:t>x ≥ y </a:t>
            </a:r>
          </a:p>
          <a:p>
            <a:pPr marL="457200" indent="-457200">
              <a:buAutoNum type="alphaLcPeriod"/>
            </a:pPr>
            <a:r>
              <a:rPr lang="en-US" sz="2400" dirty="0"/>
              <a:t>x = y or no relation can be decided between 'x’ and 'y'. </a:t>
            </a:r>
          </a:p>
          <a:p>
            <a:pPr marL="514350" indent="-514350">
              <a:buAutoNum type="romanUcPeriod"/>
            </a:pPr>
            <a:r>
              <a:rPr lang="en-US" sz="2400" dirty="0"/>
              <a:t>x² - 208 = 233 </a:t>
            </a:r>
          </a:p>
          <a:p>
            <a:pPr marL="514350" indent="-514350">
              <a:buAutoNum type="romanUcPeriod"/>
            </a:pPr>
            <a:r>
              <a:rPr lang="en-US" sz="2400" dirty="0"/>
              <a:t>y² + 47– 371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45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10AC6C4-3AEB-43AD-90AE-AE2FD67700EC}"/>
              </a:ext>
            </a:extLst>
          </p:cNvPr>
          <p:cNvSpPr txBox="1"/>
          <p:nvPr/>
        </p:nvSpPr>
        <p:spPr>
          <a:xfrm>
            <a:off x="604954" y="1294481"/>
            <a:ext cx="11282246" cy="85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 means equal and inequality means there are five possibilities between terms/objects. Let us understand these types of possibilities through a table.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efault Image">
            <a:extLst>
              <a:ext uri="{FF2B5EF4-FFF2-40B4-BE49-F238E27FC236}">
                <a16:creationId xmlns="" xmlns:a16="http://schemas.microsoft.com/office/drawing/2014/main" id="{253C153F-8D2D-4030-83E9-E570AD51088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696" y="2203647"/>
            <a:ext cx="6185582" cy="40856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9080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DA5A324-3271-4D26-80EE-255235C99F0F}"/>
              </a:ext>
            </a:extLst>
          </p:cNvPr>
          <p:cNvSpPr txBox="1"/>
          <p:nvPr/>
        </p:nvSpPr>
        <p:spPr>
          <a:xfrm>
            <a:off x="683013" y="1326324"/>
            <a:ext cx="6094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Let us consider two variables X and 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efault Image">
            <a:extLst>
              <a:ext uri="{FF2B5EF4-FFF2-40B4-BE49-F238E27FC236}">
                <a16:creationId xmlns="" xmlns:a16="http://schemas.microsoft.com/office/drawing/2014/main" id="{54D5C24A-D4C2-4D21-98F7-C1BC585B738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724" y="2053318"/>
            <a:ext cx="6325529" cy="41913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57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9. Directions: Study the following information carefully and answer the given questions. In which of the given expression does the expression F&lt; N and R&gt; M definitely hold true?</a:t>
            </a:r>
          </a:p>
          <a:p>
            <a:pPr marL="457200" indent="-457200">
              <a:buAutoNum type="alphaLcParenR"/>
            </a:pPr>
            <a:r>
              <a:rPr lang="en-US" sz="2400" dirty="0"/>
              <a:t>M≤ N&lt; L; R&gt; N; P&lt; F ≤ L </a:t>
            </a:r>
          </a:p>
          <a:p>
            <a:pPr marL="457200" indent="-457200">
              <a:buAutoNum type="alphaLcParenR"/>
            </a:pPr>
            <a:r>
              <a:rPr lang="en-US" sz="2400" dirty="0"/>
              <a:t>M≤ N&gt; L; R&lt; N; P&lt; F ≥ L </a:t>
            </a:r>
          </a:p>
          <a:p>
            <a:pPr marL="457200" indent="-457200">
              <a:buAutoNum type="alphaLcParenR"/>
            </a:pPr>
            <a:r>
              <a:rPr lang="en-US" sz="2400" dirty="0"/>
              <a:t>M≤ N&gt; L; R&gt; N; P&lt; F ≤ L </a:t>
            </a:r>
          </a:p>
          <a:p>
            <a:pPr marL="457200" indent="-457200">
              <a:buAutoNum type="alphaLcParenR"/>
            </a:pPr>
            <a:r>
              <a:rPr lang="en-US" sz="2400" dirty="0" smtClean="0"/>
              <a:t>M</a:t>
            </a:r>
            <a:r>
              <a:rPr lang="en-US" sz="2400" dirty="0"/>
              <a:t>≥ N&gt; L; R&gt; N; P&lt; F ≤ 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63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10. Directions: Study the following information carefully and answer the given questions. What is in the place of question mark (?) in the given expression does the expression K&lt; H </a:t>
            </a:r>
            <a:r>
              <a:rPr lang="en-US" sz="2400" dirty="0" err="1"/>
              <a:t>andV</a:t>
            </a:r>
            <a:r>
              <a:rPr lang="en-US" sz="2400" dirty="0"/>
              <a:t>&gt; K is definitely true? </a:t>
            </a:r>
          </a:p>
          <a:p>
            <a:r>
              <a:rPr lang="en-US" sz="2400" dirty="0"/>
              <a:t>V = O ≥L ? K; O ≤ H </a:t>
            </a:r>
          </a:p>
          <a:p>
            <a:pPr marL="457200" indent="-457200">
              <a:buAutoNum type="alphaLcParenR"/>
            </a:pPr>
            <a:r>
              <a:rPr lang="en-US" sz="2400" dirty="0"/>
              <a:t>&gt; </a:t>
            </a:r>
          </a:p>
          <a:p>
            <a:pPr marL="457200" indent="-457200">
              <a:buAutoNum type="alphaLcParenR"/>
            </a:pPr>
            <a:r>
              <a:rPr lang="en-US" sz="2400" dirty="0"/>
              <a:t>= </a:t>
            </a:r>
          </a:p>
          <a:p>
            <a:pPr marL="457200" indent="-457200">
              <a:buAutoNum type="alphaLcParenR"/>
            </a:pPr>
            <a:r>
              <a:rPr lang="en-US" sz="2400" dirty="0"/>
              <a:t>&lt; or ≤ </a:t>
            </a:r>
          </a:p>
          <a:p>
            <a:pPr marL="457200" indent="-457200">
              <a:buAutoNum type="alphaLcParenR"/>
            </a:pPr>
            <a:r>
              <a:rPr lang="en-US" sz="2400" dirty="0"/>
              <a:t>≥ </a:t>
            </a:r>
          </a:p>
          <a:p>
            <a:pPr marL="457200" indent="-457200">
              <a:buAutoNum type="alphaLcParenR"/>
            </a:pPr>
            <a:r>
              <a:rPr lang="en-US" sz="2400" dirty="0"/>
              <a:t>None of these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04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11. Directions: Study the following information carefully and answer the given questions. In which of the following expressions the expression ‘P ≤ M ’ would hold definitely true? </a:t>
            </a:r>
          </a:p>
          <a:p>
            <a:pPr marL="457200" indent="-457200">
              <a:buAutoNum type="alphaLcParenR"/>
            </a:pPr>
            <a:r>
              <a:rPr lang="en-US" sz="2400" dirty="0"/>
              <a:t>M ≥ R = N &gt;S ≥ P = Q </a:t>
            </a:r>
          </a:p>
          <a:p>
            <a:pPr marL="457200" indent="-457200">
              <a:buAutoNum type="alphaLcParenR"/>
            </a:pPr>
            <a:r>
              <a:rPr lang="en-US" sz="2400" dirty="0"/>
              <a:t>Q ≥ M &gt; N = W ≥ P &lt; S </a:t>
            </a:r>
          </a:p>
          <a:p>
            <a:pPr marL="457200" indent="-457200">
              <a:buAutoNum type="alphaLcParenR"/>
            </a:pPr>
            <a:r>
              <a:rPr lang="en-US" sz="2400" dirty="0"/>
              <a:t>Q &gt;M ≥ N = W ≥ P &lt; S </a:t>
            </a:r>
          </a:p>
          <a:p>
            <a:pPr marL="457200" indent="-457200">
              <a:buAutoNum type="alphaLcParenR"/>
            </a:pPr>
            <a:r>
              <a:rPr lang="en-US" sz="2400" dirty="0"/>
              <a:t>W &lt; P = N ≤ Q &lt; M &gt; R </a:t>
            </a:r>
          </a:p>
          <a:p>
            <a:pPr marL="457200" indent="-457200">
              <a:buAutoNum type="alphaLcParenR"/>
            </a:pPr>
            <a:r>
              <a:rPr lang="en-US" sz="2400" dirty="0"/>
              <a:t>N &gt; Q = P &lt; S ≤ R ≤ 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286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12. In these questions, relationship between different elements is shown in the statements. These statements are followed by two conclusions: </a:t>
            </a:r>
          </a:p>
          <a:p>
            <a:pPr marL="457200" indent="-457200">
              <a:buAutoNum type="alphaLcParenBoth"/>
            </a:pPr>
            <a:r>
              <a:rPr lang="en-US" sz="2400" dirty="0"/>
              <a:t>If only conclusion I follows. </a:t>
            </a:r>
          </a:p>
          <a:p>
            <a:r>
              <a:rPr lang="en-US" sz="2400" dirty="0"/>
              <a:t>(b) If only conclusion II follows.</a:t>
            </a:r>
          </a:p>
          <a:p>
            <a:r>
              <a:rPr lang="en-US" sz="2400" dirty="0"/>
              <a:t>(c) If either conclusion I or II follows.</a:t>
            </a:r>
          </a:p>
          <a:p>
            <a:r>
              <a:rPr lang="en-US" sz="2400" dirty="0"/>
              <a:t>(d) If neither conclusion I nor II follows. </a:t>
            </a:r>
          </a:p>
          <a:p>
            <a:r>
              <a:rPr lang="en-US" sz="2400" dirty="0"/>
              <a:t>(e) If both conclusion I and II follow.</a:t>
            </a:r>
          </a:p>
          <a:p>
            <a:r>
              <a:rPr lang="en-US" sz="2400" dirty="0"/>
              <a:t>Statements: H ≥ O = U ≥ B &lt; L = P; D &lt; N = B ≥ S &gt; K </a:t>
            </a:r>
          </a:p>
          <a:p>
            <a:r>
              <a:rPr lang="en-US" sz="2400" dirty="0"/>
              <a:t>Conclusions </a:t>
            </a:r>
          </a:p>
          <a:p>
            <a:r>
              <a:rPr lang="en-US" sz="2400" dirty="0"/>
              <a:t>I.K &lt; L </a:t>
            </a:r>
          </a:p>
          <a:p>
            <a:r>
              <a:rPr lang="en-US" sz="2400" dirty="0"/>
              <a:t>II.H ≥ K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20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13. In these questions, relationship between different elements is shown in the statements. These statements are followed by two conclusions: </a:t>
            </a:r>
          </a:p>
          <a:p>
            <a:pPr marL="457200" indent="-457200">
              <a:buAutoNum type="alphaLcParenBoth"/>
            </a:pPr>
            <a:r>
              <a:rPr lang="en-US" sz="2400" dirty="0"/>
              <a:t>If only conclusion I follows. </a:t>
            </a:r>
          </a:p>
          <a:p>
            <a:r>
              <a:rPr lang="en-US" sz="2400" dirty="0"/>
              <a:t>(b) If only conclusion II follows.</a:t>
            </a:r>
          </a:p>
          <a:p>
            <a:r>
              <a:rPr lang="en-US" sz="2400" dirty="0"/>
              <a:t>(c) If either conclusion I or II follows.</a:t>
            </a:r>
          </a:p>
          <a:p>
            <a:r>
              <a:rPr lang="en-US" sz="2400" dirty="0"/>
              <a:t>(d) If neither conclusion I nor II follows. </a:t>
            </a:r>
          </a:p>
          <a:p>
            <a:r>
              <a:rPr lang="en-US" sz="2400" dirty="0"/>
              <a:t>(e) If both conclusion I and II follow.</a:t>
            </a:r>
          </a:p>
          <a:p>
            <a:r>
              <a:rPr lang="en-US" sz="2400" dirty="0"/>
              <a:t>Statements: N &gt; D ≥ F &gt; J; E &lt; L ≤ G&lt; S &lt; P &lt; F; G &gt; W </a:t>
            </a:r>
          </a:p>
          <a:p>
            <a:r>
              <a:rPr lang="en-US" sz="2400" dirty="0"/>
              <a:t>Conclusions </a:t>
            </a:r>
          </a:p>
          <a:p>
            <a:pPr marL="514350" indent="-514350">
              <a:buAutoNum type="romanUcPeriod"/>
            </a:pPr>
            <a:r>
              <a:rPr lang="en-US" sz="2400" dirty="0"/>
              <a:t>W &lt; J </a:t>
            </a:r>
          </a:p>
          <a:p>
            <a:pPr marL="514350" indent="-514350">
              <a:buAutoNum type="romanUcPeriod"/>
            </a:pPr>
            <a:r>
              <a:rPr lang="en-US" sz="2400" dirty="0"/>
              <a:t>J ≤ W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076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14. Directions: In each of the question, relationships between some elements are shown in the statements(s). These statements are followed by conclusions. Read the statements and give the answer </a:t>
            </a:r>
          </a:p>
          <a:p>
            <a:r>
              <a:rPr lang="en-US" sz="2400" dirty="0"/>
              <a:t>Statements: G &gt;= B &gt; D = F ; L &lt; B &lt; M </a:t>
            </a:r>
          </a:p>
          <a:p>
            <a:r>
              <a:rPr lang="en-US" sz="2400" dirty="0"/>
              <a:t>Conclusions: </a:t>
            </a:r>
          </a:p>
          <a:p>
            <a:pPr marL="514350" indent="-514350">
              <a:buAutoNum type="romanUcPeriod"/>
            </a:pPr>
            <a:r>
              <a:rPr lang="en-US" sz="2400" dirty="0"/>
              <a:t>M&lt;L</a:t>
            </a:r>
          </a:p>
          <a:p>
            <a:pPr marL="514350" indent="-514350">
              <a:buAutoNum type="romanUcPeriod"/>
            </a:pPr>
            <a:r>
              <a:rPr lang="en-US" sz="2400" dirty="0"/>
              <a:t>G&gt;L</a:t>
            </a:r>
          </a:p>
          <a:p>
            <a:pPr marL="514350" indent="-514350">
              <a:buAutoNum type="romanUcPeriod"/>
            </a:pPr>
            <a:r>
              <a:rPr lang="en-US" sz="2400" dirty="0"/>
              <a:t>D&gt;L </a:t>
            </a:r>
          </a:p>
          <a:p>
            <a:pPr marL="514350" indent="-514350">
              <a:buAutoNum type="romanUcPeriod"/>
            </a:pPr>
            <a:r>
              <a:rPr lang="en-US" sz="2400" dirty="0"/>
              <a:t>F&lt; M </a:t>
            </a:r>
          </a:p>
          <a:p>
            <a:r>
              <a:rPr lang="en-US" sz="2400" dirty="0"/>
              <a:t>A Only II follows </a:t>
            </a:r>
          </a:p>
          <a:p>
            <a:r>
              <a:rPr lang="en-US" sz="2400" dirty="0"/>
              <a:t>B Only I and III follow </a:t>
            </a:r>
          </a:p>
          <a:p>
            <a:r>
              <a:rPr lang="en-US" sz="2400" dirty="0"/>
              <a:t>C None follows </a:t>
            </a:r>
          </a:p>
          <a:p>
            <a:r>
              <a:rPr lang="en-US" sz="2400" dirty="0"/>
              <a:t>D Only II and IV follow </a:t>
            </a:r>
          </a:p>
          <a:p>
            <a:r>
              <a:rPr lang="en-US" sz="2400" dirty="0"/>
              <a:t>E Only I and II follows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2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4774" y="994156"/>
            <a:ext cx="1128575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15. Directions: In each of the question, relationships between some elements are shown in the statements(s). These statements are followed by conclusions. Read the statements and give the answer </a:t>
            </a:r>
          </a:p>
          <a:p>
            <a:r>
              <a:rPr lang="en-US" sz="2400" dirty="0"/>
              <a:t>Statements: U &gt;=R = C, C &gt;= N &gt; M </a:t>
            </a:r>
          </a:p>
          <a:p>
            <a:r>
              <a:rPr lang="en-US" sz="2400" dirty="0"/>
              <a:t>Conclusions: </a:t>
            </a:r>
          </a:p>
          <a:p>
            <a:pPr marL="514350" indent="-514350">
              <a:buAutoNum type="romanUcPeriod"/>
            </a:pPr>
            <a:r>
              <a:rPr lang="en-US" sz="2400" dirty="0"/>
              <a:t>R &gt; N </a:t>
            </a:r>
          </a:p>
          <a:p>
            <a:pPr marL="514350" indent="-514350">
              <a:buAutoNum type="romanUcPeriod"/>
            </a:pPr>
            <a:r>
              <a:rPr lang="en-US" sz="2400" dirty="0"/>
              <a:t>U &gt; M</a:t>
            </a:r>
          </a:p>
          <a:p>
            <a:pPr marL="514350" indent="-514350">
              <a:buAutoNum type="romanUcPeriod"/>
            </a:pPr>
            <a:r>
              <a:rPr lang="en-US" sz="2400" dirty="0"/>
              <a:t>R &gt;= M </a:t>
            </a:r>
          </a:p>
          <a:p>
            <a:pPr marL="457200" indent="-457200">
              <a:buAutoNum type="alphaUcPeriod"/>
            </a:pPr>
            <a:r>
              <a:rPr lang="en-US" sz="2400" dirty="0"/>
              <a:t>None follows </a:t>
            </a:r>
          </a:p>
          <a:p>
            <a:r>
              <a:rPr lang="en-US" sz="2400" dirty="0"/>
              <a:t>B. Only I follow </a:t>
            </a:r>
          </a:p>
          <a:p>
            <a:r>
              <a:rPr lang="en-US" sz="2400" dirty="0"/>
              <a:t>C. Only II follows </a:t>
            </a:r>
          </a:p>
          <a:p>
            <a:r>
              <a:rPr lang="en-US" sz="2400" dirty="0"/>
              <a:t>D. Only III follows </a:t>
            </a:r>
          </a:p>
          <a:p>
            <a:r>
              <a:rPr lang="en-US" sz="2400" dirty="0"/>
              <a:t>E. Only II &amp; III follows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559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A204F-4364-415F-9D65-FF2DC7C3AD9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724201" y="2967335"/>
            <a:ext cx="47436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Any </a:t>
            </a:r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Times New Roman" pitchFamily="18" charset="0"/>
                <a:cs typeface="Times New Roman" pitchFamily="18" charset="0"/>
              </a:rPr>
              <a:t>Doubts</a:t>
            </a:r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2761862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2140</TotalTime>
  <Words>1422</Words>
  <Application>Microsoft Office PowerPoint</Application>
  <PresentationFormat>Custom</PresentationFormat>
  <Paragraphs>179</Paragraphs>
  <Slides>20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Coding Inequalities PEA 516 Lecture 24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</dc:creator>
  <cp:lastModifiedBy>rahul</cp:lastModifiedBy>
  <cp:revision>399</cp:revision>
  <dcterms:created xsi:type="dcterms:W3CDTF">2017-07-13T07:57:18Z</dcterms:created>
  <dcterms:modified xsi:type="dcterms:W3CDTF">2025-01-12T05:55:59Z</dcterms:modified>
</cp:coreProperties>
</file>