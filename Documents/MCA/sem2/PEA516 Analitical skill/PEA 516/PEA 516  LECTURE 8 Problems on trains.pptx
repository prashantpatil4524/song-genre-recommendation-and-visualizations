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312" r:id="rId2"/>
    <p:sldId id="259" r:id="rId3"/>
    <p:sldId id="383" r:id="rId4"/>
    <p:sldId id="384" r:id="rId5"/>
    <p:sldId id="385" r:id="rId6"/>
    <p:sldId id="364" r:id="rId7"/>
    <p:sldId id="362" r:id="rId8"/>
    <p:sldId id="365" r:id="rId9"/>
    <p:sldId id="386" r:id="rId10"/>
    <p:sldId id="344" r:id="rId11"/>
    <p:sldId id="387" r:id="rId12"/>
    <p:sldId id="347" r:id="rId13"/>
    <p:sldId id="346" r:id="rId14"/>
    <p:sldId id="388" r:id="rId15"/>
    <p:sldId id="345" r:id="rId16"/>
    <p:sldId id="366" r:id="rId17"/>
    <p:sldId id="367" r:id="rId18"/>
    <p:sldId id="267" r:id="rId19"/>
    <p:sldId id="313" r:id="rId20"/>
    <p:sldId id="28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81" d="100"/>
          <a:sy n="81" d="100"/>
        </p:scale>
        <p:origin x="-24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12-Jan-25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946442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dirty="0">
                <a:latin typeface="Arial" panose="020B0604020202020204" pitchFamily="34" charset="0"/>
                <a:sym typeface="+mn-ea"/>
              </a:rPr>
              <a:t>Ans: 92.86 miles/hour </a:t>
            </a:r>
            <a:endParaRPr lang="en-IN" altLang="en-US" dirty="0">
              <a:latin typeface="Arial" panose="020B0604020202020204" pitchFamily="34" charset="0"/>
            </a:endParaRPr>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12-Jan-25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12-Jan-25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12-Jan-25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12-Jan-25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12-Jan-25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12-Jan-25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8667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7238" y="4983163"/>
            <a:ext cx="8183563" cy="1052513"/>
          </a:xfrm>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1" i="0" u="none" strike="noStrike" kern="1200" cap="none" spc="0" normalizeH="0" baseline="0" noProof="0" dirty="0">
                <a:ln>
                  <a:noFill/>
                </a:ln>
                <a:solidFill>
                  <a:srgbClr val="6594DA"/>
                </a:solidFill>
                <a:effectLst>
                  <a:outerShdw blurRad="53975" dist="22860" dir="5400000" algn="tl" rotWithShape="0">
                    <a:srgbClr val="000000">
                      <a:alpha val="55000"/>
                    </a:srgbClr>
                  </a:outerShdw>
                </a:effectLst>
                <a:uLnTx/>
                <a:uFillTx/>
                <a:latin typeface="+mj-lt"/>
                <a:ea typeface="+mj-ea"/>
                <a:cs typeface="+mj-cs"/>
              </a:rPr>
              <a:t> </a:t>
            </a:r>
          </a:p>
        </p:txBody>
      </p:sp>
      <p:sp>
        <p:nvSpPr>
          <p:cNvPr id="120834" name="Content Placeholder 4"/>
          <p:cNvSpPr>
            <a:spLocks noGrp="1"/>
          </p:cNvSpPr>
          <p:nvPr>
            <p:ph idx="1"/>
          </p:nvPr>
        </p:nvSpPr>
        <p:spPr>
          <a:xfrm>
            <a:off x="2027238" y="530225"/>
            <a:ext cx="8183562" cy="4187825"/>
          </a:xfrm>
        </p:spPr>
        <p:txBody>
          <a:bodyPr vert="horz" wrap="square" lIns="182880" tIns="91440" rIns="91440" bIns="45720" anchor="t" anchorCtr="0"/>
          <a:lstStyle/>
          <a:p>
            <a:pPr marL="0" indent="0" algn="ctr">
              <a:buNone/>
            </a:pPr>
            <a:endParaRPr lang="en-US" altLang="en-US" sz="4000" b="1" u="sng" dirty="0">
              <a:solidFill>
                <a:schemeClr val="tx1"/>
              </a:solidFill>
              <a:latin typeface="Algerian" panose="04020705040A02060702" pitchFamily="82" charset="0"/>
            </a:endParaRPr>
          </a:p>
          <a:p>
            <a:pPr marL="0" indent="0" algn="ctr">
              <a:buNone/>
            </a:pPr>
            <a:endParaRPr lang="en-US" altLang="en-US" sz="4000" b="1" u="sng" dirty="0">
              <a:solidFill>
                <a:schemeClr val="tx1"/>
              </a:solidFill>
              <a:latin typeface="Algerian" panose="04020705040A02060702" pitchFamily="82" charset="0"/>
            </a:endParaRPr>
          </a:p>
          <a:p>
            <a:pPr marL="0" indent="0" algn="ctr">
              <a:buNone/>
            </a:pPr>
            <a:r>
              <a:rPr lang="en-US" altLang="en-US" sz="4000" b="1" u="sng" dirty="0">
                <a:solidFill>
                  <a:schemeClr val="tx1"/>
                </a:solidFill>
                <a:latin typeface="Algerian" panose="04020705040A02060702" pitchFamily="82" charset="0"/>
              </a:rPr>
              <a:t>pea 516</a:t>
            </a:r>
          </a:p>
          <a:p>
            <a:pPr marL="0" indent="0" algn="ctr">
              <a:buNone/>
            </a:pPr>
            <a:r>
              <a:rPr lang="en-US" altLang="en-US" sz="4000" b="1" u="sng" dirty="0" smtClean="0">
                <a:solidFill>
                  <a:schemeClr val="tx1"/>
                </a:solidFill>
                <a:latin typeface="Algerian" panose="04020705040A02060702" pitchFamily="82" charset="0"/>
              </a:rPr>
              <a:t>Lecture-8</a:t>
            </a:r>
            <a:endParaRPr lang="en-US" altLang="en-US" sz="4000" b="1" u="sng" dirty="0">
              <a:solidFill>
                <a:schemeClr val="tx1"/>
              </a:solidFill>
              <a:latin typeface="Algerian" panose="04020705040A02060702" pitchFamily="82" charset="0"/>
            </a:endParaRPr>
          </a:p>
          <a:p>
            <a:pPr marL="0" algn="ctr">
              <a:buClrTx/>
              <a:buSzTx/>
              <a:buNone/>
            </a:pPr>
            <a:r>
              <a:rPr lang="en-US" altLang="en-US" sz="4000" b="1" u="sng" dirty="0">
                <a:latin typeface="Algerian" panose="04020705040A02060702" pitchFamily="82" charset="0"/>
              </a:rPr>
              <a:t>Problems on trains</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8045" y="782955"/>
            <a:ext cx="10485755" cy="5394325"/>
          </a:xfrm>
        </p:spPr>
        <p:txBody>
          <a:bodyPr>
            <a:normAutofit/>
          </a:bodyPr>
          <a:lstStyle/>
          <a:p>
            <a:pPr marL="0" indent="0">
              <a:buNone/>
            </a:pPr>
            <a:r>
              <a:rPr lang="en-US" sz="4000" b="1" noProof="0" dirty="0" smtClean="0">
                <a:ln>
                  <a:noFill/>
                </a:ln>
                <a:effectLst/>
                <a:uLnTx/>
                <a:uFillTx/>
                <a:sym typeface="+mn-ea"/>
              </a:rPr>
              <a:t>Contents:</a:t>
            </a:r>
            <a:endParaRPr lang="en-US" altLang="en-US" sz="4000" b="1"/>
          </a:p>
          <a:p>
            <a:pPr marL="0" indent="0">
              <a:buNone/>
            </a:pPr>
            <a:endParaRPr lang="en-US" altLang="en-US"/>
          </a:p>
          <a:p>
            <a:pPr marL="0" indent="0">
              <a:buNone/>
            </a:pPr>
            <a:endParaRPr lang="en-US" altLang="en-US"/>
          </a:p>
          <a:p>
            <a:pPr marL="0" indent="0">
              <a:buNone/>
            </a:pPr>
            <a:endParaRPr lang="en-US" altLang="en-US"/>
          </a:p>
          <a:p>
            <a:pPr>
              <a:buFont typeface="Wingdings" panose="05000000000000000000" charset="0"/>
              <a:buChar char="v"/>
            </a:pPr>
            <a:r>
              <a:rPr lang="en-US" altLang="en-US"/>
              <a:t>Relative speed concept</a:t>
            </a:r>
          </a:p>
          <a:p>
            <a:pPr marL="0" indent="0">
              <a:buNone/>
            </a:pPr>
            <a:endParaRPr lang="en-US" altLang="en-US"/>
          </a:p>
          <a:p>
            <a:pPr>
              <a:buFont typeface="Wingdings" panose="05000000000000000000" charset="0"/>
              <a:buChar char="v"/>
            </a:pPr>
            <a:r>
              <a:rPr lang="en-US" altLang="en-US">
                <a:sym typeface="+mn-ea"/>
              </a:rPr>
              <a:t>Crossing a stationary and moving object</a:t>
            </a:r>
            <a:endParaRPr lang="en-US" altLang="en-US"/>
          </a:p>
          <a:p>
            <a:pPr>
              <a:buFont typeface="Wingdings" panose="05000000000000000000" charset="0"/>
              <a:buChar char="v"/>
            </a:pPr>
            <a:endParaRPr lang="en-US" altLang="en-US"/>
          </a:p>
          <a:p>
            <a:pPr marL="0" indent="0">
              <a:buNone/>
            </a:pPr>
            <a:endParaRPr lang="en-US" altLang="en-US"/>
          </a:p>
          <a:p>
            <a:pPr marL="0" indent="0">
              <a:buNone/>
            </a:pP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p:cNvSpPr>
            <a:spLocks noGrp="1"/>
          </p:cNvSpPr>
          <p:nvPr>
            <p:ph idx="1"/>
          </p:nvPr>
        </p:nvSpPr>
        <p:spPr>
          <a:xfrm>
            <a:off x="1524000" y="304800"/>
            <a:ext cx="8915400" cy="6324600"/>
          </a:xfrm>
        </p:spPr>
        <p:txBody>
          <a:bodyPr vert="horz" wrap="square" lIns="91440" tIns="45720" rIns="91440" bIns="45720" anchor="t" anchorCtr="0">
            <a:normAutofit fontScale="92500"/>
          </a:bodyPr>
          <a:lstStyle/>
          <a:p>
            <a:pPr marL="0" indent="0" eaLnBrk="1" hangingPunct="1">
              <a:buNone/>
            </a:pPr>
            <a:endParaRPr lang="en-US" altLang="en-US" sz="1800" b="1" dirty="0"/>
          </a:p>
          <a:p>
            <a:pPr marL="0" indent="0" eaLnBrk="1" hangingPunct="1">
              <a:buNone/>
            </a:pPr>
            <a:r>
              <a:rPr lang="en-US" altLang="en-US" sz="1800" b="1" dirty="0"/>
              <a:t>RELATIVE SPEED</a:t>
            </a:r>
            <a:r>
              <a:rPr lang="en-US" altLang="en-US" sz="1600" b="1" dirty="0"/>
              <a:t>    </a:t>
            </a:r>
          </a:p>
          <a:p>
            <a:pPr marL="0" indent="0" eaLnBrk="1" hangingPunct="1">
              <a:buNone/>
            </a:pPr>
            <a:r>
              <a:rPr lang="en-US" altLang="en-US" sz="1600" b="1" dirty="0"/>
              <a:t>                        S</a:t>
            </a:r>
            <a:r>
              <a:rPr lang="en-US" altLang="en-US" sz="1600" b="1" baseline="-25000" dirty="0"/>
              <a:t>1                                                                                                                                                                 </a:t>
            </a:r>
            <a:r>
              <a:rPr lang="en-US" altLang="en-US" sz="1600" b="1" dirty="0"/>
              <a:t>S</a:t>
            </a:r>
            <a:r>
              <a:rPr lang="en-US" altLang="en-US" sz="1600" b="1" baseline="-25000" dirty="0"/>
              <a:t>2                           </a:t>
            </a:r>
          </a:p>
          <a:p>
            <a:pPr marL="0" indent="0" algn="ctr" eaLnBrk="1" hangingPunct="1">
              <a:buNone/>
            </a:pPr>
            <a:r>
              <a:rPr lang="en-US" altLang="en-US" sz="1600" b="1" baseline="-25000" dirty="0"/>
              <a:t>                                                 </a:t>
            </a:r>
          </a:p>
          <a:p>
            <a:pPr marL="0" indent="0" algn="ctr" eaLnBrk="1" hangingPunct="1">
              <a:buNone/>
            </a:pPr>
            <a:endParaRPr lang="en-US" altLang="en-US" sz="1600" b="1" baseline="-25000" dirty="0"/>
          </a:p>
          <a:p>
            <a:pPr marL="0" indent="0" algn="ctr" eaLnBrk="1" hangingPunct="1">
              <a:buNone/>
            </a:pPr>
            <a:endParaRPr lang="en-US" altLang="en-US" sz="1600" b="1" baseline="-25000" dirty="0"/>
          </a:p>
          <a:p>
            <a:pPr marL="0" indent="0" algn="ctr" eaLnBrk="1" hangingPunct="1">
              <a:buNone/>
            </a:pPr>
            <a:endParaRPr lang="en-US" altLang="en-US" sz="1600" b="1" baseline="-25000" dirty="0"/>
          </a:p>
          <a:p>
            <a:pPr marL="0" indent="0" algn="ctr" eaLnBrk="1" hangingPunct="1">
              <a:buNone/>
            </a:pPr>
            <a:endParaRPr lang="en-US" altLang="en-US" sz="1600" b="1" baseline="-25000" dirty="0"/>
          </a:p>
          <a:p>
            <a:pPr marL="0" indent="0" algn="ctr" eaLnBrk="1" hangingPunct="1">
              <a:buNone/>
            </a:pPr>
            <a:r>
              <a:rPr lang="en-US" altLang="en-US" sz="1600" b="1" dirty="0"/>
              <a:t>RELATIVE SPEED  </a:t>
            </a:r>
          </a:p>
          <a:p>
            <a:pPr marL="0" indent="0" algn="ctr" eaLnBrk="1" hangingPunct="1">
              <a:buNone/>
            </a:pPr>
            <a:r>
              <a:rPr lang="en-US" altLang="en-US" sz="1600" b="1" baseline="-25000" dirty="0"/>
              <a:t>      </a:t>
            </a:r>
            <a:r>
              <a:rPr lang="en-US" altLang="en-US" sz="1600" b="1" dirty="0"/>
              <a:t>S</a:t>
            </a:r>
            <a:r>
              <a:rPr lang="en-US" altLang="en-US" sz="1600" b="1" baseline="-25000" dirty="0"/>
              <a:t>R </a:t>
            </a:r>
            <a:r>
              <a:rPr lang="en-US" altLang="en-US" sz="1600" b="1" dirty="0"/>
              <a:t>= S</a:t>
            </a:r>
            <a:r>
              <a:rPr lang="en-US" altLang="en-US" sz="1600" b="1" baseline="-25000" dirty="0"/>
              <a:t>1 </a:t>
            </a:r>
            <a:r>
              <a:rPr lang="en-US" altLang="en-US" sz="1600" b="1" dirty="0"/>
              <a:t>+ S</a:t>
            </a:r>
            <a:r>
              <a:rPr lang="en-US" altLang="en-US" sz="1600" b="1" baseline="-25000" dirty="0"/>
              <a:t>2 </a:t>
            </a:r>
          </a:p>
          <a:p>
            <a:pPr marL="0" indent="0" algn="ctr" eaLnBrk="1" hangingPunct="1">
              <a:buNone/>
            </a:pPr>
            <a:endParaRPr lang="en-US" altLang="en-US" sz="1600" b="1" baseline="-25000" dirty="0"/>
          </a:p>
          <a:p>
            <a:pPr marL="0" indent="0" algn="ctr" eaLnBrk="1" hangingPunct="1">
              <a:buNone/>
            </a:pPr>
            <a:r>
              <a:rPr lang="en-US" altLang="en-US" sz="1600" b="1" dirty="0"/>
              <a:t>      (CROSSING)</a:t>
            </a:r>
          </a:p>
          <a:p>
            <a:pPr marL="0" indent="0" algn="ctr" eaLnBrk="1" hangingPunct="1">
              <a:buNone/>
            </a:pPr>
            <a:endParaRPr lang="en-US" altLang="en-US" sz="1600" b="1" baseline="-25000" dirty="0"/>
          </a:p>
          <a:p>
            <a:pPr marL="0" indent="0" algn="ctr" eaLnBrk="1" hangingPunct="1">
              <a:buNone/>
            </a:pPr>
            <a:endParaRPr lang="en-US" altLang="en-US" sz="1600" b="1" baseline="-25000" dirty="0"/>
          </a:p>
          <a:p>
            <a:pPr marL="0" indent="0" algn="ctr" eaLnBrk="1" hangingPunct="1">
              <a:buNone/>
            </a:pPr>
            <a:r>
              <a:rPr lang="en-US" altLang="en-US" sz="1600" b="1" baseline="-25000" dirty="0"/>
              <a:t>                                               </a:t>
            </a:r>
          </a:p>
          <a:p>
            <a:pPr marL="0" indent="0" algn="ctr" eaLnBrk="1" hangingPunct="1">
              <a:buNone/>
            </a:pPr>
            <a:r>
              <a:rPr lang="en-US" altLang="en-US" sz="1600" b="1" dirty="0"/>
              <a:t>					S</a:t>
            </a:r>
            <a:r>
              <a:rPr lang="en-US" altLang="en-US" sz="1600" b="1" baseline="-25000" dirty="0"/>
              <a:t>1</a:t>
            </a:r>
          </a:p>
          <a:p>
            <a:pPr marL="0" indent="0" eaLnBrk="1" hangingPunct="1">
              <a:buNone/>
            </a:pPr>
            <a:r>
              <a:rPr lang="en-US" altLang="en-US" sz="1600" b="1" dirty="0"/>
              <a:t>				                                    S</a:t>
            </a:r>
            <a:r>
              <a:rPr lang="en-US" altLang="en-US" sz="1600" b="1" baseline="-25000" dirty="0"/>
              <a:t>1</a:t>
            </a:r>
          </a:p>
          <a:p>
            <a:pPr marL="0" indent="0" eaLnBrk="1" hangingPunct="1">
              <a:buNone/>
            </a:pPr>
            <a:r>
              <a:rPr lang="en-US" altLang="en-US" sz="1600" b="1" dirty="0"/>
              <a:t>      RELATIVE SPEED</a:t>
            </a:r>
          </a:p>
          <a:p>
            <a:pPr marL="0" indent="0" eaLnBrk="1" hangingPunct="1">
              <a:buNone/>
            </a:pPr>
            <a:r>
              <a:rPr lang="en-US" altLang="en-US" sz="1600" b="1" dirty="0"/>
              <a:t>       S</a:t>
            </a:r>
            <a:r>
              <a:rPr lang="en-US" altLang="en-US" sz="1600" b="1" baseline="-25000" dirty="0"/>
              <a:t>R </a:t>
            </a:r>
            <a:r>
              <a:rPr lang="en-US" altLang="en-US" sz="1600" b="1" dirty="0"/>
              <a:t>= S</a:t>
            </a:r>
            <a:r>
              <a:rPr lang="en-US" altLang="en-US" sz="1600" b="1" baseline="-25000" dirty="0"/>
              <a:t>1</a:t>
            </a:r>
            <a:r>
              <a:rPr lang="en-US" altLang="en-US" sz="1600" b="1" dirty="0"/>
              <a:t> – S</a:t>
            </a:r>
            <a:r>
              <a:rPr lang="en-US" altLang="en-US" sz="1600" b="1" baseline="-25000" dirty="0"/>
              <a:t>2</a:t>
            </a:r>
            <a:r>
              <a:rPr lang="en-US" altLang="en-US" sz="1600" b="1" dirty="0"/>
              <a:t>				</a:t>
            </a:r>
          </a:p>
          <a:p>
            <a:pPr marL="0" indent="0" eaLnBrk="1" hangingPunct="1">
              <a:buNone/>
            </a:pPr>
            <a:endParaRPr lang="en-US" altLang="en-US" sz="1600" b="1" dirty="0"/>
          </a:p>
          <a:p>
            <a:pPr marL="0" indent="0" eaLnBrk="1" hangingPunct="1">
              <a:buNone/>
            </a:pPr>
            <a:r>
              <a:rPr lang="en-US" altLang="en-US" sz="1600" b="1" dirty="0"/>
              <a:t>                                                                                                   </a:t>
            </a:r>
          </a:p>
          <a:p>
            <a:pPr marL="0" indent="0" eaLnBrk="1" hangingPunct="1">
              <a:buNone/>
            </a:pPr>
            <a:r>
              <a:rPr lang="en-US" altLang="en-US" sz="1600" b="1" dirty="0"/>
              <a:t>                                                                                                     S</a:t>
            </a:r>
            <a:r>
              <a:rPr lang="en-US" altLang="en-US" sz="1600" b="1" baseline="-25000" dirty="0"/>
              <a:t>2</a:t>
            </a:r>
            <a:r>
              <a:rPr lang="en-US" altLang="en-US" sz="1600" b="1" dirty="0"/>
              <a:t>		</a:t>
            </a:r>
            <a:r>
              <a:rPr lang="en-US" altLang="en-US" sz="1600" b="1" baseline="-25000" dirty="0"/>
              <a:t>     </a:t>
            </a:r>
            <a:endParaRPr lang="en-US" altLang="en-US" sz="1600" dirty="0"/>
          </a:p>
        </p:txBody>
      </p:sp>
      <p:pic>
        <p:nvPicPr>
          <p:cNvPr id="55299" name="Picture 4" descr="Train Vectors &amp; Illustrations for Free Download | Freepik"/>
          <p:cNvPicPr>
            <a:picLocks noChangeAspect="1"/>
          </p:cNvPicPr>
          <p:nvPr/>
        </p:nvPicPr>
        <p:blipFill>
          <a:blip r:embed="rId2"/>
          <a:stretch>
            <a:fillRect/>
          </a:stretch>
        </p:blipFill>
        <p:spPr>
          <a:xfrm>
            <a:off x="7632700" y="1447800"/>
            <a:ext cx="2578100" cy="1447800"/>
          </a:xfrm>
          <a:prstGeom prst="rect">
            <a:avLst/>
          </a:prstGeom>
          <a:noFill/>
          <a:ln w="9525">
            <a:noFill/>
          </a:ln>
        </p:spPr>
      </p:pic>
      <p:pic>
        <p:nvPicPr>
          <p:cNvPr id="55300" name="Picture 4" descr="Train Vectors &amp; Illustrations for Free Download | Freepik"/>
          <p:cNvPicPr>
            <a:picLocks noChangeAspect="1"/>
          </p:cNvPicPr>
          <p:nvPr/>
        </p:nvPicPr>
        <p:blipFill>
          <a:blip r:embed="rId3"/>
          <a:stretch>
            <a:fillRect/>
          </a:stretch>
        </p:blipFill>
        <p:spPr>
          <a:xfrm>
            <a:off x="2057400" y="1428750"/>
            <a:ext cx="2571750" cy="1443038"/>
          </a:xfrm>
          <a:prstGeom prst="rect">
            <a:avLst/>
          </a:prstGeom>
          <a:noFill/>
          <a:ln w="9525">
            <a:noFill/>
          </a:ln>
        </p:spPr>
      </p:pic>
      <p:pic>
        <p:nvPicPr>
          <p:cNvPr id="55301" name="Picture 4" descr="Train Vectors &amp; Illustrations for Free Download | Freepik"/>
          <p:cNvPicPr>
            <a:picLocks noChangeAspect="1"/>
          </p:cNvPicPr>
          <p:nvPr/>
        </p:nvPicPr>
        <p:blipFill>
          <a:blip r:embed="rId2"/>
          <a:stretch>
            <a:fillRect/>
          </a:stretch>
        </p:blipFill>
        <p:spPr>
          <a:xfrm>
            <a:off x="7729538" y="3616325"/>
            <a:ext cx="2578100" cy="1447800"/>
          </a:xfrm>
          <a:prstGeom prst="rect">
            <a:avLst/>
          </a:prstGeom>
          <a:noFill/>
          <a:ln w="9525">
            <a:noFill/>
          </a:ln>
        </p:spPr>
      </p:pic>
      <p:pic>
        <p:nvPicPr>
          <p:cNvPr id="55302" name="Picture 4" descr="Train Vectors &amp; Illustrations for Free Download | Freepik"/>
          <p:cNvPicPr>
            <a:picLocks noChangeAspect="1"/>
          </p:cNvPicPr>
          <p:nvPr/>
        </p:nvPicPr>
        <p:blipFill>
          <a:blip r:embed="rId2"/>
          <a:stretch>
            <a:fillRect/>
          </a:stretch>
        </p:blipFill>
        <p:spPr>
          <a:xfrm>
            <a:off x="7715250" y="5049838"/>
            <a:ext cx="2578100" cy="1447800"/>
          </a:xfrm>
          <a:prstGeom prst="rect">
            <a:avLst/>
          </a:prstGeom>
          <a:noFill/>
          <a:ln w="9525">
            <a:noFill/>
          </a:ln>
        </p:spPr>
      </p:pic>
      <p:cxnSp>
        <p:nvCxnSpPr>
          <p:cNvPr id="6" name="Straight Connector 5"/>
          <p:cNvCxnSpPr/>
          <p:nvPr/>
        </p:nvCxnSpPr>
        <p:spPr>
          <a:xfrm>
            <a:off x="2057400" y="3505200"/>
            <a:ext cx="8153400" cy="0"/>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057400" y="1381125"/>
            <a:ext cx="14478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8610600" y="1336675"/>
            <a:ext cx="15240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6910388" y="4600575"/>
            <a:ext cx="1219200" cy="793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6781800" y="6088063"/>
            <a:ext cx="1219200" cy="793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5308" name="Rectangle 1"/>
          <p:cNvSpPr/>
          <p:nvPr/>
        </p:nvSpPr>
        <p:spPr>
          <a:xfrm>
            <a:off x="5310188" y="11113"/>
            <a:ext cx="882650" cy="368300"/>
          </a:xfrm>
          <a:prstGeom prst="rect">
            <a:avLst/>
          </a:prstGeom>
          <a:noFill/>
          <a:ln w="9525">
            <a:noFill/>
          </a:ln>
        </p:spPr>
        <p:txBody>
          <a:bodyPr wrap="none">
            <a:spAutoFit/>
          </a:bodyPr>
          <a:lstStyle/>
          <a:p>
            <a:r>
              <a:rPr lang="en-US" altLang="en-US" b="1" dirty="0">
                <a:latin typeface="Calibri" panose="020F0502020204030204" charset="0"/>
              </a:rPr>
              <a:t>TRAINS</a:t>
            </a:r>
            <a:endParaRPr lang="en-IN" altLang="en-US" b="1" dirty="0">
              <a:latin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1066800" y="138113"/>
            <a:ext cx="8229600" cy="1143000"/>
          </a:xfrm>
        </p:spPr>
        <p:txBody>
          <a:bodyPr vert="horz" wrap="square" lIns="91440" tIns="45720" rIns="91440" bIns="45720" anchor="ctr" anchorCtr="0"/>
          <a:lstStyle/>
          <a:p>
            <a:pPr eaLnBrk="1" hangingPunct="1"/>
            <a:r>
              <a:rPr lang="en-US" altLang="en-US" kern="1200" dirty="0">
                <a:latin typeface="+mj-lt"/>
                <a:ea typeface="+mj-ea"/>
                <a:cs typeface="+mj-cs"/>
              </a:rPr>
              <a:t>Point Object and Length Object</a:t>
            </a:r>
            <a:endParaRPr lang="en-IN" altLang="en-US" kern="1200" dirty="0">
              <a:latin typeface="+mj-lt"/>
              <a:ea typeface="+mj-ea"/>
              <a:cs typeface="+mj-cs"/>
            </a:endParaRPr>
          </a:p>
        </p:txBody>
      </p:sp>
      <p:sp>
        <p:nvSpPr>
          <p:cNvPr id="3" name="Content Placeholder 2"/>
          <p:cNvSpPr>
            <a:spLocks noGrp="1"/>
          </p:cNvSpPr>
          <p:nvPr>
            <p:ph idx="1"/>
          </p:nvPr>
        </p:nvSpPr>
        <p:spPr>
          <a:xfrm>
            <a:off x="1524000" y="1066800"/>
            <a:ext cx="89916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a:ln>
                  <a:noFill/>
                </a:ln>
                <a:solidFill>
                  <a:srgbClr val="FF0000"/>
                </a:solidFill>
                <a:effectLst/>
                <a:uLnTx/>
                <a:uFillTx/>
                <a:latin typeface="+mn-lt"/>
                <a:ea typeface="+mn-ea"/>
                <a:cs typeface="+mn-cs"/>
              </a:rPr>
              <a:t>Length object: </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       Train          Tunnel              Bridge               Platform</a:t>
            </a: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en-US" sz="2800" b="0" i="0" u="none" strike="noStrike" kern="1200" cap="none" spc="0" normalizeH="0" baseline="0" noProof="0" dirty="0">
                <a:ln>
                  <a:noFill/>
                </a:ln>
                <a:solidFill>
                  <a:srgbClr val="FF0000"/>
                </a:solidFill>
                <a:effectLst/>
                <a:uLnTx/>
                <a:uFillTx/>
                <a:latin typeface="+mn-lt"/>
                <a:ea typeface="+mn-ea"/>
                <a:cs typeface="+mn-cs"/>
              </a:rPr>
              <a:t>Point object: </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rgbClr val="FF0000"/>
                </a:solidFill>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endParaRPr kumimoji="0" lang="en-US" sz="2800" b="0" i="0" u="none" strike="noStrike" kern="1200" cap="none" spc="0" normalizeH="0" baseline="0" noProof="0" dirty="0">
              <a:ln>
                <a:noFill/>
              </a:ln>
              <a:solidFill>
                <a:srgbClr val="FF0000"/>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rgbClr val="FF0000"/>
                </a:solidFill>
                <a:effectLst/>
                <a:uLnTx/>
                <a:uFillTx/>
                <a:latin typeface="+mn-lt"/>
                <a:ea typeface="+mn-ea"/>
                <a:cs typeface="+mn-cs"/>
              </a:rPr>
              <a:t>   </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rgbClr val="FF0000"/>
                </a:solidFill>
                <a:effectLst/>
                <a:uLnTx/>
                <a:uFillTx/>
                <a:latin typeface="+mn-lt"/>
                <a:ea typeface="+mn-ea"/>
                <a:cs typeface="+mn-cs"/>
              </a:rPr>
              <a:t>Traffic signal       Man        Electric Pole             Car</a:t>
            </a:r>
          </a:p>
        </p:txBody>
      </p:sp>
      <p:pic>
        <p:nvPicPr>
          <p:cNvPr id="56324" name="Picture 2" descr="Train clipart for kids free free clipart images"/>
          <p:cNvPicPr>
            <a:picLocks noChangeAspect="1"/>
          </p:cNvPicPr>
          <p:nvPr/>
        </p:nvPicPr>
        <p:blipFill>
          <a:blip r:embed="rId2"/>
          <a:stretch>
            <a:fillRect/>
          </a:stretch>
        </p:blipFill>
        <p:spPr>
          <a:xfrm rot="-766184">
            <a:off x="1868488" y="1871663"/>
            <a:ext cx="1589087" cy="1228725"/>
          </a:xfrm>
          <a:prstGeom prst="rect">
            <a:avLst/>
          </a:prstGeom>
          <a:noFill/>
          <a:ln w="9525">
            <a:noFill/>
          </a:ln>
        </p:spPr>
      </p:pic>
      <p:pic>
        <p:nvPicPr>
          <p:cNvPr id="56325" name="Picture 6" descr="Tunnel Clipart. Free Download Transparent .PNG or Vector | Creazilla"/>
          <p:cNvPicPr>
            <a:picLocks noChangeAspect="1"/>
          </p:cNvPicPr>
          <p:nvPr/>
        </p:nvPicPr>
        <p:blipFill>
          <a:blip r:embed="rId3"/>
          <a:stretch>
            <a:fillRect/>
          </a:stretch>
        </p:blipFill>
        <p:spPr>
          <a:xfrm>
            <a:off x="3738563" y="1751013"/>
            <a:ext cx="1849437" cy="1350962"/>
          </a:xfrm>
          <a:prstGeom prst="rect">
            <a:avLst/>
          </a:prstGeom>
          <a:noFill/>
          <a:ln w="9525">
            <a:noFill/>
          </a:ln>
        </p:spPr>
      </p:pic>
      <p:pic>
        <p:nvPicPr>
          <p:cNvPr id="56326" name="Picture 8" descr="Which of the following is the appropriate unit to express the mass of a railway  bridge?"/>
          <p:cNvPicPr>
            <a:picLocks noChangeAspect="1"/>
          </p:cNvPicPr>
          <p:nvPr/>
        </p:nvPicPr>
        <p:blipFill>
          <a:blip r:embed="rId4"/>
          <a:stretch>
            <a:fillRect/>
          </a:stretch>
        </p:blipFill>
        <p:spPr>
          <a:xfrm>
            <a:off x="5753100" y="1730375"/>
            <a:ext cx="2663825" cy="1298575"/>
          </a:xfrm>
          <a:prstGeom prst="rect">
            <a:avLst/>
          </a:prstGeom>
          <a:noFill/>
          <a:ln w="9525">
            <a:noFill/>
          </a:ln>
        </p:spPr>
      </p:pic>
      <p:sp>
        <p:nvSpPr>
          <p:cNvPr id="56327" name="AutoShape 10" descr="Free Vector | Train track and light signal pole"/>
          <p:cNvSpPr>
            <a:spLocks noChangeAspect="1"/>
          </p:cNvSpPr>
          <p:nvPr/>
        </p:nvSpPr>
        <p:spPr>
          <a:xfrm>
            <a:off x="1544638" y="-304800"/>
            <a:ext cx="304800" cy="304800"/>
          </a:xfrm>
          <a:prstGeom prst="rect">
            <a:avLst/>
          </a:prstGeom>
          <a:noFill/>
          <a:ln w="9525">
            <a:noFill/>
          </a:ln>
        </p:spPr>
        <p:txBody>
          <a:bodyPr/>
          <a:lstStyle/>
          <a:p>
            <a:pPr eaLnBrk="1" hangingPunct="1"/>
            <a:endParaRPr lang="en-IN" altLang="en-US" dirty="0">
              <a:latin typeface="Calibri" panose="020F0502020204030204" charset="0"/>
            </a:endParaRPr>
          </a:p>
        </p:txBody>
      </p:sp>
      <p:pic>
        <p:nvPicPr>
          <p:cNvPr id="56328" name="Picture 12" descr="Free Vector | Train track and light signal pole"/>
          <p:cNvPicPr>
            <a:picLocks noChangeAspect="1"/>
          </p:cNvPicPr>
          <p:nvPr/>
        </p:nvPicPr>
        <p:blipFill>
          <a:blip r:embed="rId5"/>
          <a:stretch>
            <a:fillRect/>
          </a:stretch>
        </p:blipFill>
        <p:spPr>
          <a:xfrm>
            <a:off x="2012950" y="4464050"/>
            <a:ext cx="1608138" cy="1185863"/>
          </a:xfrm>
          <a:prstGeom prst="rect">
            <a:avLst/>
          </a:prstGeom>
          <a:noFill/>
          <a:ln w="9525">
            <a:noFill/>
          </a:ln>
        </p:spPr>
      </p:pic>
      <p:pic>
        <p:nvPicPr>
          <p:cNvPr id="56329" name="Picture 14" descr="Electric pole Vector Image - 1332667 | StockUnlimited"/>
          <p:cNvPicPr>
            <a:picLocks noChangeAspect="1"/>
          </p:cNvPicPr>
          <p:nvPr/>
        </p:nvPicPr>
        <p:blipFill>
          <a:blip r:embed="rId6"/>
          <a:stretch>
            <a:fillRect/>
          </a:stretch>
        </p:blipFill>
        <p:spPr>
          <a:xfrm>
            <a:off x="6083300" y="4402138"/>
            <a:ext cx="1725613" cy="1247775"/>
          </a:xfrm>
          <a:prstGeom prst="rect">
            <a:avLst/>
          </a:prstGeom>
          <a:noFill/>
          <a:ln w="9525">
            <a:noFill/>
          </a:ln>
        </p:spPr>
      </p:pic>
      <p:pic>
        <p:nvPicPr>
          <p:cNvPr id="56330" name="Picture 16" descr="Cute Yellow Car Clip Art Free PNG Image｜Illustoon"/>
          <p:cNvPicPr>
            <a:picLocks noChangeAspect="1"/>
          </p:cNvPicPr>
          <p:nvPr/>
        </p:nvPicPr>
        <p:blipFill>
          <a:blip r:embed="rId7"/>
          <a:stretch>
            <a:fillRect/>
          </a:stretch>
        </p:blipFill>
        <p:spPr>
          <a:xfrm>
            <a:off x="8072438" y="4297363"/>
            <a:ext cx="2443162" cy="1519237"/>
          </a:xfrm>
          <a:prstGeom prst="rect">
            <a:avLst/>
          </a:prstGeom>
          <a:noFill/>
          <a:ln w="9525">
            <a:noFill/>
          </a:ln>
        </p:spPr>
      </p:pic>
      <p:pic>
        <p:nvPicPr>
          <p:cNvPr id="56331" name="Picture 18" descr="Man Clipart Images - Free Download on Freepik"/>
          <p:cNvPicPr>
            <a:picLocks noChangeAspect="1"/>
          </p:cNvPicPr>
          <p:nvPr/>
        </p:nvPicPr>
        <p:blipFill>
          <a:blip r:embed="rId8"/>
          <a:stretch>
            <a:fillRect/>
          </a:stretch>
        </p:blipFill>
        <p:spPr>
          <a:xfrm>
            <a:off x="4522788" y="4391025"/>
            <a:ext cx="658812" cy="1258888"/>
          </a:xfrm>
          <a:prstGeom prst="rect">
            <a:avLst/>
          </a:prstGeom>
          <a:noFill/>
          <a:ln w="9525">
            <a:noFill/>
          </a:ln>
        </p:spPr>
      </p:pic>
      <p:sp>
        <p:nvSpPr>
          <p:cNvPr id="56332" name="AutoShape 20" descr="Railway Departure Stock Illustrations – 5,453 Railway Departure Stock  Illustrations, Vectors &amp; Clipart - Dreamstime"/>
          <p:cNvSpPr>
            <a:spLocks noChangeAspect="1"/>
          </p:cNvSpPr>
          <p:nvPr/>
        </p:nvSpPr>
        <p:spPr>
          <a:xfrm>
            <a:off x="1668463" y="-144462"/>
            <a:ext cx="304800" cy="304800"/>
          </a:xfrm>
          <a:prstGeom prst="rect">
            <a:avLst/>
          </a:prstGeom>
          <a:noFill/>
          <a:ln w="9525">
            <a:noFill/>
          </a:ln>
        </p:spPr>
        <p:txBody>
          <a:bodyPr/>
          <a:lstStyle/>
          <a:p>
            <a:pPr eaLnBrk="1" hangingPunct="1"/>
            <a:endParaRPr lang="en-IN" altLang="en-US" dirty="0">
              <a:latin typeface="Calibri" panose="020F0502020204030204" charset="0"/>
            </a:endParaRPr>
          </a:p>
        </p:txBody>
      </p:sp>
      <p:pic>
        <p:nvPicPr>
          <p:cNvPr id="56333" name="Picture 24" descr="Train station with billboard and banner light box scene illustration  template editable vector 15323996 Vector Art at Vecteezy"/>
          <p:cNvPicPr>
            <a:picLocks noChangeAspect="1"/>
          </p:cNvPicPr>
          <p:nvPr/>
        </p:nvPicPr>
        <p:blipFill>
          <a:blip r:embed="rId9"/>
          <a:stretch>
            <a:fillRect/>
          </a:stretch>
        </p:blipFill>
        <p:spPr>
          <a:xfrm>
            <a:off x="8659813" y="1784350"/>
            <a:ext cx="1855787" cy="1252538"/>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p:cNvSpPr>
            <a:spLocks noGrp="1"/>
          </p:cNvSpPr>
          <p:nvPr>
            <p:ph idx="1"/>
          </p:nvPr>
        </p:nvSpPr>
        <p:spPr>
          <a:xfrm>
            <a:off x="1638300" y="838200"/>
            <a:ext cx="8915400" cy="5562600"/>
          </a:xfrm>
        </p:spPr>
        <p:txBody>
          <a:bodyPr vert="horz" wrap="square" lIns="91440" tIns="45720" rIns="91440" bIns="45720" anchor="t" anchorCtr="0">
            <a:normAutofit/>
          </a:bodyPr>
          <a:lstStyle/>
          <a:p>
            <a:pPr marL="0" indent="0" eaLnBrk="1" hangingPunct="1">
              <a:buNone/>
            </a:pPr>
            <a:r>
              <a:rPr lang="en-US" altLang="en-US" b="1" dirty="0"/>
              <a:t>TRAIN PROBLEMS </a:t>
            </a:r>
            <a:endParaRPr lang="en-US" altLang="en-US" dirty="0"/>
          </a:p>
          <a:p>
            <a:pPr marL="0" indent="0" eaLnBrk="1" hangingPunct="1">
              <a:buNone/>
            </a:pPr>
            <a:r>
              <a:rPr lang="en-US" altLang="en-US" dirty="0"/>
              <a:t>Train problems broadly centre around the following three types. </a:t>
            </a:r>
          </a:p>
          <a:p>
            <a:pPr marL="0" indent="0" eaLnBrk="1" hangingPunct="1">
              <a:buNone/>
            </a:pPr>
            <a:r>
              <a:rPr lang="en-US" altLang="en-US" dirty="0"/>
              <a:t>L</a:t>
            </a:r>
            <a:r>
              <a:rPr lang="en-US" altLang="en-US" baseline="-25000" dirty="0"/>
              <a:t>t</a:t>
            </a:r>
            <a:r>
              <a:rPr lang="en-US" altLang="en-US" dirty="0"/>
              <a:t>= Length of the train</a:t>
            </a:r>
          </a:p>
          <a:p>
            <a:pPr marL="0" indent="0" eaLnBrk="1" hangingPunct="1">
              <a:buNone/>
            </a:pPr>
            <a:r>
              <a:rPr lang="en-US" altLang="en-US" dirty="0"/>
              <a:t>S = Speed of the train</a:t>
            </a:r>
          </a:p>
          <a:p>
            <a:pPr marL="0" indent="0" eaLnBrk="1" hangingPunct="1">
              <a:buNone/>
            </a:pPr>
            <a:r>
              <a:rPr lang="en-US" altLang="en-US" dirty="0"/>
              <a:t>T = Time taken</a:t>
            </a:r>
          </a:p>
          <a:p>
            <a:pPr marL="0" indent="0" eaLnBrk="1" hangingPunct="1">
              <a:buNone/>
            </a:pPr>
            <a:endParaRPr lang="en-US" altLang="en-US" dirty="0"/>
          </a:p>
          <a:p>
            <a:pPr marL="0" indent="0" eaLnBrk="1" hangingPunct="1">
              <a:buNone/>
            </a:pP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3440" y="350520"/>
            <a:ext cx="10500360" cy="5826760"/>
          </a:xfrm>
        </p:spPr>
        <p:txBody>
          <a:bodyPr>
            <a:noAutofit/>
          </a:bodyPr>
          <a:lstStyle/>
          <a:p>
            <a:pPr marL="0" indent="0" eaLnBrk="1" hangingPunct="1">
              <a:buNone/>
            </a:pPr>
            <a:r>
              <a:rPr lang="en-US" altLang="en-US" sz="2700" b="1" dirty="0">
                <a:sym typeface="+mn-ea"/>
              </a:rPr>
              <a:t>1. Length object crossing the point object</a:t>
            </a:r>
            <a:endParaRPr lang="en-US" altLang="en-US" sz="2700" b="1" dirty="0"/>
          </a:p>
          <a:p>
            <a:pPr marL="0" indent="0" eaLnBrk="1" hangingPunct="1">
              <a:buNone/>
            </a:pPr>
            <a:r>
              <a:rPr lang="en-US" altLang="en-US" sz="2700" dirty="0">
                <a:sym typeface="+mn-ea"/>
              </a:rPr>
              <a:t>Distance Travelled = Length of the train  	</a:t>
            </a:r>
            <a:endParaRPr lang="en-US" altLang="en-US" sz="2700" dirty="0"/>
          </a:p>
          <a:p>
            <a:pPr marL="0" indent="0" eaLnBrk="1" hangingPunct="1">
              <a:buNone/>
            </a:pPr>
            <a:r>
              <a:rPr lang="en-US" altLang="en-US" sz="2700" dirty="0">
                <a:sym typeface="+mn-ea"/>
              </a:rPr>
              <a:t>Time taken(T) = L</a:t>
            </a:r>
            <a:r>
              <a:rPr lang="en-US" altLang="en-US" sz="2700" baseline="-25000" dirty="0">
                <a:sym typeface="+mn-ea"/>
              </a:rPr>
              <a:t>t </a:t>
            </a:r>
            <a:r>
              <a:rPr lang="en-US" altLang="en-US" sz="2700" dirty="0">
                <a:sym typeface="+mn-ea"/>
              </a:rPr>
              <a:t>/ S</a:t>
            </a:r>
            <a:endParaRPr lang="en-US" altLang="en-US" sz="2700" dirty="0"/>
          </a:p>
          <a:p>
            <a:pPr marL="0" indent="0" eaLnBrk="1" hangingPunct="1">
              <a:buNone/>
            </a:pPr>
            <a:endParaRPr lang="en-US" altLang="en-US" sz="2700" b="1" dirty="0"/>
          </a:p>
          <a:p>
            <a:pPr marL="0" indent="0" eaLnBrk="1" hangingPunct="1">
              <a:buNone/>
            </a:pPr>
            <a:r>
              <a:rPr lang="en-US" altLang="en-US" sz="2700" b="1" dirty="0">
                <a:sym typeface="+mn-ea"/>
              </a:rPr>
              <a:t>2. Length object crossing the length object</a:t>
            </a:r>
            <a:endParaRPr lang="en-US" altLang="en-US" sz="2700" b="1" dirty="0"/>
          </a:p>
          <a:p>
            <a:pPr marL="0" indent="0" eaLnBrk="1" hangingPunct="1">
              <a:buNone/>
            </a:pPr>
            <a:r>
              <a:rPr lang="en-US" altLang="en-US" sz="2700" dirty="0">
                <a:sym typeface="+mn-ea"/>
              </a:rPr>
              <a:t>Distance Travelled = Length of train + length of object	</a:t>
            </a:r>
            <a:endParaRPr lang="en-US" altLang="en-US" sz="2700" dirty="0"/>
          </a:p>
          <a:p>
            <a:pPr marL="0" indent="0" eaLnBrk="1" hangingPunct="1">
              <a:buNone/>
            </a:pPr>
            <a:r>
              <a:rPr lang="en-US" altLang="en-US" sz="2700" dirty="0">
                <a:sym typeface="+mn-ea"/>
              </a:rPr>
              <a:t>		Time Taken  =  (L</a:t>
            </a:r>
            <a:r>
              <a:rPr lang="en-US" altLang="en-US" sz="2700" baseline="-25000" dirty="0">
                <a:sym typeface="+mn-ea"/>
              </a:rPr>
              <a:t>t</a:t>
            </a:r>
            <a:r>
              <a:rPr lang="en-US" altLang="en-US" sz="2700" dirty="0">
                <a:sym typeface="+mn-ea"/>
              </a:rPr>
              <a:t> + SL )/ S</a:t>
            </a:r>
            <a:endParaRPr lang="en-US" altLang="en-US" sz="2700" dirty="0"/>
          </a:p>
          <a:p>
            <a:pPr marL="0" indent="0" eaLnBrk="1" hangingPunct="1">
              <a:buNone/>
            </a:pPr>
            <a:endParaRPr lang="en-US" altLang="en-US" sz="2700" dirty="0"/>
          </a:p>
          <a:p>
            <a:pPr marL="0" indent="0" eaLnBrk="1" hangingPunct="1">
              <a:buNone/>
            </a:pPr>
            <a:r>
              <a:rPr lang="en-US" altLang="en-US" sz="2700" b="1" dirty="0">
                <a:sym typeface="+mn-ea"/>
              </a:rPr>
              <a:t>3. Length object crossing movable length object </a:t>
            </a:r>
            <a:endParaRPr lang="en-US" altLang="en-US" sz="2700" b="1" dirty="0"/>
          </a:p>
          <a:p>
            <a:pPr marL="0" indent="0" eaLnBrk="1" hangingPunct="1">
              <a:buNone/>
            </a:pPr>
            <a:r>
              <a:rPr lang="en-US" altLang="en-US" sz="2700" dirty="0">
                <a:sym typeface="+mn-ea"/>
              </a:rPr>
              <a:t>Distance Travelled = Length of train + length of object  Speed by which trains are moving = Relative Speed(S</a:t>
            </a:r>
            <a:r>
              <a:rPr lang="en-US" altLang="en-US" sz="2700" baseline="-25000" dirty="0">
                <a:sym typeface="+mn-ea"/>
              </a:rPr>
              <a:t>R</a:t>
            </a:r>
            <a:r>
              <a:rPr lang="en-US" altLang="en-US" sz="2700" dirty="0">
                <a:sym typeface="+mn-ea"/>
              </a:rPr>
              <a:t>) 	 </a:t>
            </a:r>
            <a:endParaRPr lang="en-US" altLang="en-US" sz="2700" dirty="0"/>
          </a:p>
          <a:p>
            <a:pPr marL="0" indent="0" eaLnBrk="1" hangingPunct="1">
              <a:buNone/>
            </a:pPr>
            <a:r>
              <a:rPr lang="en-US" altLang="en-US" sz="2700" dirty="0">
                <a:sym typeface="+mn-ea"/>
              </a:rPr>
              <a:t>		Time Taken =   (L</a:t>
            </a:r>
            <a:r>
              <a:rPr lang="en-US" altLang="en-US" sz="2700" baseline="-25000" dirty="0">
                <a:sym typeface="+mn-ea"/>
              </a:rPr>
              <a:t>t1</a:t>
            </a:r>
            <a:r>
              <a:rPr lang="en-US" altLang="en-US" sz="2700" dirty="0">
                <a:sym typeface="+mn-ea"/>
              </a:rPr>
              <a:t> + L</a:t>
            </a:r>
            <a:r>
              <a:rPr lang="en-US" altLang="en-US" sz="2700" baseline="-25000" dirty="0">
                <a:sym typeface="+mn-ea"/>
              </a:rPr>
              <a:t>t2</a:t>
            </a:r>
            <a:r>
              <a:rPr lang="en-US" altLang="en-US" sz="2700" dirty="0">
                <a:sym typeface="+mn-ea"/>
              </a:rPr>
              <a:t> )/S</a:t>
            </a:r>
            <a:r>
              <a:rPr lang="en-US" altLang="en-US" sz="2700" baseline="-25000" dirty="0">
                <a:sym typeface="+mn-ea"/>
              </a:rPr>
              <a:t>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812165"/>
            <a:ext cx="10500995" cy="536511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1) A </a:t>
            </a:r>
            <a:r>
              <a:rPr lang="en-US" noProof="0" dirty="0">
                <a:ln>
                  <a:noFill/>
                </a:ln>
                <a:effectLst/>
                <a:uLnTx/>
                <a:uFillTx/>
                <a:sym typeface="+mn-ea"/>
              </a:rPr>
              <a:t>train passes a station platform in 36 seconds and a man standing on the platform in 20 seconds. If the speed of the train is 54 km/</a:t>
            </a:r>
            <a:r>
              <a:rPr lang="en-US" noProof="0" dirty="0" err="1">
                <a:ln>
                  <a:noFill/>
                </a:ln>
                <a:effectLst/>
                <a:uLnTx/>
                <a:uFillTx/>
                <a:sym typeface="+mn-ea"/>
              </a:rPr>
              <a:t>hr</a:t>
            </a:r>
            <a:r>
              <a:rPr lang="en-US" noProof="0" dirty="0">
                <a:ln>
                  <a:noFill/>
                </a:ln>
                <a:effectLst/>
                <a:uLnTx/>
                <a:uFillTx/>
                <a:sym typeface="+mn-ea"/>
              </a:rPr>
              <a:t>, then what is the length of the platform?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200 m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240 m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300 m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864 m</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677545"/>
            <a:ext cx="10500995" cy="549973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2) Two </a:t>
            </a:r>
            <a:r>
              <a:rPr lang="en-US" noProof="0" dirty="0">
                <a:ln>
                  <a:noFill/>
                </a:ln>
                <a:effectLst/>
                <a:uLnTx/>
                <a:uFillTx/>
                <a:sym typeface="+mn-ea"/>
              </a:rPr>
              <a:t>trains are running In opposite direction with the same speed. If the length of each train is 135 meters and they cross each other in 18 seconds, the speed of each train is</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29 km/</a:t>
            </a:r>
            <a:r>
              <a:rPr lang="en-US" noProof="0" dirty="0" err="1">
                <a:ln>
                  <a:noFill/>
                </a:ln>
                <a:effectLst/>
                <a:uLnTx/>
                <a:uFillTx/>
                <a:sym typeface="+mn-ea"/>
              </a:rPr>
              <a:t>hr</a:t>
            </a:r>
            <a:r>
              <a:rPr lang="en-US" noProof="0" dirty="0">
                <a:ln>
                  <a:noFill/>
                </a:ln>
                <a:effectLst/>
                <a:uLnTx/>
                <a:uFillTx/>
                <a:sym typeface="+mn-ea"/>
              </a:rPr>
              <a:t>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35 km/</a:t>
            </a:r>
            <a:r>
              <a:rPr lang="en-US" noProof="0" dirty="0" err="1">
                <a:ln>
                  <a:noFill/>
                </a:ln>
                <a:effectLst/>
                <a:uLnTx/>
                <a:uFillTx/>
                <a:sym typeface="+mn-ea"/>
              </a:rPr>
              <a:t>hr</a:t>
            </a:r>
            <a:r>
              <a:rPr lang="en-US" noProof="0" dirty="0">
                <a:ln>
                  <a:noFill/>
                </a:ln>
                <a:effectLst/>
                <a:uLnTx/>
                <a:uFillTx/>
                <a:sym typeface="+mn-ea"/>
              </a:rPr>
              <a:t>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27 km/</a:t>
            </a:r>
            <a:r>
              <a:rPr lang="en-US" noProof="0" dirty="0" err="1">
                <a:ln>
                  <a:noFill/>
                </a:ln>
                <a:effectLst/>
                <a:uLnTx/>
                <a:uFillTx/>
                <a:sym typeface="+mn-ea"/>
              </a:rPr>
              <a:t>hr</a:t>
            </a:r>
            <a:r>
              <a:rPr lang="en-US" noProof="0" dirty="0">
                <a:ln>
                  <a:noFill/>
                </a:ln>
                <a:effectLst/>
                <a:uLnTx/>
                <a:uFillTx/>
                <a:sym typeface="+mn-ea"/>
              </a:rPr>
              <a:t>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54 km/</a:t>
            </a:r>
            <a:r>
              <a:rPr lang="en-US" noProof="0" dirty="0" err="1">
                <a:ln>
                  <a:noFill/>
                </a:ln>
                <a:effectLst/>
                <a:uLnTx/>
                <a:uFillTx/>
                <a:sym typeface="+mn-ea"/>
              </a:rPr>
              <a:t>hr</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8045" y="841375"/>
            <a:ext cx="10485755" cy="5335905"/>
          </a:xfrm>
        </p:spPr>
        <p:txBody>
          <a:bodyPr/>
          <a:lstStyle/>
          <a:p>
            <a:pPr marL="0" lvl="0" indent="0" algn="just" fontAlgn="t">
              <a:buNone/>
            </a:pPr>
            <a:r>
              <a:rPr lang="en-US" altLang="en-US" dirty="0">
                <a:solidFill>
                  <a:srgbClr val="000000"/>
                </a:solidFill>
                <a:sym typeface="+mn-ea"/>
              </a:rPr>
              <a:t>3) Two trains of lengths 210m and 180m respectively are running in opposite directions on parallel tracks. If their speeds be 50km/h and 58km/h respectively, in what time will they cross each other?</a:t>
            </a:r>
            <a:endParaRPr lang="en-US" altLang="en-US" dirty="0">
              <a:solidFill>
                <a:srgbClr val="000000"/>
              </a:solidFill>
              <a:latin typeface="+mn-lt"/>
            </a:endParaRPr>
          </a:p>
          <a:p>
            <a:pPr marL="0" lvl="0" indent="0" algn="just" fontAlgn="t">
              <a:buNone/>
            </a:pPr>
            <a:r>
              <a:rPr lang="en-US" altLang="en-US" dirty="0">
                <a:solidFill>
                  <a:srgbClr val="000000"/>
                </a:solidFill>
                <a:sym typeface="+mn-ea"/>
              </a:rPr>
              <a:t>a) 22sec 	</a:t>
            </a:r>
          </a:p>
          <a:p>
            <a:pPr marL="0" lvl="0" indent="0" algn="just" fontAlgn="t">
              <a:buNone/>
            </a:pPr>
            <a:r>
              <a:rPr lang="en-US" altLang="en-US" dirty="0">
                <a:solidFill>
                  <a:srgbClr val="000000"/>
                </a:solidFill>
                <a:sym typeface="+mn-ea"/>
              </a:rPr>
              <a:t>b) 15sec	 </a:t>
            </a:r>
          </a:p>
          <a:p>
            <a:pPr marL="0" lvl="0" indent="0" algn="just" fontAlgn="t">
              <a:buNone/>
            </a:pPr>
            <a:r>
              <a:rPr lang="en-US" altLang="en-US" dirty="0">
                <a:solidFill>
                  <a:srgbClr val="000000"/>
                </a:solidFill>
                <a:sym typeface="+mn-ea"/>
              </a:rPr>
              <a:t>c) 30sec 	</a:t>
            </a:r>
          </a:p>
          <a:p>
            <a:pPr marL="0" lvl="0" indent="0" algn="just" fontAlgn="t">
              <a:buNone/>
            </a:pPr>
            <a:r>
              <a:rPr lang="en-US" altLang="en-US" dirty="0">
                <a:solidFill>
                  <a:srgbClr val="000000"/>
                </a:solidFill>
                <a:sym typeface="+mn-ea"/>
              </a:rPr>
              <a:t>d) 13sec</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p:cNvSpPr>
          <p:nvPr>
            <p:ph idx="1"/>
          </p:nvPr>
        </p:nvSpPr>
        <p:spPr>
          <a:xfrm>
            <a:off x="982345" y="770255"/>
            <a:ext cx="9989820" cy="5218430"/>
          </a:xfrm>
        </p:spPr>
        <p:txBody>
          <a:bodyPr vert="horz" wrap="square" lIns="91440" tIns="45720" rIns="91440" bIns="45720" anchor="t" anchorCtr="0"/>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4) A </a:t>
            </a:r>
            <a:r>
              <a:rPr lang="en-US" noProof="0" dirty="0">
                <a:ln>
                  <a:noFill/>
                </a:ln>
                <a:effectLst/>
                <a:uLnTx/>
                <a:uFillTx/>
                <a:sym typeface="+mn-ea"/>
              </a:rPr>
              <a:t>train travelling at 42 km/h passes a runner in 9 seconds running in same direction and took 5 seconds in the opposite direction. Find the length of the train.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75 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100 m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84 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90 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endParaRPr lang="en-US" altLang="en-US" dirty="0">
              <a:latin typeface="Calibri (Body)" charset="0"/>
              <a:ea typeface="+mj-ea"/>
              <a:cs typeface="Calibri (Body)"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8355" y="767715"/>
            <a:ext cx="10545445" cy="5409565"/>
          </a:xfrm>
        </p:spPr>
        <p:txBody>
          <a:bodyPr/>
          <a:lstStyle/>
          <a:p>
            <a:pPr marL="0" lvl="0" indent="0" algn="just" fontAlgn="t">
              <a:buNone/>
            </a:pPr>
            <a:r>
              <a:rPr lang="en-US" altLang="en-US" dirty="0">
                <a:solidFill>
                  <a:srgbClr val="000000"/>
                </a:solidFill>
                <a:sym typeface="+mn-ea"/>
              </a:rPr>
              <a:t>5) Two trains start at the same time from Aligarh to Delhi and proceed towards each other at the rate of 14km/h and 21km/h respectively and meet each other when one has travelled 70 km more than the other. The distance between the two stations is</a:t>
            </a:r>
          </a:p>
          <a:p>
            <a:pPr marL="0" lvl="0" indent="0" algn="just" fontAlgn="t">
              <a:buNone/>
            </a:pPr>
            <a:endParaRPr lang="en-US" altLang="en-US" dirty="0">
              <a:solidFill>
                <a:srgbClr val="000000"/>
              </a:solidFill>
              <a:latin typeface="+mn-lt"/>
            </a:endParaRPr>
          </a:p>
          <a:p>
            <a:pPr marL="0" lvl="0" indent="0" algn="just" fontAlgn="t">
              <a:buNone/>
            </a:pPr>
            <a:r>
              <a:rPr lang="en-US" altLang="en-US" dirty="0">
                <a:solidFill>
                  <a:srgbClr val="000000"/>
                </a:solidFill>
                <a:sym typeface="+mn-ea"/>
              </a:rPr>
              <a:t>a. 350km 	</a:t>
            </a:r>
          </a:p>
          <a:p>
            <a:pPr marL="0" lvl="0" indent="0" algn="just" fontAlgn="t">
              <a:buNone/>
            </a:pPr>
            <a:r>
              <a:rPr lang="en-US" altLang="en-US" dirty="0">
                <a:solidFill>
                  <a:srgbClr val="000000"/>
                </a:solidFill>
                <a:sym typeface="+mn-ea"/>
              </a:rPr>
              <a:t>b) 210km 		</a:t>
            </a:r>
          </a:p>
          <a:p>
            <a:pPr marL="0" lvl="0" indent="0" algn="just" fontAlgn="t">
              <a:buNone/>
            </a:pPr>
            <a:r>
              <a:rPr lang="en-US" altLang="en-US" dirty="0">
                <a:solidFill>
                  <a:srgbClr val="000000"/>
                </a:solidFill>
                <a:sym typeface="+mn-ea"/>
              </a:rPr>
              <a:t>c) 300km		</a:t>
            </a:r>
          </a:p>
          <a:p>
            <a:pPr marL="0" lvl="0" indent="0" algn="just" fontAlgn="t">
              <a:buNone/>
            </a:pPr>
            <a:r>
              <a:rPr lang="en-US" altLang="en-US" dirty="0">
                <a:solidFill>
                  <a:srgbClr val="000000"/>
                </a:solidFill>
                <a:sym typeface="+mn-ea"/>
              </a:rPr>
              <a:t>d) 140km </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p:cNvSpPr>
            <a:spLocks noGrp="1"/>
          </p:cNvSpPr>
          <p:nvPr>
            <p:ph idx="1"/>
          </p:nvPr>
        </p:nvSpPr>
        <p:spPr>
          <a:xfrm>
            <a:off x="967105" y="711835"/>
            <a:ext cx="10241915" cy="5414645"/>
          </a:xfrm>
        </p:spPr>
        <p:txBody>
          <a:bodyPr vert="horz" wrap="square" lIns="91440" tIns="45720" rIns="91440" bIns="45720" anchor="t" anchorCtr="0"/>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6) A </a:t>
            </a:r>
            <a:r>
              <a:rPr lang="en-US" noProof="0" dirty="0">
                <a:ln>
                  <a:noFill/>
                </a:ln>
                <a:effectLst/>
                <a:uLnTx/>
                <a:uFillTx/>
                <a:sym typeface="+mn-ea"/>
              </a:rPr>
              <a:t>policeman starts chasing a thief who is 250 metres ahead of the policeman. If the policeman was able to catch the thief in 15 minutes and the speed of the thief is 8 km/h, find the distance travelled (in kilometres) by the policeman in 15 minutes.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1.5 km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 km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2.25 km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2.5 </a:t>
            </a:r>
            <a:r>
              <a:rPr lang="en-US" noProof="0" dirty="0" smtClean="0">
                <a:ln>
                  <a:noFill/>
                </a:ln>
                <a:effectLst/>
                <a:uLnTx/>
                <a:uFillTx/>
                <a:sym typeface="+mn-ea"/>
              </a:rPr>
              <a:t>km</a:t>
            </a: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7735" y="842645"/>
            <a:ext cx="10426065" cy="533463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7) A </a:t>
            </a:r>
            <a:r>
              <a:rPr lang="en-US" noProof="0" dirty="0">
                <a:ln>
                  <a:noFill/>
                </a:ln>
                <a:effectLst/>
                <a:uLnTx/>
                <a:uFillTx/>
                <a:sym typeface="+mn-ea"/>
              </a:rPr>
              <a:t>man standing on a railway platform notices that a train going in one direction takes 10 seconds to pass him and other train of the same length takes 15 seconds to pass him. Find the time taken by the two trains to cross each other when they are running in the opposite direction (all in seconds).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12</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14</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13.5</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smtClean="0">
                <a:ln>
                  <a:noFill/>
                </a:ln>
                <a:effectLst/>
                <a:uLnTx/>
                <a:uFillTx/>
                <a:sym typeface="+mn-ea"/>
              </a:rPr>
              <a:t>15</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3595" y="902335"/>
            <a:ext cx="10530205" cy="5274945"/>
          </a:xfrm>
        </p:spPr>
        <p:txBody>
          <a:bodyPr/>
          <a:lstStyle/>
          <a:p>
            <a:pPr marL="0" lvl="0" indent="0" algn="just" fontAlgn="t">
              <a:buNone/>
            </a:pPr>
            <a:r>
              <a:rPr lang="en-US" altLang="en-US" dirty="0">
                <a:solidFill>
                  <a:srgbClr val="000000"/>
                </a:solidFill>
                <a:sym typeface="+mn-ea"/>
              </a:rPr>
              <a:t>8) A jogger running at 9 km/</a:t>
            </a:r>
            <a:r>
              <a:rPr lang="en-US" altLang="en-US" dirty="0" err="1">
                <a:solidFill>
                  <a:srgbClr val="000000"/>
                </a:solidFill>
                <a:sym typeface="+mn-ea"/>
              </a:rPr>
              <a:t>hr</a:t>
            </a:r>
            <a:r>
              <a:rPr lang="en-US" altLang="en-US" dirty="0">
                <a:solidFill>
                  <a:srgbClr val="000000"/>
                </a:solidFill>
                <a:sym typeface="+mn-ea"/>
              </a:rPr>
              <a:t> along side a railway track is 260 m ahead of the engine of a 140 m long train running at 45 km/</a:t>
            </a:r>
            <a:r>
              <a:rPr lang="en-US" altLang="en-US" dirty="0" err="1">
                <a:solidFill>
                  <a:srgbClr val="000000"/>
                </a:solidFill>
                <a:sym typeface="+mn-ea"/>
              </a:rPr>
              <a:t>hr</a:t>
            </a:r>
            <a:r>
              <a:rPr lang="en-US" altLang="en-US" dirty="0">
                <a:solidFill>
                  <a:srgbClr val="000000"/>
                </a:solidFill>
                <a:sym typeface="+mn-ea"/>
              </a:rPr>
              <a:t> in the same direction. In how much time will the train pass the jogger ?</a:t>
            </a:r>
            <a:endParaRPr lang="en-US" altLang="en-US" dirty="0">
              <a:solidFill>
                <a:srgbClr val="000000"/>
              </a:solidFill>
              <a:latin typeface="+mn-lt"/>
            </a:endParaRPr>
          </a:p>
          <a:p>
            <a:pPr marL="0" lvl="0" indent="0" algn="just" fontAlgn="t">
              <a:buNone/>
            </a:pPr>
            <a:endParaRPr lang="en-US" altLang="en-US" dirty="0">
              <a:solidFill>
                <a:srgbClr val="000000"/>
              </a:solidFill>
              <a:sym typeface="+mn-ea"/>
            </a:endParaRPr>
          </a:p>
          <a:p>
            <a:pPr marL="0" lvl="0" indent="0" algn="just" fontAlgn="t">
              <a:buNone/>
            </a:pPr>
            <a:r>
              <a:rPr lang="en-US" altLang="en-US" dirty="0">
                <a:solidFill>
                  <a:srgbClr val="000000"/>
                </a:solidFill>
                <a:sym typeface="+mn-ea"/>
              </a:rPr>
              <a:t>A) 25 sec		</a:t>
            </a:r>
          </a:p>
          <a:p>
            <a:pPr marL="0" lvl="0" indent="0" algn="just" fontAlgn="t">
              <a:buNone/>
            </a:pPr>
            <a:r>
              <a:rPr lang="en-US" altLang="en-US" dirty="0">
                <a:solidFill>
                  <a:srgbClr val="000000"/>
                </a:solidFill>
                <a:sym typeface="+mn-ea"/>
              </a:rPr>
              <a:t>B) 40 sec		</a:t>
            </a:r>
          </a:p>
          <a:p>
            <a:pPr marL="0" lvl="0" indent="0" algn="just" fontAlgn="t">
              <a:buNone/>
            </a:pPr>
            <a:r>
              <a:rPr lang="en-US" altLang="en-US" dirty="0">
                <a:solidFill>
                  <a:srgbClr val="000000"/>
                </a:solidFill>
                <a:sym typeface="+mn-ea"/>
              </a:rPr>
              <a:t>C) 38 sec		</a:t>
            </a:r>
          </a:p>
          <a:p>
            <a:pPr marL="0" lvl="0" indent="0" algn="just" fontAlgn="t">
              <a:buNone/>
            </a:pPr>
            <a:r>
              <a:rPr lang="en-US" altLang="en-US" dirty="0">
                <a:solidFill>
                  <a:srgbClr val="000000"/>
                </a:solidFill>
                <a:sym typeface="+mn-ea"/>
              </a:rPr>
              <a:t>D) 32 sec</a:t>
            </a:r>
            <a:endParaRPr kumimoji="0" lang="en-US" altLang="en-US" b="0" i="0" u="none" strike="noStrike" cap="none" normalizeH="0" baseline="0" dirty="0">
              <a:ln>
                <a:noFill/>
              </a:ln>
              <a:solidFill>
                <a:schemeClr val="tx1"/>
              </a:solidFill>
              <a:effectLst/>
              <a:latin typeface="+mn-lt"/>
            </a:endParaRPr>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805" y="767715"/>
            <a:ext cx="10500995" cy="540956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9) A </a:t>
            </a:r>
            <a:r>
              <a:rPr lang="en-US" noProof="0" dirty="0">
                <a:ln>
                  <a:noFill/>
                </a:ln>
                <a:effectLst/>
                <a:uLnTx/>
                <a:uFillTx/>
                <a:sym typeface="+mn-ea"/>
              </a:rPr>
              <a:t>car travelling in fog passed a man walking at 3 km/h in the same direction. He could see the car for 4 minutes and up to a distance of 100 m. What is the speed of the car (all in km/h)?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40.5</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4.5</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1.5</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5.5</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3750" y="871855"/>
            <a:ext cx="10560050" cy="530542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10) A </a:t>
            </a:r>
            <a:r>
              <a:rPr lang="en-US" noProof="0" dirty="0">
                <a:ln>
                  <a:noFill/>
                </a:ln>
                <a:effectLst/>
                <a:uLnTx/>
                <a:uFillTx/>
                <a:sym typeface="+mn-ea"/>
              </a:rPr>
              <a:t>car travelled a distance of 600 km in 6 hours. The first part of the journey is covered with a speed of 70 km/h and the rest of the journey is covered with the speed of 120 km/h. The distance covered in the first part of the journey is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240 km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120 km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168 km</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None of </a:t>
            </a:r>
            <a:r>
              <a:rPr lang="en-US" noProof="0" dirty="0" smtClean="0">
                <a:ln>
                  <a:noFill/>
                </a:ln>
                <a:effectLst/>
                <a:uLnTx/>
                <a:uFillTx/>
                <a:sym typeface="+mn-ea"/>
              </a:rPr>
              <a:t>these</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2650" y="677545"/>
            <a:ext cx="10471150" cy="5499735"/>
          </a:xfrm>
        </p:spPr>
        <p: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11) Two </a:t>
            </a:r>
            <a:r>
              <a:rPr lang="en-US" noProof="0" dirty="0">
                <a:ln>
                  <a:noFill/>
                </a:ln>
                <a:effectLst/>
                <a:uLnTx/>
                <a:uFillTx/>
                <a:sym typeface="+mn-ea"/>
              </a:rPr>
              <a:t>trains of length 115 m and 110 m respectively run on parallel rails. When running in the same direction, the faster train passes the slower one in 25 seconds, but when they are running in opposite directions with the same speeds as earlier, they pass each other in 5 seconds. Find the speed of the faster train.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27 m/s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18 m/s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36 m/s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None of </a:t>
            </a:r>
            <a:r>
              <a:rPr lang="en-US" noProof="0" dirty="0" smtClean="0">
                <a:ln>
                  <a:noFill/>
                </a:ln>
                <a:effectLst/>
                <a:uLnTx/>
                <a:uFillTx/>
                <a:sym typeface="+mn-ea"/>
              </a:rPr>
              <a:t>these</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p:cNvSpPr>
            <a:spLocks noGrp="1"/>
          </p:cNvSpPr>
          <p:nvPr>
            <p:ph idx="1"/>
          </p:nvPr>
        </p:nvSpPr>
        <p:spPr>
          <a:xfrm>
            <a:off x="997585" y="670560"/>
            <a:ext cx="10256520" cy="5455920"/>
          </a:xfrm>
        </p:spPr>
        <p:txBody>
          <a:bodyPr vert="horz" wrap="square" lIns="91440" tIns="45720" rIns="91440" bIns="45720" anchor="t" anchorCtr="0"/>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noProof="0" dirty="0" smtClean="0">
                <a:ln>
                  <a:noFill/>
                </a:ln>
                <a:effectLst/>
                <a:uLnTx/>
                <a:uFillTx/>
                <a:sym typeface="+mn-ea"/>
              </a:rPr>
              <a:t>12) Two </a:t>
            </a:r>
            <a:r>
              <a:rPr lang="en-US" noProof="0" dirty="0">
                <a:ln>
                  <a:noFill/>
                </a:ln>
                <a:effectLst/>
                <a:uLnTx/>
                <a:uFillTx/>
                <a:sym typeface="+mn-ea"/>
              </a:rPr>
              <a:t>men start travelling in the opposite direction up to a point where the other started. If they take 13 minutes and 52 minutes respectively to reach the other end, after how much time (all in minutes) would they have met? </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39</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10.4</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26</a:t>
            </a:r>
            <a:endParaRPr kumimoji="0" lang="en-US"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anose="020B0604020202020204" pitchFamily="34" charset="0"/>
              <a:buAutoNum type="alphaLcParenR"/>
              <a:defRPr/>
            </a:pPr>
            <a:r>
              <a:rPr lang="en-US" noProof="0" dirty="0">
                <a:ln>
                  <a:noFill/>
                </a:ln>
                <a:effectLst/>
                <a:uLnTx/>
                <a:uFillTx/>
                <a:sym typeface="+mn-ea"/>
              </a:rPr>
              <a:t>Cannot </a:t>
            </a:r>
            <a:r>
              <a:rPr lang="en-US" noProof="0" dirty="0" smtClean="0">
                <a:ln>
                  <a:noFill/>
                </a:ln>
                <a:effectLst/>
                <a:uLnTx/>
                <a:uFillTx/>
                <a:sym typeface="+mn-ea"/>
              </a:rPr>
              <a:t>say</a:t>
            </a: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7405"/>
            <a:ext cx="10515600" cy="5349875"/>
          </a:xfrm>
        </p:spPr>
        <p:txBody>
          <a:bodyPr>
            <a:normAutofit lnSpcReduction="20000"/>
          </a:bodyPr>
          <a:lstStyle/>
          <a:p>
            <a:pPr marL="0" lvl="0" indent="0" algn="just" fontAlgn="t">
              <a:buNone/>
            </a:pPr>
            <a:r>
              <a:rPr lang="en-US" altLang="en-US" dirty="0">
                <a:solidFill>
                  <a:srgbClr val="000000"/>
                </a:solidFill>
                <a:sym typeface="+mn-ea"/>
              </a:rPr>
              <a:t>13) Two trains are running on a parallel line in same direction at a speed of 50 kmph and 30 kmph respectively. Given that the faster train crosses a man in the slower train in 18 sec, what is the length of the faster train?</a:t>
            </a:r>
          </a:p>
          <a:p>
            <a:pPr marL="0" lvl="0" indent="0" algn="just" fontAlgn="t">
              <a:buNone/>
            </a:pPr>
            <a:endParaRPr lang="en-US" altLang="en-US" dirty="0">
              <a:solidFill>
                <a:srgbClr val="000000"/>
              </a:solidFill>
              <a:latin typeface="+mn-lt"/>
            </a:endParaRPr>
          </a:p>
          <a:p>
            <a:pPr marL="0" lvl="0" indent="0" algn="just" fontAlgn="t">
              <a:buNone/>
            </a:pPr>
            <a:r>
              <a:rPr lang="en-US" altLang="en-US" dirty="0">
                <a:solidFill>
                  <a:srgbClr val="000000"/>
                </a:solidFill>
                <a:sym typeface="+mn-ea"/>
              </a:rPr>
              <a:t>a. 80 m 	</a:t>
            </a:r>
          </a:p>
          <a:p>
            <a:pPr marL="0" lvl="0" indent="0" algn="just" fontAlgn="t">
              <a:buNone/>
            </a:pPr>
            <a:r>
              <a:rPr lang="en-US" altLang="en-US" dirty="0">
                <a:solidFill>
                  <a:srgbClr val="000000"/>
                </a:solidFill>
                <a:sym typeface="+mn-ea"/>
              </a:rPr>
              <a:t>b. 92 m 	</a:t>
            </a:r>
          </a:p>
          <a:p>
            <a:pPr marL="0" lvl="0" indent="0" algn="just" fontAlgn="t">
              <a:buNone/>
            </a:pPr>
            <a:r>
              <a:rPr lang="en-US" altLang="en-US" dirty="0">
                <a:solidFill>
                  <a:srgbClr val="000000"/>
                </a:solidFill>
                <a:sym typeface="+mn-ea"/>
              </a:rPr>
              <a:t>c. 100 m 	</a:t>
            </a:r>
          </a:p>
          <a:p>
            <a:pPr marL="0" lvl="0" indent="0" algn="just" fontAlgn="t">
              <a:buNone/>
            </a:pPr>
            <a:r>
              <a:rPr lang="en-US" altLang="en-US" dirty="0">
                <a:solidFill>
                  <a:srgbClr val="000000"/>
                </a:solidFill>
                <a:sym typeface="+mn-ea"/>
              </a:rPr>
              <a:t>d. 120 m </a:t>
            </a:r>
            <a:endParaRPr lang="en-US" altLang="en-US" noProof="0" dirty="0">
              <a:ln>
                <a:noFill/>
              </a:ln>
              <a:solidFill>
                <a:schemeClr val="tx1"/>
              </a:solidFill>
              <a:effectLst/>
              <a:uLnTx/>
              <a:uFillTx/>
              <a:latin typeface="Arial" panose="020B0604020202020204" pitchFamily="34" charset="0"/>
              <a:cs typeface="Arial" panose="020B0604020202020204" pitchFamily="34"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p:cNvPicPr>
          <p:nvPr/>
        </p:nvPicPr>
        <p:blipFill>
          <a:blip r:embed="rId2"/>
          <a:stretch>
            <a:fillRect/>
          </a:stretch>
        </p:blipFill>
        <p:spPr>
          <a:xfrm>
            <a:off x="2208213" y="981075"/>
            <a:ext cx="7883525" cy="4846638"/>
          </a:xfrm>
          <a:prstGeom prst="rect">
            <a:avLst/>
          </a:prstGeom>
          <a:noFill/>
          <a:ln w="9525">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800</Words>
  <Application>Microsoft Office PowerPoint</Application>
  <PresentationFormat>Custom</PresentationFormat>
  <Paragraphs>134</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 </vt:lpstr>
      <vt:lpstr>PowerPoint Presentation</vt:lpstr>
      <vt:lpstr>PowerPoint Presentation</vt:lpstr>
      <vt:lpstr>Point Object and Length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 516 LECTURE-1 Time and Work </dc:title>
  <dc:creator/>
  <cp:lastModifiedBy>rahul</cp:lastModifiedBy>
  <cp:revision>29</cp:revision>
  <dcterms:created xsi:type="dcterms:W3CDTF">2025-01-03T10:26:00Z</dcterms:created>
  <dcterms:modified xsi:type="dcterms:W3CDTF">2025-01-12T05:14:44Z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C7455BE7D95F46A7B59DA7665120D117_11</vt:lpwstr>
  </property>
  <property fmtid="{D5CDD505-2E9C-101B-9397-08002B2CF9AE}" pid="3" name="KSOProductBuildVer">
    <vt:lpwstr>1033-12.2.0.19307</vt:lpwstr>
  </property>
</Properties>
</file>