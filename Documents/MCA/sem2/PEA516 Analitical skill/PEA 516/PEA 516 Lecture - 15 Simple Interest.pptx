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5" r:id="rId1"/>
  </p:sldMasterIdLst>
  <p:sldIdLst>
    <p:sldId id="319" r:id="rId2"/>
    <p:sldId id="320" r:id="rId3"/>
    <p:sldId id="321" r:id="rId4"/>
    <p:sldId id="322" r:id="rId5"/>
    <p:sldId id="323" r:id="rId6"/>
    <p:sldId id="324" r:id="rId7"/>
    <p:sldId id="325" r:id="rId8"/>
    <p:sldId id="329" r:id="rId9"/>
    <p:sldId id="340" r:id="rId10"/>
    <p:sldId id="341" r:id="rId11"/>
    <p:sldId id="346" r:id="rId12"/>
    <p:sldId id="342" r:id="rId13"/>
    <p:sldId id="343" r:id="rId14"/>
    <p:sldId id="344" r:id="rId15"/>
    <p:sldId id="345" r:id="rId16"/>
    <p:sldId id="326" r:id="rId17"/>
    <p:sldId id="327" r:id="rId18"/>
    <p:sldId id="330" r:id="rId19"/>
    <p:sldId id="356" r:id="rId2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mn-ea"/>
        <a:cs typeface="Arial" charset="0"/>
      </a:defRPr>
    </a:lvl1pPr>
    <a:lvl2pPr marL="457200" algn="l" defTabSz="457200" rtl="0" fontAlgn="base">
      <a:spcBef>
        <a:spcPct val="0"/>
      </a:spcBef>
      <a:spcAft>
        <a:spcPct val="0"/>
      </a:spcAft>
      <a:defRPr kern="1200">
        <a:solidFill>
          <a:schemeClr val="tx1"/>
        </a:solidFill>
        <a:latin typeface="Calibri" pitchFamily="34" charset="0"/>
        <a:ea typeface="+mn-ea"/>
        <a:cs typeface="Arial" charset="0"/>
      </a:defRPr>
    </a:lvl2pPr>
    <a:lvl3pPr marL="914400" algn="l" defTabSz="457200" rtl="0" fontAlgn="base">
      <a:spcBef>
        <a:spcPct val="0"/>
      </a:spcBef>
      <a:spcAft>
        <a:spcPct val="0"/>
      </a:spcAft>
      <a:defRPr kern="1200">
        <a:solidFill>
          <a:schemeClr val="tx1"/>
        </a:solidFill>
        <a:latin typeface="Calibri" pitchFamily="34" charset="0"/>
        <a:ea typeface="+mn-ea"/>
        <a:cs typeface="Arial" charset="0"/>
      </a:defRPr>
    </a:lvl3pPr>
    <a:lvl4pPr marL="1371600" algn="l" defTabSz="457200" rtl="0" fontAlgn="base">
      <a:spcBef>
        <a:spcPct val="0"/>
      </a:spcBef>
      <a:spcAft>
        <a:spcPct val="0"/>
      </a:spcAft>
      <a:defRPr kern="1200">
        <a:solidFill>
          <a:schemeClr val="tx1"/>
        </a:solidFill>
        <a:latin typeface="Calibri" pitchFamily="34" charset="0"/>
        <a:ea typeface="+mn-ea"/>
        <a:cs typeface="Arial" charset="0"/>
      </a:defRPr>
    </a:lvl4pPr>
    <a:lvl5pPr marL="1828800" algn="l" defTabSz="457200"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xmlns="">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9" autoAdjust="0"/>
    <p:restoredTop sz="94660" autoAdjust="0"/>
  </p:normalViewPr>
  <p:slideViewPr>
    <p:cSldViewPr snapToGrid="0">
      <p:cViewPr>
        <p:scale>
          <a:sx n="81" d="100"/>
          <a:sy n="81" d="100"/>
        </p:scale>
        <p:origin x="-1068" y="-36"/>
      </p:cViewPr>
      <p:guideLst>
        <p:guide orient="horz" pos="2160"/>
        <p:guide pos="2880"/>
      </p:guideLst>
    </p:cSldViewPr>
  </p:slideViewPr>
  <p:outlineViewPr>
    <p:cViewPr>
      <p:scale>
        <a:sx n="33" d="100"/>
        <a:sy n="33" d="100"/>
      </p:scale>
      <p:origin x="0" y="220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Raj" userId="14d70dd8ca596344" providerId="LiveId" clId="{C12C0748-4E69-4B8D-ACB3-360334258938}"/>
    <pc:docChg chg="undo custSel addSld delSld modSld">
      <pc:chgData name="Abhishek Raj" userId="14d70dd8ca596344" providerId="LiveId" clId="{C12C0748-4E69-4B8D-ACB3-360334258938}" dt="2025-01-07T08:42:57.272" v="168" actId="47"/>
      <pc:docMkLst>
        <pc:docMk/>
      </pc:docMkLst>
      <pc:sldChg chg="modSp mod">
        <pc:chgData name="Abhishek Raj" userId="14d70dd8ca596344" providerId="LiveId" clId="{C12C0748-4E69-4B8D-ACB3-360334258938}" dt="2025-01-07T08:42:23.745" v="142" actId="1076"/>
        <pc:sldMkLst>
          <pc:docMk/>
          <pc:sldMk cId="0" sldId="319"/>
        </pc:sldMkLst>
        <pc:spChg chg="mod">
          <ac:chgData name="Abhishek Raj" userId="14d70dd8ca596344" providerId="LiveId" clId="{C12C0748-4E69-4B8D-ACB3-360334258938}" dt="2025-01-07T08:42:23.745" v="142" actId="1076"/>
          <ac:spMkLst>
            <pc:docMk/>
            <pc:sldMk cId="0" sldId="319"/>
            <ac:spMk id="5" creationId="{00000000-0000-0000-0000-000000000000}"/>
          </ac:spMkLst>
        </pc:spChg>
        <pc:picChg chg="mod">
          <ac:chgData name="Abhishek Raj" userId="14d70dd8ca596344" providerId="LiveId" clId="{C12C0748-4E69-4B8D-ACB3-360334258938}" dt="2025-01-07T08:41:21.100" v="0" actId="1076"/>
          <ac:picMkLst>
            <pc:docMk/>
            <pc:sldMk cId="0" sldId="319"/>
            <ac:picMk id="4" creationId="{00000000-0000-0000-0000-000000000000}"/>
          </ac:picMkLst>
        </pc:picChg>
      </pc:sldChg>
      <pc:sldChg chg="add del">
        <pc:chgData name="Abhishek Raj" userId="14d70dd8ca596344" providerId="LiveId" clId="{C12C0748-4E69-4B8D-ACB3-360334258938}" dt="2025-01-07T08:42:55.920" v="165" actId="47"/>
        <pc:sldMkLst>
          <pc:docMk/>
          <pc:sldMk cId="0" sldId="326"/>
        </pc:sldMkLst>
      </pc:sldChg>
      <pc:sldChg chg="add del">
        <pc:chgData name="Abhishek Raj" userId="14d70dd8ca596344" providerId="LiveId" clId="{C12C0748-4E69-4B8D-ACB3-360334258938}" dt="2025-01-07T08:42:56.264" v="166" actId="47"/>
        <pc:sldMkLst>
          <pc:docMk/>
          <pc:sldMk cId="0" sldId="327"/>
        </pc:sldMkLst>
      </pc:sldChg>
      <pc:sldChg chg="add del">
        <pc:chgData name="Abhishek Raj" userId="14d70dd8ca596344" providerId="LiveId" clId="{C12C0748-4E69-4B8D-ACB3-360334258938}" dt="2025-01-07T08:42:56.641" v="167" actId="47"/>
        <pc:sldMkLst>
          <pc:docMk/>
          <pc:sldMk cId="0" sldId="330"/>
        </pc:sldMkLst>
      </pc:sldChg>
      <pc:sldChg chg="del">
        <pc:chgData name="Abhishek Raj" userId="14d70dd8ca596344" providerId="LiveId" clId="{C12C0748-4E69-4B8D-ACB3-360334258938}" dt="2025-01-07T08:42:45.742" v="144" actId="47"/>
        <pc:sldMkLst>
          <pc:docMk/>
          <pc:sldMk cId="0" sldId="331"/>
        </pc:sldMkLst>
      </pc:sldChg>
      <pc:sldChg chg="del">
        <pc:chgData name="Abhishek Raj" userId="14d70dd8ca596344" providerId="LiveId" clId="{C12C0748-4E69-4B8D-ACB3-360334258938}" dt="2025-01-07T08:42:45.908" v="145" actId="47"/>
        <pc:sldMkLst>
          <pc:docMk/>
          <pc:sldMk cId="0" sldId="332"/>
        </pc:sldMkLst>
      </pc:sldChg>
      <pc:sldChg chg="del">
        <pc:chgData name="Abhishek Raj" userId="14d70dd8ca596344" providerId="LiveId" clId="{C12C0748-4E69-4B8D-ACB3-360334258938}" dt="2025-01-07T08:42:44.985" v="143" actId="47"/>
        <pc:sldMkLst>
          <pc:docMk/>
          <pc:sldMk cId="0" sldId="333"/>
        </pc:sldMkLst>
      </pc:sldChg>
      <pc:sldChg chg="del">
        <pc:chgData name="Abhishek Raj" userId="14d70dd8ca596344" providerId="LiveId" clId="{C12C0748-4E69-4B8D-ACB3-360334258938}" dt="2025-01-07T08:42:46.360" v="146" actId="47"/>
        <pc:sldMkLst>
          <pc:docMk/>
          <pc:sldMk cId="0" sldId="334"/>
        </pc:sldMkLst>
      </pc:sldChg>
      <pc:sldChg chg="del">
        <pc:chgData name="Abhishek Raj" userId="14d70dd8ca596344" providerId="LiveId" clId="{C12C0748-4E69-4B8D-ACB3-360334258938}" dt="2025-01-07T08:42:46.872" v="149" actId="47"/>
        <pc:sldMkLst>
          <pc:docMk/>
          <pc:sldMk cId="0" sldId="335"/>
        </pc:sldMkLst>
      </pc:sldChg>
      <pc:sldChg chg="del">
        <pc:chgData name="Abhishek Raj" userId="14d70dd8ca596344" providerId="LiveId" clId="{C12C0748-4E69-4B8D-ACB3-360334258938}" dt="2025-01-07T08:42:48.601" v="157" actId="47"/>
        <pc:sldMkLst>
          <pc:docMk/>
          <pc:sldMk cId="3533200179" sldId="336"/>
        </pc:sldMkLst>
      </pc:sldChg>
      <pc:sldChg chg="del">
        <pc:chgData name="Abhishek Raj" userId="14d70dd8ca596344" providerId="LiveId" clId="{C12C0748-4E69-4B8D-ACB3-360334258938}" dt="2025-01-07T08:42:48.346" v="156" actId="47"/>
        <pc:sldMkLst>
          <pc:docMk/>
          <pc:sldMk cId="0" sldId="337"/>
        </pc:sldMkLst>
      </pc:sldChg>
      <pc:sldChg chg="del">
        <pc:chgData name="Abhishek Raj" userId="14d70dd8ca596344" providerId="LiveId" clId="{C12C0748-4E69-4B8D-ACB3-360334258938}" dt="2025-01-07T08:42:48.070" v="155" actId="47"/>
        <pc:sldMkLst>
          <pc:docMk/>
          <pc:sldMk cId="0" sldId="338"/>
        </pc:sldMkLst>
      </pc:sldChg>
      <pc:sldChg chg="del">
        <pc:chgData name="Abhishek Raj" userId="14d70dd8ca596344" providerId="LiveId" clId="{C12C0748-4E69-4B8D-ACB3-360334258938}" dt="2025-01-07T08:42:47.668" v="154" actId="47"/>
        <pc:sldMkLst>
          <pc:docMk/>
          <pc:sldMk cId="0" sldId="339"/>
        </pc:sldMkLst>
      </pc:sldChg>
      <pc:sldChg chg="del">
        <pc:chgData name="Abhishek Raj" userId="14d70dd8ca596344" providerId="LiveId" clId="{C12C0748-4E69-4B8D-ACB3-360334258938}" dt="2025-01-07T08:42:46.581" v="147" actId="47"/>
        <pc:sldMkLst>
          <pc:docMk/>
          <pc:sldMk cId="2702623516" sldId="347"/>
        </pc:sldMkLst>
      </pc:sldChg>
      <pc:sldChg chg="del">
        <pc:chgData name="Abhishek Raj" userId="14d70dd8ca596344" providerId="LiveId" clId="{C12C0748-4E69-4B8D-ACB3-360334258938}" dt="2025-01-07T08:42:46.753" v="148" actId="47"/>
        <pc:sldMkLst>
          <pc:docMk/>
          <pc:sldMk cId="345677432" sldId="348"/>
        </pc:sldMkLst>
      </pc:sldChg>
      <pc:sldChg chg="del">
        <pc:chgData name="Abhishek Raj" userId="14d70dd8ca596344" providerId="LiveId" clId="{C12C0748-4E69-4B8D-ACB3-360334258938}" dt="2025-01-07T08:42:47.023" v="150" actId="47"/>
        <pc:sldMkLst>
          <pc:docMk/>
          <pc:sldMk cId="1197444958" sldId="349"/>
        </pc:sldMkLst>
      </pc:sldChg>
      <pc:sldChg chg="del">
        <pc:chgData name="Abhishek Raj" userId="14d70dd8ca596344" providerId="LiveId" clId="{C12C0748-4E69-4B8D-ACB3-360334258938}" dt="2025-01-07T08:42:47.093" v="151" actId="47"/>
        <pc:sldMkLst>
          <pc:docMk/>
          <pc:sldMk cId="1591170136" sldId="350"/>
        </pc:sldMkLst>
      </pc:sldChg>
      <pc:sldChg chg="del">
        <pc:chgData name="Abhishek Raj" userId="14d70dd8ca596344" providerId="LiveId" clId="{C12C0748-4E69-4B8D-ACB3-360334258938}" dt="2025-01-07T08:42:49.412" v="159" actId="47"/>
        <pc:sldMkLst>
          <pc:docMk/>
          <pc:sldMk cId="1406176107" sldId="351"/>
        </pc:sldMkLst>
      </pc:sldChg>
      <pc:sldChg chg="del">
        <pc:chgData name="Abhishek Raj" userId="14d70dd8ca596344" providerId="LiveId" clId="{C12C0748-4E69-4B8D-ACB3-360334258938}" dt="2025-01-07T08:42:49.683" v="160" actId="47"/>
        <pc:sldMkLst>
          <pc:docMk/>
          <pc:sldMk cId="290379039" sldId="352"/>
        </pc:sldMkLst>
      </pc:sldChg>
      <pc:sldChg chg="del">
        <pc:chgData name="Abhishek Raj" userId="14d70dd8ca596344" providerId="LiveId" clId="{C12C0748-4E69-4B8D-ACB3-360334258938}" dt="2025-01-07T08:42:47.217" v="152" actId="47"/>
        <pc:sldMkLst>
          <pc:docMk/>
          <pc:sldMk cId="3121114083" sldId="353"/>
        </pc:sldMkLst>
      </pc:sldChg>
      <pc:sldChg chg="del">
        <pc:chgData name="Abhishek Raj" userId="14d70dd8ca596344" providerId="LiveId" clId="{C12C0748-4E69-4B8D-ACB3-360334258938}" dt="2025-01-07T08:42:47.360" v="153" actId="47"/>
        <pc:sldMkLst>
          <pc:docMk/>
          <pc:sldMk cId="1233699207" sldId="354"/>
        </pc:sldMkLst>
      </pc:sldChg>
      <pc:sldChg chg="del">
        <pc:chgData name="Abhishek Raj" userId="14d70dd8ca596344" providerId="LiveId" clId="{C12C0748-4E69-4B8D-ACB3-360334258938}" dt="2025-01-07T08:42:49.035" v="158" actId="47"/>
        <pc:sldMkLst>
          <pc:docMk/>
          <pc:sldMk cId="3361784953" sldId="355"/>
        </pc:sldMkLst>
      </pc:sldChg>
      <pc:sldChg chg="add del">
        <pc:chgData name="Abhishek Raj" userId="14d70dd8ca596344" providerId="LiveId" clId="{C12C0748-4E69-4B8D-ACB3-360334258938}" dt="2025-01-07T08:42:57.272" v="168" actId="47"/>
        <pc:sldMkLst>
          <pc:docMk/>
          <pc:sldMk cId="1986177587" sldId="35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1"/>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C8EA1980-4576-4AF0-B9EB-9D150046AAAE}" type="datetimeFigureOut">
              <a:rPr lang="en-US" smtClean="0"/>
              <a:pPr>
                <a:defRPr/>
              </a:pPr>
              <a:t>12-Jan-25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2488608-87EF-4FD0-9C7B-D2B526DC946A}" type="slidenum">
              <a:rPr lang="en-US" smtClean="0"/>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42B5770D-423E-4CBB-B0F4-07D6A3FA965D}" type="datetimeFigureOut">
              <a:rPr lang="en-US" smtClean="0"/>
              <a:pPr>
                <a:defRPr/>
              </a:pPr>
              <a:t>12-Jan-25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39E4BAF-1EEA-4D5B-8298-78DEAA6617CF}"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4E29D0CD-93FD-4AA7-A016-11FDE00CBCE3}" type="datetimeFigureOut">
              <a:rPr lang="en-US" smtClean="0"/>
              <a:pPr>
                <a:defRPr/>
              </a:pPr>
              <a:t>12-Jan-25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92C3F9B-929C-4111-A0CE-3F26E474177C}" type="slidenum">
              <a:rPr lang="en-US" smtClean="0"/>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4102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600206"/>
            <a:ext cx="54102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BAF96DC0-12FC-4A3B-86A2-861216B55270}" type="datetimeFigureOut">
              <a:rPr lang="en-US" smtClean="0"/>
              <a:pPr>
                <a:defRPr/>
              </a:pPr>
              <a:t>12-Jan-25</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2021CE6-14E7-47F0-9D6C-7DBF25914FBB}" type="slidenum">
              <a:rPr lang="en-US" smtClean="0"/>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B343F61E-9280-4CC2-90AE-A6278023B723}" type="datetimeFigureOut">
              <a:rPr lang="en-US" smtClean="0"/>
              <a:pPr>
                <a:defRPr/>
              </a:pPr>
              <a:t>12-Jan-25</a:t>
            </a:fld>
            <a:endParaRPr lang="en-US" dirty="0"/>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E47016E0-0916-4C8E-9815-34F28E5FDDC5}" type="slidenum">
              <a:rPr lang="en-US" smtClean="0"/>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022408D7-7DF0-44B4-BF3D-1B5DF5DD0E8C}" type="datetimeFigureOut">
              <a:rPr lang="en-US" smtClean="0"/>
              <a:pPr>
                <a:defRPr/>
              </a:pPr>
              <a:t>12-Jan-25</a:t>
            </a:fld>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2B91AF88-6C98-4A79-A308-5E45955A4284}" type="slidenum">
              <a:rPr lang="en-US" smtClean="0"/>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ECE38901-650A-4FEC-955B-5AA7D4685A03}" type="datetimeFigureOut">
              <a:rPr lang="en-US" smtClean="0"/>
              <a:pPr>
                <a:defRPr/>
              </a:pPr>
              <a:t>12-Jan-25</a:t>
            </a:fld>
            <a:endParaRPr lang="en-US" dirty="0"/>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1CB85EBC-5A3E-4AD1-9442-EE6512C40276}"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6"/>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B5941EA2-F28E-4E7C-B022-8BD180DD6A5D}" type="datetimeFigureOut">
              <a:rPr lang="en-US" smtClean="0"/>
              <a:pPr>
                <a:defRPr/>
              </a:pPr>
              <a:t>12-Jan-25</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4CF9356-E354-4E51-8A99-93889361556D}" type="slidenum">
              <a:rPr lang="en-US" smtClean="0"/>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260AD76-F1EF-4CA7-8DA5-41EDDEF49BFA}" type="datetimeFigureOut">
              <a:rPr lang="en-US" smtClean="0"/>
              <a:pPr>
                <a:defRPr/>
              </a:pPr>
              <a:t>12-Jan-25</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F1039B5-D9E5-48B1-8EB9-A0CB9A3C637C}" type="slidenum">
              <a:rPr lang="en-US" smtClean="0"/>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7F901BE7-9EF2-4B54-9700-87EE46A6EDB6}" type="datetimeFigureOut">
              <a:rPr lang="en-US" smtClean="0"/>
              <a:pPr>
                <a:defRPr/>
              </a:pPr>
              <a:t>12-Jan-25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5EF5A10-F259-42E8-9DB1-4ABC256F1EC3}"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4"/>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4"/>
            <a:ext cx="80772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794AD406-2DF7-4414-BD58-578652F71040}" type="datetimeFigureOut">
              <a:rPr lang="en-US" smtClean="0"/>
              <a:pPr>
                <a:defRPr/>
              </a:pPr>
              <a:t>12-Jan-25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7C1AC12-7156-4DE9-B40E-F139687ADB57}"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6"/>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D89E7E20-1E5D-4609-83B3-4ECE2E5358EA}" type="datetimeFigureOut">
              <a:rPr lang="en-US" smtClean="0"/>
              <a:pPr>
                <a:defRPr/>
              </a:pPr>
              <a:t>12-Jan-25</a:t>
            </a:fld>
            <a:endParaRPr lang="en-US" dirty="0"/>
          </a:p>
        </p:txBody>
      </p:sp>
      <p:sp>
        <p:nvSpPr>
          <p:cNvPr id="5" name="Footer Placeholder 4"/>
          <p:cNvSpPr>
            <a:spLocks noGrp="1"/>
          </p:cNvSpPr>
          <p:nvPr>
            <p:ph type="ftr" sz="quarter" idx="3"/>
          </p:nvPr>
        </p:nvSpPr>
        <p:spPr>
          <a:xfrm>
            <a:off x="3124200" y="6356356"/>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6"/>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2F055209-94DC-4E84-9BFB-2684EB00D314}" type="slidenum">
              <a:rPr lang="en-US" smtClean="0"/>
              <a:pPr>
                <a:defRPr/>
              </a:pPr>
              <a:t>‹#›</a:t>
            </a:fld>
            <a:endParaRPr lang="en-US" dirty="0"/>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9124950" cy="866775"/>
          </a:xfrm>
          <a:prstGeom prst="rect">
            <a:avLst/>
          </a:prstGeom>
        </p:spPr>
      </p:pic>
    </p:spTree>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encrypted-tbn1.gstatic.com/images?q=tbn:ANd9GcRt12VpKN4hgDcd3EA-xsXom5o8VA7nCFE5-cIPiPbzwteOHBuMag"/>
          <p:cNvPicPr>
            <a:picLocks noChangeAspect="1" noChangeArrowheads="1"/>
          </p:cNvPicPr>
          <p:nvPr/>
        </p:nvPicPr>
        <p:blipFill>
          <a:blip r:embed="rId2"/>
          <a:srcRect/>
          <a:stretch>
            <a:fillRect/>
          </a:stretch>
        </p:blipFill>
        <p:spPr bwMode="auto">
          <a:xfrm rot="724854">
            <a:off x="587084" y="3317165"/>
            <a:ext cx="2686050" cy="3578828"/>
          </a:xfrm>
          <a:prstGeom prst="rect">
            <a:avLst/>
          </a:prstGeom>
          <a:noFill/>
          <a:ln w="9525">
            <a:noFill/>
            <a:miter lim="800000"/>
            <a:headEnd/>
            <a:tailEnd/>
          </a:ln>
        </p:spPr>
      </p:pic>
      <p:sp>
        <p:nvSpPr>
          <p:cNvPr id="5" name="TextBox 4"/>
          <p:cNvSpPr txBox="1"/>
          <p:nvPr/>
        </p:nvSpPr>
        <p:spPr>
          <a:xfrm>
            <a:off x="697665" y="813551"/>
            <a:ext cx="7748669" cy="2262158"/>
          </a:xfrm>
          <a:prstGeom prst="rect">
            <a:avLst/>
          </a:prstGeom>
          <a:ln w="38100"/>
          <a:effectLst>
            <a:outerShdw blurRad="50800" dist="38100" dir="18900000" algn="bl"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endParaRPr lang="en-US" sz="3300" b="1" i="1" dirty="0">
              <a:solidFill>
                <a:schemeClr val="tx2">
                  <a:lumMod val="75000"/>
                </a:schemeClr>
              </a:solidFill>
              <a:latin typeface="Book Antiqua" pitchFamily="18" charset="0"/>
            </a:endParaRPr>
          </a:p>
          <a:p>
            <a:r>
              <a:rPr lang="en-US" sz="3600" b="1" i="1" dirty="0">
                <a:solidFill>
                  <a:schemeClr val="tx2">
                    <a:lumMod val="75000"/>
                  </a:schemeClr>
                </a:solidFill>
                <a:latin typeface="Book Antiqua" pitchFamily="18" charset="0"/>
              </a:rPr>
              <a:t>                     PEA – </a:t>
            </a:r>
            <a:r>
              <a:rPr lang="en-US" sz="3600" b="1" i="1" dirty="0" smtClean="0">
                <a:solidFill>
                  <a:schemeClr val="tx2">
                    <a:lumMod val="75000"/>
                  </a:schemeClr>
                </a:solidFill>
                <a:latin typeface="Book Antiqua" pitchFamily="18" charset="0"/>
              </a:rPr>
              <a:t>516</a:t>
            </a:r>
            <a:endParaRPr lang="en-US" sz="3600" b="1" i="1" dirty="0">
              <a:solidFill>
                <a:schemeClr val="tx2">
                  <a:lumMod val="75000"/>
                </a:schemeClr>
              </a:solidFill>
              <a:latin typeface="Book Antiqua" pitchFamily="18" charset="0"/>
            </a:endParaRPr>
          </a:p>
          <a:p>
            <a:r>
              <a:rPr lang="en-US" sz="3600" b="1" i="1" dirty="0">
                <a:solidFill>
                  <a:schemeClr val="tx2">
                    <a:lumMod val="75000"/>
                  </a:schemeClr>
                </a:solidFill>
                <a:latin typeface="Book Antiqua" pitchFamily="18" charset="0"/>
              </a:rPr>
              <a:t>                    Lecture- 15 </a:t>
            </a:r>
          </a:p>
          <a:p>
            <a:r>
              <a:rPr lang="en-US" sz="3600" b="1" i="1" dirty="0">
                <a:solidFill>
                  <a:schemeClr val="tx2">
                    <a:lumMod val="75000"/>
                  </a:schemeClr>
                </a:solidFill>
                <a:latin typeface="Book Antiqua" pitchFamily="18" charset="0"/>
              </a:rPr>
              <a:t>                  Simple Interest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 y="196265"/>
            <a:ext cx="8980371" cy="4524315"/>
          </a:xfrm>
          <a:prstGeom prst="rect">
            <a:avLst/>
          </a:prstGeom>
          <a:noFill/>
        </p:spPr>
        <p:txBody>
          <a:bodyPr wrap="square" rtlCol="0">
            <a:spAutoFit/>
          </a:bodyPr>
          <a:lstStyle/>
          <a:p>
            <a:pPr algn="just" eaLnBrk="1" hangingPunct="1"/>
            <a:r>
              <a:rPr lang="en-US" altLang="en-US" sz="2400" b="1" dirty="0">
                <a:latin typeface="Book Antiqua" pitchFamily="18" charset="0"/>
                <a:cs typeface="Times New Roman" pitchFamily="18" charset="0"/>
              </a:rPr>
              <a:t>Principal</a:t>
            </a:r>
          </a:p>
          <a:p>
            <a:pPr algn="just" eaLnBrk="1" hangingPunct="1"/>
            <a:r>
              <a:rPr lang="en-US" altLang="en-US" sz="2400" dirty="0">
                <a:latin typeface="Book Antiqua" pitchFamily="18" charset="0"/>
                <a:cs typeface="Times New Roman" pitchFamily="18" charset="0"/>
              </a:rPr>
              <a:t>The money borrowed or lent out for a certain period is called the principal or the sum.</a:t>
            </a:r>
          </a:p>
          <a:p>
            <a:pPr algn="just" eaLnBrk="1" hangingPunct="1"/>
            <a:endParaRPr lang="en-US" altLang="en-US" sz="2400" dirty="0">
              <a:latin typeface="Book Antiqua" pitchFamily="18" charset="0"/>
            </a:endParaRPr>
          </a:p>
          <a:p>
            <a:pPr algn="just" eaLnBrk="1" hangingPunct="1"/>
            <a:r>
              <a:rPr lang="en-US" altLang="en-US" sz="2400" b="1" dirty="0">
                <a:latin typeface="Book Antiqua" pitchFamily="18" charset="0"/>
                <a:cs typeface="Times New Roman" pitchFamily="18" charset="0"/>
              </a:rPr>
              <a:t>Interest</a:t>
            </a:r>
          </a:p>
          <a:p>
            <a:pPr algn="just" eaLnBrk="1" hangingPunct="1"/>
            <a:r>
              <a:rPr lang="en-US" altLang="en-US" sz="2400" dirty="0">
                <a:latin typeface="Book Antiqua" pitchFamily="18" charset="0"/>
                <a:cs typeface="Times New Roman" pitchFamily="18" charset="0"/>
              </a:rPr>
              <a:t>Extra money paid for using other's money is called </a:t>
            </a:r>
            <a:r>
              <a:rPr lang="en-US" altLang="en-US" sz="2400" b="1" dirty="0">
                <a:latin typeface="Book Antiqua" pitchFamily="18" charset="0"/>
                <a:cs typeface="Times New Roman" pitchFamily="18" charset="0"/>
              </a:rPr>
              <a:t>interest.</a:t>
            </a:r>
          </a:p>
          <a:p>
            <a:pPr algn="just" eaLnBrk="1" hangingPunct="1"/>
            <a:endParaRPr lang="en-US" altLang="en-US" sz="2400" b="1" dirty="0">
              <a:latin typeface="Book Antiqua" pitchFamily="18" charset="0"/>
              <a:cs typeface="Times New Roman" pitchFamily="18" charset="0"/>
            </a:endParaRPr>
          </a:p>
          <a:p>
            <a:pPr algn="just" eaLnBrk="1" hangingPunct="1"/>
            <a:r>
              <a:rPr lang="en-US" altLang="en-US" sz="2400" b="1" dirty="0">
                <a:latin typeface="Book Antiqua" pitchFamily="18" charset="0"/>
                <a:cs typeface="Times New Roman" pitchFamily="18" charset="0"/>
              </a:rPr>
              <a:t>Simple Interest</a:t>
            </a:r>
          </a:p>
          <a:p>
            <a:pPr algn="just" eaLnBrk="1" hangingPunct="1"/>
            <a:r>
              <a:rPr lang="en-US" altLang="en-US" sz="2400" dirty="0">
                <a:latin typeface="Book Antiqua" pitchFamily="18" charset="0"/>
                <a:cs typeface="Times New Roman" pitchFamily="18" charset="0"/>
              </a:rPr>
              <a:t>If the interest on a sum borrowed for certain period is reckoned uniformly, then it is called </a:t>
            </a:r>
            <a:r>
              <a:rPr lang="en-US" altLang="en-US" sz="2400" b="1" dirty="0">
                <a:latin typeface="Book Antiqua" pitchFamily="18" charset="0"/>
                <a:cs typeface="Times New Roman" pitchFamily="18" charset="0"/>
              </a:rPr>
              <a:t>simple interest.</a:t>
            </a:r>
            <a:endParaRPr lang="en-US" altLang="en-US" sz="2400" dirty="0">
              <a:latin typeface="Book Antiqua" pitchFamily="18" charset="0"/>
              <a:cs typeface="Times New Roman" pitchFamily="18" charset="0"/>
            </a:endParaRPr>
          </a:p>
          <a:p>
            <a:pPr algn="just" eaLnBrk="1" hangingPunct="1"/>
            <a:endParaRPr lang="en-US" altLang="en-US" sz="2400" dirty="0">
              <a:latin typeface="Book Antiqua" pitchFamily="18" charset="0"/>
            </a:endParaRPr>
          </a:p>
          <a:p>
            <a:pPr algn="just"/>
            <a:endParaRPr lang="en-US" sz="2400" dirty="0">
              <a:latin typeface="Book Antiqua"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8587" y="240333"/>
            <a:ext cx="8886825" cy="830997"/>
          </a:xfrm>
          <a:prstGeom prst="rect">
            <a:avLst/>
          </a:prstGeom>
          <a:noFill/>
        </p:spPr>
        <p:txBody>
          <a:bodyPr wrap="square" rtlCol="0">
            <a:spAutoFit/>
          </a:bodyPr>
          <a:lstStyle/>
          <a:p>
            <a:r>
              <a:rPr lang="en-US" sz="2400" dirty="0">
                <a:latin typeface="Book Antiqua" pitchFamily="18" charset="0"/>
              </a:rPr>
              <a:t>If P= Rs.1000, R=10% p.a. T=3 years. Find Simple Interest for 3 years.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7175" y="1487855"/>
            <a:ext cx="6143625" cy="889585"/>
          </a:xfrm>
          <a:prstGeom prst="rect">
            <a:avLst/>
          </a:prstGeom>
          <a:solidFill>
            <a:schemeClr val="accent2">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57175" y="115204"/>
            <a:ext cx="8886825" cy="2062103"/>
          </a:xfrm>
          <a:prstGeom prst="rect">
            <a:avLst/>
          </a:prstGeom>
          <a:noFill/>
        </p:spPr>
        <p:txBody>
          <a:bodyPr wrap="square" rtlCol="0">
            <a:spAutoFit/>
          </a:bodyPr>
          <a:lstStyle/>
          <a:p>
            <a:pPr algn="just" eaLnBrk="1" hangingPunct="1"/>
            <a:r>
              <a:rPr lang="en-US" altLang="en-US" sz="2400" dirty="0">
                <a:latin typeface="Book Antiqua" panose="02040602050305030304" pitchFamily="18" charset="0"/>
                <a:cs typeface="Times New Roman" pitchFamily="18" charset="0"/>
              </a:rPr>
              <a:t>Let Principal = P, Rate = R% per annum (p.a.) </a:t>
            </a:r>
          </a:p>
          <a:p>
            <a:pPr algn="just" eaLnBrk="1" hangingPunct="1"/>
            <a:r>
              <a:rPr lang="en-US" altLang="en-US" sz="2400" dirty="0">
                <a:latin typeface="Book Antiqua" panose="02040602050305030304" pitchFamily="18" charset="0"/>
                <a:cs typeface="Times New Roman" pitchFamily="18" charset="0"/>
              </a:rPr>
              <a:t>and Time = T years. Then</a:t>
            </a:r>
          </a:p>
          <a:p>
            <a:pPr algn="just" eaLnBrk="1" hangingPunct="1"/>
            <a:endParaRPr lang="en-US" altLang="en-US" sz="2400" dirty="0">
              <a:latin typeface="Book Antiqua" panose="02040602050305030304" pitchFamily="18" charset="0"/>
              <a:cs typeface="Times New Roman" pitchFamily="18" charset="0"/>
            </a:endParaRPr>
          </a:p>
          <a:p>
            <a:pPr algn="just" eaLnBrk="1" hangingPunct="1"/>
            <a:endParaRPr lang="en-US" altLang="en-US" sz="2400" dirty="0">
              <a:latin typeface="Book Antiqua" panose="02040602050305030304" pitchFamily="18" charset="0"/>
              <a:cs typeface="Times New Roman" pitchFamily="18" charset="0"/>
            </a:endParaRPr>
          </a:p>
          <a:p>
            <a:pPr algn="just" eaLnBrk="1" hangingPunct="1"/>
            <a:r>
              <a:rPr lang="en-US" altLang="en-US" sz="3200" b="1" dirty="0">
                <a:latin typeface="Book Antiqua" panose="02040602050305030304" pitchFamily="18" charset="0"/>
                <a:cs typeface="Times New Roman" pitchFamily="18" charset="0"/>
              </a:rPr>
              <a:t>Simple Interest =(P x R x T)/100</a:t>
            </a:r>
          </a:p>
        </p:txBody>
      </p:sp>
      <p:pic>
        <p:nvPicPr>
          <p:cNvPr id="3" name="Picture 4" descr="C:\Users\Priya Sharma\Desktop\1.jpg"/>
          <p:cNvPicPr>
            <a:picLocks noChangeAspect="1" noChangeArrowheads="1"/>
          </p:cNvPicPr>
          <p:nvPr/>
        </p:nvPicPr>
        <p:blipFill>
          <a:blip r:embed="rId2"/>
          <a:srcRect/>
          <a:stretch>
            <a:fillRect/>
          </a:stretch>
        </p:blipFill>
        <p:spPr bwMode="auto">
          <a:xfrm rot="18569877">
            <a:off x="5705082" y="3450199"/>
            <a:ext cx="2924550" cy="2010629"/>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073" y="249054"/>
            <a:ext cx="8801100" cy="4100353"/>
          </a:xfrm>
          <a:prstGeom prst="rect">
            <a:avLst/>
          </a:prstGeom>
          <a:noFill/>
        </p:spPr>
        <p:txBody>
          <a:bodyPr wrap="square" rtlCol="0">
            <a:spAutoFit/>
          </a:bodyPr>
          <a:lstStyle/>
          <a:p>
            <a:pPr algn="just"/>
            <a:r>
              <a:rPr lang="en-US" sz="2400" b="1" dirty="0">
                <a:latin typeface="Book Antiqua" panose="02040602050305030304" pitchFamily="18" charset="0"/>
              </a:rPr>
              <a:t>Question: </a:t>
            </a:r>
            <a:r>
              <a:rPr lang="en-US" sz="2400" dirty="0">
                <a:latin typeface="Book Antiqua" panose="02040602050305030304" pitchFamily="18" charset="0"/>
              </a:rPr>
              <a:t>Reena took a loan of Rs. 1200 with simple interest for as many years as the rate of interest. If she paid Rs. 432 as interest at the end of the loan period, what was the rate of interest?</a:t>
            </a:r>
          </a:p>
          <a:p>
            <a:pPr algn="just"/>
            <a:endParaRPr lang="en-US" sz="2400" dirty="0">
              <a:latin typeface="Book Antiqua" panose="02040602050305030304" pitchFamily="18" charset="0"/>
            </a:endParaRPr>
          </a:p>
          <a:p>
            <a:pPr algn="just">
              <a:lnSpc>
                <a:spcPct val="150000"/>
              </a:lnSpc>
            </a:pPr>
            <a:r>
              <a:rPr lang="en-US" sz="2400" dirty="0">
                <a:latin typeface="Book Antiqua" panose="02040602050305030304" pitchFamily="18" charset="0"/>
              </a:rPr>
              <a:t>[A] 3.6</a:t>
            </a:r>
          </a:p>
          <a:p>
            <a:pPr algn="just">
              <a:lnSpc>
                <a:spcPct val="150000"/>
              </a:lnSpc>
            </a:pPr>
            <a:r>
              <a:rPr lang="en-US" sz="2400" dirty="0">
                <a:latin typeface="Book Antiqua" panose="02040602050305030304" pitchFamily="18" charset="0"/>
              </a:rPr>
              <a:t>[B] 6</a:t>
            </a:r>
          </a:p>
          <a:p>
            <a:pPr algn="just">
              <a:lnSpc>
                <a:spcPct val="150000"/>
              </a:lnSpc>
            </a:pPr>
            <a:r>
              <a:rPr lang="en-US" sz="2400" dirty="0">
                <a:latin typeface="Book Antiqua" panose="02040602050305030304" pitchFamily="18" charset="0"/>
              </a:rPr>
              <a:t>[C] 18</a:t>
            </a:r>
          </a:p>
          <a:p>
            <a:pPr algn="just">
              <a:lnSpc>
                <a:spcPct val="150000"/>
              </a:lnSpc>
            </a:pPr>
            <a:r>
              <a:rPr lang="en-US" sz="2400" dirty="0">
                <a:latin typeface="Book Antiqua" panose="02040602050305030304" pitchFamily="18" charset="0"/>
              </a:rPr>
              <a:t>[D] Can not be determined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1449" y="48126"/>
            <a:ext cx="8885923" cy="4100353"/>
          </a:xfrm>
          <a:prstGeom prst="rect">
            <a:avLst/>
          </a:prstGeom>
          <a:noFill/>
        </p:spPr>
        <p:txBody>
          <a:bodyPr wrap="square" rtlCol="0">
            <a:spAutoFit/>
          </a:bodyPr>
          <a:lstStyle/>
          <a:p>
            <a:pPr algn="just"/>
            <a:r>
              <a:rPr lang="en-US" sz="2400" b="1" dirty="0">
                <a:latin typeface="Book Antiqua" pitchFamily="18" charset="0"/>
              </a:rPr>
              <a:t>Question: </a:t>
            </a:r>
            <a:r>
              <a:rPr lang="en-US" sz="2400" dirty="0">
                <a:latin typeface="Book Antiqua" pitchFamily="18" charset="0"/>
              </a:rPr>
              <a:t>A man took loan from a bank at the rate of 12% p.a. simple interest. After 3 years he had to pay Rs. 5400 interest only for the period. The principal amount borrowed by him was:</a:t>
            </a:r>
          </a:p>
          <a:p>
            <a:endParaRPr lang="en-US" sz="2400" dirty="0">
              <a:latin typeface="Book Antiqua" pitchFamily="18" charset="0"/>
            </a:endParaRPr>
          </a:p>
          <a:p>
            <a:pPr>
              <a:lnSpc>
                <a:spcPct val="150000"/>
              </a:lnSpc>
            </a:pPr>
            <a:r>
              <a:rPr lang="en-US" sz="2400" dirty="0">
                <a:latin typeface="Book Antiqua" pitchFamily="18" charset="0"/>
              </a:rPr>
              <a:t>[A] Rs.2000</a:t>
            </a:r>
          </a:p>
          <a:p>
            <a:pPr>
              <a:lnSpc>
                <a:spcPct val="150000"/>
              </a:lnSpc>
            </a:pPr>
            <a:r>
              <a:rPr lang="en-US" sz="2400" dirty="0">
                <a:latin typeface="Book Antiqua" pitchFamily="18" charset="0"/>
              </a:rPr>
              <a:t>[B] Rs.10000</a:t>
            </a:r>
          </a:p>
          <a:p>
            <a:pPr>
              <a:lnSpc>
                <a:spcPct val="150000"/>
              </a:lnSpc>
            </a:pPr>
            <a:r>
              <a:rPr lang="en-US" sz="2400" dirty="0">
                <a:latin typeface="Book Antiqua" pitchFamily="18" charset="0"/>
              </a:rPr>
              <a:t>[C] Rs.15000</a:t>
            </a:r>
          </a:p>
          <a:p>
            <a:pPr>
              <a:lnSpc>
                <a:spcPct val="150000"/>
              </a:lnSpc>
            </a:pPr>
            <a:r>
              <a:rPr lang="en-US" sz="2400" dirty="0">
                <a:latin typeface="Book Antiqua" pitchFamily="18" charset="0"/>
              </a:rPr>
              <a:t>[D] Rs.20000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1450" y="143176"/>
            <a:ext cx="8801100" cy="3361690"/>
          </a:xfrm>
          <a:prstGeom prst="rect">
            <a:avLst/>
          </a:prstGeom>
          <a:noFill/>
        </p:spPr>
        <p:txBody>
          <a:bodyPr wrap="square" rtlCol="0">
            <a:spAutoFit/>
          </a:bodyPr>
          <a:lstStyle/>
          <a:p>
            <a:pPr algn="just"/>
            <a:r>
              <a:rPr lang="en-US" sz="2400" b="1" dirty="0">
                <a:latin typeface="Book Antiqua" pitchFamily="18" charset="0"/>
              </a:rPr>
              <a:t>Question: </a:t>
            </a:r>
            <a:r>
              <a:rPr lang="en-US" sz="2400" dirty="0">
                <a:latin typeface="Book Antiqua" pitchFamily="18" charset="0"/>
              </a:rPr>
              <a:t>How much time will it take for an amount of Rs. 450 to yield Rs. 81 as interest at 4.5% per annum of simple interest?</a:t>
            </a:r>
          </a:p>
          <a:p>
            <a:pPr algn="just"/>
            <a:endParaRPr lang="en-US" sz="2400" dirty="0">
              <a:latin typeface="Book Antiqua" pitchFamily="18" charset="0"/>
            </a:endParaRPr>
          </a:p>
          <a:p>
            <a:pPr>
              <a:lnSpc>
                <a:spcPct val="150000"/>
              </a:lnSpc>
            </a:pPr>
            <a:r>
              <a:rPr lang="en-US" sz="2400" dirty="0">
                <a:latin typeface="Book Antiqua" pitchFamily="18" charset="0"/>
              </a:rPr>
              <a:t>[A] 3.5 years</a:t>
            </a:r>
          </a:p>
          <a:p>
            <a:pPr>
              <a:lnSpc>
                <a:spcPct val="150000"/>
              </a:lnSpc>
            </a:pPr>
            <a:r>
              <a:rPr lang="en-US" sz="2400" dirty="0">
                <a:latin typeface="Book Antiqua" pitchFamily="18" charset="0"/>
              </a:rPr>
              <a:t>[B] 4 years</a:t>
            </a:r>
          </a:p>
          <a:p>
            <a:pPr>
              <a:lnSpc>
                <a:spcPct val="150000"/>
              </a:lnSpc>
            </a:pPr>
            <a:r>
              <a:rPr lang="en-US" sz="2400" dirty="0">
                <a:latin typeface="Book Antiqua" pitchFamily="18" charset="0"/>
              </a:rPr>
              <a:t>[C] 4.5 years</a:t>
            </a:r>
          </a:p>
          <a:p>
            <a:pPr>
              <a:lnSpc>
                <a:spcPct val="150000"/>
              </a:lnSpc>
            </a:pPr>
            <a:r>
              <a:rPr lang="en-US" sz="2400" dirty="0">
                <a:latin typeface="Book Antiqua" pitchFamily="18" charset="0"/>
              </a:rPr>
              <a:t>[D] 5 years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4448" y="95049"/>
            <a:ext cx="8914798" cy="3731021"/>
          </a:xfrm>
          <a:prstGeom prst="rect">
            <a:avLst/>
          </a:prstGeom>
          <a:noFill/>
        </p:spPr>
        <p:txBody>
          <a:bodyPr wrap="square" rtlCol="0">
            <a:spAutoFit/>
          </a:bodyPr>
          <a:lstStyle/>
          <a:p>
            <a:pPr algn="just"/>
            <a:r>
              <a:rPr lang="en-US" sz="2400" b="1" dirty="0">
                <a:latin typeface="Book Antiqua" pitchFamily="18" charset="0"/>
              </a:rPr>
              <a:t>Question: </a:t>
            </a:r>
            <a:r>
              <a:rPr lang="en-US" sz="2400" dirty="0">
                <a:latin typeface="Book Antiqua" pitchFamily="18" charset="0"/>
              </a:rPr>
              <a:t>The interest for the 3rd year on a certain sum at a certain rate of simple interest is Rs.3000. find the sum of the interests accrued on it in the 6th, 7th and 8th years.</a:t>
            </a:r>
          </a:p>
          <a:p>
            <a:pPr algn="just"/>
            <a:endParaRPr lang="en-US" sz="2400" dirty="0">
              <a:latin typeface="Book Antiqua" pitchFamily="18" charset="0"/>
            </a:endParaRPr>
          </a:p>
          <a:p>
            <a:pPr>
              <a:lnSpc>
                <a:spcPct val="150000"/>
              </a:lnSpc>
            </a:pPr>
            <a:r>
              <a:rPr lang="en-US" sz="2400" dirty="0">
                <a:latin typeface="Book Antiqua" pitchFamily="18" charset="0"/>
              </a:rPr>
              <a:t>[A] Rs.6000</a:t>
            </a:r>
          </a:p>
          <a:p>
            <a:pPr>
              <a:lnSpc>
                <a:spcPct val="150000"/>
              </a:lnSpc>
            </a:pPr>
            <a:r>
              <a:rPr lang="en-US" sz="2400" dirty="0">
                <a:latin typeface="Book Antiqua" pitchFamily="18" charset="0"/>
              </a:rPr>
              <a:t>[B] Rs.9000</a:t>
            </a:r>
          </a:p>
          <a:p>
            <a:pPr>
              <a:lnSpc>
                <a:spcPct val="150000"/>
              </a:lnSpc>
            </a:pPr>
            <a:r>
              <a:rPr lang="en-US" sz="2400" dirty="0">
                <a:latin typeface="Book Antiqua" pitchFamily="18" charset="0"/>
              </a:rPr>
              <a:t>[C] Rs.4500</a:t>
            </a:r>
          </a:p>
          <a:p>
            <a:pPr>
              <a:lnSpc>
                <a:spcPct val="150000"/>
              </a:lnSpc>
            </a:pPr>
            <a:r>
              <a:rPr lang="en-US" sz="2400" dirty="0">
                <a:latin typeface="Book Antiqua" pitchFamily="18" charset="0"/>
              </a:rPr>
              <a:t>[D] Rs.12000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1450" y="143176"/>
            <a:ext cx="8801100" cy="3361690"/>
          </a:xfrm>
          <a:prstGeom prst="rect">
            <a:avLst/>
          </a:prstGeom>
          <a:noFill/>
        </p:spPr>
        <p:txBody>
          <a:bodyPr wrap="square" rtlCol="0">
            <a:spAutoFit/>
          </a:bodyPr>
          <a:lstStyle/>
          <a:p>
            <a:pPr algn="just"/>
            <a:r>
              <a:rPr lang="en-US" sz="2400" b="1" dirty="0">
                <a:latin typeface="Book Antiqua" pitchFamily="18" charset="0"/>
              </a:rPr>
              <a:t>Question: </a:t>
            </a:r>
            <a:r>
              <a:rPr lang="en-US" sz="2400" dirty="0">
                <a:latin typeface="Book Antiqua" pitchFamily="18" charset="0"/>
              </a:rPr>
              <a:t>A sum was invest for 2 years. It will give Rs. 300 more, if invested at 3% higher rate. Find the sum.</a:t>
            </a:r>
          </a:p>
          <a:p>
            <a:pPr algn="just"/>
            <a:endParaRPr lang="en-US" sz="2400" dirty="0">
              <a:latin typeface="Book Antiqua" pitchFamily="18" charset="0"/>
            </a:endParaRPr>
          </a:p>
          <a:p>
            <a:pPr>
              <a:lnSpc>
                <a:spcPct val="150000"/>
              </a:lnSpc>
            </a:pPr>
            <a:r>
              <a:rPr lang="en-US" sz="2400" dirty="0">
                <a:latin typeface="Book Antiqua" pitchFamily="18" charset="0"/>
              </a:rPr>
              <a:t>[A] Rs.4000</a:t>
            </a:r>
          </a:p>
          <a:p>
            <a:pPr>
              <a:lnSpc>
                <a:spcPct val="150000"/>
              </a:lnSpc>
            </a:pPr>
            <a:r>
              <a:rPr lang="en-US" sz="2400" dirty="0">
                <a:latin typeface="Book Antiqua" pitchFamily="18" charset="0"/>
              </a:rPr>
              <a:t>[B] Rs.5000</a:t>
            </a:r>
          </a:p>
          <a:p>
            <a:pPr>
              <a:lnSpc>
                <a:spcPct val="150000"/>
              </a:lnSpc>
            </a:pPr>
            <a:r>
              <a:rPr lang="en-US" sz="2400" dirty="0">
                <a:latin typeface="Book Antiqua" pitchFamily="18" charset="0"/>
              </a:rPr>
              <a:t>[C] Rs.6000</a:t>
            </a:r>
          </a:p>
          <a:p>
            <a:pPr>
              <a:lnSpc>
                <a:spcPct val="150000"/>
              </a:lnSpc>
            </a:pPr>
            <a:r>
              <a:rPr lang="en-US" sz="2400" dirty="0">
                <a:latin typeface="Book Antiqua" pitchFamily="18" charset="0"/>
              </a:rPr>
              <a:t>[D] Rs.10000</a:t>
            </a:r>
          </a:p>
        </p:txBody>
      </p:sp>
    </p:spTree>
    <p:extLst>
      <p:ext uri="{BB962C8B-B14F-4D97-AF65-F5344CB8AC3E}">
        <p14:creationId xmlns:p14="http://schemas.microsoft.com/office/powerpoint/2010/main" val="1718057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1450" y="143176"/>
            <a:ext cx="8801100" cy="3731021"/>
          </a:xfrm>
          <a:prstGeom prst="rect">
            <a:avLst/>
          </a:prstGeom>
          <a:noFill/>
        </p:spPr>
        <p:txBody>
          <a:bodyPr wrap="square" rtlCol="0">
            <a:spAutoFit/>
          </a:bodyPr>
          <a:lstStyle/>
          <a:p>
            <a:pPr algn="just"/>
            <a:r>
              <a:rPr lang="en-US" sz="2400" b="1" dirty="0">
                <a:latin typeface="Book Antiqua" pitchFamily="18" charset="0"/>
              </a:rPr>
              <a:t>Question: </a:t>
            </a:r>
            <a:r>
              <a:rPr lang="en-US" sz="2400" dirty="0">
                <a:latin typeface="Book Antiqua" pitchFamily="18" charset="0"/>
              </a:rPr>
              <a:t>A sum amounts to Rs.1008 in 2 years and amounts to Rs.1112 in 3 years at SI. Find the sum and rate of interest per annum.</a:t>
            </a:r>
          </a:p>
          <a:p>
            <a:pPr algn="just"/>
            <a:endParaRPr lang="en-US" sz="2400" dirty="0">
              <a:latin typeface="Book Antiqua" pitchFamily="18" charset="0"/>
            </a:endParaRPr>
          </a:p>
          <a:p>
            <a:pPr>
              <a:lnSpc>
                <a:spcPct val="150000"/>
              </a:lnSpc>
            </a:pPr>
            <a:r>
              <a:rPr lang="en-US" sz="2400" dirty="0">
                <a:latin typeface="Book Antiqua" pitchFamily="18" charset="0"/>
              </a:rPr>
              <a:t>[A] Rs.800, 13% pa</a:t>
            </a:r>
          </a:p>
          <a:p>
            <a:pPr>
              <a:lnSpc>
                <a:spcPct val="150000"/>
              </a:lnSpc>
            </a:pPr>
            <a:r>
              <a:rPr lang="en-US" sz="2400" dirty="0">
                <a:latin typeface="Book Antiqua" pitchFamily="18" charset="0"/>
              </a:rPr>
              <a:t>[B] Rs.600, 12 % pa</a:t>
            </a:r>
          </a:p>
          <a:p>
            <a:pPr>
              <a:lnSpc>
                <a:spcPct val="150000"/>
              </a:lnSpc>
            </a:pPr>
            <a:r>
              <a:rPr lang="en-US" sz="2400" dirty="0">
                <a:latin typeface="Book Antiqua" pitchFamily="18" charset="0"/>
              </a:rPr>
              <a:t>[C] Rs.800, 12% pa</a:t>
            </a:r>
          </a:p>
          <a:p>
            <a:pPr>
              <a:lnSpc>
                <a:spcPct val="150000"/>
              </a:lnSpc>
            </a:pPr>
            <a:r>
              <a:rPr lang="en-US" sz="2400" dirty="0">
                <a:latin typeface="Book Antiqua" pitchFamily="18" charset="0"/>
              </a:rPr>
              <a:t>[D] Rs.600, 13% pa</a:t>
            </a:r>
          </a:p>
        </p:txBody>
      </p:sp>
    </p:spTree>
    <p:extLst>
      <p:ext uri="{BB962C8B-B14F-4D97-AF65-F5344CB8AC3E}">
        <p14:creationId xmlns:p14="http://schemas.microsoft.com/office/powerpoint/2010/main" val="2392166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1450" y="143176"/>
            <a:ext cx="8801100" cy="3731021"/>
          </a:xfrm>
          <a:prstGeom prst="rect">
            <a:avLst/>
          </a:prstGeom>
          <a:noFill/>
        </p:spPr>
        <p:txBody>
          <a:bodyPr wrap="square" rtlCol="0">
            <a:spAutoFit/>
          </a:bodyPr>
          <a:lstStyle/>
          <a:p>
            <a:pPr algn="just"/>
            <a:r>
              <a:rPr lang="en-US" sz="2400" b="1" dirty="0">
                <a:latin typeface="Book Antiqua" pitchFamily="18" charset="0"/>
              </a:rPr>
              <a:t>Question: </a:t>
            </a:r>
            <a:r>
              <a:rPr lang="en-US" sz="2400" dirty="0">
                <a:latin typeface="Book Antiqua" pitchFamily="18" charset="0"/>
              </a:rPr>
              <a:t>S.I. On Rs 400 for 5 years together with that on Rs. 600, for 4 year to Rs. 132. If the Rate is same in both the case. Find rate % of interest?</a:t>
            </a:r>
          </a:p>
          <a:p>
            <a:pPr algn="just"/>
            <a:endParaRPr lang="en-US" sz="2400" dirty="0">
              <a:latin typeface="Book Antiqua" pitchFamily="18" charset="0"/>
            </a:endParaRPr>
          </a:p>
          <a:p>
            <a:pPr>
              <a:lnSpc>
                <a:spcPct val="150000"/>
              </a:lnSpc>
            </a:pPr>
            <a:r>
              <a:rPr lang="en-US" sz="2400" dirty="0">
                <a:latin typeface="Book Antiqua" pitchFamily="18" charset="0"/>
              </a:rPr>
              <a:t>[A] 2% pa</a:t>
            </a:r>
          </a:p>
          <a:p>
            <a:pPr>
              <a:lnSpc>
                <a:spcPct val="150000"/>
              </a:lnSpc>
            </a:pPr>
            <a:r>
              <a:rPr lang="en-US" sz="2400" dirty="0">
                <a:latin typeface="Book Antiqua" pitchFamily="18" charset="0"/>
              </a:rPr>
              <a:t>[B] 3% pa</a:t>
            </a:r>
          </a:p>
          <a:p>
            <a:pPr>
              <a:lnSpc>
                <a:spcPct val="150000"/>
              </a:lnSpc>
            </a:pPr>
            <a:r>
              <a:rPr lang="en-US" sz="2400" dirty="0">
                <a:latin typeface="Book Antiqua" pitchFamily="18" charset="0"/>
              </a:rPr>
              <a:t>[C] 5% pa</a:t>
            </a:r>
          </a:p>
          <a:p>
            <a:pPr>
              <a:lnSpc>
                <a:spcPct val="150000"/>
              </a:lnSpc>
            </a:pPr>
            <a:r>
              <a:rPr lang="en-US" sz="2400" dirty="0">
                <a:latin typeface="Book Antiqua" pitchFamily="18" charset="0"/>
              </a:rPr>
              <a:t>[D] 8% pa</a:t>
            </a:r>
          </a:p>
        </p:txBody>
      </p:sp>
    </p:spTree>
    <p:extLst>
      <p:ext uri="{BB962C8B-B14F-4D97-AF65-F5344CB8AC3E}">
        <p14:creationId xmlns:p14="http://schemas.microsoft.com/office/powerpoint/2010/main" val="3300218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1450" y="143176"/>
            <a:ext cx="8801100" cy="4100353"/>
          </a:xfrm>
          <a:prstGeom prst="rect">
            <a:avLst/>
          </a:prstGeom>
          <a:noFill/>
        </p:spPr>
        <p:txBody>
          <a:bodyPr wrap="square" rtlCol="0">
            <a:spAutoFit/>
          </a:bodyPr>
          <a:lstStyle/>
          <a:p>
            <a:pPr algn="just"/>
            <a:r>
              <a:rPr lang="en-US" sz="2400" b="1" dirty="0">
                <a:latin typeface="Book Antiqua" pitchFamily="18" charset="0"/>
              </a:rPr>
              <a:t>Question: </a:t>
            </a:r>
            <a:r>
              <a:rPr lang="en-US" sz="2400" dirty="0">
                <a:latin typeface="Book Antiqua" pitchFamily="18" charset="0"/>
              </a:rPr>
              <a:t>A shopkeeper borrow Rs. 20,000 from two money lenders. For one loan, he paid 12% pa and for other 14% pa. After one year he paid Rs. 2560 as total interest. How much did he borrow each?</a:t>
            </a:r>
          </a:p>
          <a:p>
            <a:pPr algn="just"/>
            <a:endParaRPr lang="en-US" sz="2400" dirty="0">
              <a:latin typeface="Book Antiqua" pitchFamily="18" charset="0"/>
            </a:endParaRPr>
          </a:p>
          <a:p>
            <a:pPr>
              <a:lnSpc>
                <a:spcPct val="150000"/>
              </a:lnSpc>
            </a:pPr>
            <a:r>
              <a:rPr lang="en-US" sz="2400" dirty="0">
                <a:latin typeface="Book Antiqua" pitchFamily="18" charset="0"/>
              </a:rPr>
              <a:t>[A] Rs.8000, Rs.12000</a:t>
            </a:r>
          </a:p>
          <a:p>
            <a:pPr>
              <a:lnSpc>
                <a:spcPct val="150000"/>
              </a:lnSpc>
            </a:pPr>
            <a:r>
              <a:rPr lang="en-US" sz="2400" dirty="0">
                <a:latin typeface="Book Antiqua" pitchFamily="18" charset="0"/>
              </a:rPr>
              <a:t>[B] Rs.12000, Rs.8000</a:t>
            </a:r>
          </a:p>
          <a:p>
            <a:pPr>
              <a:lnSpc>
                <a:spcPct val="150000"/>
              </a:lnSpc>
            </a:pPr>
            <a:r>
              <a:rPr lang="en-US" sz="2400" dirty="0">
                <a:latin typeface="Book Antiqua" pitchFamily="18" charset="0"/>
              </a:rPr>
              <a:t>[C] Rs.6000, Rs.14000</a:t>
            </a:r>
          </a:p>
          <a:p>
            <a:pPr>
              <a:lnSpc>
                <a:spcPct val="150000"/>
              </a:lnSpc>
            </a:pPr>
            <a:r>
              <a:rPr lang="en-US" sz="2400" dirty="0">
                <a:latin typeface="Book Antiqua" pitchFamily="18" charset="0"/>
              </a:rPr>
              <a:t>[D] Rs.14000, Rs.6000</a:t>
            </a:r>
          </a:p>
        </p:txBody>
      </p:sp>
    </p:spTree>
    <p:extLst>
      <p:ext uri="{BB962C8B-B14F-4D97-AF65-F5344CB8AC3E}">
        <p14:creationId xmlns:p14="http://schemas.microsoft.com/office/powerpoint/2010/main" val="492676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1450" y="143176"/>
            <a:ext cx="8801100" cy="3731021"/>
          </a:xfrm>
          <a:prstGeom prst="rect">
            <a:avLst/>
          </a:prstGeom>
          <a:noFill/>
        </p:spPr>
        <p:txBody>
          <a:bodyPr wrap="square" rtlCol="0">
            <a:spAutoFit/>
          </a:bodyPr>
          <a:lstStyle/>
          <a:p>
            <a:pPr algn="just"/>
            <a:r>
              <a:rPr lang="en-US" sz="2400" b="1" dirty="0">
                <a:latin typeface="Book Antiqua" pitchFamily="18" charset="0"/>
              </a:rPr>
              <a:t>Question: </a:t>
            </a:r>
            <a:r>
              <a:rPr lang="en-US" sz="2400" dirty="0">
                <a:latin typeface="Book Antiqua" pitchFamily="18" charset="0"/>
              </a:rPr>
              <a:t>Rs. 1500 is invested in two such parts that if one part be invested at 6% and other at 5%, S.I= Rs. 85 for one year. Then how much was invested at 5%?</a:t>
            </a:r>
          </a:p>
          <a:p>
            <a:pPr algn="just"/>
            <a:endParaRPr lang="en-US" sz="2400" dirty="0">
              <a:latin typeface="Book Antiqua" pitchFamily="18" charset="0"/>
            </a:endParaRPr>
          </a:p>
          <a:p>
            <a:pPr>
              <a:lnSpc>
                <a:spcPct val="150000"/>
              </a:lnSpc>
            </a:pPr>
            <a:r>
              <a:rPr lang="en-US" sz="2400" dirty="0">
                <a:latin typeface="Book Antiqua" pitchFamily="18" charset="0"/>
              </a:rPr>
              <a:t>[A] Rs.1000</a:t>
            </a:r>
          </a:p>
          <a:p>
            <a:pPr>
              <a:lnSpc>
                <a:spcPct val="150000"/>
              </a:lnSpc>
            </a:pPr>
            <a:r>
              <a:rPr lang="en-US" sz="2400" dirty="0">
                <a:latin typeface="Book Antiqua" pitchFamily="18" charset="0"/>
              </a:rPr>
              <a:t>[B] Rs.500</a:t>
            </a:r>
          </a:p>
          <a:p>
            <a:pPr>
              <a:lnSpc>
                <a:spcPct val="150000"/>
              </a:lnSpc>
            </a:pPr>
            <a:r>
              <a:rPr lang="en-US" sz="2400" dirty="0">
                <a:latin typeface="Book Antiqua" pitchFamily="18" charset="0"/>
              </a:rPr>
              <a:t>[C] Rs.600</a:t>
            </a:r>
          </a:p>
          <a:p>
            <a:pPr>
              <a:lnSpc>
                <a:spcPct val="150000"/>
              </a:lnSpc>
            </a:pPr>
            <a:r>
              <a:rPr lang="en-US" sz="2400" dirty="0">
                <a:latin typeface="Book Antiqua" pitchFamily="18" charset="0"/>
              </a:rPr>
              <a:t>[D] Rs.800</a:t>
            </a:r>
          </a:p>
        </p:txBody>
      </p:sp>
    </p:spTree>
    <p:extLst>
      <p:ext uri="{BB962C8B-B14F-4D97-AF65-F5344CB8AC3E}">
        <p14:creationId xmlns:p14="http://schemas.microsoft.com/office/powerpoint/2010/main" val="2674417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171450" y="143176"/>
                <a:ext cx="8801100" cy="4558877"/>
              </a:xfrm>
              <a:prstGeom prst="rect">
                <a:avLst/>
              </a:prstGeom>
              <a:noFill/>
            </p:spPr>
            <p:txBody>
              <a:bodyPr wrap="square" rtlCol="0">
                <a:spAutoFit/>
              </a:bodyPr>
              <a:lstStyle/>
              <a:p>
                <a:pPr algn="just"/>
                <a:r>
                  <a:rPr lang="en-US" sz="2400" b="1" dirty="0">
                    <a:latin typeface="Book Antiqua" pitchFamily="18" charset="0"/>
                  </a:rPr>
                  <a:t>Question: </a:t>
                </a:r>
                <a:r>
                  <a:rPr lang="en-US" sz="2400" dirty="0">
                    <a:latin typeface="Book Antiqua" pitchFamily="18" charset="0"/>
                  </a:rPr>
                  <a:t>Rs. 8400 is invested in two such parts that if one part be invested at 8% and remaining at </a:t>
                </a:r>
                <a14:m>
                  <m:oMath xmlns:m="http://schemas.openxmlformats.org/officeDocument/2006/math">
                    <m:sSubSup>
                      <m:sSubSupPr>
                        <m:ctrlPr>
                          <a:rPr lang="en-US" sz="2400" b="1" i="1" smtClean="0">
                            <a:latin typeface="Cambria Math"/>
                          </a:rPr>
                        </m:ctrlPr>
                      </m:sSubSupPr>
                      <m:e>
                        <m:r>
                          <a:rPr lang="en-IN" sz="2400" b="1" i="1" smtClean="0">
                            <a:latin typeface="Cambria Math" panose="02040503050406030204" pitchFamily="18" charset="0"/>
                          </a:rPr>
                          <m:t>𝟔</m:t>
                        </m:r>
                        <m:r>
                          <a:rPr lang="en-IN" sz="2400" b="1" i="1" smtClean="0">
                            <a:latin typeface="Cambria Math" panose="02040503050406030204" pitchFamily="18" charset="0"/>
                          </a:rPr>
                          <m:t> </m:t>
                        </m:r>
                      </m:e>
                      <m:sub>
                        <m:r>
                          <a:rPr lang="en-IN" sz="2400" b="1" i="1" smtClean="0">
                            <a:latin typeface="Cambria Math" panose="02040503050406030204" pitchFamily="18" charset="0"/>
                          </a:rPr>
                          <m:t>𝟑</m:t>
                        </m:r>
                      </m:sub>
                      <m:sup>
                        <m:r>
                          <a:rPr lang="en-IN" sz="2400" b="1" i="1" smtClean="0">
                            <a:latin typeface="Cambria Math" panose="02040503050406030204" pitchFamily="18" charset="0"/>
                          </a:rPr>
                          <m:t>𝟐</m:t>
                        </m:r>
                      </m:sup>
                    </m:sSubSup>
                    <m:r>
                      <a:rPr lang="en-IN" sz="2400" b="1" i="0" smtClean="0">
                        <a:latin typeface="Cambria Math" panose="02040503050406030204" pitchFamily="18" charset="0"/>
                      </a:rPr>
                      <m:t> %</m:t>
                    </m:r>
                  </m:oMath>
                </a14:m>
                <a:r>
                  <a:rPr lang="en-US" sz="2400" dirty="0">
                    <a:latin typeface="Book Antiqua" pitchFamily="18" charset="0"/>
                  </a:rPr>
                  <a:t> pa, his total interest after one and half year was Rs. 882. Then how much invested at different rates?</a:t>
                </a:r>
              </a:p>
              <a:p>
                <a:pPr algn="just"/>
                <a:endParaRPr lang="en-US" sz="2400" dirty="0">
                  <a:latin typeface="Book Antiqua" pitchFamily="18" charset="0"/>
                </a:endParaRPr>
              </a:p>
              <a:p>
                <a:pPr algn="just"/>
                <a:endParaRPr lang="en-US" sz="2400" dirty="0">
                  <a:latin typeface="Book Antiqua" pitchFamily="18" charset="0"/>
                </a:endParaRPr>
              </a:p>
              <a:p>
                <a:pPr>
                  <a:lnSpc>
                    <a:spcPct val="150000"/>
                  </a:lnSpc>
                </a:pPr>
                <a:r>
                  <a:rPr lang="en-US" sz="2400" dirty="0">
                    <a:latin typeface="Book Antiqua" pitchFamily="18" charset="0"/>
                  </a:rPr>
                  <a:t>[A] Rs.6300, Rs.2100</a:t>
                </a:r>
              </a:p>
              <a:p>
                <a:pPr>
                  <a:lnSpc>
                    <a:spcPct val="150000"/>
                  </a:lnSpc>
                </a:pPr>
                <a:r>
                  <a:rPr lang="en-US" sz="2400" dirty="0">
                    <a:latin typeface="Book Antiqua" pitchFamily="18" charset="0"/>
                  </a:rPr>
                  <a:t>[B] Rs.6000, Rs.2400</a:t>
                </a:r>
              </a:p>
              <a:p>
                <a:pPr>
                  <a:lnSpc>
                    <a:spcPct val="150000"/>
                  </a:lnSpc>
                </a:pPr>
                <a:r>
                  <a:rPr lang="en-US" sz="2400" dirty="0">
                    <a:latin typeface="Book Antiqua" pitchFamily="18" charset="0"/>
                  </a:rPr>
                  <a:t>[C] Rs.2400, Rs.6000</a:t>
                </a:r>
              </a:p>
              <a:p>
                <a:pPr>
                  <a:lnSpc>
                    <a:spcPct val="150000"/>
                  </a:lnSpc>
                </a:pPr>
                <a:r>
                  <a:rPr lang="en-US" sz="2400" dirty="0">
                    <a:latin typeface="Book Antiqua" pitchFamily="18" charset="0"/>
                  </a:rPr>
                  <a:t>[D] Rs.2100, Rs.6300</a:t>
                </a:r>
              </a:p>
            </p:txBody>
          </p:sp>
        </mc:Choice>
        <mc:Fallback xmlns="">
          <p:sp>
            <p:nvSpPr>
              <p:cNvPr id="4" name="TextBox 3"/>
              <p:cNvSpPr txBox="1">
                <a:spLocks noRot="1" noChangeAspect="1" noMove="1" noResize="1" noEditPoints="1" noAdjustHandles="1" noChangeArrowheads="1" noChangeShapeType="1" noTextEdit="1"/>
              </p:cNvSpPr>
              <p:nvPr/>
            </p:nvSpPr>
            <p:spPr>
              <a:xfrm>
                <a:off x="171450" y="143176"/>
                <a:ext cx="8801100" cy="4558877"/>
              </a:xfrm>
              <a:prstGeom prst="rect">
                <a:avLst/>
              </a:prstGeom>
              <a:blipFill>
                <a:blip r:embed="rId2"/>
                <a:stretch>
                  <a:fillRect l="-1039" t="-1203" r="-1108" b="-802"/>
                </a:stretch>
              </a:blipFill>
            </p:spPr>
            <p:txBody>
              <a:bodyPr/>
              <a:lstStyle/>
              <a:p>
                <a:r>
                  <a:rPr lang="en-IN">
                    <a:noFill/>
                  </a:rPr>
                  <a:t> </a:t>
                </a:r>
              </a:p>
            </p:txBody>
          </p:sp>
        </mc:Fallback>
      </mc:AlternateContent>
    </p:spTree>
    <p:extLst>
      <p:ext uri="{BB962C8B-B14F-4D97-AF65-F5344CB8AC3E}">
        <p14:creationId xmlns:p14="http://schemas.microsoft.com/office/powerpoint/2010/main" val="3935782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1450" y="143176"/>
            <a:ext cx="8801100" cy="3731021"/>
          </a:xfrm>
          <a:prstGeom prst="rect">
            <a:avLst/>
          </a:prstGeom>
          <a:noFill/>
        </p:spPr>
        <p:txBody>
          <a:bodyPr wrap="square" rtlCol="0">
            <a:spAutoFit/>
          </a:bodyPr>
          <a:lstStyle/>
          <a:p>
            <a:pPr algn="just"/>
            <a:r>
              <a:rPr lang="en-US" sz="2400" b="1" dirty="0">
                <a:latin typeface="Book Antiqua" pitchFamily="18" charset="0"/>
              </a:rPr>
              <a:t>Question: </a:t>
            </a:r>
            <a:r>
              <a:rPr lang="en-US" sz="2400" dirty="0">
                <a:latin typeface="Book Antiqua" pitchFamily="18" charset="0"/>
              </a:rPr>
              <a:t>Rs. 950 is lend in two ways. The rate of S.I given on one part is 6% and on other part is 4%. If the S.I of 5 years is Rs. 200 then how much is given on 6%?</a:t>
            </a:r>
          </a:p>
          <a:p>
            <a:pPr algn="just"/>
            <a:endParaRPr lang="en-US" sz="2400" dirty="0">
              <a:latin typeface="Book Antiqua" pitchFamily="18" charset="0"/>
            </a:endParaRPr>
          </a:p>
          <a:p>
            <a:pPr>
              <a:lnSpc>
                <a:spcPct val="150000"/>
              </a:lnSpc>
            </a:pPr>
            <a:r>
              <a:rPr lang="en-US" sz="2400" dirty="0">
                <a:latin typeface="Book Antiqua" pitchFamily="18" charset="0"/>
              </a:rPr>
              <a:t>[A] Rs.500</a:t>
            </a:r>
          </a:p>
          <a:p>
            <a:pPr>
              <a:lnSpc>
                <a:spcPct val="150000"/>
              </a:lnSpc>
            </a:pPr>
            <a:r>
              <a:rPr lang="en-US" sz="2400" dirty="0">
                <a:latin typeface="Book Antiqua" pitchFamily="18" charset="0"/>
              </a:rPr>
              <a:t>[B] Rs.400</a:t>
            </a:r>
          </a:p>
          <a:p>
            <a:pPr>
              <a:lnSpc>
                <a:spcPct val="150000"/>
              </a:lnSpc>
            </a:pPr>
            <a:r>
              <a:rPr lang="en-US" sz="2400" dirty="0">
                <a:latin typeface="Book Antiqua" pitchFamily="18" charset="0"/>
              </a:rPr>
              <a:t>[C] Rs.200</a:t>
            </a:r>
          </a:p>
          <a:p>
            <a:pPr>
              <a:lnSpc>
                <a:spcPct val="150000"/>
              </a:lnSpc>
            </a:pPr>
            <a:r>
              <a:rPr lang="en-US" sz="2400" dirty="0">
                <a:latin typeface="Book Antiqua" pitchFamily="18" charset="0"/>
              </a:rPr>
              <a:t>[D] Rs.100</a:t>
            </a:r>
          </a:p>
        </p:txBody>
      </p:sp>
    </p:spTree>
    <p:extLst>
      <p:ext uri="{BB962C8B-B14F-4D97-AF65-F5344CB8AC3E}">
        <p14:creationId xmlns:p14="http://schemas.microsoft.com/office/powerpoint/2010/main" val="4038749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821" y="67310"/>
            <a:ext cx="8866673" cy="3361690"/>
          </a:xfrm>
          <a:prstGeom prst="rect">
            <a:avLst/>
          </a:prstGeom>
          <a:noFill/>
        </p:spPr>
        <p:txBody>
          <a:bodyPr wrap="square" rtlCol="0">
            <a:spAutoFit/>
          </a:bodyPr>
          <a:lstStyle/>
          <a:p>
            <a:pPr algn="just"/>
            <a:r>
              <a:rPr lang="en-US" sz="2400" b="1" dirty="0">
                <a:latin typeface="Book Antiqua" pitchFamily="18" charset="0"/>
              </a:rPr>
              <a:t>Question: </a:t>
            </a:r>
            <a:r>
              <a:rPr lang="en-US" sz="2400" dirty="0">
                <a:latin typeface="Book Antiqua" pitchFamily="18" charset="0"/>
              </a:rPr>
              <a:t>If a sum of money at simple interest doubles in 6 years, it will become 4 times in:</a:t>
            </a:r>
          </a:p>
          <a:p>
            <a:pPr algn="just"/>
            <a:endParaRPr lang="en-US" sz="2400" dirty="0">
              <a:latin typeface="Book Antiqua" pitchFamily="18" charset="0"/>
            </a:endParaRPr>
          </a:p>
          <a:p>
            <a:pPr>
              <a:lnSpc>
                <a:spcPct val="150000"/>
              </a:lnSpc>
            </a:pPr>
            <a:r>
              <a:rPr lang="en-US" sz="2400" dirty="0">
                <a:latin typeface="Book Antiqua" pitchFamily="18" charset="0"/>
              </a:rPr>
              <a:t>[A] 12 years</a:t>
            </a:r>
          </a:p>
          <a:p>
            <a:pPr>
              <a:lnSpc>
                <a:spcPct val="150000"/>
              </a:lnSpc>
            </a:pPr>
            <a:r>
              <a:rPr lang="en-US" sz="2400" dirty="0">
                <a:latin typeface="Book Antiqua" pitchFamily="18" charset="0"/>
              </a:rPr>
              <a:t>[B] 14 years</a:t>
            </a:r>
          </a:p>
          <a:p>
            <a:pPr>
              <a:lnSpc>
                <a:spcPct val="150000"/>
              </a:lnSpc>
            </a:pPr>
            <a:r>
              <a:rPr lang="en-US" sz="2400" dirty="0">
                <a:latin typeface="Book Antiqua" pitchFamily="18" charset="0"/>
              </a:rPr>
              <a:t>[C] 16 years</a:t>
            </a:r>
          </a:p>
          <a:p>
            <a:pPr>
              <a:lnSpc>
                <a:spcPct val="150000"/>
              </a:lnSpc>
            </a:pPr>
            <a:r>
              <a:rPr lang="en-US" sz="2400" dirty="0">
                <a:latin typeface="Book Antiqua" pitchFamily="18" charset="0"/>
              </a:rPr>
              <a:t>[D] 18 years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197" y="114301"/>
            <a:ext cx="8953299" cy="3361690"/>
          </a:xfrm>
          <a:prstGeom prst="rect">
            <a:avLst/>
          </a:prstGeom>
          <a:noFill/>
        </p:spPr>
        <p:txBody>
          <a:bodyPr wrap="square" rtlCol="0">
            <a:spAutoFit/>
          </a:bodyPr>
          <a:lstStyle/>
          <a:p>
            <a:pPr algn="just"/>
            <a:r>
              <a:rPr lang="en-US" sz="2400" b="1" dirty="0">
                <a:latin typeface="Book Antiqua" pitchFamily="18" charset="0"/>
              </a:rPr>
              <a:t>Question: </a:t>
            </a:r>
            <a:r>
              <a:rPr lang="en-US" sz="2400" dirty="0">
                <a:latin typeface="Book Antiqua" pitchFamily="18" charset="0"/>
              </a:rPr>
              <a:t>If a sum of money at simple interest doubles in 8 years, it will become 4 times in:</a:t>
            </a:r>
          </a:p>
          <a:p>
            <a:pPr algn="just"/>
            <a:endParaRPr lang="en-US" sz="2400" dirty="0">
              <a:latin typeface="Book Antiqua" pitchFamily="18" charset="0"/>
            </a:endParaRPr>
          </a:p>
          <a:p>
            <a:pPr>
              <a:lnSpc>
                <a:spcPct val="150000"/>
              </a:lnSpc>
            </a:pPr>
            <a:r>
              <a:rPr lang="en-US" sz="2400" dirty="0">
                <a:latin typeface="Book Antiqua" pitchFamily="18" charset="0"/>
              </a:rPr>
              <a:t>[A] 16 years</a:t>
            </a:r>
          </a:p>
          <a:p>
            <a:pPr>
              <a:lnSpc>
                <a:spcPct val="150000"/>
              </a:lnSpc>
            </a:pPr>
            <a:r>
              <a:rPr lang="en-US" sz="2400" dirty="0">
                <a:latin typeface="Book Antiqua" pitchFamily="18" charset="0"/>
              </a:rPr>
              <a:t>[B] 24 years</a:t>
            </a:r>
          </a:p>
          <a:p>
            <a:pPr>
              <a:lnSpc>
                <a:spcPct val="150000"/>
              </a:lnSpc>
            </a:pPr>
            <a:r>
              <a:rPr lang="en-US" sz="2400" dirty="0">
                <a:latin typeface="Book Antiqua" pitchFamily="18" charset="0"/>
              </a:rPr>
              <a:t>[C] 64 years</a:t>
            </a:r>
          </a:p>
          <a:p>
            <a:pPr>
              <a:lnSpc>
                <a:spcPct val="150000"/>
              </a:lnSpc>
            </a:pPr>
            <a:r>
              <a:rPr lang="en-US" sz="2400" dirty="0">
                <a:latin typeface="Book Antiqua" pitchFamily="18" charset="0"/>
              </a:rPr>
              <a:t>[D] 32 years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1450" y="95050"/>
            <a:ext cx="8801100" cy="2992358"/>
          </a:xfrm>
          <a:prstGeom prst="rect">
            <a:avLst/>
          </a:prstGeom>
          <a:noFill/>
        </p:spPr>
        <p:txBody>
          <a:bodyPr wrap="square" rtlCol="0">
            <a:spAutoFit/>
          </a:bodyPr>
          <a:lstStyle/>
          <a:p>
            <a:pPr algn="just"/>
            <a:r>
              <a:rPr lang="en-US" sz="2400" b="1" dirty="0">
                <a:latin typeface="Book Antiqua" pitchFamily="18" charset="0"/>
              </a:rPr>
              <a:t>Question: </a:t>
            </a:r>
            <a:r>
              <a:rPr lang="en-US" sz="2400" dirty="0">
                <a:latin typeface="Book Antiqua" pitchFamily="18" charset="0"/>
              </a:rPr>
              <a:t>Find the present value (in Rs.) of Rs.3000 due after 5 years at 10% p.a. simple interest.</a:t>
            </a:r>
          </a:p>
          <a:p>
            <a:pPr>
              <a:lnSpc>
                <a:spcPct val="150000"/>
              </a:lnSpc>
            </a:pPr>
            <a:r>
              <a:rPr lang="en-US" sz="2400" dirty="0">
                <a:latin typeface="Book Antiqua" pitchFamily="18" charset="0"/>
              </a:rPr>
              <a:t>[A] Rs.1500</a:t>
            </a:r>
          </a:p>
          <a:p>
            <a:pPr>
              <a:lnSpc>
                <a:spcPct val="150000"/>
              </a:lnSpc>
            </a:pPr>
            <a:r>
              <a:rPr lang="en-US" sz="2400" dirty="0">
                <a:latin typeface="Book Antiqua" pitchFamily="18" charset="0"/>
              </a:rPr>
              <a:t>[B] Rs.1800</a:t>
            </a:r>
          </a:p>
          <a:p>
            <a:pPr>
              <a:lnSpc>
                <a:spcPct val="150000"/>
              </a:lnSpc>
            </a:pPr>
            <a:r>
              <a:rPr lang="en-US" sz="2400" dirty="0">
                <a:latin typeface="Book Antiqua" pitchFamily="18" charset="0"/>
              </a:rPr>
              <a:t>[C] Rs.2000</a:t>
            </a:r>
          </a:p>
          <a:p>
            <a:pPr>
              <a:lnSpc>
                <a:spcPct val="150000"/>
              </a:lnSpc>
            </a:pPr>
            <a:r>
              <a:rPr lang="en-US" sz="2400" dirty="0">
                <a:latin typeface="Book Antiqua" pitchFamily="18" charset="0"/>
              </a:rPr>
              <a:t>[D] Rs.2500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30 Best Ways to Say Thank You for Your Response | FutureofWorking.com">
            <a:extLst>
              <a:ext uri="{FF2B5EF4-FFF2-40B4-BE49-F238E27FC236}">
                <a16:creationId xmlns:a16="http://schemas.microsoft.com/office/drawing/2014/main" xmlns="" id="{915B2CD5-5281-A0CA-8399-973EE47FE84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17634" y="606389"/>
            <a:ext cx="8470231" cy="5544154"/>
          </a:xfrm>
          <a:prstGeom prst="rect">
            <a:avLst/>
          </a:prstGeom>
          <a:noFill/>
          <a:effectLst>
            <a:innerShdw blurRad="63500" dist="50800" dir="18900000">
              <a:prstClr val="black">
                <a:alpha val="38000"/>
              </a:prstClr>
            </a:innerShdw>
          </a:effectLst>
          <a:scene3d>
            <a:camera prst="orthographicFront"/>
            <a:lightRig rig="threePt" dir="t"/>
          </a:scene3d>
          <a:sp3d>
            <a:bevelT prst="angle"/>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61775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1243</TotalTime>
  <Words>875</Words>
  <Application>Microsoft Office PowerPoint</Application>
  <PresentationFormat>On-screen Show (4:3)</PresentationFormat>
  <Paragraphs>102</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Factors</dc:title>
  <dc:creator>md asif</dc:creator>
  <cp:lastModifiedBy>rahul</cp:lastModifiedBy>
  <cp:revision>178</cp:revision>
  <dcterms:created xsi:type="dcterms:W3CDTF">2019-08-11T12:51:04Z</dcterms:created>
  <dcterms:modified xsi:type="dcterms:W3CDTF">2025-01-12T05:35:47Z</dcterms:modified>
</cp:coreProperties>
</file>