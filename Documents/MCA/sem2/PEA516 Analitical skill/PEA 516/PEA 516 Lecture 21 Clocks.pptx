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-140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1470474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2ae4f70d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22ae4f70d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https://www.mexperience.com/wp-content/uploads/Time-Spiral-680x340-1436399501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287"/>
            <a:ext cx="9126537" cy="6843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C:\Users\acer pc\Desktop\image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45300" y="14287"/>
            <a:ext cx="2281237" cy="1087437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0" y="6488112"/>
            <a:ext cx="3373437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Department of Analytical Skills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020887" y="228600"/>
            <a:ext cx="478948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CLOCKS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Table of content</a:t>
            </a:r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dirty="0"/>
              <a:t>concept of clock</a:t>
            </a:r>
            <a:endParaRPr dirty="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dirty="0"/>
              <a:t>angle computation</a:t>
            </a:r>
            <a:endParaRPr dirty="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body" idx="1"/>
          </p:nvPr>
        </p:nvSpPr>
        <p:spPr>
          <a:xfrm>
            <a:off x="457200" y="533400"/>
            <a:ext cx="8229600" cy="559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are usually numbered from 1 to 12 as shown in the figure below. </a:t>
            </a:r>
            <a:r>
              <a:rPr lang="en-US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600200"/>
            <a:ext cx="876300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457200" y="533400"/>
            <a:ext cx="8229600" cy="61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Hour hand covers an angle of 360° in 12 hours. So, the hour hand in one hour will cover 360 /12 = 30°. </a:t>
            </a: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for every minute, the hour hand moves through 30 /60 = 0.5 °.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body" idx="1"/>
          </p:nvPr>
        </p:nvSpPr>
        <p:spPr>
          <a:xfrm>
            <a:off x="457200" y="609600"/>
            <a:ext cx="82296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Minute hand covers an angle of 360° in 1 hour. So for every minute, the minute hand moves through 360/60 = 6 °. </a:t>
            </a: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4290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So, their relative displacement for every minute is 5.5° or 11/2°. </a:t>
            </a:r>
            <a:endParaRPr/>
          </a:p>
          <a:p>
            <a:pPr marL="34290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endParaRPr/>
          </a:p>
          <a:p>
            <a:pPr marL="34290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body" idx="1"/>
          </p:nvPr>
        </p:nvSpPr>
        <p:spPr>
          <a:xfrm>
            <a:off x="457200" y="533400"/>
            <a:ext cx="8229600" cy="559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000" b="1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000" b="1"/>
              <a:t>FORMULA TO FIND THE ANGLE BETWEEN THE HANDS OF THE CLOCK: </a:t>
            </a:r>
            <a:endParaRPr sz="3000" b="1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000"/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30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</p:txBody>
      </p:sp>
      <p:pic>
        <p:nvPicPr>
          <p:cNvPr id="115" name="Google Shape;11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3733800"/>
            <a:ext cx="7772400" cy="16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>
            <a:spLocks noGrp="1"/>
          </p:cNvSpPr>
          <p:nvPr>
            <p:ph type="body" idx="1"/>
          </p:nvPr>
        </p:nvSpPr>
        <p:spPr>
          <a:xfrm>
            <a:off x="381000" y="457200"/>
            <a:ext cx="8305800" cy="6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➢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9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𝜃=30</a:t>
            </a:r>
            <a:r>
              <a:rPr lang="en-US" sz="29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°</a:t>
            </a:r>
            <a:r>
              <a:rPr lang="en-US" sz="29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𝐻− 11/2𝑀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rPr lang="en-US" sz="29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(when the minute hand is trailing the hour hand)			</a:t>
            </a:r>
            <a:endParaRPr sz="29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endParaRPr sz="2900"/>
          </a:p>
          <a:p>
            <a:pPr marL="457200" marR="0" lvl="0" indent="-412750" algn="l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Char char="➢"/>
            </a:pPr>
            <a:r>
              <a:rPr lang="en-US" sz="29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𝜃=11/2𝑀− 30</a:t>
            </a:r>
            <a:r>
              <a:rPr lang="en-US" sz="29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°</a:t>
            </a:r>
            <a:r>
              <a:rPr lang="en-US" sz="29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𝐻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rPr lang="en-US" sz="29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(when the minute hand is leading the hour hand)</a:t>
            </a:r>
            <a:endParaRPr/>
          </a:p>
          <a:p>
            <a:pPr marL="342900" marR="0" lvl="0" indent="0" algn="l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None/>
            </a:pPr>
            <a:endParaRPr sz="2900"/>
          </a:p>
          <a:p>
            <a:pPr marL="342900" marR="0" lvl="0" indent="0" algn="l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None/>
            </a:pPr>
            <a:endParaRPr sz="2900"/>
          </a:p>
          <a:p>
            <a:pPr marL="0" marR="0" lvl="0" indent="-184150" algn="l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Noto Sans Symbols"/>
              <a:buChar char="⮚"/>
            </a:pPr>
            <a:r>
              <a:rPr lang="en-US" sz="29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𝜃 = Angle between the hands of the clock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>
            <a:spLocks noGrp="1"/>
          </p:cNvSpPr>
          <p:nvPr>
            <p:ph type="body" idx="1"/>
          </p:nvPr>
        </p:nvSpPr>
        <p:spPr>
          <a:xfrm>
            <a:off x="457200" y="609600"/>
            <a:ext cx="8229600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b="1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COINCIDENCE OF THE HANDS OF THE CLOCK: </a:t>
            </a: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203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12 o' clock, the hands of the clock overlap i.e. the angle formed between them is 0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°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Char char="⮚"/>
            </a:pPr>
            <a:endParaRPr/>
          </a:p>
          <a:p>
            <a:pPr marL="0" marR="0" lvl="0" indent="-203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find the next time they overlap, the gap between them should be 360</a:t>
            </a:r>
            <a:r>
              <a:rPr lang="en-US" sz="3200" b="0" i="1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° 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that they are at the same point. Hence it takes,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11/2 × t = 360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t = 720/11 = 65  (5/11) minutes </a:t>
            </a: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>
            <a:spLocks noGrp="1"/>
          </p:cNvSpPr>
          <p:nvPr>
            <p:ph type="body" idx="1"/>
          </p:nvPr>
        </p:nvSpPr>
        <p:spPr>
          <a:xfrm>
            <a:off x="457200" y="457200"/>
            <a:ext cx="8229600" cy="5516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b="1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FREQUENCY OF FORMATION OF ANGLES BETWEEN THE HANDS OF THE CLOCK: </a:t>
            </a:r>
            <a:endParaRPr sz="3200" b="1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endParaRPr/>
          </a:p>
          <a:p>
            <a:pPr marL="342900" lvl="0" indent="-431800" algn="l" rtl="0">
              <a:spcBef>
                <a:spcPts val="640"/>
              </a:spcBef>
              <a:spcAft>
                <a:spcPts val="0"/>
              </a:spcAft>
              <a:buSzPts val="3200"/>
              <a:buFont typeface="Noto Sans Symbols"/>
              <a:buChar char="⮚"/>
            </a:pPr>
            <a:r>
              <a:rPr lang="en-US"/>
              <a:t>We know that the hands of the clock coincide every 65  5/11 or 720/11 minutes. So, in a day there are 24 × 60 = 1440 minutes.</a:t>
            </a:r>
            <a:endParaRPr/>
          </a:p>
          <a:p>
            <a:pPr marL="34290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/>
          </a:p>
          <a:p>
            <a:pPr marL="342900" lvl="0" indent="-431800" algn="l" rtl="0">
              <a:spcBef>
                <a:spcPts val="640"/>
              </a:spcBef>
              <a:spcAft>
                <a:spcPts val="0"/>
              </a:spcAft>
              <a:buSzPts val="3200"/>
              <a:buFont typeface="Noto Sans Symbols"/>
              <a:buChar char="⮚"/>
            </a:pPr>
            <a:r>
              <a:rPr lang="en-US"/>
              <a:t>Therefore, in a day the hands of the clock coincide (1440 × 11) / 720 = 22 times.</a:t>
            </a:r>
            <a:endParaRPr/>
          </a:p>
          <a:p>
            <a:pPr marL="34290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endParaRPr/>
          </a:p>
          <a:p>
            <a:pPr marL="34290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>
            <a:spLocks noGrp="1"/>
          </p:cNvSpPr>
          <p:nvPr>
            <p:ph type="body" idx="1"/>
          </p:nvPr>
        </p:nvSpPr>
        <p:spPr>
          <a:xfrm>
            <a:off x="457200" y="533400"/>
            <a:ext cx="8229600" cy="6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Thus, </a:t>
            </a:r>
            <a:r>
              <a:rPr lang="en-US"/>
              <a:t>it can be concluded that </a:t>
            </a: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11 to 1 o' clock they coincide only once at 12 o' clock. </a:t>
            </a: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So, 11 times in 12 hours and thus 22 times in 24 hours.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>
            <a:spLocks noGrp="1"/>
          </p:cNvSpPr>
          <p:nvPr>
            <p:ph type="title"/>
          </p:nvPr>
        </p:nvSpPr>
        <p:spPr>
          <a:xfrm>
            <a:off x="609600" y="2438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PRACTICE QUESTIONS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>
            <a:spLocks noGrp="1"/>
          </p:cNvSpPr>
          <p:nvPr>
            <p:ph type="body" idx="1"/>
          </p:nvPr>
        </p:nvSpPr>
        <p:spPr>
          <a:xfrm>
            <a:off x="457200" y="609600"/>
            <a:ext cx="8229600" cy="5516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Find the angle between the hands of a clock when the time is 5:40. 	</a:t>
            </a:r>
            <a:endParaRPr/>
          </a:p>
          <a:p>
            <a:pPr marL="0" marR="0" lvl="0" indent="-203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lphaLcParenBoth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80⁰ 	</a:t>
            </a:r>
            <a:endParaRPr/>
          </a:p>
          <a:p>
            <a:pPr marL="0" marR="0" lvl="0" indent="-203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lphaLcParenBoth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160⁰ 	</a:t>
            </a:r>
            <a:endParaRPr/>
          </a:p>
          <a:p>
            <a:pPr marL="0" marR="0" lvl="0" indent="-203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lphaLcParenBoth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70⁰</a:t>
            </a:r>
            <a:endParaRPr/>
          </a:p>
          <a:p>
            <a:pPr marL="0" marR="0" lvl="0" indent="-203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lphaLcParenBoth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120⁰ 	</a:t>
            </a: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Ans: C</a:t>
            </a: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>
            <a:spLocks noGrp="1"/>
          </p:cNvSpPr>
          <p:nvPr>
            <p:ph type="body" idx="1"/>
          </p:nvPr>
        </p:nvSpPr>
        <p:spPr>
          <a:xfrm>
            <a:off x="457200" y="533400"/>
            <a:ext cx="8229600" cy="559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Find the angle between the minute hand and the hour hand of a clock when the time is 7:20. (a) 80⁰ 	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(b) 90⁰ 	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(c) 100⁰ 	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 110⁰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Ans: C</a:t>
            </a:r>
            <a:endParaRPr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>
            <a:spLocks noGrp="1"/>
          </p:cNvSpPr>
          <p:nvPr>
            <p:ph type="body" idx="1"/>
          </p:nvPr>
        </p:nvSpPr>
        <p:spPr>
          <a:xfrm>
            <a:off x="457200" y="533400"/>
            <a:ext cx="8229600" cy="559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The reflex angle between the hands of a clock at 10:25 is 	</a:t>
            </a:r>
            <a:endParaRPr/>
          </a:p>
          <a:p>
            <a:pPr marL="0" marR="0" lvl="0" indent="-203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lphaLcParenBoth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180⁰ 	</a:t>
            </a:r>
            <a:endParaRPr/>
          </a:p>
          <a:p>
            <a:pPr marL="0" marR="0" lvl="0" indent="-203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lphaLcParenBoth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162.5⁰ 	</a:t>
            </a: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(c) 165⁰ 	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 197.5⁰ 	</a:t>
            </a: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Ans: D</a:t>
            </a: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>
            <a:spLocks noGrp="1"/>
          </p:cNvSpPr>
          <p:nvPr>
            <p:ph type="body" idx="1"/>
          </p:nvPr>
        </p:nvSpPr>
        <p:spPr>
          <a:xfrm>
            <a:off x="457200" y="609600"/>
            <a:ext cx="8229600" cy="5516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Find the angle between the hour hand and the minute hand of a clock when the time is 15:25. 	</a:t>
            </a:r>
            <a:endParaRPr/>
          </a:p>
          <a:p>
            <a:pPr marL="0" marR="0" lvl="0" indent="-203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lphaLcParenBoth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47.5 ⁰ 	</a:t>
            </a:r>
            <a:endParaRPr/>
          </a:p>
          <a:p>
            <a:pPr marL="0" marR="0" lvl="0" indent="-203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lphaLcParenBoth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45.5 ⁰ 	</a:t>
            </a:r>
            <a:endParaRPr/>
          </a:p>
          <a:p>
            <a:pPr marL="0" marR="0" lvl="0" indent="-203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lphaLcParenBoth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 ⁰ 	</a:t>
            </a:r>
            <a:endParaRPr/>
          </a:p>
          <a:p>
            <a:pPr marL="0" marR="0" lvl="0" indent="-203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lphaLcParenBoth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None of these </a:t>
            </a: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Ans: A	</a:t>
            </a:r>
            <a:endParaRPr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>
            <a:spLocks noGrp="1"/>
          </p:cNvSpPr>
          <p:nvPr>
            <p:ph type="body" idx="1"/>
          </p:nvPr>
        </p:nvSpPr>
        <p:spPr>
          <a:xfrm>
            <a:off x="457200" y="609600"/>
            <a:ext cx="8229600" cy="5516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At what time between 5 p.m. and 6 p.m., do the hands of a clock coincide? 	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(a) 8 hour 29  3/11 min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(b) 9 hour 33  8/11 min 	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(c) 5 hour 27  3/11 min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 None of these 	</a:t>
            </a: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Ans: B</a:t>
            </a: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>
            <a:spLocks noGrp="1"/>
          </p:cNvSpPr>
          <p:nvPr>
            <p:ph type="body" idx="1"/>
          </p:nvPr>
        </p:nvSpPr>
        <p:spPr>
          <a:xfrm>
            <a:off x="457200" y="609600"/>
            <a:ext cx="8229600" cy="5516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The minute hand of a clock is found to cross the hour hand x minutes past three. Find x. 	</a:t>
            </a:r>
            <a:endParaRPr/>
          </a:p>
          <a:p>
            <a:pPr marL="0" marR="0" lvl="0" indent="-203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lphaLcParenBoth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 5/11 	</a:t>
            </a:r>
            <a:endParaRPr/>
          </a:p>
          <a:p>
            <a:pPr marL="0" marR="0" lvl="0" indent="-203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lphaLcParenBoth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  15/11 	</a:t>
            </a:r>
            <a:endParaRPr/>
          </a:p>
          <a:p>
            <a:pPr marL="0" marR="0" lvl="0" indent="-203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lphaLcParenBoth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  4/11 	</a:t>
            </a:r>
            <a:endParaRPr/>
          </a:p>
          <a:p>
            <a:pPr marL="0" marR="0" lvl="0" indent="-203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lphaLcParenBoth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  9/11 	</a:t>
            </a: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Ans: C</a:t>
            </a: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>
            <a:spLocks noGrp="1"/>
          </p:cNvSpPr>
          <p:nvPr>
            <p:ph type="body" idx="1"/>
          </p:nvPr>
        </p:nvSpPr>
        <p:spPr>
          <a:xfrm>
            <a:off x="457200" y="609600"/>
            <a:ext cx="8229600" cy="5516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The number of minutes from midnight to now is 9 times the number of minutes from now to noon. What time is it now? 	</a:t>
            </a:r>
            <a:endParaRPr/>
          </a:p>
          <a:p>
            <a:pPr marL="0" marR="0" lvl="0" indent="-203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lphaLcParenBoth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10.50 a.m. 	</a:t>
            </a: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(b) 10.48 a.m. 	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(c) 10.40 a.m. 	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 10.53 a.m. </a:t>
            </a: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Ans: B</a:t>
            </a:r>
            <a:endParaRPr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4"/>
          <p:cNvSpPr txBox="1">
            <a:spLocks noGrp="1"/>
          </p:cNvSpPr>
          <p:nvPr>
            <p:ph type="body" idx="1"/>
          </p:nvPr>
        </p:nvSpPr>
        <p:spPr>
          <a:xfrm>
            <a:off x="457200" y="609600"/>
            <a:ext cx="8229600" cy="5516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 Find at what time (in minutes) past 8 o' clock but before 9 o' clock will the hands of a clock be in the same straight line but not together. 	</a:t>
            </a:r>
            <a:endParaRPr/>
          </a:p>
          <a:p>
            <a:pPr marL="0" marR="0" lvl="0" indent="-203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lphaLcParenBoth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100/11 	</a:t>
            </a: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(b) 110/11 	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(c) 120/11 	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 None of these </a:t>
            </a: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Ans: C</a:t>
            </a:r>
            <a:endParaRPr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5"/>
          <p:cNvSpPr txBox="1">
            <a:spLocks noGrp="1"/>
          </p:cNvSpPr>
          <p:nvPr>
            <p:ph type="body" idx="1"/>
          </p:nvPr>
        </p:nvSpPr>
        <p:spPr>
          <a:xfrm>
            <a:off x="457200" y="533400"/>
            <a:ext cx="8229600" cy="559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9. How many times in a day do the hands of a clock form 60⁰? 	</a:t>
            </a:r>
            <a:endParaRPr/>
          </a:p>
          <a:p>
            <a:pPr marL="0" marR="0" lvl="0" indent="-203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lphaLcParenBoth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 	</a:t>
            </a: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(b) 33 	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(c) 44 	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 55 </a:t>
            </a: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Ans: C</a:t>
            </a:r>
            <a:endParaRPr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6"/>
          <p:cNvSpPr txBox="1">
            <a:spLocks noGrp="1"/>
          </p:cNvSpPr>
          <p:nvPr>
            <p:ph type="body" idx="1"/>
          </p:nvPr>
        </p:nvSpPr>
        <p:spPr>
          <a:xfrm>
            <a:off x="457200" y="609600"/>
            <a:ext cx="8229600" cy="5516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10. A few times per day, the minute hand of a clock is exactly above (or below) the hour hand. How many times per day does this occur? 	</a:t>
            </a:r>
            <a:endParaRPr/>
          </a:p>
          <a:p>
            <a:pPr marL="0" marR="0" lvl="0" indent="-203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lphaLcParenBoth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 times 	</a:t>
            </a: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(b) 24 times 	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(c) 22 times 	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 44 times 	</a:t>
            </a: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Ans: C</a:t>
            </a: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7"/>
          <p:cNvSpPr txBox="1">
            <a:spLocks noGrp="1"/>
          </p:cNvSpPr>
          <p:nvPr>
            <p:ph type="body" idx="1"/>
          </p:nvPr>
        </p:nvSpPr>
        <p:spPr>
          <a:xfrm>
            <a:off x="457200" y="609600"/>
            <a:ext cx="8229600" cy="5516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11. At how many times between 12 o'clock and 1 o' clock are the minute hand and the hour hand of a clock at an angle of 90 degrees to each other? 	</a:t>
            </a:r>
            <a:endParaRPr/>
          </a:p>
          <a:p>
            <a:pPr marL="0" marR="0" lvl="0" indent="-203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lphaLcParenBoth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	</a:t>
            </a: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(b) 6 	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(c) 3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 2 	</a:t>
            </a: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Ans: D</a:t>
            </a: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8"/>
          <p:cNvSpPr txBox="1">
            <a:spLocks noGrp="1"/>
          </p:cNvSpPr>
          <p:nvPr>
            <p:ph type="body" idx="1"/>
          </p:nvPr>
        </p:nvSpPr>
        <p:spPr>
          <a:xfrm>
            <a:off x="457200" y="533400"/>
            <a:ext cx="8229600" cy="559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12. How much does a watch gain per day, if its hands coincide every 64 minutes? 	</a:t>
            </a:r>
            <a:endParaRPr/>
          </a:p>
          <a:p>
            <a:pPr marL="0" marR="0" lvl="0" indent="-203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lphaLcParenBoth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  8/11 min 	</a:t>
            </a: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(b) 36  5/11 min 	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(c) 90 min 	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 96 min 	</a:t>
            </a: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Ans: A</a:t>
            </a: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9"/>
          <p:cNvSpPr txBox="1">
            <a:spLocks noGrp="1"/>
          </p:cNvSpPr>
          <p:nvPr>
            <p:ph type="body" idx="1"/>
          </p:nvPr>
        </p:nvSpPr>
        <p:spPr>
          <a:xfrm>
            <a:off x="457200" y="533400"/>
            <a:ext cx="8229600" cy="559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13. How many minutes is it until six o’clock if fifty minutes ago it was four times as many minutes past three o’clock? 	</a:t>
            </a:r>
            <a:endParaRPr/>
          </a:p>
          <a:p>
            <a:pPr marL="0" marR="0" lvl="0" indent="-203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lphaLcParenBoth"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26 min 	</a:t>
            </a: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(b) 27 min 	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(c) 30 min 	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 None of these </a:t>
            </a: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Ans: A</a:t>
            </a: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0"/>
          <p:cNvSpPr txBox="1">
            <a:spLocks noGrp="1"/>
          </p:cNvSpPr>
          <p:nvPr>
            <p:ph type="body" idx="1"/>
          </p:nvPr>
        </p:nvSpPr>
        <p:spPr>
          <a:xfrm>
            <a:off x="457200" y="533400"/>
            <a:ext cx="8229600" cy="559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14. A man who went out between 3 and 4 and returned between 8 and 9, found that the hands of the watch had exactly changed places. When did he return? 	</a:t>
            </a:r>
            <a:endParaRPr dirty="0"/>
          </a:p>
          <a:p>
            <a:pPr marL="0" marR="0" lvl="0" indent="-203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lphaLcParenBoth"/>
            </a:pPr>
            <a:r>
              <a:rPr lang="en-US" sz="32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 min past 8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(b) 21  1/3min past 8 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(c) 19  2/3 min past 8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 18  6/13 min past 8 	</a:t>
            </a:r>
            <a:endParaRPr sz="32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0" i="0" u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</a:t>
            </a:r>
            <a:r>
              <a:rPr lang="en-US" sz="32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D</a:t>
            </a:r>
            <a:endParaRPr sz="32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632</Words>
  <Application>Microsoft Office PowerPoint</Application>
  <PresentationFormat>On-screen Show (4:3)</PresentationFormat>
  <Paragraphs>150</Paragraphs>
  <Slides>25</Slides>
  <Notes>25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1_Office Theme</vt:lpstr>
      <vt:lpstr>PowerPoint Presentation</vt:lpstr>
      <vt:lpstr>Table of content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 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rahul</cp:lastModifiedBy>
  <cp:revision>1</cp:revision>
  <dcterms:modified xsi:type="dcterms:W3CDTF">2025-01-12T05:47:02Z</dcterms:modified>
</cp:coreProperties>
</file>