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2"/>
    <p:sldId id="258" r:id="rId3"/>
    <p:sldId id="259" r:id="rId4"/>
    <p:sldId id="291" r:id="rId5"/>
    <p:sldId id="315" r:id="rId6"/>
    <p:sldId id="316" r:id="rId7"/>
    <p:sldId id="317" r:id="rId8"/>
    <p:sldId id="318" r:id="rId9"/>
    <p:sldId id="319" r:id="rId10"/>
    <p:sldId id="260" r:id="rId11"/>
    <p:sldId id="261" r:id="rId12"/>
    <p:sldId id="267" r:id="rId13"/>
    <p:sldId id="271" r:id="rId14"/>
    <p:sldId id="272" r:id="rId15"/>
    <p:sldId id="262" r:id="rId16"/>
    <p:sldId id="263" r:id="rId17"/>
    <p:sldId id="264" r:id="rId18"/>
    <p:sldId id="265" r:id="rId19"/>
    <p:sldId id="276" r:id="rId20"/>
    <p:sldId id="277" r:id="rId21"/>
    <p:sldId id="278" r:id="rId22"/>
    <p:sldId id="279" r:id="rId23"/>
    <p:sldId id="280" r:id="rId24"/>
    <p:sldId id="275" r:id="rId25"/>
    <p:sldId id="281" r:id="rId26"/>
    <p:sldId id="282" r:id="rId27"/>
    <p:sldId id="285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>
        <p:scale>
          <a:sx n="81" d="100"/>
          <a:sy n="81" d="100"/>
        </p:scale>
        <p:origin x="-246" y="-3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12-Jan-25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12-Jan-25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12-Jan-25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12-Jan-25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12-Jan-25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12-Jan-25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12-Jan-25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12-Jan-25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12-Jan-25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12-Jan-25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12-Jan-25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  <a:t>12-Jan-25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8667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/>
        <p:txBody>
          <a:bodyPr vert="horz" wrap="square" lIns="91440" tIns="45720" rIns="91440" bIns="45720" anchor="ctr" anchorCtr="0">
            <a:normAutofit fontScale="90000"/>
          </a:bodyPr>
          <a:lstStyle/>
          <a:p>
            <a:pPr>
              <a:buClrTx/>
              <a:buSzTx/>
              <a:buFontTx/>
            </a:pPr>
            <a:r>
              <a:rPr lang="en-US" b="1" dirty="0"/>
              <a:t/>
            </a:r>
            <a:br>
              <a:rPr lang="en-US" b="1" dirty="0"/>
            </a:br>
            <a:r>
              <a:rPr lang="en-US" b="1" dirty="0"/>
              <a:t/>
            </a:r>
            <a:br>
              <a:rPr lang="en-US" b="1" dirty="0"/>
            </a:br>
            <a:r>
              <a:rPr lang="en-US" b="1" dirty="0"/>
              <a:t>PEA 516</a:t>
            </a:r>
            <a:br>
              <a:rPr lang="en-US" b="1" dirty="0"/>
            </a:br>
            <a:r>
              <a:rPr lang="en-US" b="1"/>
              <a:t/>
            </a:r>
            <a:br>
              <a:rPr lang="en-US" b="1"/>
            </a:br>
            <a:r>
              <a:rPr lang="en-US" b="1" smtClean="0"/>
              <a:t>LECTURE-2</a:t>
            </a:r>
            <a:r>
              <a:rPr lang="en-US" b="1" dirty="0"/>
              <a:t/>
            </a:r>
            <a:br>
              <a:rPr lang="en-US" b="1" dirty="0"/>
            </a:br>
            <a:r>
              <a:rPr lang="en-US" b="1" dirty="0"/>
              <a:t/>
            </a:r>
            <a:br>
              <a:rPr lang="en-US" b="1" dirty="0"/>
            </a:br>
            <a:r>
              <a:rPr b="1" dirty="0"/>
              <a:t>Time and Work</a:t>
            </a:r>
            <a:r>
              <a:rPr dirty="0"/>
              <a:t/>
            </a:r>
            <a:br>
              <a:rPr dirty="0"/>
            </a:br>
            <a:endParaRPr dirty="0"/>
          </a:p>
        </p:txBody>
      </p:sp>
      <p:pic>
        <p:nvPicPr>
          <p:cNvPr id="3" name="Picture 2" descr="sdsfg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8505" y="3249295"/>
            <a:ext cx="6108700" cy="30099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1705" y="901700"/>
            <a:ext cx="10412095" cy="5275580"/>
          </a:xfr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sz="4000" b="1" noProof="0" dirty="0" smtClean="0">
                <a:ln>
                  <a:noFill/>
                </a:ln>
                <a:effectLst/>
                <a:uLnTx/>
                <a:uFillTx/>
                <a:sym typeface="+mn-ea"/>
              </a:rPr>
              <a:t>Contents:</a:t>
            </a:r>
            <a:endParaRPr kumimoji="0" lang="en-US" sz="4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AutoNum type="arabicPeriod"/>
              <a:defRPr/>
            </a:pPr>
            <a:endParaRPr lang="en-US" altLang="en-US"/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AutoNum type="arabicPeriod"/>
              <a:defRPr/>
            </a:pPr>
            <a:r>
              <a:rPr lang="en-US" altLang="en-US">
                <a:sym typeface="+mn-ea"/>
              </a:rPr>
              <a:t>Computation of work done together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AutoNum type="arabicPeriod"/>
              <a:defRPr/>
            </a:pPr>
            <a:endParaRPr lang="en-US" altLang="en-US"/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AutoNum type="arabicPeriod"/>
              <a:defRPr/>
            </a:pPr>
            <a:r>
              <a:rPr lang="en-US" altLang="en-US"/>
              <a:t>Work efficiency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AutoNum type="arabicPeriod"/>
              <a:defRPr/>
            </a:pPr>
            <a:endParaRPr lang="en-US" altLang="en-US"/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AutoNum type="arabicPeriod"/>
              <a:defRPr/>
            </a:pPr>
            <a:r>
              <a:rPr lang="en-US" altLang="en-US"/>
              <a:t>Work on alternate days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2015" y="932180"/>
            <a:ext cx="10471785" cy="5245100"/>
          </a:xfrm>
        </p:spPr>
        <p:txBody>
          <a:bodyPr/>
          <a:lstStyle/>
          <a:p>
            <a:pPr marL="0" indent="0">
              <a:buNone/>
            </a:pPr>
            <a:r>
              <a:rPr b="1" dirty="0">
                <a:sym typeface="+mn-ea"/>
              </a:rPr>
              <a:t>Basic Concepts:</a:t>
            </a:r>
            <a:endParaRPr b="1" dirty="0"/>
          </a:p>
          <a:p>
            <a:pPr marL="0" indent="0">
              <a:buNone/>
            </a:pPr>
            <a:r>
              <a:rPr dirty="0">
                <a:sym typeface="+mn-ea"/>
              </a:rPr>
              <a:t>(A) </a:t>
            </a:r>
            <a:r>
              <a:rPr b="1" dirty="0">
                <a:sym typeface="+mn-ea"/>
              </a:rPr>
              <a:t>Time</a:t>
            </a:r>
            <a:r>
              <a:rPr dirty="0">
                <a:sym typeface="+mn-ea"/>
              </a:rPr>
              <a:t> :- Time taken to complete an assigned job.</a:t>
            </a:r>
            <a:endParaRPr dirty="0"/>
          </a:p>
          <a:p>
            <a:pPr marL="0" indent="0">
              <a:buNone/>
            </a:pPr>
            <a:r>
              <a:rPr dirty="0">
                <a:sym typeface="+mn-ea"/>
              </a:rPr>
              <a:t>(B) </a:t>
            </a:r>
            <a:r>
              <a:rPr b="1" dirty="0">
                <a:sym typeface="+mn-ea"/>
              </a:rPr>
              <a:t>Individual time</a:t>
            </a:r>
            <a:r>
              <a:rPr dirty="0">
                <a:sym typeface="+mn-ea"/>
              </a:rPr>
              <a:t> :- Time needed by single person to complete a job.</a:t>
            </a:r>
            <a:endParaRPr dirty="0"/>
          </a:p>
          <a:p>
            <a:pPr marL="0" indent="0">
              <a:buNone/>
            </a:pPr>
            <a:r>
              <a:rPr dirty="0">
                <a:sym typeface="+mn-ea"/>
              </a:rPr>
              <a:t>(C) </a:t>
            </a:r>
            <a:r>
              <a:rPr b="1" dirty="0">
                <a:sym typeface="+mn-ea"/>
              </a:rPr>
              <a:t>Work:- </a:t>
            </a:r>
            <a:r>
              <a:rPr dirty="0">
                <a:sym typeface="+mn-ea"/>
              </a:rPr>
              <a:t>It is the amount of work done actually.</a:t>
            </a: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2805" y="946150"/>
            <a:ext cx="10500995" cy="5231130"/>
          </a:xfrm>
        </p:spPr>
        <p:txBody>
          <a:bodyPr/>
          <a:lstStyle/>
          <a:p>
            <a:pPr marL="0" indent="0">
              <a:buNone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sym typeface="+mn-ea"/>
              </a:rPr>
              <a:t>1) Susan can type 10 pages in 5 minutes. Mary can type 5 pages in 10 minutes. Working together, how many pages can they type in 30 minutes? </a:t>
            </a: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sym typeface="+mn-ea"/>
              </a:rPr>
              <a:t>A] 15			</a:t>
            </a: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sym typeface="+mn-ea"/>
              </a:rPr>
              <a:t>B] 20			</a:t>
            </a: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sym typeface="+mn-ea"/>
              </a:rPr>
              <a:t>C] 25			</a:t>
            </a: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sym typeface="+mn-ea"/>
              </a:rPr>
              <a:t>D] 75</a:t>
            </a: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/>
              <a:t>Work done together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b="1" dirty="0">
                <a:latin typeface="Calibri (Body)" charset="0"/>
                <a:cs typeface="Calibri (Body)" charset="0"/>
                <a:sym typeface="+mn-ea"/>
              </a:rPr>
              <a:t>Example:</a:t>
            </a:r>
            <a:endParaRPr b="1" dirty="0">
              <a:latin typeface="Calibri (Body)" charset="0"/>
              <a:cs typeface="Calibri (Body)" charset="0"/>
            </a:endParaRPr>
          </a:p>
          <a:p>
            <a:pPr marL="0" indent="0">
              <a:buNone/>
            </a:pPr>
            <a:r>
              <a:rPr dirty="0">
                <a:latin typeface="Calibri (Body)" charset="0"/>
                <a:cs typeface="Calibri (Body)" charset="0"/>
                <a:sym typeface="+mn-ea"/>
              </a:rPr>
              <a:t>If A can do a piece of work in 10 days and B can do the same work in 15 days then how long will they take if they both work together</a:t>
            </a:r>
            <a:r>
              <a:rPr lang="en-US" dirty="0">
                <a:latin typeface="Calibri (Body)" charset="0"/>
                <a:cs typeface="Calibri (Body)" charset="0"/>
                <a:sym typeface="+mn-ea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Content Placeholder 2"/>
          <p:cNvSpPr>
            <a:spLocks noGrp="1"/>
          </p:cNvSpPr>
          <p:nvPr>
            <p:ph idx="1"/>
          </p:nvPr>
        </p:nvSpPr>
        <p:spPr>
          <a:xfrm>
            <a:off x="1056640" y="816610"/>
            <a:ext cx="10063480" cy="5309870"/>
          </a:xfrm>
        </p:spPr>
        <p:txBody>
          <a:bodyPr vert="horz" wrap="square" lIns="91440" tIns="45720" rIns="91440" bIns="45720" anchor="t" anchorCtr="0"/>
          <a:lstStyle/>
          <a:p>
            <a:pPr marL="0" indent="0">
              <a:buNone/>
            </a:pPr>
            <a:r>
              <a:rPr b="1" dirty="0"/>
              <a:t>Example</a:t>
            </a:r>
            <a:r>
              <a:rPr dirty="0"/>
              <a:t>:</a:t>
            </a:r>
          </a:p>
          <a:p>
            <a:pPr marL="0" indent="0">
              <a:buNone/>
            </a:pPr>
            <a:r>
              <a:rPr dirty="0"/>
              <a:t>A, B and C can complete a piece of work in 5, 10 and 15 days respectively. Working together, they will complete the same work in: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916940"/>
            <a:ext cx="10530840" cy="5260340"/>
          </a:xfr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None/>
              <a:defRPr/>
            </a:pPr>
            <a:r>
              <a:rPr lang="en-US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 (Body)" charset="0"/>
                <a:cs typeface="Calibri (Body)" charset="0"/>
                <a:sym typeface="+mn-ea"/>
              </a:rPr>
              <a:t>2) A can do a work in 6 days and B in 9 days. How many days will both take together to complete the work?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 (Body)" charset="0"/>
              <a:ea typeface="+mn-ea"/>
              <a:cs typeface="Calibri (Body)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AutoNum type="alphaLcParenBoth"/>
              <a:defRPr/>
            </a:pPr>
            <a:r>
              <a:rPr lang="en-US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 (Body)" charset="0"/>
                <a:cs typeface="Calibri (Body)" charset="0"/>
                <a:sym typeface="+mn-ea"/>
              </a:rPr>
              <a:t>7.5 days 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 (Body)" charset="0"/>
              <a:ea typeface="+mn-ea"/>
              <a:cs typeface="Calibri (Body)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AutoNum type="alphaLcParenBoth"/>
              <a:defRPr/>
            </a:pPr>
            <a:r>
              <a:rPr lang="en-US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 (Body)" charset="0"/>
                <a:cs typeface="Calibri (Body)" charset="0"/>
                <a:sym typeface="+mn-ea"/>
              </a:rPr>
              <a:t>5.4 days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 (Body)" charset="0"/>
              <a:ea typeface="+mn-ea"/>
              <a:cs typeface="Calibri (Body)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AutoNum type="alphaLcParenBoth"/>
              <a:defRPr/>
            </a:pPr>
            <a:r>
              <a:rPr lang="en-US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 (Body)" charset="0"/>
                <a:cs typeface="Calibri (Body)" charset="0"/>
                <a:sym typeface="+mn-ea"/>
              </a:rPr>
              <a:t>3.6 days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 (Body)" charset="0"/>
              <a:ea typeface="+mn-ea"/>
              <a:cs typeface="Calibri (Body)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AutoNum type="alphaLcParenBoth"/>
              <a:defRPr/>
            </a:pPr>
            <a:r>
              <a:rPr lang="en-US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 (Body)" charset="0"/>
                <a:cs typeface="Calibri (Body)" charset="0"/>
                <a:sym typeface="+mn-ea"/>
              </a:rPr>
              <a:t>3 days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 (Body)" charset="0"/>
              <a:ea typeface="+mn-ea"/>
              <a:cs typeface="Calibri (Body)" charset="0"/>
            </a:endParaRPr>
          </a:p>
          <a:p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 (Body)" charset="0"/>
              <a:ea typeface="+mn-ea"/>
              <a:cs typeface="Calibri (Body)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8045" y="916940"/>
            <a:ext cx="10485755" cy="5260340"/>
          </a:xfr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None/>
              <a:defRPr/>
            </a:pPr>
            <a:r>
              <a:rPr lang="en-US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 (Body)" charset="0"/>
                <a:cs typeface="Calibri (Body)" charset="0"/>
                <a:sym typeface="+mn-ea"/>
              </a:rPr>
              <a:t>3) A and B can do a work in 12 days, B and C in 15 days and C and A in 20 days. If A, B and C work together, they will complete the work in : </a:t>
            </a:r>
            <a:br>
              <a:rPr lang="en-US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 (Body)" charset="0"/>
                <a:cs typeface="Calibri (Body)" charset="0"/>
                <a:sym typeface="+mn-ea"/>
              </a:rPr>
            </a:b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 (Body)" charset="0"/>
              <a:ea typeface="+mn-ea"/>
              <a:cs typeface="Calibri (Body)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AutoNum type="alphaLcParenR"/>
              <a:defRPr/>
            </a:pPr>
            <a:r>
              <a:rPr lang="en-US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 (Body)" charset="0"/>
                <a:cs typeface="Calibri (Body)" charset="0"/>
                <a:sym typeface="+mn-ea"/>
              </a:rPr>
              <a:t>5 days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 (Body)" charset="0"/>
              <a:ea typeface="+mn-ea"/>
              <a:cs typeface="Calibri (Body)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AutoNum type="alphaLcParenR"/>
              <a:defRPr/>
            </a:pPr>
            <a:r>
              <a:rPr lang="en-US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 (Body)" charset="0"/>
                <a:cs typeface="Calibri (Body)" charset="0"/>
                <a:sym typeface="+mn-ea"/>
              </a:rPr>
              <a:t>7 5/6 days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 (Body)" charset="0"/>
              <a:ea typeface="+mn-ea"/>
              <a:cs typeface="Calibri (Body)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AutoNum type="alphaLcParenR"/>
              <a:defRPr/>
            </a:pPr>
            <a:r>
              <a:rPr lang="en-US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 (Body)" charset="0"/>
                <a:cs typeface="Calibri (Body)" charset="0"/>
                <a:sym typeface="+mn-ea"/>
              </a:rPr>
              <a:t>10 days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 (Body)" charset="0"/>
              <a:ea typeface="+mn-ea"/>
              <a:cs typeface="Calibri (Body)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AutoNum type="alphaLcParenR"/>
              <a:defRPr/>
            </a:pPr>
            <a:r>
              <a:rPr lang="en-US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 (Body)" charset="0"/>
                <a:cs typeface="Calibri (Body)" charset="0"/>
                <a:sym typeface="+mn-ea"/>
              </a:rPr>
              <a:t>15 2/3 days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 (Body)" charset="0"/>
              <a:ea typeface="+mn-ea"/>
              <a:cs typeface="Calibri (Body)" charset="0"/>
            </a:endParaRPr>
          </a:p>
          <a:p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 (Body)" charset="0"/>
              <a:ea typeface="+mn-ea"/>
              <a:cs typeface="Calibri (Body)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3595" y="822960"/>
            <a:ext cx="10530205" cy="5354320"/>
          </a:xfr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None/>
              <a:defRPr/>
            </a:pPr>
            <a:r>
              <a:rPr lang="en-US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 (Body)" charset="0"/>
                <a:cs typeface="Calibri (Body)" charset="0"/>
                <a:sym typeface="+mn-ea"/>
              </a:rPr>
              <a:t>4) A and B can do a given piece of work in 8 days, B and C can do the same work in 12 days and A, B, C complete it in 6 days. Number of days required to finish the work by A and C is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 (Body)" charset="0"/>
              <a:ea typeface="+mn-ea"/>
              <a:cs typeface="Calibri (Body)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+mj-lt"/>
              <a:buAutoNum type="alphaLcParenR"/>
              <a:defRPr/>
            </a:pPr>
            <a:r>
              <a:rPr lang="en-US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 (Body)" charset="0"/>
                <a:cs typeface="Calibri (Body)" charset="0"/>
                <a:sym typeface="+mn-ea"/>
              </a:rPr>
              <a:t>16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 (Body)" charset="0"/>
              <a:ea typeface="+mn-ea"/>
              <a:cs typeface="Calibri (Body)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+mj-lt"/>
              <a:buAutoNum type="alphaLcParenR"/>
              <a:defRPr/>
            </a:pPr>
            <a:r>
              <a:rPr lang="en-US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 (Body)" charset="0"/>
                <a:cs typeface="Calibri (Body)" charset="0"/>
                <a:sym typeface="+mn-ea"/>
              </a:rPr>
              <a:t>8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 (Body)" charset="0"/>
              <a:ea typeface="+mn-ea"/>
              <a:cs typeface="Calibri (Body)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+mj-lt"/>
              <a:buAutoNum type="alphaLcParenR"/>
              <a:defRPr/>
            </a:pPr>
            <a:r>
              <a:rPr lang="en-US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 (Body)" charset="0"/>
                <a:cs typeface="Calibri (Body)" charset="0"/>
                <a:sym typeface="+mn-ea"/>
              </a:rPr>
              <a:t>12 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 (Body)" charset="0"/>
              <a:ea typeface="+mn-ea"/>
              <a:cs typeface="Calibri (Body)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+mj-lt"/>
              <a:buAutoNum type="alphaLcParenR"/>
              <a:defRPr/>
            </a:pPr>
            <a:r>
              <a:rPr lang="en-US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 (Body)" charset="0"/>
                <a:cs typeface="Calibri (Body)" charset="0"/>
                <a:sym typeface="+mn-ea"/>
              </a:rPr>
              <a:t>24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 (Body)" charset="0"/>
              <a:ea typeface="+mn-ea"/>
              <a:cs typeface="Calibri (Body)" charset="0"/>
            </a:endParaRPr>
          </a:p>
          <a:p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 (Body)" charset="0"/>
              <a:ea typeface="+mn-ea"/>
              <a:cs typeface="Calibri (Body)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>
                <a:ln>
                  <a:noFill/>
                </a:ln>
                <a:effectLst/>
                <a:uLnTx/>
                <a:uFillTx/>
                <a:sym typeface="+mn-ea"/>
              </a:rPr>
              <a:t>Concept of Efficiency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buClrTx/>
              <a:buSzTx/>
              <a:buFont typeface="Wingdings" panose="05000000000000000000" pitchFamily="2" charset="2"/>
              <a:buChar char="Ø"/>
              <a:defRPr/>
            </a:pPr>
            <a:endParaRPr kumimoji="0" lang="en-US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ea typeface="+mn-ea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en-US" noProof="0" dirty="0">
                <a:ln>
                  <a:noFill/>
                </a:ln>
                <a:effectLst/>
                <a:uLnTx/>
                <a:uFillTx/>
                <a:sym typeface="+mn-ea"/>
              </a:rPr>
              <a:t>Efficiency denotes the amount of work done by any person in 1 day. 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en-US" noProof="0" dirty="0">
                <a:ln>
                  <a:noFill/>
                </a:ln>
                <a:effectLst/>
                <a:uLnTx/>
                <a:uFillTx/>
                <a:sym typeface="+mn-ea"/>
              </a:rPr>
              <a:t>If a man can do a piece of work in 5 days, then he will finish 1/5th of the work in one </a:t>
            </a:r>
            <a:r>
              <a:rPr lang="en-US" noProof="0" dirty="0" smtClean="0">
                <a:ln>
                  <a:noFill/>
                </a:ln>
                <a:effectLst/>
                <a:uLnTx/>
                <a:uFillTx/>
                <a:sym typeface="+mn-ea"/>
              </a:rPr>
              <a:t>day.</a:t>
            </a:r>
            <a:endParaRPr kumimoji="0" lang="en-US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en-US" noProof="0" dirty="0" smtClean="0">
                <a:ln>
                  <a:noFill/>
                </a:ln>
                <a:effectLst/>
                <a:uLnTx/>
                <a:uFillTx/>
                <a:sym typeface="+mn-ea"/>
              </a:rPr>
              <a:t>If </a:t>
            </a:r>
            <a:r>
              <a:rPr lang="en-US" noProof="0" dirty="0">
                <a:ln>
                  <a:noFill/>
                </a:ln>
                <a:effectLst/>
                <a:uLnTx/>
                <a:uFillTx/>
                <a:sym typeface="+mn-ea"/>
              </a:rPr>
              <a:t>A works three times faster than B then A takes 1/3rd the time taken by B.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7580" y="932180"/>
            <a:ext cx="10396220" cy="5245100"/>
          </a:xfrm>
        </p:spPr>
        <p:txBody>
          <a:bodyPr/>
          <a:lstStyle/>
          <a:p>
            <a:r>
              <a:rPr lang="en-US" altLang="en-US" b="1" dirty="0">
                <a:solidFill>
                  <a:srgbClr val="000000"/>
                </a:solidFill>
                <a:latin typeface="Calibri (Body)" charset="0"/>
                <a:cs typeface="Calibri (Body)" charset="0"/>
                <a:sym typeface="+mn-ea"/>
              </a:rPr>
              <a:t>Example:</a:t>
            </a:r>
            <a:r>
              <a:rPr lang="en-US" altLang="en-US" dirty="0">
                <a:solidFill>
                  <a:srgbClr val="000000"/>
                </a:solidFill>
                <a:latin typeface="Calibri (Body)" charset="0"/>
                <a:cs typeface="Calibri (Body)" charset="0"/>
                <a:sym typeface="+mn-ea"/>
              </a:rPr>
              <a:t> - A is 3 times as efficient as B. If B alone can complete the work in 12 days, then A alone can complete the work in how many days?</a:t>
            </a:r>
            <a:endParaRPr lang="en-US" altLang="en-US" dirty="0">
              <a:solidFill>
                <a:srgbClr val="000000"/>
              </a:solidFill>
              <a:latin typeface="Calibri (Body)" charset="0"/>
              <a:cs typeface="Calibri (Body)" charset="0"/>
            </a:endParaRPr>
          </a:p>
          <a:p>
            <a:endParaRPr lang="en-US">
              <a:latin typeface="Calibri (Body)" charset="0"/>
              <a:cs typeface="Calibri (Body)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Content Placeholder 2"/>
          <p:cNvSpPr>
            <a:spLocks noGrp="1"/>
          </p:cNvSpPr>
          <p:nvPr>
            <p:ph idx="1"/>
          </p:nvPr>
        </p:nvSpPr>
        <p:spPr>
          <a:xfrm>
            <a:off x="1056640" y="772160"/>
            <a:ext cx="9914255" cy="5354320"/>
          </a:xfrm>
        </p:spPr>
        <p:txBody>
          <a:bodyPr vert="horz" wrap="square" lIns="91440" tIns="45720" rIns="91440" bIns="45720" anchor="t" anchorCtr="0"/>
          <a:lstStyle/>
          <a:p>
            <a:pPr marL="0" indent="0">
              <a:buNone/>
            </a:pPr>
            <a:r>
              <a:rPr b="1" dirty="0"/>
              <a:t>Example: </a:t>
            </a:r>
          </a:p>
          <a:p>
            <a:pPr marL="0" indent="0">
              <a:buNone/>
            </a:pPr>
            <a:r>
              <a:rPr dirty="0"/>
              <a:t>A is twice as good a workman as B. Together, they finish the work in 14 days. In how many days can it be done by each separately?</a:t>
            </a:r>
            <a:br>
              <a:rPr dirty="0"/>
            </a:b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Content Placeholder 2"/>
          <p:cNvSpPr>
            <a:spLocks noGrp="1"/>
          </p:cNvSpPr>
          <p:nvPr>
            <p:ph idx="1"/>
          </p:nvPr>
        </p:nvSpPr>
        <p:spPr>
          <a:xfrm>
            <a:off x="1012825" y="758825"/>
            <a:ext cx="9928225" cy="5870575"/>
          </a:xfrm>
        </p:spPr>
        <p:txBody>
          <a:bodyPr vert="horz" wrap="square" lIns="91440" tIns="45720" rIns="91440" bIns="45720" anchor="t" anchorCtr="0"/>
          <a:lstStyle/>
          <a:p>
            <a:pPr marL="0" indent="0">
              <a:buNone/>
            </a:pPr>
            <a:r>
              <a:rPr b="1" dirty="0"/>
              <a:t>Example:</a:t>
            </a:r>
          </a:p>
          <a:p>
            <a:pPr marL="0" indent="0">
              <a:buNone/>
            </a:pPr>
            <a:r>
              <a:rPr dirty="0"/>
              <a:t>A is thrice as good as workman as B and takes 10 days less to do a piece of work than B takes. Find the time in which B alone can complete the work.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Content Placeholder 2"/>
          <p:cNvSpPr>
            <a:spLocks noGrp="1"/>
          </p:cNvSpPr>
          <p:nvPr>
            <p:ph idx="1"/>
          </p:nvPr>
        </p:nvSpPr>
        <p:spPr>
          <a:xfrm>
            <a:off x="1012825" y="981710"/>
            <a:ext cx="9599930" cy="5144770"/>
          </a:xfrm>
        </p:spPr>
        <p:txBody>
          <a:bodyPr vert="horz" wrap="square" lIns="91440" tIns="45720" rIns="91440" bIns="45720" anchor="t" anchorCtr="0"/>
          <a:lstStyle/>
          <a:p>
            <a:pPr marL="0" indent="0">
              <a:buNone/>
            </a:pPr>
            <a:r>
              <a:rPr b="1" dirty="0"/>
              <a:t>Solution :</a:t>
            </a:r>
          </a:p>
          <a:p>
            <a:pPr marL="0" indent="0">
              <a:buNone/>
            </a:pPr>
            <a:r>
              <a:rPr dirty="0"/>
              <a:t>Efficiency ratio = A  :  B</a:t>
            </a:r>
          </a:p>
          <a:p>
            <a:pPr marL="0" indent="0">
              <a:buNone/>
            </a:pPr>
            <a:r>
              <a:rPr dirty="0"/>
              <a:t>			 3  :  1</a:t>
            </a:r>
          </a:p>
          <a:p>
            <a:pPr marL="0" indent="0">
              <a:buNone/>
            </a:pPr>
            <a:r>
              <a:rPr dirty="0"/>
              <a:t>Time ratio	        = 1  :  3  (Inverse of efficiency) 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	         	 Diff = 2 parts</a:t>
            </a:r>
          </a:p>
          <a:p>
            <a:pPr marL="0" indent="0">
              <a:buNone/>
            </a:pPr>
            <a:r>
              <a:rPr dirty="0"/>
              <a:t>2 parts = 10 days </a:t>
            </a:r>
          </a:p>
          <a:p>
            <a:pPr marL="0" indent="0">
              <a:buNone/>
            </a:pPr>
            <a:r>
              <a:rPr dirty="0"/>
              <a:t>A  = 1 part   = 5 days</a:t>
            </a:r>
          </a:p>
          <a:p>
            <a:pPr marL="0" indent="0">
              <a:buNone/>
            </a:pPr>
            <a:r>
              <a:rPr dirty="0"/>
              <a:t>B  = 3 parts = 15 days.</a:t>
            </a:r>
          </a:p>
        </p:txBody>
      </p:sp>
      <p:sp>
        <p:nvSpPr>
          <p:cNvPr id="4" name="Curved Up Arrow 3"/>
          <p:cNvSpPr/>
          <p:nvPr/>
        </p:nvSpPr>
        <p:spPr>
          <a:xfrm>
            <a:off x="4953000" y="2895600"/>
            <a:ext cx="838200" cy="381000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8510" y="871855"/>
            <a:ext cx="10575290" cy="5305425"/>
          </a:xfr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None/>
              <a:defRPr/>
            </a:pPr>
            <a:r>
              <a:rPr lang="en-US" altLang="en-US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(Body)" charset="0"/>
                <a:cs typeface="Calibri (Body)" charset="0"/>
                <a:sym typeface="+mn-ea"/>
              </a:rPr>
              <a:t>5) A is thrice as good as workman as B and therefore is able to finish a job in 60 days less than B. Working together, they can do it in</a:t>
            </a:r>
            <a:endParaRPr lang="en-US" altLang="en-US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 (Body)" charset="0"/>
              <a:cs typeface="Calibri (Body)" charset="0"/>
              <a:sym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None/>
              <a:defRPr/>
            </a:pPr>
            <a:r>
              <a:rPr lang="en-US" altLang="en-US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 (Body)" charset="0"/>
                <a:cs typeface="Calibri (Body)" charset="0"/>
                <a:sym typeface="+mn-ea"/>
              </a:rPr>
              <a:t>20 days</a:t>
            </a:r>
            <a:endParaRPr kumimoji="0" lang="en-US" altLang="en-US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 (Body)" charset="0"/>
              <a:ea typeface="+mn-ea"/>
              <a:cs typeface="Calibri (Body)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AutoNum type="alphaLcParenR"/>
              <a:defRPr/>
            </a:pPr>
            <a:r>
              <a:rPr lang="en-US" dirty="0">
                <a:latin typeface="Calibri (Body)" charset="0"/>
                <a:cs typeface="Calibri (Body)" charset="0"/>
                <a:sym typeface="+mn-ea"/>
              </a:rPr>
              <a:t>20</a:t>
            </a:r>
            <a:endParaRPr lang="en-US" dirty="0">
              <a:latin typeface="Calibri (Body)" charset="0"/>
              <a:cs typeface="Calibri (Body)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AutoNum type="alphaLcParenR"/>
              <a:defRPr/>
            </a:pPr>
            <a:r>
              <a:rPr lang="en-US" dirty="0">
                <a:latin typeface="Calibri (Body)" charset="0"/>
                <a:cs typeface="Calibri (Body)" charset="0"/>
                <a:sym typeface="+mn-ea"/>
              </a:rPr>
              <a:t>22.5</a:t>
            </a:r>
            <a:endParaRPr lang="en-US" dirty="0">
              <a:latin typeface="Calibri (Body)" charset="0"/>
              <a:cs typeface="Calibri (Body)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AutoNum type="alphaLcParenR"/>
              <a:defRPr/>
            </a:pPr>
            <a:r>
              <a:rPr lang="en-US" dirty="0">
                <a:latin typeface="Calibri (Body)" charset="0"/>
                <a:cs typeface="Calibri (Body)" charset="0"/>
                <a:sym typeface="+mn-ea"/>
              </a:rPr>
              <a:t>25</a:t>
            </a:r>
            <a:endParaRPr lang="en-US" dirty="0">
              <a:latin typeface="Calibri (Body)" charset="0"/>
              <a:cs typeface="Calibri (Body)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AutoNum type="alphaLcParenR"/>
              <a:defRPr/>
            </a:pPr>
            <a:r>
              <a:rPr lang="en-US" dirty="0">
                <a:latin typeface="Calibri (Body)" charset="0"/>
                <a:cs typeface="Calibri (Body)" charset="0"/>
                <a:sym typeface="+mn-ea"/>
              </a:rPr>
              <a:t>30</a:t>
            </a:r>
            <a:endParaRPr lang="en-US" dirty="0">
              <a:latin typeface="Calibri (Body)" charset="0"/>
              <a:cs typeface="Calibri (Body)" charset="0"/>
            </a:endParaRPr>
          </a:p>
          <a:p>
            <a:endParaRPr lang="en-US">
              <a:latin typeface="Calibri (Body)" charset="0"/>
              <a:cs typeface="Calibri (Body)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2805" y="887095"/>
            <a:ext cx="10500995" cy="5290185"/>
          </a:xfr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None/>
              <a:defRPr/>
            </a:pPr>
            <a:r>
              <a:rPr lang="en-US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 (Body)" charset="0"/>
                <a:cs typeface="Calibri (Body)" charset="0"/>
                <a:sym typeface="+mn-ea"/>
              </a:rPr>
              <a:t>6) A and B together can do a piece of work in 9 days. If A does thrice the work of B in a given time, the time A alone will take to finish the work is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 (Body)" charset="0"/>
              <a:ea typeface="+mn-ea"/>
              <a:cs typeface="Calibri (Body)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+mj-lt"/>
              <a:buAutoNum type="alphaLcParenR"/>
              <a:defRPr/>
            </a:pPr>
            <a:r>
              <a:rPr lang="en-US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 (Body)" charset="0"/>
                <a:cs typeface="Calibri (Body)" charset="0"/>
                <a:sym typeface="+mn-ea"/>
              </a:rPr>
              <a:t>4 days 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 (Body)" charset="0"/>
              <a:ea typeface="+mn-ea"/>
              <a:cs typeface="Calibri (Body)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+mj-lt"/>
              <a:buAutoNum type="alphaLcParenR"/>
              <a:defRPr/>
            </a:pPr>
            <a:r>
              <a:rPr lang="en-US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 (Body)" charset="0"/>
                <a:cs typeface="Calibri (Body)" charset="0"/>
                <a:sym typeface="+mn-ea"/>
              </a:rPr>
              <a:t>6 days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 (Body)" charset="0"/>
              <a:ea typeface="+mn-ea"/>
              <a:cs typeface="Calibri (Body)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+mj-lt"/>
              <a:buAutoNum type="alphaLcParenR"/>
              <a:defRPr/>
            </a:pPr>
            <a:r>
              <a:rPr lang="en-US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 (Body)" charset="0"/>
                <a:cs typeface="Calibri (Body)" charset="0"/>
                <a:sym typeface="+mn-ea"/>
              </a:rPr>
              <a:t>8 days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 (Body)" charset="0"/>
              <a:ea typeface="+mn-ea"/>
              <a:cs typeface="Calibri (Body)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+mj-lt"/>
              <a:buAutoNum type="alphaLcParenR"/>
              <a:defRPr/>
            </a:pPr>
            <a:r>
              <a:rPr lang="en-US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 (Body)" charset="0"/>
                <a:cs typeface="Calibri (Body)" charset="0"/>
                <a:sym typeface="+mn-ea"/>
              </a:rPr>
              <a:t>12 days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 (Body)" charset="0"/>
              <a:ea typeface="+mn-ea"/>
              <a:cs typeface="Calibri (Body)" charset="0"/>
            </a:endParaRPr>
          </a:p>
          <a:p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 (Body)" charset="0"/>
              <a:ea typeface="+mn-ea"/>
              <a:cs typeface="Calibri (Body)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3130" y="1050290"/>
            <a:ext cx="10440670" cy="5126990"/>
          </a:xfr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None/>
              <a:defRPr/>
            </a:pPr>
            <a:r>
              <a:rPr lang="en-US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 (Body)" charset="0"/>
                <a:cs typeface="Calibri (Body)" charset="0"/>
                <a:sym typeface="+mn-ea"/>
              </a:rPr>
              <a:t>7) A can do a certain job in 12 days. B is 60% more efficient than A.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 (Body)" charset="0"/>
              <a:ea typeface="+mn-ea"/>
              <a:cs typeface="Calibri (Body)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None/>
              <a:defRPr/>
            </a:pPr>
            <a:r>
              <a:rPr lang="en-US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 (Body)" charset="0"/>
                <a:cs typeface="Calibri (Body)" charset="0"/>
                <a:sym typeface="+mn-ea"/>
              </a:rPr>
              <a:t>Then B can do the same piece of work in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 (Body)" charset="0"/>
              <a:ea typeface="+mn-ea"/>
              <a:cs typeface="Calibri (Body)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None/>
              <a:defRPr/>
            </a:pP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 (Body)" charset="0"/>
              <a:ea typeface="+mn-ea"/>
              <a:cs typeface="Calibri (Body)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+mj-lt"/>
              <a:buAutoNum type="alphaLcParenR"/>
              <a:defRPr/>
            </a:pPr>
            <a:r>
              <a:rPr lang="en-US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 (Body)" charset="0"/>
                <a:cs typeface="Calibri (Body)" charset="0"/>
                <a:sym typeface="+mn-ea"/>
              </a:rPr>
              <a:t>8 days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 (Body)" charset="0"/>
              <a:ea typeface="+mn-ea"/>
              <a:cs typeface="Calibri (Body)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+mj-lt"/>
              <a:buAutoNum type="alphaLcParenR"/>
              <a:defRPr/>
            </a:pPr>
            <a:r>
              <a:rPr lang="en-US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 (Body)" charset="0"/>
                <a:cs typeface="Calibri (Body)" charset="0"/>
                <a:sym typeface="+mn-ea"/>
              </a:rPr>
              <a:t>7.5 days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 (Body)" charset="0"/>
              <a:ea typeface="+mn-ea"/>
              <a:cs typeface="Calibri (Body)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+mj-lt"/>
              <a:buAutoNum type="alphaLcParenR"/>
              <a:defRPr/>
            </a:pPr>
            <a:r>
              <a:rPr lang="en-US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 (Body)" charset="0"/>
                <a:cs typeface="Calibri (Body)" charset="0"/>
                <a:sym typeface="+mn-ea"/>
              </a:rPr>
              <a:t>6.25 days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 (Body)" charset="0"/>
              <a:ea typeface="+mn-ea"/>
              <a:cs typeface="Calibri (Body)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+mj-lt"/>
              <a:buAutoNum type="alphaLcParenR"/>
              <a:defRPr/>
            </a:pPr>
            <a:r>
              <a:rPr lang="en-US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 (Body)" charset="0"/>
                <a:cs typeface="Calibri (Body)" charset="0"/>
                <a:sym typeface="+mn-ea"/>
              </a:rPr>
              <a:t>6 days 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 (Body)" charset="0"/>
              <a:ea typeface="+mn-ea"/>
              <a:cs typeface="Calibri (Body)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None/>
              <a:defRPr/>
            </a:pP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 (Body)" charset="0"/>
              <a:ea typeface="+mn-ea"/>
              <a:cs typeface="Calibri (Body)" charset="0"/>
            </a:endParaRPr>
          </a:p>
          <a:p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 (Body)" charset="0"/>
              <a:ea typeface="+mn-ea"/>
              <a:cs typeface="Calibri (Body)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781685"/>
            <a:ext cx="10530840" cy="5395595"/>
          </a:xfr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None/>
              <a:defRPr/>
            </a:pPr>
            <a:r>
              <a:rPr lang="en-US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 (Body)" charset="0"/>
                <a:cs typeface="Calibri (Body)" charset="0"/>
                <a:sym typeface="+mn-ea"/>
              </a:rPr>
              <a:t>8) A can do a piece of work in 70 days and B is 40% more efficient than A. The number of days taken by B to do the same work is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 (Body)" charset="0"/>
              <a:ea typeface="+mn-ea"/>
              <a:cs typeface="Calibri (Body)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None/>
              <a:defRPr/>
            </a:pP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 (Body)" charset="0"/>
              <a:ea typeface="+mn-ea"/>
              <a:cs typeface="Calibri (Body)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+mj-lt"/>
              <a:buAutoNum type="alphaLcParenR"/>
              <a:defRPr/>
            </a:pPr>
            <a:r>
              <a:rPr lang="en-US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 (Body)" charset="0"/>
                <a:cs typeface="Calibri (Body)" charset="0"/>
                <a:sym typeface="+mn-ea"/>
              </a:rPr>
              <a:t>40 days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 (Body)" charset="0"/>
              <a:ea typeface="+mn-ea"/>
              <a:cs typeface="Calibri (Body)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+mj-lt"/>
              <a:buAutoNum type="alphaLcParenR"/>
              <a:defRPr/>
            </a:pPr>
            <a:r>
              <a:rPr lang="en-US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 (Body)" charset="0"/>
                <a:cs typeface="Calibri (Body)" charset="0"/>
                <a:sym typeface="+mn-ea"/>
              </a:rPr>
              <a:t>60 days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 (Body)" charset="0"/>
              <a:ea typeface="+mn-ea"/>
              <a:cs typeface="Calibri (Body)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+mj-lt"/>
              <a:buAutoNum type="alphaLcParenR"/>
              <a:defRPr/>
            </a:pPr>
            <a:r>
              <a:rPr lang="en-US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 (Body)" charset="0"/>
                <a:cs typeface="Calibri (Body)" charset="0"/>
                <a:sym typeface="+mn-ea"/>
              </a:rPr>
              <a:t>50 days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 (Body)" charset="0"/>
              <a:ea typeface="+mn-ea"/>
              <a:cs typeface="Calibri (Body)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+mj-lt"/>
              <a:buAutoNum type="alphaLcParenR"/>
              <a:defRPr/>
            </a:pPr>
            <a:r>
              <a:rPr lang="en-US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 (Body)" charset="0"/>
                <a:cs typeface="Calibri (Body)" charset="0"/>
                <a:sym typeface="+mn-ea"/>
              </a:rPr>
              <a:t>45 days 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 (Body)" charset="0"/>
              <a:ea typeface="+mn-ea"/>
              <a:cs typeface="Calibri (Body)" charset="0"/>
            </a:endParaRPr>
          </a:p>
          <a:p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 (Body)" charset="0"/>
              <a:ea typeface="+mn-ea"/>
              <a:cs typeface="Calibri (Body)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000" b="1" dirty="0">
                <a:solidFill>
                  <a:srgbClr val="000000"/>
                </a:solidFill>
                <a:latin typeface="Calibri (Body)" charset="0"/>
                <a:cs typeface="Calibri (Body)" charset="0"/>
                <a:sym typeface="+mn-ea"/>
              </a:rPr>
              <a:t>Leaving and Joining type:</a:t>
            </a:r>
            <a:endParaRPr lang="en-US" sz="3000">
              <a:latin typeface="Calibri (Body)" charset="0"/>
              <a:cs typeface="Calibri (Body)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en-US" dirty="0">
              <a:solidFill>
                <a:srgbClr val="000000"/>
              </a:solidFill>
              <a:latin typeface="Calibri (Body)" charset="0"/>
              <a:cs typeface="Calibri (Body)" charset="0"/>
            </a:endParaRPr>
          </a:p>
          <a:p>
            <a:pPr marL="0" indent="0">
              <a:buNone/>
            </a:pPr>
            <a:r>
              <a:rPr lang="en-US" altLang="en-US" b="1" dirty="0">
                <a:solidFill>
                  <a:srgbClr val="000000"/>
                </a:solidFill>
                <a:latin typeface="Calibri (Body)" charset="0"/>
                <a:cs typeface="Calibri (Body)" charset="0"/>
                <a:sym typeface="+mn-ea"/>
              </a:rPr>
              <a:t>Example: </a:t>
            </a:r>
            <a:r>
              <a:rPr lang="en-US" altLang="en-US" dirty="0">
                <a:solidFill>
                  <a:srgbClr val="000000"/>
                </a:solidFill>
                <a:latin typeface="Calibri (Body)" charset="0"/>
                <a:cs typeface="Calibri (Body)" charset="0"/>
                <a:sym typeface="+mn-ea"/>
              </a:rPr>
              <a:t>A can do a bit of work in 25 days which B can complete in 20 days. Both together labor for 5 days and afterward A leaves off. How long will B take to complete the remaining work?</a:t>
            </a:r>
            <a:endParaRPr lang="en-US" altLang="en-US" dirty="0">
              <a:solidFill>
                <a:srgbClr val="000000"/>
              </a:solidFill>
              <a:latin typeface="Calibri (Body)" charset="0"/>
              <a:cs typeface="Calibri (Body)" charset="0"/>
            </a:endParaRPr>
          </a:p>
          <a:p>
            <a:endParaRPr lang="en-US">
              <a:latin typeface="Calibri (Body)" charset="0"/>
              <a:cs typeface="Calibri (Body)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3440" y="1110615"/>
            <a:ext cx="10500360" cy="5066665"/>
          </a:xfr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None/>
              <a:defRPr/>
            </a:pPr>
            <a:r>
              <a:rPr lang="en-US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 (Body)" charset="0"/>
                <a:cs typeface="Calibri (Body)" charset="0"/>
                <a:sym typeface="+mn-ea"/>
              </a:rPr>
              <a:t>9) A can finish a work in 24 days, B in 9 days and C in 12 days. B and C start the work but are forced to leave after 3 days. The remaining work was done by A in :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 (Body)" charset="0"/>
              <a:ea typeface="+mn-ea"/>
              <a:cs typeface="Calibri (Body)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+mj-lt"/>
              <a:buAutoNum type="alphaLcParenR"/>
              <a:defRPr/>
            </a:pPr>
            <a:r>
              <a:rPr lang="en-US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 (Body)" charset="0"/>
                <a:cs typeface="Calibri (Body)" charset="0"/>
                <a:sym typeface="+mn-ea"/>
              </a:rPr>
              <a:t>5 days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 (Body)" charset="0"/>
              <a:ea typeface="+mn-ea"/>
              <a:cs typeface="Calibri (Body)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+mj-lt"/>
              <a:buAutoNum type="alphaLcParenR"/>
              <a:defRPr/>
            </a:pPr>
            <a:r>
              <a:rPr lang="en-US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 (Body)" charset="0"/>
                <a:cs typeface="Calibri (Body)" charset="0"/>
                <a:sym typeface="+mn-ea"/>
              </a:rPr>
              <a:t>6 days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 (Body)" charset="0"/>
              <a:ea typeface="+mn-ea"/>
              <a:cs typeface="Calibri (Body)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+mj-lt"/>
              <a:buAutoNum type="alphaLcParenR"/>
              <a:defRPr/>
            </a:pPr>
            <a:r>
              <a:rPr lang="en-US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 (Body)" charset="0"/>
                <a:cs typeface="Calibri (Body)" charset="0"/>
                <a:sym typeface="+mn-ea"/>
              </a:rPr>
              <a:t>10 days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 (Body)" charset="0"/>
              <a:ea typeface="+mn-ea"/>
              <a:cs typeface="Calibri (Body)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+mj-lt"/>
              <a:buAutoNum type="alphaLcParenR"/>
              <a:defRPr/>
            </a:pPr>
            <a:r>
              <a:rPr lang="en-US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 (Body)" charset="0"/>
                <a:cs typeface="Calibri (Body)" charset="0"/>
                <a:sym typeface="+mn-ea"/>
              </a:rPr>
              <a:t>10.5days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46150"/>
            <a:ext cx="10515600" cy="5231130"/>
          </a:xfr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None/>
              <a:defRPr/>
            </a:pPr>
            <a:r>
              <a:rPr lang="en-US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 (Body)" charset="0"/>
                <a:cs typeface="Calibri (Body)" charset="0"/>
                <a:sym typeface="+mn-ea"/>
              </a:rPr>
              <a:t>10) A can do a piece of work in 12 days and B in 20 days. If they together work on it for 5 days, and remaining work is completed by C in 3 days, then in how many days can C do the same work alone?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 (Body)" charset="0"/>
              <a:ea typeface="+mn-ea"/>
              <a:cs typeface="Calibri (Body)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+mj-lt"/>
              <a:buAutoNum type="alphaLcParenR"/>
              <a:defRPr/>
            </a:pPr>
            <a:r>
              <a:rPr lang="en-US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 (Body)" charset="0"/>
                <a:cs typeface="Calibri (Body)" charset="0"/>
                <a:sym typeface="+mn-ea"/>
              </a:rPr>
              <a:t>10 days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 (Body)" charset="0"/>
              <a:ea typeface="+mn-ea"/>
              <a:cs typeface="Calibri (Body)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+mj-lt"/>
              <a:buAutoNum type="alphaLcParenR"/>
              <a:defRPr/>
            </a:pPr>
            <a:r>
              <a:rPr lang="en-US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 (Body)" charset="0"/>
                <a:cs typeface="Calibri (Body)" charset="0"/>
                <a:sym typeface="+mn-ea"/>
              </a:rPr>
              <a:t>9 days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 (Body)" charset="0"/>
              <a:ea typeface="+mn-ea"/>
              <a:cs typeface="Calibri (Body)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+mj-lt"/>
              <a:buAutoNum type="alphaLcParenR"/>
              <a:defRPr/>
            </a:pPr>
            <a:r>
              <a:rPr lang="en-US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 (Body)" charset="0"/>
                <a:cs typeface="Calibri (Body)" charset="0"/>
                <a:sym typeface="+mn-ea"/>
              </a:rPr>
              <a:t>12 days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 (Body)" charset="0"/>
              <a:ea typeface="+mn-ea"/>
              <a:cs typeface="Calibri (Body)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+mj-lt"/>
              <a:buAutoNum type="alphaLcParenR"/>
              <a:defRPr/>
            </a:pPr>
            <a:r>
              <a:rPr lang="en-US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 (Body)" charset="0"/>
                <a:cs typeface="Calibri (Body)" charset="0"/>
                <a:sym typeface="+mn-ea"/>
              </a:rPr>
              <a:t>15 days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 (Body)" charset="0"/>
              <a:ea typeface="+mn-ea"/>
              <a:cs typeface="Calibri (Body)" charset="0"/>
            </a:endParaRPr>
          </a:p>
          <a:p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 (Body)" charset="0"/>
              <a:ea typeface="+mn-ea"/>
              <a:cs typeface="Calibri (Body)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3595" y="827405"/>
            <a:ext cx="10530205" cy="5349875"/>
          </a:xfr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None/>
              <a:defRPr/>
            </a:pPr>
            <a:r>
              <a:rPr lang="en-US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 (Body)" charset="0"/>
                <a:cs typeface="Calibri (Body)" charset="0"/>
                <a:sym typeface="+mn-ea"/>
              </a:rPr>
              <a:t>11) A and B can complete a work in 15 days and 10 days respectively. They started doing the work together but after 2 days, B had to leave and A alone completed the remaining work. The whole work was completed in :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 (Body)" charset="0"/>
              <a:ea typeface="+mn-ea"/>
              <a:cs typeface="Calibri (Body)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+mj-lt"/>
              <a:buAutoNum type="alphaLcParenR"/>
              <a:defRPr/>
            </a:pPr>
            <a:r>
              <a:rPr lang="en-US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 (Body)" charset="0"/>
                <a:cs typeface="Calibri (Body)" charset="0"/>
                <a:sym typeface="+mn-ea"/>
              </a:rPr>
              <a:t>10 days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 (Body)" charset="0"/>
              <a:ea typeface="+mn-ea"/>
              <a:cs typeface="Calibri (Body)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+mj-lt"/>
              <a:buAutoNum type="alphaLcParenR"/>
              <a:defRPr/>
            </a:pPr>
            <a:r>
              <a:rPr lang="en-US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 (Body)" charset="0"/>
                <a:cs typeface="Calibri (Body)" charset="0"/>
                <a:sym typeface="+mn-ea"/>
              </a:rPr>
              <a:t>8 days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 (Body)" charset="0"/>
              <a:ea typeface="+mn-ea"/>
              <a:cs typeface="Calibri (Body)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+mj-lt"/>
              <a:buAutoNum type="alphaLcParenR"/>
              <a:defRPr/>
            </a:pPr>
            <a:r>
              <a:rPr lang="en-US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 (Body)" charset="0"/>
                <a:cs typeface="Calibri (Body)" charset="0"/>
                <a:sym typeface="+mn-ea"/>
              </a:rPr>
              <a:t>12 days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 (Body)" charset="0"/>
              <a:ea typeface="+mn-ea"/>
              <a:cs typeface="Calibri (Body)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+mj-lt"/>
              <a:buAutoNum type="alphaLcParenR"/>
              <a:defRPr/>
            </a:pPr>
            <a:r>
              <a:rPr lang="en-US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 (Body)" charset="0"/>
                <a:cs typeface="Calibri (Body)" charset="0"/>
                <a:sym typeface="+mn-ea"/>
              </a:rPr>
              <a:t>15 days 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 (Body)" charset="0"/>
              <a:ea typeface="+mn-ea"/>
              <a:cs typeface="Calibri (Body)" charset="0"/>
            </a:endParaRPr>
          </a:p>
          <a:p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 (Body)" charset="0"/>
              <a:ea typeface="+mn-ea"/>
              <a:cs typeface="Calibri (Body)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16940"/>
            <a:ext cx="10515600" cy="5260340"/>
          </a:xfr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None/>
              <a:defRPr/>
            </a:pPr>
            <a:r>
              <a:rPr lang="en-US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 (Body)" charset="0"/>
                <a:cs typeface="Calibri (Body)" charset="0"/>
                <a:sym typeface="+mn-ea"/>
              </a:rPr>
              <a:t>12) A can do a piece of work in 18 days and B in 12 days. They began the work together, but B left the work 3 days before its completion. In how many days, in all, was the work completed?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 (Body)" charset="0"/>
              <a:ea typeface="+mn-ea"/>
              <a:cs typeface="Calibri (Body)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None/>
              <a:defRPr/>
            </a:pP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 (Body)" charset="0"/>
              <a:ea typeface="+mn-ea"/>
              <a:cs typeface="Calibri (Body)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+mj-lt"/>
              <a:buAutoNum type="alphaLcParenR"/>
              <a:defRPr/>
            </a:pPr>
            <a:r>
              <a:rPr lang="en-US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 (Body)" charset="0"/>
                <a:cs typeface="Calibri (Body)" charset="0"/>
                <a:sym typeface="+mn-ea"/>
              </a:rPr>
              <a:t>12 days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 (Body)" charset="0"/>
              <a:ea typeface="+mn-ea"/>
              <a:cs typeface="Calibri (Body)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+mj-lt"/>
              <a:buAutoNum type="alphaLcParenR"/>
              <a:defRPr/>
            </a:pPr>
            <a:r>
              <a:rPr lang="en-US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 (Body)" charset="0"/>
                <a:cs typeface="Calibri (Body)" charset="0"/>
                <a:sym typeface="+mn-ea"/>
              </a:rPr>
              <a:t>10 days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 (Body)" charset="0"/>
              <a:ea typeface="+mn-ea"/>
              <a:cs typeface="Calibri (Body)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+mj-lt"/>
              <a:buAutoNum type="alphaLcParenR"/>
              <a:defRPr/>
            </a:pPr>
            <a:r>
              <a:rPr lang="en-US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 (Body)" charset="0"/>
                <a:cs typeface="Calibri (Body)" charset="0"/>
                <a:sym typeface="+mn-ea"/>
              </a:rPr>
              <a:t>9.6 days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 (Body)" charset="0"/>
              <a:ea typeface="+mn-ea"/>
              <a:cs typeface="Calibri (Body)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+mj-lt"/>
              <a:buAutoNum type="alphaLcParenR"/>
              <a:defRPr/>
            </a:pPr>
            <a:r>
              <a:rPr lang="en-US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 (Body)" charset="0"/>
                <a:cs typeface="Calibri (Body)" charset="0"/>
                <a:sym typeface="+mn-ea"/>
              </a:rPr>
              <a:t>9 days 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 (Body)" charset="0"/>
              <a:ea typeface="+mn-ea"/>
              <a:cs typeface="Calibri (Body)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None/>
              <a:defRPr/>
            </a:pP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 (Body)" charset="0"/>
              <a:ea typeface="+mn-ea"/>
              <a:cs typeface="Calibri (Body)" charset="0"/>
            </a:endParaRPr>
          </a:p>
          <a:p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 (Body)" charset="0"/>
              <a:ea typeface="+mn-ea"/>
              <a:cs typeface="Calibri (Body)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000" b="1"/>
              <a:t> work on alternate days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rgbClr val="000000"/>
                </a:solidFill>
                <a:latin typeface="Calibri (Body)" charset="0"/>
                <a:cs typeface="Calibri (Body)" charset="0"/>
                <a:sym typeface="+mn-ea"/>
              </a:rPr>
              <a:t>Example: </a:t>
            </a:r>
            <a:r>
              <a:rPr lang="en-US" altLang="en-US" dirty="0">
                <a:solidFill>
                  <a:srgbClr val="000000"/>
                </a:solidFill>
                <a:latin typeface="Calibri (Body)" charset="0"/>
                <a:cs typeface="Calibri (Body)" charset="0"/>
                <a:sym typeface="+mn-ea"/>
              </a:rPr>
              <a:t>A can do some work in 10 days, B can do the same work in 5 days. If they are working on alternate days, In how much time the work will be done.</a:t>
            </a:r>
            <a:endParaRPr lang="en-US" altLang="en-US" dirty="0">
              <a:solidFill>
                <a:srgbClr val="000000"/>
              </a:solidFill>
              <a:latin typeface="Calibri (Body)" charset="0"/>
              <a:cs typeface="Calibri (Body)" charset="0"/>
            </a:endParaRPr>
          </a:p>
          <a:p>
            <a:endParaRPr lang="en-US">
              <a:latin typeface="Calibri (Body)" charset="0"/>
              <a:cs typeface="Calibri (Body)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827405"/>
            <a:ext cx="10515600" cy="5349875"/>
          </a:xfrm>
        </p:spPr>
        <p:txBody>
          <a:bodyPr>
            <a:normAutofit lnSpcReduction="1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noProof="0" dirty="0">
                <a:ln>
                  <a:noFill/>
                </a:ln>
                <a:effectLst/>
                <a:uLnTx/>
                <a:uFillTx/>
                <a:sym typeface="+mn-ea"/>
              </a:rPr>
              <a:t>13) A alone can complete a work in 16 days and B alone can complete the same in 12 days. Starting with A, they work on alternate days. The total work will be completed in how many days</a:t>
            </a:r>
            <a:r>
              <a:rPr lang="en-US" noProof="0" dirty="0" smtClean="0">
                <a:ln>
                  <a:noFill/>
                </a:ln>
                <a:effectLst/>
                <a:uLnTx/>
                <a:uFillTx/>
                <a:sym typeface="+mn-ea"/>
              </a:rPr>
              <a:t>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AutoNum type="alphaLcParenR"/>
              <a:defRPr/>
            </a:pPr>
            <a:r>
              <a:rPr lang="en-US" noProof="0" dirty="0" smtClean="0">
                <a:ln>
                  <a:noFill/>
                </a:ln>
                <a:effectLst/>
                <a:uLnTx/>
                <a:uFillTx/>
                <a:sym typeface="+mn-ea"/>
              </a:rPr>
              <a:t>12 days</a:t>
            </a:r>
            <a:endParaRPr kumimoji="0" lang="en-US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AutoNum type="alphaLcParenR"/>
              <a:defRPr/>
            </a:pPr>
            <a:r>
              <a:rPr lang="en-US" noProof="0" dirty="0" smtClean="0">
                <a:ln>
                  <a:noFill/>
                </a:ln>
                <a:effectLst/>
                <a:uLnTx/>
                <a:uFillTx/>
                <a:sym typeface="+mn-ea"/>
              </a:rPr>
              <a:t>12  ½ days</a:t>
            </a:r>
            <a:endParaRPr kumimoji="0" lang="en-US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AutoNum type="alphaLcParenR"/>
              <a:defRPr/>
            </a:pPr>
            <a:r>
              <a:rPr lang="en-US" noProof="0" dirty="0" smtClean="0">
                <a:ln>
                  <a:noFill/>
                </a:ln>
                <a:effectLst/>
                <a:uLnTx/>
                <a:uFillTx/>
                <a:sym typeface="+mn-ea"/>
              </a:rPr>
              <a:t>13  ¾ days</a:t>
            </a:r>
            <a:endParaRPr kumimoji="0" lang="en-US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AutoNum type="alphaLcParenR"/>
              <a:defRPr/>
            </a:pPr>
            <a:r>
              <a:rPr lang="en-US" noProof="0" dirty="0" smtClean="0">
                <a:ln>
                  <a:noFill/>
                </a:ln>
                <a:effectLst/>
                <a:uLnTx/>
                <a:uFillTx/>
                <a:sym typeface="+mn-ea"/>
              </a:rPr>
              <a:t>13 days</a:t>
            </a:r>
            <a:endParaRPr kumimoji="0" lang="en-US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2805" y="796925"/>
            <a:ext cx="10500995" cy="5380355"/>
          </a:xfr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None/>
              <a:defRPr/>
            </a:pPr>
            <a:r>
              <a:rPr lang="en-US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 (Body)" charset="0"/>
                <a:cs typeface="Calibri (Body)" charset="0"/>
                <a:sym typeface="+mn-ea"/>
              </a:rPr>
              <a:t>14) A and B working separately can do a piece of work in 10 days and 15 days respectively. If they work on alternate days beginning with A, in how many days will the work be completed ?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 (Body)" charset="0"/>
              <a:ea typeface="+mn-ea"/>
              <a:cs typeface="Calibri (Body)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+mj-lt"/>
              <a:buAutoNum type="alphaLcParenR"/>
              <a:defRPr/>
            </a:pPr>
            <a:r>
              <a:rPr lang="en-US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 (Body)" charset="0"/>
                <a:cs typeface="Calibri (Body)" charset="0"/>
                <a:sym typeface="+mn-ea"/>
              </a:rPr>
              <a:t>18 days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 (Body)" charset="0"/>
              <a:ea typeface="+mn-ea"/>
              <a:cs typeface="Calibri (Body)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+mj-lt"/>
              <a:buAutoNum type="alphaLcParenR"/>
              <a:defRPr/>
            </a:pPr>
            <a:r>
              <a:rPr lang="en-US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 (Body)" charset="0"/>
                <a:cs typeface="Calibri (Body)" charset="0"/>
                <a:sym typeface="+mn-ea"/>
              </a:rPr>
              <a:t>13 days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 (Body)" charset="0"/>
              <a:ea typeface="+mn-ea"/>
              <a:cs typeface="Calibri (Body)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+mj-lt"/>
              <a:buAutoNum type="alphaLcParenR"/>
              <a:defRPr/>
            </a:pPr>
            <a:r>
              <a:rPr lang="en-US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 (Body)" charset="0"/>
                <a:cs typeface="Calibri (Body)" charset="0"/>
                <a:sym typeface="+mn-ea"/>
              </a:rPr>
              <a:t>12 days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 (Body)" charset="0"/>
              <a:ea typeface="+mn-ea"/>
              <a:cs typeface="Calibri (Body)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+mj-lt"/>
              <a:buAutoNum type="alphaLcParenR"/>
              <a:defRPr/>
            </a:pPr>
            <a:r>
              <a:rPr lang="en-US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 (Body)" charset="0"/>
                <a:cs typeface="Calibri (Body)" charset="0"/>
                <a:sym typeface="+mn-ea"/>
              </a:rPr>
              <a:t>6 days</a:t>
            </a:r>
            <a:endParaRPr kumimoji="0" lang="en-US" altLang="en-US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 (Body)" charset="0"/>
              <a:ea typeface="+mn-ea"/>
              <a:cs typeface="Calibri (Body)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8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8213" y="981075"/>
            <a:ext cx="7883525" cy="484663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1023</Words>
  <Application>Microsoft Office PowerPoint</Application>
  <PresentationFormat>Custom</PresentationFormat>
  <Paragraphs>118</Paragraphs>
  <Slides>27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28" baseType="lpstr">
      <vt:lpstr>Office Theme</vt:lpstr>
      <vt:lpstr>  PEA 516  LECTURE-2  Time and Work </vt:lpstr>
      <vt:lpstr>PowerPoint Presentation</vt:lpstr>
      <vt:lpstr>PowerPoint Presentation</vt:lpstr>
      <vt:lpstr>PowerPoint Presentation</vt:lpstr>
      <vt:lpstr>Work done together</vt:lpstr>
      <vt:lpstr>PowerPoint Presentation</vt:lpstr>
      <vt:lpstr>PowerPoint Presentation</vt:lpstr>
      <vt:lpstr>PowerPoint Presentation</vt:lpstr>
      <vt:lpstr>PowerPoint Presentation</vt:lpstr>
      <vt:lpstr>Concept of Efficiency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Leaving and Joining type:</vt:lpstr>
      <vt:lpstr>PowerPoint Presentation</vt:lpstr>
      <vt:lpstr>PowerPoint Presentation</vt:lpstr>
      <vt:lpstr>PowerPoint Presentation</vt:lpstr>
      <vt:lpstr>PowerPoint Presentation</vt:lpstr>
      <vt:lpstr> work on alternate days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PEA 516 LECTURE-1 Time and Work </dc:title>
  <dc:creator/>
  <cp:lastModifiedBy>rahul</cp:lastModifiedBy>
  <cp:revision>11</cp:revision>
  <dcterms:created xsi:type="dcterms:W3CDTF">2025-01-03T10:26:00Z</dcterms:created>
  <dcterms:modified xsi:type="dcterms:W3CDTF">2025-01-12T05:10:15Z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C7455BE7D95F46A7B59DA7665120D117_11</vt:lpwstr>
  </property>
  <property fmtid="{D5CDD505-2E9C-101B-9397-08002B2CF9AE}" pid="3" name="KSOProductBuildVer">
    <vt:lpwstr>1033-12.2.0.19307</vt:lpwstr>
  </property>
</Properties>
</file>