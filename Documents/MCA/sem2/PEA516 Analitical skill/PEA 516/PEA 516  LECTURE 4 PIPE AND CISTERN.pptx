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12" r:id="rId2"/>
    <p:sldId id="331" r:id="rId3"/>
    <p:sldId id="259" r:id="rId4"/>
    <p:sldId id="260" r:id="rId5"/>
    <p:sldId id="313" r:id="rId6"/>
    <p:sldId id="261" r:id="rId7"/>
    <p:sldId id="267" r:id="rId8"/>
    <p:sldId id="266" r:id="rId9"/>
    <p:sldId id="262" r:id="rId10"/>
    <p:sldId id="263" r:id="rId11"/>
    <p:sldId id="314" r:id="rId12"/>
    <p:sldId id="264" r:id="rId13"/>
    <p:sldId id="291" r:id="rId14"/>
    <p:sldId id="271" r:id="rId15"/>
    <p:sldId id="272" r:id="rId16"/>
    <p:sldId id="265" r:id="rId17"/>
    <p:sldId id="269" r:id="rId18"/>
    <p:sldId id="329" r:id="rId19"/>
    <p:sldId id="28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p:scale>
          <a:sx n="81" d="100"/>
          <a:sy n="81" d="100"/>
        </p:scale>
        <p:origin x="-246"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12-Jan-25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12-Jan-25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12-Jan-25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12-Jan-25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5863"/>
            <a:ext cx="12192000" cy="8667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7238" y="4983163"/>
            <a:ext cx="8183563" cy="1052513"/>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600" b="1" i="0" u="none" strike="noStrike" kern="1200" cap="none" spc="0" normalizeH="0" baseline="0" noProof="0" dirty="0">
                <a:ln>
                  <a:noFill/>
                </a:ln>
                <a:solidFill>
                  <a:srgbClr val="6594DA"/>
                </a:solidFill>
                <a:effectLst>
                  <a:outerShdw blurRad="53975" dist="22860" dir="5400000" algn="tl" rotWithShape="0">
                    <a:srgbClr val="000000">
                      <a:alpha val="55000"/>
                    </a:srgbClr>
                  </a:outerShdw>
                </a:effectLst>
                <a:uLnTx/>
                <a:uFillTx/>
                <a:latin typeface="+mj-lt"/>
                <a:ea typeface="+mj-ea"/>
                <a:cs typeface="+mj-cs"/>
              </a:rPr>
              <a:t> </a:t>
            </a:r>
          </a:p>
        </p:txBody>
      </p:sp>
      <p:sp>
        <p:nvSpPr>
          <p:cNvPr id="120834" name="Content Placeholder 4"/>
          <p:cNvSpPr>
            <a:spLocks noGrp="1"/>
          </p:cNvSpPr>
          <p:nvPr>
            <p:ph idx="1"/>
          </p:nvPr>
        </p:nvSpPr>
        <p:spPr>
          <a:xfrm>
            <a:off x="2027238" y="530225"/>
            <a:ext cx="8183562" cy="4187825"/>
          </a:xfrm>
        </p:spPr>
        <p:txBody>
          <a:bodyPr vert="horz" wrap="square" lIns="182880" tIns="91440" rIns="91440" bIns="45720" anchor="t" anchorCtr="0"/>
          <a:lstStyle/>
          <a:p>
            <a:pPr marL="0" indent="0" algn="ctr">
              <a:buNone/>
            </a:pPr>
            <a:r>
              <a:rPr lang="en-US" altLang="en-US" sz="4000" b="1" u="sng" dirty="0">
                <a:solidFill>
                  <a:schemeClr val="tx1"/>
                </a:solidFill>
                <a:latin typeface="Algerian" panose="04020705040A02060702" pitchFamily="82" charset="0"/>
              </a:rPr>
              <a:t>pea 516</a:t>
            </a:r>
          </a:p>
          <a:p>
            <a:pPr marL="0" indent="0" algn="ctr">
              <a:buNone/>
            </a:pPr>
            <a:r>
              <a:rPr lang="en-US" altLang="en-US" sz="4000" b="1" u="sng" dirty="0" smtClean="0">
                <a:solidFill>
                  <a:schemeClr val="tx1"/>
                </a:solidFill>
                <a:latin typeface="Algerian" panose="04020705040A02060702" pitchFamily="82" charset="0"/>
              </a:rPr>
              <a:t>Lecture-4</a:t>
            </a:r>
            <a:endParaRPr lang="en-US" altLang="en-US" sz="4000" b="1" u="sng" dirty="0">
              <a:solidFill>
                <a:schemeClr val="tx1"/>
              </a:solidFill>
              <a:latin typeface="Algerian" panose="04020705040A02060702" pitchFamily="82" charset="0"/>
            </a:endParaRPr>
          </a:p>
          <a:p>
            <a:pPr marL="0" indent="0" algn="ctr">
              <a:buNone/>
            </a:pPr>
            <a:r>
              <a:rPr lang="en-US" altLang="en-US" sz="4000" b="1" u="sng" dirty="0">
                <a:solidFill>
                  <a:schemeClr val="tx1"/>
                </a:solidFill>
                <a:latin typeface="Algerian" panose="04020705040A02060702" pitchFamily="82" charset="0"/>
              </a:rPr>
              <a:t>pipe and cistern</a:t>
            </a:r>
          </a:p>
        </p:txBody>
      </p:sp>
      <p:pic>
        <p:nvPicPr>
          <p:cNvPr id="120835" name="Picture 6" descr="Pipes and Cistern - Aptitude Concepts Made Simple (With Pictures)"/>
          <p:cNvPicPr>
            <a:picLocks noChangeAspect="1"/>
          </p:cNvPicPr>
          <p:nvPr/>
        </p:nvPicPr>
        <p:blipFill>
          <a:blip r:embed="rId2"/>
          <a:stretch>
            <a:fillRect/>
          </a:stretch>
        </p:blipFill>
        <p:spPr>
          <a:xfrm>
            <a:off x="2208213" y="2492375"/>
            <a:ext cx="7956550" cy="3570288"/>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ltLang="en-US"/>
              <a:t>Inlet-outlet pipe concept</a:t>
            </a:r>
          </a:p>
          <a:p>
            <a:endParaRPr lang="en-US" altLang="en-US"/>
          </a:p>
          <a:p>
            <a:r>
              <a:rPr lang="en-US" altLang="en-US"/>
              <a:t>Filling and emptying a tank</a:t>
            </a:r>
          </a:p>
        </p:txBody>
      </p:sp>
      <p:sp>
        <p:nvSpPr>
          <p:cNvPr id="4" name="Text Box 3"/>
          <p:cNvSpPr txBox="1"/>
          <p:nvPr/>
        </p:nvSpPr>
        <p:spPr>
          <a:xfrm>
            <a:off x="975995" y="889635"/>
            <a:ext cx="10135870" cy="1143635"/>
          </a:xfrm>
          <a:prstGeom prst="rect">
            <a:avLst/>
          </a:prstGeom>
          <a:noFill/>
        </p:spPr>
        <p:txBody>
          <a:bodyPr wrap="square" rtlCol="0" anchor="t">
            <a:no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sz="4000" b="1" noProof="0" dirty="0" smtClean="0">
                <a:ln>
                  <a:noFill/>
                </a:ln>
                <a:effectLst/>
                <a:uLnTx/>
                <a:uFillTx/>
                <a:sym typeface="+mn-ea"/>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7575" y="932815"/>
            <a:ext cx="10436225" cy="5244465"/>
          </a:xfrm>
        </p:spPr>
        <p:txBody>
          <a:bodyPr>
            <a:normAutofit fontScale="92500"/>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b="0" i="0" u="none" strike="noStrike" kern="1200" cap="none" spc="0" normalizeH="0" baseline="0" noProof="0" dirty="0">
              <a:ln>
                <a:noFill/>
              </a:ln>
              <a:solidFill>
                <a:srgbClr val="212529"/>
              </a:solidFill>
              <a:effectLst/>
              <a:uLnTx/>
              <a:uFillTx/>
              <a:latin typeface="Arial" panose="020B0604020202020204" pitchFamily="34" charset="0"/>
              <a:ea typeface="+mn-ea"/>
              <a:cs typeface="Arial" panose="020B0604020202020204" pitchFamily="34" charset="0"/>
            </a:endParaRPr>
          </a:p>
          <a:p>
            <a:pPr marL="265430" marR="0" lvl="0" indent="-26543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Char char=""/>
              <a:defRPr/>
            </a:pPr>
            <a:r>
              <a:rPr lang="en-US" noProof="0" dirty="0">
                <a:ln>
                  <a:noFill/>
                </a:ln>
                <a:solidFill>
                  <a:srgbClr val="000000"/>
                </a:solidFill>
                <a:effectLst/>
                <a:uLnTx/>
                <a:uFillTx/>
                <a:latin typeface="Arial" panose="020B0604020202020204" pitchFamily="34" charset="0"/>
                <a:cs typeface="Arial" panose="020B0604020202020204" pitchFamily="34" charset="0"/>
                <a:sym typeface="+mn-ea"/>
              </a:rPr>
              <a:t>Cistern: </a:t>
            </a:r>
            <a:r>
              <a:rPr lang="en-US" noProof="0" dirty="0">
                <a:ln>
                  <a:noFill/>
                </a:ln>
                <a:solidFill>
                  <a:srgbClr val="212529"/>
                </a:solidFill>
                <a:effectLst/>
                <a:uLnTx/>
                <a:uFillTx/>
                <a:latin typeface="Arial" panose="020B0604020202020204" pitchFamily="34" charset="0"/>
                <a:cs typeface="Arial" panose="020B0604020202020204" pitchFamily="34" charset="0"/>
                <a:sym typeface="+mn-ea"/>
              </a:rPr>
              <a:t>Cistern is a tank for storing liquids generally water and has inlet and outlet pipes to fill or empty itself.</a:t>
            </a:r>
            <a:endParaRPr kumimoji="0" lang="en-US" b="0" i="0" u="none" strike="noStrike" kern="1200" cap="none" spc="0" normalizeH="0" baseline="0" noProof="0" dirty="0">
              <a:ln>
                <a:noFill/>
              </a:ln>
              <a:solidFill>
                <a:srgbClr val="212529"/>
              </a:solidFill>
              <a:effectLst/>
              <a:uLnTx/>
              <a:uFillTx/>
              <a:latin typeface="Arial" panose="020B0604020202020204" pitchFamily="34" charset="0"/>
              <a:ea typeface="+mn-ea"/>
              <a:cs typeface="Arial" panose="020B0604020202020204" pitchFamily="34" charset="0"/>
            </a:endParaRPr>
          </a:p>
          <a:p>
            <a:pPr marL="265430" marR="0" lvl="0" indent="-26543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Char char=""/>
              <a:defRPr/>
            </a:pPr>
            <a:r>
              <a:rPr lang="en-US" noProof="0" dirty="0">
                <a:ln>
                  <a:noFill/>
                </a:ln>
                <a:solidFill>
                  <a:srgbClr val="000000"/>
                </a:solidFill>
                <a:effectLst/>
                <a:uLnTx/>
                <a:uFillTx/>
                <a:latin typeface="Arial" panose="020B0604020202020204" pitchFamily="34" charset="0"/>
                <a:cs typeface="Arial" panose="020B0604020202020204" pitchFamily="34" charset="0"/>
                <a:sym typeface="+mn-ea"/>
              </a:rPr>
              <a:t>Pipe: </a:t>
            </a:r>
            <a:r>
              <a:rPr lang="en-US" noProof="0" dirty="0">
                <a:ln>
                  <a:noFill/>
                </a:ln>
                <a:solidFill>
                  <a:srgbClr val="212529"/>
                </a:solidFill>
                <a:effectLst/>
                <a:uLnTx/>
                <a:uFillTx/>
                <a:latin typeface="Arial" panose="020B0604020202020204" pitchFamily="34" charset="0"/>
                <a:cs typeface="Arial" panose="020B0604020202020204" pitchFamily="34" charset="0"/>
                <a:sym typeface="+mn-ea"/>
              </a:rPr>
              <a:t>Pipe is a section of a hollow cylinder for the discharge of water from one place to another. Pipes are generally connected to the cistern/tank for filling and emptying the cistern or tank.</a:t>
            </a:r>
            <a:endParaRPr kumimoji="0" lang="en-US" b="0" i="0" u="none" strike="noStrike" kern="1200" cap="none" spc="0" normalizeH="0" baseline="0" noProof="0" dirty="0">
              <a:ln>
                <a:noFill/>
              </a:ln>
              <a:solidFill>
                <a:srgbClr val="212529"/>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lang="en-US" noProof="0" dirty="0">
              <a:ln>
                <a:noFill/>
              </a:ln>
              <a:solidFill>
                <a:srgbClr val="212529"/>
              </a:solidFill>
              <a:effectLst/>
              <a:uLnTx/>
              <a:uFillTx/>
              <a:latin typeface="Arial" panose="020B0604020202020204" pitchFamily="34" charset="0"/>
              <a:cs typeface="Arial" panose="020B0604020202020204" pitchFamily="34" charset="0"/>
              <a:sym typeface="+mn-ea"/>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noProof="0" dirty="0">
                <a:ln>
                  <a:noFill/>
                </a:ln>
                <a:solidFill>
                  <a:srgbClr val="212529"/>
                </a:solidFill>
                <a:effectLst/>
                <a:uLnTx/>
                <a:uFillTx/>
                <a:latin typeface="Arial" panose="020B0604020202020204" pitchFamily="34" charset="0"/>
                <a:cs typeface="Arial" panose="020B0604020202020204" pitchFamily="34" charset="0"/>
                <a:sym typeface="+mn-ea"/>
              </a:rPr>
              <a:t>Pipes are of two kinds:</a:t>
            </a:r>
            <a:endParaRPr kumimoji="0" lang="en-US" b="0" i="0" u="none" strike="noStrike" kern="1200" cap="none" spc="0" normalizeH="0" baseline="0" noProof="0" dirty="0">
              <a:ln>
                <a:noFill/>
              </a:ln>
              <a:solidFill>
                <a:srgbClr val="212529"/>
              </a:solidFill>
              <a:effectLst/>
              <a:uLnTx/>
              <a:uFillTx/>
              <a:latin typeface="Arial" panose="020B0604020202020204" pitchFamily="34" charset="0"/>
              <a:ea typeface="+mn-ea"/>
              <a:cs typeface="Arial" panose="020B0604020202020204" pitchFamily="34" charset="0"/>
            </a:endParaRPr>
          </a:p>
          <a:p>
            <a:pPr marL="265430" marR="0" lvl="0" indent="-26543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Char char=""/>
              <a:defRPr/>
            </a:pPr>
            <a:r>
              <a:rPr lang="en-US" noProof="0" dirty="0">
                <a:ln>
                  <a:noFill/>
                </a:ln>
                <a:solidFill>
                  <a:srgbClr val="212529"/>
                </a:solidFill>
                <a:effectLst/>
                <a:uLnTx/>
                <a:uFillTx/>
                <a:latin typeface="Arial" panose="020B0604020202020204" pitchFamily="34" charset="0"/>
                <a:cs typeface="Arial" panose="020B0604020202020204" pitchFamily="34" charset="0"/>
                <a:sym typeface="+mn-ea"/>
              </a:rPr>
              <a:t>Inlet Pipe: Pipe, which fills a cistern or tank, is an inlet pipe. </a:t>
            </a:r>
            <a:endParaRPr kumimoji="0" lang="en-US" b="0" i="0" u="none" strike="noStrike" kern="1200" cap="none" spc="0" normalizeH="0" baseline="0" noProof="0" dirty="0">
              <a:ln>
                <a:noFill/>
              </a:ln>
              <a:solidFill>
                <a:srgbClr val="212529"/>
              </a:solidFill>
              <a:effectLst/>
              <a:uLnTx/>
              <a:uFillTx/>
              <a:latin typeface="Arial" panose="020B0604020202020204" pitchFamily="34" charset="0"/>
              <a:ea typeface="+mn-ea"/>
              <a:cs typeface="Arial" panose="020B0604020202020204" pitchFamily="34" charset="0"/>
            </a:endParaRPr>
          </a:p>
          <a:p>
            <a:pPr marL="265430" marR="0" lvl="0" indent="-26543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Char char=""/>
              <a:defRPr/>
            </a:pPr>
            <a:r>
              <a:rPr lang="en-US" noProof="0" dirty="0">
                <a:ln>
                  <a:noFill/>
                </a:ln>
                <a:solidFill>
                  <a:srgbClr val="212529"/>
                </a:solidFill>
                <a:effectLst/>
                <a:uLnTx/>
                <a:uFillTx/>
                <a:latin typeface="Arial" panose="020B0604020202020204" pitchFamily="34" charset="0"/>
                <a:cs typeface="Arial" panose="020B0604020202020204" pitchFamily="34" charset="0"/>
                <a:sym typeface="+mn-ea"/>
              </a:rPr>
              <a:t>Outlet Pipe: Pipe, which empties a cistern or tank, is an outlet pipe.</a:t>
            </a:r>
            <a:r>
              <a:rPr lang="en-US" noProof="0" dirty="0">
                <a:ln>
                  <a:noFill/>
                </a:ln>
                <a:effectLst/>
                <a:uLnTx/>
                <a:uFillTx/>
                <a:latin typeface="Arial" panose="020B0604020202020204" pitchFamily="34" charset="0"/>
                <a:cs typeface="Arial" panose="020B0604020202020204" pitchFamily="34" charset="0"/>
                <a:sym typeface="+mn-ea"/>
              </a:rPr>
              <a:t> </a:t>
            </a:r>
            <a:br>
              <a:rPr lang="en-US" noProof="0" dirty="0">
                <a:ln>
                  <a:noFill/>
                </a:ln>
                <a:effectLst/>
                <a:uLnTx/>
                <a:uFillTx/>
                <a:latin typeface="Arial" panose="020B0604020202020204" pitchFamily="34" charset="0"/>
                <a:cs typeface="Arial" panose="020B0604020202020204" pitchFamily="34" charset="0"/>
                <a:sym typeface="+mn-ea"/>
              </a:rPr>
            </a:br>
            <a:endParaRPr kumimoji="0" lang="en-US"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a:p>
            <a:pPr marL="0" indent="0">
              <a:buNone/>
            </a:pPr>
            <a:endParaRPr lang="en-US" altLang="en-US" b="1" dirty="0">
              <a:solidFill>
                <a:srgbClr val="000000"/>
              </a:solidFill>
              <a:latin typeface="Arial" panose="020B0604020202020204" pitchFamily="34" charset="0"/>
            </a:endParaRPr>
          </a:p>
          <a:p>
            <a:pPr marL="0" indent="0">
              <a:buNone/>
            </a:pPr>
            <a:endParaRPr lang="en-US" altLang="en-US" dirty="0">
              <a:solidFill>
                <a:srgbClr val="000000"/>
              </a:solidFill>
              <a:latin typeface="Arial" panose="020B0604020202020204" pitchFamily="34" charset="0"/>
              <a:ea typeface="Arial" panose="020B0604020202020204" pitchFamily="34" charset="0"/>
            </a:endParaRPr>
          </a:p>
          <a:p>
            <a:pPr marL="0" indent="0">
              <a:buNone/>
            </a:pP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7390"/>
            <a:ext cx="10515600" cy="5469890"/>
          </a:xfrm>
        </p:spPr>
        <p:txBody>
          <a:bodyPr/>
          <a:lstStyle/>
          <a:p>
            <a:pPr marL="0" indent="0">
              <a:buNone/>
            </a:pPr>
            <a:r>
              <a:rPr lang="en-US" altLang="en-US" b="1" dirty="0">
                <a:solidFill>
                  <a:schemeClr val="tx1"/>
                </a:solidFill>
                <a:latin typeface="Arial" panose="020B0604020202020204" pitchFamily="34" charset="0"/>
                <a:sym typeface="+mn-ea"/>
              </a:rPr>
              <a:t>Pipes working together:</a:t>
            </a:r>
            <a:endParaRPr lang="en-US" altLang="en-US" b="1" dirty="0">
              <a:solidFill>
                <a:schemeClr val="tx1"/>
              </a:solidFill>
              <a:latin typeface="Arial" panose="020B0604020202020204" pitchFamily="34" charset="0"/>
            </a:endParaRPr>
          </a:p>
          <a:p>
            <a:pPr marL="0" indent="0">
              <a:buNone/>
            </a:pPr>
            <a:endParaRPr lang="en-US" altLang="en-US" dirty="0">
              <a:solidFill>
                <a:schemeClr val="tx1"/>
              </a:solidFill>
              <a:latin typeface="Arial" panose="020B0604020202020204" pitchFamily="34" charset="0"/>
            </a:endParaRPr>
          </a:p>
          <a:p>
            <a:pPr marL="0" indent="0">
              <a:buNone/>
            </a:pPr>
            <a:r>
              <a:rPr lang="en-US" altLang="en-US" dirty="0">
                <a:solidFill>
                  <a:schemeClr val="tx1"/>
                </a:solidFill>
                <a:latin typeface="Arial" panose="020B0604020202020204" pitchFamily="34" charset="0"/>
                <a:sym typeface="+mn-ea"/>
              </a:rPr>
              <a:t>Example: Two pipes A and B can fill a cistern in 20 and 30 minutes respectively. If both the pipes are opened together, how long will it take to fill the cistern?</a:t>
            </a:r>
            <a:endParaRPr lang="en-US" altLang="en-US" dirty="0">
              <a:solidFill>
                <a:schemeClr val="tx1"/>
              </a:solidFill>
              <a:latin typeface="Arial" panose="020B0604020202020204" pitchFamily="34" charset="0"/>
            </a:endParaRPr>
          </a:p>
          <a:p>
            <a:pPr marL="0" indent="0">
              <a:buNone/>
            </a:pPr>
            <a:endParaRPr lang="en-US" altLang="en-US" dirty="0">
              <a:solidFill>
                <a:schemeClr val="tx1"/>
              </a:solidFill>
              <a:latin typeface="Arial" panose="020B0604020202020204" pitchFamily="34" charset="0"/>
              <a:cs typeface="Calibri (Body)"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3420"/>
            <a:ext cx="10515600" cy="5483860"/>
          </a:xfrm>
        </p:spPr>
        <p:txBody>
          <a:bodyPr/>
          <a:lstStyle/>
          <a:p>
            <a:pPr marL="0" indent="0">
              <a:buNone/>
            </a:pPr>
            <a:r>
              <a:rPr b="1" dirty="0">
                <a:sym typeface="+mn-ea"/>
              </a:rPr>
              <a:t>Example: </a:t>
            </a:r>
            <a:endParaRPr b="1" dirty="0"/>
          </a:p>
          <a:p>
            <a:pPr marL="0" indent="0">
              <a:buNone/>
            </a:pPr>
            <a:endParaRPr dirty="0">
              <a:sym typeface="+mn-ea"/>
            </a:endParaRPr>
          </a:p>
          <a:p>
            <a:pPr marL="0" indent="0">
              <a:buNone/>
            </a:pPr>
            <a:r>
              <a:rPr dirty="0">
                <a:sym typeface="+mn-ea"/>
              </a:rPr>
              <a:t>Two pipes A and B can fill a cistern in 20 and 30 minutes respectively. If both the pipes are opened together, how long will it take to fill the cistern?</a:t>
            </a:r>
            <a:endParaRPr dirty="0"/>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440" y="767715"/>
            <a:ext cx="10500360" cy="5409565"/>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1) Three pipes A,B and C can fill a tank in 20 minutes, 30 minutes and 40 minutes respectively while working alone. If, all the pipes are opened together, how long will it take to fill the tank full?</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9.23 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12.23 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8.23 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None of these</a:t>
            </a:r>
            <a:endPar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p:cNvSpPr>
            <a:spLocks noGrp="1"/>
          </p:cNvSpPr>
          <p:nvPr>
            <p:ph idx="1"/>
          </p:nvPr>
        </p:nvSpPr>
        <p:spPr>
          <a:xfrm>
            <a:off x="996950" y="876300"/>
            <a:ext cx="10078085" cy="5250180"/>
          </a:xfrm>
        </p:spPr>
        <p:txBody>
          <a:bodyPr vert="horz" wrap="square" lIns="91440" tIns="45720" rIns="91440" bIns="45720" anchor="t" anchorCtr="0"/>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2) Two pipes A &amp; B can separately fill a cistern in 220 minutes and 330 minutes. Together, they can fill the cistern in</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 hour 32 minutes	</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 hour	</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2 hour 12 minutes	</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2 hours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822325" y="907415"/>
            <a:ext cx="10468610" cy="5013325"/>
          </a:xfrm>
          <a:prstGeom prst="rect">
            <a:avLst/>
          </a:prstGeom>
          <a:noFill/>
        </p:spPr>
        <p:txBody>
          <a:bodyPr wrap="square" rtlCol="0" anchor="t">
            <a:noAutofit/>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sz="2800" noProof="0" dirty="0">
                <a:ln>
                  <a:noFill/>
                </a:ln>
                <a:solidFill>
                  <a:schemeClr val="tx1"/>
                </a:solidFill>
                <a:effectLst/>
                <a:uLnTx/>
                <a:uFillTx/>
                <a:latin typeface="Arial" panose="020B0604020202020204" pitchFamily="34" charset="0"/>
                <a:cs typeface="Arial" panose="020B0604020202020204" pitchFamily="34" charset="0"/>
                <a:sym typeface="+mn-ea"/>
              </a:rPr>
              <a:t>3) Pipe A can fill a tank in 36 minutes and pipe B can fill it in 45 minutes. If both the pipes are opened to fill an empty tank, in how many minutes will it be full?</a:t>
            </a:r>
            <a:endParaRPr kumimoji="0" lang="en-US" alt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sz="2800" noProof="0" dirty="0">
                <a:ln>
                  <a:noFill/>
                </a:ln>
                <a:solidFill>
                  <a:schemeClr val="tx1"/>
                </a:solidFill>
                <a:effectLst/>
                <a:uLnTx/>
                <a:uFillTx/>
                <a:latin typeface="Arial" panose="020B0604020202020204" pitchFamily="34" charset="0"/>
                <a:cs typeface="Arial" panose="020B0604020202020204" pitchFamily="34" charset="0"/>
                <a:sym typeface="+mn-ea"/>
              </a:rPr>
              <a:t>15</a:t>
            </a:r>
            <a:endParaRPr kumimoji="0" lang="en-US" alt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sz="2800" noProof="0" dirty="0">
                <a:ln>
                  <a:noFill/>
                </a:ln>
                <a:solidFill>
                  <a:schemeClr val="tx1"/>
                </a:solidFill>
                <a:effectLst/>
                <a:uLnTx/>
                <a:uFillTx/>
                <a:latin typeface="Arial" panose="020B0604020202020204" pitchFamily="34" charset="0"/>
                <a:cs typeface="Arial" panose="020B0604020202020204" pitchFamily="34" charset="0"/>
                <a:sym typeface="+mn-ea"/>
              </a:rPr>
              <a:t>18</a:t>
            </a:r>
            <a:endParaRPr kumimoji="0" lang="en-US" alt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sz="2800" noProof="0" dirty="0">
                <a:ln>
                  <a:noFill/>
                </a:ln>
                <a:solidFill>
                  <a:schemeClr val="tx1"/>
                </a:solidFill>
                <a:effectLst/>
                <a:uLnTx/>
                <a:uFillTx/>
                <a:latin typeface="Arial" panose="020B0604020202020204" pitchFamily="34" charset="0"/>
                <a:cs typeface="Arial" panose="020B0604020202020204" pitchFamily="34" charset="0"/>
                <a:sym typeface="+mn-ea"/>
              </a:rPr>
              <a:t>20</a:t>
            </a:r>
            <a:endParaRPr kumimoji="0" lang="en-US" alt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sz="2800" noProof="0" dirty="0">
                <a:ln>
                  <a:noFill/>
                </a:ln>
                <a:solidFill>
                  <a:schemeClr val="tx1"/>
                </a:solidFill>
                <a:effectLst/>
                <a:uLnTx/>
                <a:uFillTx/>
                <a:latin typeface="Arial" panose="020B0604020202020204" pitchFamily="34" charset="0"/>
                <a:cs typeface="Arial" panose="020B0604020202020204" pitchFamily="34" charset="0"/>
                <a:sym typeface="+mn-ea"/>
              </a:rPr>
              <a:t>25</a:t>
            </a:r>
            <a:endParaRPr kumimoji="0" lang="en-US" alt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901700"/>
            <a:ext cx="10530840" cy="5275580"/>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4) Two taps can fill a tank in 12 min and 18 min respectively. Both the taps are kept open for 2 min and then the tap that fills the tank in 12 min is turned off. In how many more minutes will the tank be filled?</a:t>
            </a:r>
            <a:b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b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9</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12</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13</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946150"/>
            <a:ext cx="10530840" cy="5231130"/>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5) Two pipes A and B can separately fill a tank in 12 minutes and 15 minutes respectively. Both the pipes are opened together but 4 minutes after the start the pipe A is turned off. How much time will it take to fill the tank?</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9 min</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10 min</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11 min</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12 min</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Arial" panose="020B0604020202020204" pitchFamily="34" charset="0"/>
                <a:sym typeface="+mn-ea"/>
              </a:rPr>
              <a:t>inlet-outlet Pipes working together:</a:t>
            </a:r>
            <a:endParaRPr lang="en-US"/>
          </a:p>
        </p:txBody>
      </p:sp>
      <p:sp>
        <p:nvSpPr>
          <p:cNvPr id="3" name="Content Placeholder 2"/>
          <p:cNvSpPr>
            <a:spLocks noGrp="1"/>
          </p:cNvSpPr>
          <p:nvPr>
            <p:ph idx="1"/>
          </p:nvPr>
        </p:nvSpPr>
        <p:spPr/>
        <p:txBody>
          <a:bodyPr/>
          <a:lstStyle/>
          <a:p>
            <a:pPr marL="0" indent="0">
              <a:buNone/>
            </a:pPr>
            <a:r>
              <a:rPr b="1" dirty="0">
                <a:sym typeface="+mn-ea"/>
              </a:rPr>
              <a:t>Example:</a:t>
            </a:r>
            <a:endParaRPr b="1" dirty="0"/>
          </a:p>
          <a:p>
            <a:pPr marL="0" indent="0">
              <a:buNone/>
            </a:pPr>
            <a:r>
              <a:rPr dirty="0">
                <a:sym typeface="+mn-ea"/>
              </a:rPr>
              <a:t>A pipe can fill a tank in 3 hours. Because of leak in the bottom, it is filled in 4 hours. If the tank is full, how much time will the leak take to empty it?</a:t>
            </a:r>
            <a:endParaRPr dirty="0"/>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1029335"/>
            <a:ext cx="10500995" cy="5147945"/>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6) A tap can empty a tank in 30 minutes. A second tap can empty it in 45 minutes. If both the taps operate simultaneously, how much time is needed to empty the tank?</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45 mins</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90 mins</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115 mins</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None of these</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3735" y="871220"/>
            <a:ext cx="10650220" cy="5306060"/>
          </a:xfrm>
        </p:spPr>
        <p:txBody>
          <a:bodyPr>
            <a:normAutofit lnSpcReduction="10000"/>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7) Two pipes can fill a cistern in 20 minutes and 30 minutes respectively. Third pipe can empty the tank in 40 minutes. If all the three pipes are opened together, how long it will take to fill the tank full?</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17.14mins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18.14mins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17.56mins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None of these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p:cNvSpPr>
            <a:spLocks noGrp="1"/>
          </p:cNvSpPr>
          <p:nvPr>
            <p:ph idx="1"/>
          </p:nvPr>
        </p:nvSpPr>
        <p:spPr>
          <a:xfrm>
            <a:off x="982345" y="728980"/>
            <a:ext cx="10092690" cy="5900420"/>
          </a:xfrm>
        </p:spPr>
        <p:txBody>
          <a:bodyPr vert="horz" wrap="square" lIns="91440" tIns="45720" rIns="91440" bIns="45720" anchor="t" anchorCtr="0"/>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8) Two pipes can fill a tank in 10 hours and 12 hours respectively while a third pipe empties the full tank in 20 hours. If all the three pipes operate simultaneously, in how much time will the tank be filled?</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7hrs 30min</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7hrs 45min</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8hrs 45min</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9hrs 30min</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a:p>
            <a:pPr marL="0" indent="0">
              <a:buNone/>
            </a:pPr>
            <a:endParaRPr kumimoji="0" lang="en-US" altLang="en-US" b="0" i="0" u="none" strike="noStrike" kern="1200" cap="none" spc="0" normalizeH="0" baseline="0" noProof="0" dirty="0">
              <a:ln>
                <a:noFill/>
              </a:ln>
              <a:solidFill>
                <a:schemeClr val="tx1"/>
              </a:solidFill>
              <a:effectLst/>
              <a:uLnTx/>
              <a:uFillTx/>
              <a:latin typeface="Calibri (Body)" charset="0"/>
              <a:ea typeface="+mn-ea"/>
              <a:cs typeface="Calibri (Body)"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p:cNvSpPr>
            <a:spLocks noGrp="1"/>
          </p:cNvSpPr>
          <p:nvPr>
            <p:ph idx="1"/>
          </p:nvPr>
        </p:nvSpPr>
        <p:spPr>
          <a:xfrm>
            <a:off x="1162050" y="788035"/>
            <a:ext cx="9808210" cy="5338445"/>
          </a:xfrm>
        </p:spPr>
        <p:txBody>
          <a:bodyPr vert="horz" wrap="square" lIns="91440" tIns="45720" rIns="91440" bIns="45720" anchor="t" anchorCtr="0"/>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9) A cistern is filled by a tap in 3.5 hours. Due to leak in the bottom of the cistern, it takes half an hour longer to fill the cistern. If the cistern is full how long will it take the leak to empty, it?</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7 hours </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8 hours </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14 hours </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28 hours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976630"/>
            <a:ext cx="10500995" cy="5200650"/>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10) Tap A can fill a tank in 30 minutes and tap B can fill the same tank in 60 minutes. If both the taps are opened together for 5 minutes, and after that tap A stopped working, then in how much time remaining part of the tank can be filled?</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20mins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 25 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 30mins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 45mins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endParaRPr kumimoji="0" lang="en-US" altLang="en-US" b="0" i="0" u="none" strike="noStrike" kern="1200" cap="none" spc="0" normalizeH="0" baseline="0" noProof="0" dirty="0">
              <a:ln>
                <a:noFill/>
              </a:ln>
              <a:solidFill>
                <a:schemeClr val="tx1"/>
              </a:solidFill>
              <a:effectLst/>
              <a:uLnTx/>
              <a:uFillTx/>
              <a:latin typeface="+mn-lt"/>
              <a:ea typeface="+mn-ea"/>
              <a:cs typeface="+mn-cs"/>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a:spLocks noGrp="1"/>
          </p:cNvSpPr>
          <p:nvPr>
            <p:ph idx="1"/>
          </p:nvPr>
        </p:nvSpPr>
        <p:spPr>
          <a:xfrm>
            <a:off x="1131570" y="859790"/>
            <a:ext cx="9899015" cy="5266690"/>
          </a:xfrm>
        </p:spPr>
        <p:txBody>
          <a:bodyPr vert="horz" wrap="square" lIns="91440" tIns="45720" rIns="91440" bIns="45720" anchor="t" anchorCtr="0"/>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11) A tap can fill a tank in 25 minutes and another can empty it in 50 minutes. Find whether the tank will be filled up or emptied and in how many minutes if both working together?</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Tank is filled up in 50 minutes</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Tank is emptied in 25 minutes</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Tank is filled up in 25 minutes</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None of these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827405"/>
            <a:ext cx="10530840" cy="5349875"/>
          </a:xfrm>
        </p:spPr>
        <p:txBody>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noProof="0" dirty="0">
                <a:ln>
                  <a:noFill/>
                </a:ln>
                <a:effectLst/>
                <a:uLnTx/>
                <a:uFillTx/>
                <a:sym typeface="+mn-ea"/>
              </a:rPr>
              <a:t>12) A tap can fill a tank in 4 hours. After half the tank is filled, two more similar taps are opened. What is the total time taken to fill the tank completely?</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smtClean="0">
                <a:ln>
                  <a:noFill/>
                </a:ln>
                <a:effectLst/>
                <a:uLnTx/>
                <a:uFillTx/>
                <a:sym typeface="+mn-ea"/>
              </a:rPr>
              <a:t>1 </a:t>
            </a:r>
            <a:r>
              <a:rPr lang="en-US" noProof="0" dirty="0" err="1">
                <a:ln>
                  <a:noFill/>
                </a:ln>
                <a:effectLst/>
                <a:uLnTx/>
                <a:uFillTx/>
                <a:sym typeface="+mn-ea"/>
              </a:rPr>
              <a:t>hr</a:t>
            </a:r>
            <a:r>
              <a:rPr lang="en-US" noProof="0" dirty="0">
                <a:ln>
                  <a:noFill/>
                </a:ln>
                <a:effectLst/>
                <a:uLnTx/>
                <a:uFillTx/>
                <a:sym typeface="+mn-ea"/>
              </a:rPr>
              <a:t> 20 min	</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smtClean="0">
                <a:ln>
                  <a:noFill/>
                </a:ln>
                <a:effectLst/>
                <a:uLnTx/>
                <a:uFillTx/>
                <a:sym typeface="+mn-ea"/>
              </a:rPr>
              <a:t>4 </a:t>
            </a:r>
            <a:r>
              <a:rPr lang="en-US" noProof="0" dirty="0" err="1" smtClean="0">
                <a:ln>
                  <a:noFill/>
                </a:ln>
                <a:effectLst/>
                <a:uLnTx/>
                <a:uFillTx/>
                <a:sym typeface="+mn-ea"/>
              </a:rPr>
              <a:t>hr</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smtClean="0">
                <a:ln>
                  <a:noFill/>
                </a:ln>
                <a:effectLst/>
                <a:uLnTx/>
                <a:uFillTx/>
                <a:sym typeface="+mn-ea"/>
              </a:rPr>
              <a:t>3 </a:t>
            </a:r>
            <a:r>
              <a:rPr lang="en-US" noProof="0" dirty="0" err="1">
                <a:ln>
                  <a:noFill/>
                </a:ln>
                <a:effectLst/>
                <a:uLnTx/>
                <a:uFillTx/>
                <a:sym typeface="+mn-ea"/>
              </a:rPr>
              <a:t>hr</a:t>
            </a:r>
            <a:r>
              <a:rPr lang="en-US" noProof="0" dirty="0">
                <a:ln>
                  <a:noFill/>
                </a:ln>
                <a:effectLst/>
                <a:uLnTx/>
                <a:uFillTx/>
                <a:sym typeface="+mn-ea"/>
              </a:rPr>
              <a:t>	</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smtClean="0">
                <a:ln>
                  <a:noFill/>
                </a:ln>
                <a:effectLst/>
                <a:uLnTx/>
                <a:uFillTx/>
                <a:sym typeface="+mn-ea"/>
              </a:rPr>
              <a:t>2 </a:t>
            </a:r>
            <a:r>
              <a:rPr lang="en-US" noProof="0" dirty="0" err="1">
                <a:ln>
                  <a:noFill/>
                </a:ln>
                <a:effectLst/>
                <a:uLnTx/>
                <a:uFillTx/>
                <a:sym typeface="+mn-ea"/>
              </a:rPr>
              <a:t>hr</a:t>
            </a:r>
            <a:r>
              <a:rPr lang="en-US" noProof="0" dirty="0">
                <a:ln>
                  <a:noFill/>
                </a:ln>
                <a:effectLst/>
                <a:uLnTx/>
                <a:uFillTx/>
                <a:sym typeface="+mn-ea"/>
              </a:rPr>
              <a:t> 40 </a:t>
            </a:r>
            <a:r>
              <a:rPr lang="en-US" noProof="0" dirty="0" smtClean="0">
                <a:ln>
                  <a:noFill/>
                </a:ln>
                <a:effectLst/>
                <a:uLnTx/>
                <a:uFillTx/>
                <a:sym typeface="+mn-ea"/>
              </a:rPr>
              <a:t>min</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p:cNvPicPr>
          <p:nvPr/>
        </p:nvPicPr>
        <p:blipFill>
          <a:blip r:embed="rId2"/>
          <a:stretch>
            <a:fillRect/>
          </a:stretch>
        </p:blipFill>
        <p:spPr>
          <a:xfrm>
            <a:off x="2208213" y="981075"/>
            <a:ext cx="7883525" cy="4846638"/>
          </a:xfrm>
          <a:prstGeom prst="rect">
            <a:avLst/>
          </a:prstGeom>
          <a:noFill/>
          <a:ln w="9525">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862</Words>
  <Application>Microsoft Office PowerPoint</Application>
  <PresentationFormat>Custom</PresentationFormat>
  <Paragraphs>95</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inlet-outlet Pipes working together: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 516 LECTURE-1 Time and Work </dc:title>
  <dc:creator/>
  <cp:lastModifiedBy>rahul</cp:lastModifiedBy>
  <cp:revision>19</cp:revision>
  <dcterms:created xsi:type="dcterms:W3CDTF">2025-01-03T10:26:00Z</dcterms:created>
  <dcterms:modified xsi:type="dcterms:W3CDTF">2025-01-12T05:19:26Z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C7455BE7D95F46A7B59DA7665120D117_11</vt:lpwstr>
  </property>
  <property fmtid="{D5CDD505-2E9C-101B-9397-08002B2CF9AE}" pid="3" name="KSOProductBuildVer">
    <vt:lpwstr>1033-12.2.0.19307</vt:lpwstr>
  </property>
</Properties>
</file>