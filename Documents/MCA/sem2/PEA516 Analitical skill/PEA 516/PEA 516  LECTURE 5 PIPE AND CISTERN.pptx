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2" r:id="rId2"/>
    <p:sldId id="259" r:id="rId3"/>
    <p:sldId id="260" r:id="rId4"/>
    <p:sldId id="313" r:id="rId5"/>
    <p:sldId id="264" r:id="rId6"/>
    <p:sldId id="267" r:id="rId7"/>
    <p:sldId id="266" r:id="rId8"/>
    <p:sldId id="262" r:id="rId9"/>
    <p:sldId id="329" r:id="rId10"/>
    <p:sldId id="263" r:id="rId11"/>
    <p:sldId id="314" r:id="rId12"/>
    <p:sldId id="291" r:id="rId13"/>
    <p:sldId id="331" r:id="rId14"/>
    <p:sldId id="330" r:id="rId15"/>
    <p:sldId id="336" r:id="rId16"/>
    <p:sldId id="2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81" d="100"/>
          <a:sy n="81" d="100"/>
        </p:scale>
        <p:origin x="-24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238" y="4983163"/>
            <a:ext cx="8183563" cy="105251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6594DA"/>
                </a:solidFill>
                <a:effectLst>
                  <a:outerShdw blurRad="53975" dist="22860" dir="5400000" algn="tl" rotWithShape="0">
                    <a:srgbClr val="000000">
                      <a:alpha val="55000"/>
                    </a:srgbClr>
                  </a:outerShdw>
                </a:effectLst>
                <a:uLnTx/>
                <a:uFillTx/>
                <a:latin typeface="+mj-lt"/>
                <a:ea typeface="+mj-ea"/>
                <a:cs typeface="+mj-cs"/>
              </a:rPr>
              <a:t> </a:t>
            </a:r>
          </a:p>
        </p:txBody>
      </p:sp>
      <p:sp>
        <p:nvSpPr>
          <p:cNvPr id="120834" name="Content Placeholder 4"/>
          <p:cNvSpPr>
            <a:spLocks noGrp="1"/>
          </p:cNvSpPr>
          <p:nvPr>
            <p:ph idx="1"/>
          </p:nvPr>
        </p:nvSpPr>
        <p:spPr>
          <a:xfrm>
            <a:off x="2027238" y="530225"/>
            <a:ext cx="8183562" cy="4187825"/>
          </a:xfrm>
        </p:spPr>
        <p:txBody>
          <a:bodyPr vert="horz" wrap="square" lIns="182880" tIns="91440" rIns="91440" bIns="45720" anchor="t" anchorCtr="0"/>
          <a:lstStyle/>
          <a:p>
            <a:pPr marL="0" indent="0" algn="ctr">
              <a:buNone/>
            </a:pPr>
            <a:r>
              <a:rPr lang="en-US" altLang="en-US" sz="4000" b="1" u="sng" dirty="0">
                <a:solidFill>
                  <a:schemeClr val="tx1"/>
                </a:solidFill>
                <a:latin typeface="Algerian" panose="04020705040A02060702" pitchFamily="82" charset="0"/>
              </a:rPr>
              <a:t>pea 516</a:t>
            </a:r>
          </a:p>
          <a:p>
            <a:pPr marL="0" indent="0" algn="ctr">
              <a:buNone/>
            </a:pPr>
            <a:r>
              <a:rPr lang="en-US" altLang="en-US" sz="4000" b="1" u="sng" dirty="0" smtClean="0">
                <a:solidFill>
                  <a:schemeClr val="tx1"/>
                </a:solidFill>
                <a:latin typeface="Algerian" panose="04020705040A02060702" pitchFamily="82" charset="0"/>
              </a:rPr>
              <a:t>Lecture-5</a:t>
            </a:r>
            <a:endParaRPr lang="en-US" altLang="en-US" sz="4000" b="1" u="sng" dirty="0">
              <a:solidFill>
                <a:schemeClr val="tx1"/>
              </a:solidFill>
              <a:latin typeface="Algerian" panose="04020705040A02060702" pitchFamily="82" charset="0"/>
            </a:endParaRPr>
          </a:p>
          <a:p>
            <a:pPr marL="0" indent="0" algn="ctr">
              <a:buNone/>
            </a:pPr>
            <a:r>
              <a:rPr lang="en-US" altLang="en-US" sz="4000" b="1" u="sng" dirty="0">
                <a:solidFill>
                  <a:schemeClr val="tx1"/>
                </a:solidFill>
                <a:latin typeface="Algerian" panose="04020705040A02060702" pitchFamily="82" charset="0"/>
              </a:rPr>
              <a:t>pipe and cisternPipes and Cistern</a:t>
            </a:r>
          </a:p>
        </p:txBody>
      </p:sp>
      <p:pic>
        <p:nvPicPr>
          <p:cNvPr id="120835" name="Picture 6" descr="Pipes and Cistern - Aptitude Concepts Made Simple (With Pictures)"/>
          <p:cNvPicPr>
            <a:picLocks noChangeAspect="1"/>
          </p:cNvPicPr>
          <p:nvPr/>
        </p:nvPicPr>
        <p:blipFill>
          <a:blip r:embed="rId2"/>
          <a:stretch>
            <a:fillRect/>
          </a:stretch>
        </p:blipFill>
        <p:spPr>
          <a:xfrm>
            <a:off x="2208213" y="2492375"/>
            <a:ext cx="7956550" cy="3570288"/>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endParaRPr lang="en-US" altLang="en-US" dirty="0">
              <a:solidFill>
                <a:schemeClr val="tx1"/>
              </a:solidFill>
              <a:latin typeface="Arial" panose="020B0604020202020204" pitchFamily="34" charset="0"/>
              <a:sym typeface="+mn-ea"/>
            </a:endParaRPr>
          </a:p>
          <a:p>
            <a:pPr marL="0" indent="0">
              <a:buNone/>
            </a:pPr>
            <a:endParaRPr lang="en-US" altLang="en-US" dirty="0">
              <a:solidFill>
                <a:schemeClr val="tx1"/>
              </a:solidFill>
              <a:latin typeface="Arial" panose="020B0604020202020204" pitchFamily="34" charset="0"/>
              <a:sym typeface="+mn-ea"/>
            </a:endParaRPr>
          </a:p>
          <a:p>
            <a:pPr marL="0" indent="0">
              <a:buNone/>
            </a:pPr>
            <a:r>
              <a:rPr lang="en-US" altLang="en-US" dirty="0">
                <a:solidFill>
                  <a:schemeClr val="tx1"/>
                </a:solidFill>
                <a:latin typeface="Arial" panose="020B0604020202020204" pitchFamily="34" charset="0"/>
                <a:sym typeface="+mn-ea"/>
              </a:rPr>
              <a:t>Example: A tap can fill a tank in 30 minutes. B can fill it in 45 minutes. If both the taps are opened on alternate min, in how much time the tank will be full?</a:t>
            </a:r>
          </a:p>
          <a:p>
            <a:pPr marL="0" indent="0">
              <a:buNone/>
            </a:pPr>
            <a:endParaRPr lang="en-US" altLang="en-US" dirty="0">
              <a:solidFill>
                <a:schemeClr val="tx1"/>
              </a:solidFill>
              <a:latin typeface="Arial" panose="020B0604020202020204" pitchFamily="34" charset="0"/>
              <a:sym typeface="+mn-ea"/>
            </a:endParaRPr>
          </a:p>
          <a:p>
            <a:pPr marL="0" indent="0">
              <a:buNone/>
            </a:pPr>
            <a:r>
              <a:rPr lang="en-US" altLang="en-US" dirty="0">
                <a:solidFill>
                  <a:schemeClr val="tx1"/>
                </a:solidFill>
                <a:latin typeface="Arial" panose="020B0604020202020204" pitchFamily="34" charset="0"/>
                <a:sym typeface="+mn-ea"/>
              </a:rPr>
              <a:t>	</a:t>
            </a:r>
          </a:p>
        </p:txBody>
      </p:sp>
      <p:sp>
        <p:nvSpPr>
          <p:cNvPr id="2" name="Text Box 1"/>
          <p:cNvSpPr txBox="1"/>
          <p:nvPr/>
        </p:nvSpPr>
        <p:spPr>
          <a:xfrm>
            <a:off x="975995" y="889635"/>
            <a:ext cx="10135870" cy="1143635"/>
          </a:xfrm>
          <a:prstGeom prst="rect">
            <a:avLst/>
          </a:prstGeom>
          <a:noFill/>
        </p:spPr>
        <p:txBody>
          <a:bodyPr wrap="square" rtlCol="0" anchor="t">
            <a:noAutofit/>
          </a:bodyPr>
          <a:lstStyle/>
          <a:p>
            <a:pPr marL="0" indent="0">
              <a:buNone/>
            </a:pPr>
            <a:r>
              <a:rPr lang="en-US" altLang="en-US" sz="4000" b="1" dirty="0">
                <a:solidFill>
                  <a:schemeClr val="tx1"/>
                </a:solidFill>
                <a:latin typeface="Arial" panose="020B0604020202020204" pitchFamily="34" charset="0"/>
                <a:sym typeface="+mn-ea"/>
              </a:rPr>
              <a:t>Working on alternate minutes</a:t>
            </a:r>
            <a:endParaRPr lang="en-US" altLang="en-US" sz="4000" b="1" noProof="0" dirty="0" smtClean="0">
              <a:ln>
                <a:noFill/>
              </a:ln>
              <a:solidFill>
                <a:schemeClr val="tx1"/>
              </a:solidFill>
              <a:effectLst/>
              <a:uLnTx/>
              <a:uFillTx/>
              <a:latin typeface="Arial" panose="020B0604020202020204" pitchFamily="3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2975" y="827405"/>
            <a:ext cx="10410825" cy="534987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1) Three tapes A, B, C can fill an overhead tank in 4, 6 and 12 mins respectively. How long would the three taps take to fill the tank if it is opened on alternate minutes?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3mins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5mins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7.5mins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indent="0">
              <a:buNone/>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796925"/>
            <a:ext cx="10530840" cy="538035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 A tank is fitted with two taps A and B. A can fill the tank completely in 45 minutes and B can empty the full tank in 1 hour. If both the taps are opened alternatively for 1 minute, then in how much time the empty tank will be filled completely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117mins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120mins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119mins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8355" y="767715"/>
            <a:ext cx="10545445" cy="5409565"/>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3) Three tapes A, B, C can fill an overhead tank in 4, 6 and 12 mins respectively. How long would the three taps take to fill the tank if it is opened on alternate minutes?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3mins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5mins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7.5mins</a:t>
            </a:r>
            <a:endParaRPr kumimoji="0" 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845820" y="860425"/>
            <a:ext cx="10278110" cy="5266055"/>
          </a:xfrm>
        </p:spPr>
        <p:txBody>
          <a:bodyPr vert="horz" wrap="square" lIns="91440" tIns="45720" rIns="91440" bIns="45720" anchor="t" anchorCtr="0"/>
          <a:lstStyle/>
          <a:p>
            <a:pPr marL="0" indent="0">
              <a:buNone/>
            </a:pPr>
            <a:r>
              <a:rPr lang="en-US" altLang="en-US" b="1" dirty="0">
                <a:solidFill>
                  <a:schemeClr val="tx1"/>
                </a:solidFill>
                <a:latin typeface="Arial" panose="020B0604020202020204" pitchFamily="34" charset="0"/>
                <a:sym typeface="+mn-ea"/>
              </a:rPr>
              <a:t>Inlet and Outlet Pipes working on alternate minute:</a:t>
            </a:r>
            <a:endParaRPr lang="en-US" altLang="en-US" b="1" dirty="0">
              <a:solidFill>
                <a:schemeClr val="tx1"/>
              </a:solidFill>
              <a:latin typeface="Arial" panose="020B0604020202020204" pitchFamily="34" charset="0"/>
            </a:endParaRPr>
          </a:p>
          <a:p>
            <a:pPr marL="0" indent="0">
              <a:buNone/>
            </a:pPr>
            <a:endParaRPr lang="en-US" altLang="en-US" dirty="0">
              <a:solidFill>
                <a:schemeClr val="tx1"/>
              </a:solidFill>
              <a:latin typeface="Arial" panose="020B0604020202020204" pitchFamily="34" charset="0"/>
            </a:endParaRPr>
          </a:p>
          <a:p>
            <a:pPr marL="0" indent="0">
              <a:buNone/>
            </a:pPr>
            <a:r>
              <a:rPr lang="en-US" altLang="en-US" dirty="0">
                <a:solidFill>
                  <a:schemeClr val="tx1"/>
                </a:solidFill>
                <a:latin typeface="Arial" panose="020B0604020202020204" pitchFamily="34" charset="0"/>
                <a:sym typeface="+mn-ea"/>
              </a:rPr>
              <a:t>Example: A pipe can fill a tank in 3 min. B can empty it in 4 min. In how much time the tank will be full if the pipes are working on alternate mins?</a:t>
            </a:r>
            <a:endParaRPr lang="en-US" altLang="en-US" dirty="0">
              <a:solidFill>
                <a:schemeClr val="tx1"/>
              </a:solidFill>
              <a:latin typeface="Arial" panose="020B0604020202020204" pitchFamily="34" charset="0"/>
            </a:endParaRPr>
          </a:p>
          <a:p>
            <a:pPr marL="0" indent="0">
              <a:buNone/>
            </a:pPr>
            <a:endParaRPr lang="en-US" altLang="en-US" dirty="0">
              <a:solidFill>
                <a:schemeClr val="tx1"/>
              </a:solidFill>
              <a:latin typeface="Arial" panose="020B0604020202020204" pitchFamily="34" charset="0"/>
            </a:endParaRPr>
          </a:p>
          <a:p>
            <a:pPr marL="0" indent="0">
              <a:buNone/>
            </a:pPr>
            <a:r>
              <a:rPr lang="en-US" altLang="en-US" dirty="0">
                <a:solidFill>
                  <a:schemeClr val="tx1"/>
                </a:solidFill>
                <a:latin typeface="Arial" panose="020B0604020202020204" pitchFamily="34" charset="0"/>
                <a:sym typeface="+mn-ea"/>
              </a:rPr>
              <a:t>						</a:t>
            </a:r>
            <a:endParaRPr lang="en-US" altLang="en-US" dirty="0">
              <a:solidFill>
                <a:schemeClr val="tx1"/>
              </a:solidFill>
              <a:latin typeface="Arial" panose="020B0604020202020204" pitchFamily="34" charset="0"/>
            </a:endParaRPr>
          </a:p>
          <a:p>
            <a:pPr marL="0" indent="0">
              <a:buNone/>
            </a:pPr>
            <a:endParaRPr lang="en-US" altLang="en-US" dirty="0">
              <a:solidFill>
                <a:schemeClr val="tx1"/>
              </a:solidFill>
              <a:latin typeface="Arial" panose="020B0604020202020204" pitchFamily="34" charset="0"/>
            </a:endParaRPr>
          </a:p>
          <a:p>
            <a:pPr marL="0" indent="0">
              <a:buNone/>
            </a:pP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867410" y="742950"/>
            <a:ext cx="10245090" cy="5177790"/>
          </a:xfrm>
          <a:prstGeom prst="rect">
            <a:avLst/>
          </a:prstGeom>
          <a:noFill/>
        </p:spPr>
        <p:txBody>
          <a:bodyPr wrap="square" rtlCol="0" anchor="t">
            <a:noAutofit/>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sz="2800" noProof="0" dirty="0">
                <a:ln>
                  <a:noFill/>
                </a:ln>
                <a:solidFill>
                  <a:schemeClr val="tx1"/>
                </a:solidFill>
                <a:effectLst/>
                <a:uLnTx/>
                <a:uFillTx/>
                <a:latin typeface="Arial" panose="020B0604020202020204" pitchFamily="34" charset="0"/>
                <a:cs typeface="Arial" panose="020B0604020202020204" pitchFamily="34" charset="0"/>
                <a:sym typeface="+mn-ea"/>
              </a:rPr>
              <a:t>4) There are two pipes a and b. A and B can fill and empty in 20 minutes and 30 minutes respectively. If both are open for 1 minute alternate, then how much time will an empty tank be full?</a:t>
            </a: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sz="2800" noProof="0" dirty="0">
                <a:ln>
                  <a:noFill/>
                </a:ln>
                <a:solidFill>
                  <a:schemeClr val="tx1"/>
                </a:solidFill>
                <a:effectLst/>
                <a:uLnTx/>
                <a:uFillTx/>
                <a:latin typeface="Arial" panose="020B0604020202020204" pitchFamily="34" charset="0"/>
                <a:cs typeface="Arial" panose="020B0604020202020204" pitchFamily="34" charset="0"/>
                <a:sym typeface="+mn-ea"/>
              </a:rPr>
              <a:t>120 min</a:t>
            </a: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sz="2800" noProof="0" dirty="0">
                <a:ln>
                  <a:noFill/>
                </a:ln>
                <a:solidFill>
                  <a:schemeClr val="tx1"/>
                </a:solidFill>
                <a:effectLst/>
                <a:uLnTx/>
                <a:uFillTx/>
                <a:latin typeface="Arial" panose="020B0604020202020204" pitchFamily="34" charset="0"/>
                <a:cs typeface="Arial" panose="020B0604020202020204" pitchFamily="34" charset="0"/>
                <a:sym typeface="+mn-ea"/>
              </a:rPr>
              <a:t>117 min</a:t>
            </a: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sz="2800" noProof="0" dirty="0">
                <a:ln>
                  <a:noFill/>
                </a:ln>
                <a:solidFill>
                  <a:schemeClr val="tx1"/>
                </a:solidFill>
                <a:effectLst/>
                <a:uLnTx/>
                <a:uFillTx/>
                <a:latin typeface="Arial" panose="020B0604020202020204" pitchFamily="34" charset="0"/>
                <a:cs typeface="Arial" panose="020B0604020202020204" pitchFamily="34" charset="0"/>
                <a:sym typeface="+mn-ea"/>
              </a:rPr>
              <a:t>115 min</a:t>
            </a:r>
            <a:endParaRPr kumimoji="0" 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sz="2800" noProof="0" dirty="0">
                <a:ln>
                  <a:noFill/>
                </a:ln>
                <a:solidFill>
                  <a:schemeClr val="tx1"/>
                </a:solidFill>
                <a:effectLst/>
                <a:uLnTx/>
                <a:uFillTx/>
                <a:latin typeface="Arial" panose="020B0604020202020204" pitchFamily="34" charset="0"/>
                <a:cs typeface="Arial" panose="020B0604020202020204" pitchFamily="34" charset="0"/>
                <a:sym typeface="+mn-ea"/>
              </a:rPr>
              <a:t>114 min</a:t>
            </a:r>
            <a:endParaRPr kumimoji="0" lang="en-US" altLang="en-US" sz="2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662940"/>
            <a:ext cx="10530840" cy="5514340"/>
          </a:xfrm>
        </p:spPr>
        <p:txBody>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5) A pipe can fill a tank in 12 hours and another can empty it in 24 hours. If both the pipes are used, with the first pipe running for 2 hours and second pipe running for 1 hour alternatively, how long will it take to fill the tank? (Consider starting with the first pipe)</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22 </a:t>
            </a:r>
            <a:r>
              <a:rPr lang="en-US" altLang="en-US" noProof="0" dirty="0" err="1">
                <a:ln>
                  <a:noFill/>
                </a:ln>
                <a:solidFill>
                  <a:schemeClr val="tx1"/>
                </a:solidFill>
                <a:effectLst/>
                <a:uLnTx/>
                <a:uFillTx/>
                <a:latin typeface="Arial" panose="020B0604020202020204" pitchFamily="34" charset="0"/>
                <a:cs typeface="Arial" panose="020B0604020202020204" pitchFamily="34" charset="0"/>
                <a:sym typeface="+mn-ea"/>
              </a:rPr>
              <a:t>hrs</a:t>
            </a: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 30 min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21 </a:t>
            </a:r>
            <a:r>
              <a:rPr lang="en-US" altLang="en-US" noProof="0" dirty="0" err="1">
                <a:ln>
                  <a:noFill/>
                </a:ln>
                <a:solidFill>
                  <a:schemeClr val="tx1"/>
                </a:solidFill>
                <a:effectLst/>
                <a:uLnTx/>
                <a:uFillTx/>
                <a:latin typeface="Arial" panose="020B0604020202020204" pitchFamily="34" charset="0"/>
                <a:cs typeface="Arial" panose="020B0604020202020204" pitchFamily="34" charset="0"/>
                <a:sym typeface="+mn-ea"/>
              </a:rPr>
              <a:t>hrs</a:t>
            </a: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22 </a:t>
            </a:r>
            <a:r>
              <a:rPr lang="en-US" altLang="en-US" noProof="0" dirty="0" err="1">
                <a:ln>
                  <a:noFill/>
                </a:ln>
                <a:solidFill>
                  <a:schemeClr val="tx1"/>
                </a:solidFill>
                <a:effectLst/>
                <a:uLnTx/>
                <a:uFillTx/>
                <a:latin typeface="Arial" panose="020B0604020202020204" pitchFamily="34" charset="0"/>
                <a:cs typeface="Arial" panose="020B0604020202020204" pitchFamily="34" charset="0"/>
                <a:sym typeface="+mn-ea"/>
              </a:rPr>
              <a:t>hrs</a:t>
            </a: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none of these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2165"/>
            <a:ext cx="10515600" cy="5365115"/>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a:ln>
                  <a:noFill/>
                </a:ln>
                <a:effectLst/>
                <a:uLnTx/>
                <a:uFillTx/>
                <a:sym typeface="+mn-ea"/>
              </a:rPr>
              <a:t>6) A pipe can fill a tank in 12 hours and another can empty it in 24 hours. If both the pipes are used, with the first pipe running for 2 hours and second pipe running for 1 hour alternatively, how long will it take to fill the tank? (Consider starting with the first pipe)</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22 </a:t>
            </a:r>
            <a:r>
              <a:rPr lang="en-US" noProof="0" dirty="0" err="1">
                <a:ln>
                  <a:noFill/>
                </a:ln>
                <a:effectLst/>
                <a:uLnTx/>
                <a:uFillTx/>
                <a:sym typeface="+mn-ea"/>
              </a:rPr>
              <a:t>hrs</a:t>
            </a:r>
            <a:r>
              <a:rPr lang="en-US" noProof="0" dirty="0">
                <a:ln>
                  <a:noFill/>
                </a:ln>
                <a:effectLst/>
                <a:uLnTx/>
                <a:uFillTx/>
                <a:sym typeface="+mn-ea"/>
              </a:rPr>
              <a:t> 30 min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21 </a:t>
            </a:r>
            <a:r>
              <a:rPr lang="en-US" noProof="0" dirty="0" err="1">
                <a:ln>
                  <a:noFill/>
                </a:ln>
                <a:effectLst/>
                <a:uLnTx/>
                <a:uFillTx/>
                <a:sym typeface="+mn-ea"/>
              </a:rPr>
              <a:t>hrs</a:t>
            </a:r>
            <a:r>
              <a:rPr lang="en-US" noProof="0" dirty="0">
                <a:ln>
                  <a:noFill/>
                </a:ln>
                <a:effectLst/>
                <a:uLnTx/>
                <a:uFillTx/>
                <a:sym typeface="+mn-ea"/>
              </a:rPr>
              <a:t>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22 </a:t>
            </a:r>
            <a:r>
              <a:rPr lang="en-US" noProof="0" dirty="0" err="1">
                <a:ln>
                  <a:noFill/>
                </a:ln>
                <a:effectLst/>
                <a:uLnTx/>
                <a:uFillTx/>
                <a:sym typeface="+mn-ea"/>
              </a:rPr>
              <a:t>hrs</a:t>
            </a:r>
            <a:r>
              <a:rPr lang="en-US" noProof="0" dirty="0">
                <a:ln>
                  <a:noFill/>
                </a:ln>
                <a:effectLst/>
                <a:uLnTx/>
                <a:uFillTx/>
                <a:sym typeface="+mn-ea"/>
              </a:rPr>
              <a:t>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23 </a:t>
            </a:r>
            <a:r>
              <a:rPr lang="en-US" noProof="0" dirty="0" err="1">
                <a:ln>
                  <a:noFill/>
                </a:ln>
                <a:effectLst/>
                <a:uLnTx/>
                <a:uFillTx/>
                <a:sym typeface="+mn-ea"/>
              </a:rPr>
              <a:t>hrs</a:t>
            </a:r>
            <a:r>
              <a:rPr lang="en-US" noProof="0" dirty="0">
                <a:ln>
                  <a:noFill/>
                </a:ln>
                <a:effectLst/>
                <a:uLnTx/>
                <a:uFillTx/>
                <a:sym typeface="+mn-ea"/>
              </a:rPr>
              <a:t>	</a:t>
            </a:r>
            <a:endParaRPr kumimoji="0" lang="en-US" b="0" i="0" u="none" strike="noStrike" kern="1200" cap="none" spc="0" normalizeH="0" baseline="0" noProof="0" dirty="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2015" y="887095"/>
            <a:ext cx="10471785" cy="5290185"/>
          </a:xfrm>
        </p:spPr>
        <p:txBody>
          <a:bodyPr/>
          <a:lstStyle/>
          <a:p>
            <a:pPr marL="0" indent="0">
              <a:buNone/>
            </a:pPr>
            <a:r>
              <a:rPr lang="en-US" altLang="en-US" b="1" dirty="0">
                <a:solidFill>
                  <a:schemeClr val="tx1"/>
                </a:solidFill>
                <a:latin typeface="Arial" panose="020B0604020202020204" pitchFamily="34" charset="0"/>
                <a:sym typeface="+mn-ea"/>
              </a:rPr>
              <a:t>Finding the actual capacity of the tank</a:t>
            </a:r>
          </a:p>
          <a:p>
            <a:pPr marL="0" indent="0">
              <a:buNone/>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a:p>
            <a:pPr marL="0" indent="0">
              <a:buNone/>
            </a:pPr>
            <a:r>
              <a:rPr lang="en-US" altLang="en-US" dirty="0">
                <a:solidFill>
                  <a:schemeClr val="tx1"/>
                </a:solidFill>
                <a:latin typeface="Arial" panose="020B0604020202020204" pitchFamily="34" charset="0"/>
                <a:sym typeface="+mn-ea"/>
              </a:rPr>
              <a:t>Example: A leak in the bottom of a tank can empty the full tank in  6 hours. An inlet pipe fills water at the rate of 4 litres per minute. When the tank is full, the inlet is opened and due to leak, the tank is empty in 8 hours. Find the capacity of the tank</a:t>
            </a:r>
            <a:endParaRPr lang="en-US" altLang="en-US" dirty="0">
              <a:solidFill>
                <a:schemeClr val="tx1"/>
              </a:solidFill>
              <a:latin typeface="Arial" panose="020B0604020202020204" pitchFamily="34" charset="0"/>
            </a:endParaRPr>
          </a:p>
          <a:p>
            <a:pPr marL="0" indent="0">
              <a:buNone/>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753110"/>
            <a:ext cx="10500995" cy="5424170"/>
          </a:xfrm>
        </p:spPr>
        <p:txBody>
          <a:bodyPr>
            <a:normAutofit lnSpcReduction="10000"/>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7) A leak in the bottom of a container can empty the full tank in 4 hours. An inlet pipe fills water at the rate of 3 liters a minute. When the tank is full, the inlet is opened and due to the leak, the tank is empty in 6 hours. How many </a:t>
            </a:r>
            <a:r>
              <a:rPr lang="en-US" altLang="en-US" noProof="0" dirty="0" err="1">
                <a:ln>
                  <a:noFill/>
                </a:ln>
                <a:solidFill>
                  <a:schemeClr val="tx1"/>
                </a:solidFill>
                <a:effectLst/>
                <a:uLnTx/>
                <a:uFillTx/>
                <a:latin typeface="Arial" panose="020B0604020202020204" pitchFamily="34" charset="0"/>
                <a:cs typeface="Arial" panose="020B0604020202020204" pitchFamily="34" charset="0"/>
                <a:sym typeface="+mn-ea"/>
              </a:rPr>
              <a:t>litres</a:t>
            </a: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 does the container hold?</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3600</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2880</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2160</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1440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735" y="648335"/>
            <a:ext cx="10680065" cy="5528945"/>
          </a:xfrm>
        </p:spPr>
        <p:txBody>
          <a:bodyPr>
            <a:normAutofit lnSpcReduction="10000"/>
          </a:bodyPr>
          <a:lstStyle/>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8) A cistern has a leak which would empty the cistern in 20 minutes. A tap is turned on which admits 4 liters a minute into the cistern, and it is emptied in 24 minutes. How many liters does the cistern hold?</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None/>
              <a:defRPr/>
            </a:pP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480 liters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600 liters </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720 liters</a:t>
            </a:r>
            <a:endParaRPr kumimoji="0" lang="en-US" altLang="en-US"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342900" marR="0" lvl="0" indent="-342900" algn="l" defTabSz="914400" rtl="0" eaLnBrk="0" fontAlgn="base" latinLnBrk="0" hangingPunct="0">
              <a:lnSpc>
                <a:spcPct val="100000"/>
              </a:lnSpc>
              <a:spcBef>
                <a:spcPts val="250"/>
              </a:spcBef>
              <a:spcAft>
                <a:spcPct val="0"/>
              </a:spcAft>
              <a:buClr>
                <a:schemeClr val="accent1"/>
              </a:buClr>
              <a:buSzPct val="80000"/>
              <a:buFont typeface="Wingdings 2" panose="05020102010507070707" pitchFamily="18" charset="2"/>
              <a:buAutoNum type="alphaLcParenR"/>
              <a:defRPr/>
            </a:pPr>
            <a:r>
              <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rPr>
              <a:t>800 liters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812165"/>
            <a:ext cx="10500995" cy="5365115"/>
          </a:xfrm>
        </p:spPr>
        <p:txBody>
          <a:bodyPr/>
          <a:lstStyle/>
          <a:p>
            <a:pPr marL="0" indent="0">
              <a:buNone/>
            </a:pPr>
            <a:r>
              <a:rPr lang="en-US" dirty="0">
                <a:sym typeface="+mn-ea"/>
              </a:rPr>
              <a:t>9) </a:t>
            </a:r>
            <a:r>
              <a:rPr dirty="0">
                <a:sym typeface="+mn-ea"/>
              </a:rPr>
              <a:t>Two pipes can fill a tank in 10 and 14 minutes respectively and a waste pipe can empty 4 gallons per minute. If all the pipes working together can fill the tank in 6 minutes, what is the capacity of the tank?</a:t>
            </a:r>
            <a:br>
              <a:rPr dirty="0">
                <a:sym typeface="+mn-ea"/>
              </a:rPr>
            </a:br>
            <a:r>
              <a:rPr dirty="0">
                <a:sym typeface="+mn-ea"/>
              </a:rPr>
              <a:t>a) 120 gallons</a:t>
            </a:r>
            <a:endParaRPr dirty="0"/>
          </a:p>
          <a:p>
            <a:pPr marL="0" indent="0">
              <a:buNone/>
            </a:pPr>
            <a:r>
              <a:rPr dirty="0">
                <a:sym typeface="+mn-ea"/>
              </a:rPr>
              <a:t>b) 240 gallons</a:t>
            </a:r>
            <a:br>
              <a:rPr dirty="0">
                <a:sym typeface="+mn-ea"/>
              </a:rPr>
            </a:br>
            <a:r>
              <a:rPr dirty="0">
                <a:sym typeface="+mn-ea"/>
              </a:rPr>
              <a:t>c) 450 gallons</a:t>
            </a:r>
            <a:br>
              <a:rPr dirty="0">
                <a:sym typeface="+mn-ea"/>
              </a:rPr>
            </a:br>
            <a:r>
              <a:rPr dirty="0">
                <a:sym typeface="+mn-ea"/>
              </a:rPr>
              <a:t>d) 840 gallons</a:t>
            </a:r>
            <a:endParaRPr dirty="0"/>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595" y="797560"/>
            <a:ext cx="10530205" cy="5379720"/>
          </a:xfrm>
        </p:spPr>
        <p:txBody>
          <a:body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lang="en-US" noProof="0" dirty="0">
                <a:ln>
                  <a:noFill/>
                </a:ln>
                <a:effectLst/>
                <a:uLnTx/>
                <a:uFillTx/>
                <a:sym typeface="+mn-ea"/>
              </a:rPr>
              <a:t>10) An inlet pipe can fill a tank in 5 hours and an outlet pipe can empty the same tank in 36 hours working individually. How many additional number of outlet pipes of the same capacity are required to be opened, so that the tank never over flows</a:t>
            </a:r>
            <a:r>
              <a:rPr lang="en-US" noProof="0" dirty="0" smtClean="0">
                <a:ln>
                  <a:noFill/>
                </a:ln>
                <a:effectLst/>
                <a:uLnTx/>
                <a:uFillTx/>
                <a:sym typeface="+mn-ea"/>
              </a:rPr>
              <a:t>?</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3</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6</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8</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0" fontAlgn="base" latinLnBrk="0" hangingPunct="0">
              <a:lnSpc>
                <a:spcPct val="100000"/>
              </a:lnSpc>
              <a:spcBef>
                <a:spcPct val="20000"/>
              </a:spcBef>
              <a:spcAft>
                <a:spcPct val="0"/>
              </a:spcAft>
              <a:buClrTx/>
              <a:buSzTx/>
              <a:buFont typeface="Arial" panose="020B0604020202020204" pitchFamily="34" charset="0"/>
              <a:buAutoNum type="alphaLcParenR"/>
              <a:defRPr/>
            </a:pPr>
            <a:r>
              <a:rPr lang="en-US" noProof="0" dirty="0" smtClean="0">
                <a:ln>
                  <a:noFill/>
                </a:ln>
                <a:effectLst/>
                <a:uLnTx/>
                <a:uFillTx/>
                <a:sym typeface="+mn-ea"/>
              </a:rPr>
              <a:t>7</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707390"/>
            <a:ext cx="10500360" cy="5469890"/>
          </a:xfrm>
        </p:spPr>
        <p:txBody>
          <a:bodyPr/>
          <a:lstStyle/>
          <a:p>
            <a:pPr marL="0" indent="0">
              <a:buNone/>
            </a:pPr>
            <a:r>
              <a:rPr lang="en-US" altLang="en-IN" dirty="0" smtClean="0">
                <a:sym typeface="+mn-ea"/>
              </a:rPr>
              <a:t>11) </a:t>
            </a:r>
            <a:r>
              <a:rPr lang="en-IN" dirty="0" smtClean="0">
                <a:sym typeface="+mn-ea"/>
              </a:rPr>
              <a:t>Three pipes A, B and C can fill a cistern in 8hrs. After working </a:t>
            </a:r>
            <a:r>
              <a:rPr lang="en-IN" dirty="0">
                <a:sym typeface="+mn-ea"/>
              </a:rPr>
              <a:t>together for 4 hours, C is closed, and A and B fill the cistern in 6 hours. Then find the time in which the cistern can be filled by pipe C?</a:t>
            </a:r>
            <a:endParaRPr lang="en-IN" dirty="0"/>
          </a:p>
          <a:p>
            <a:endParaRPr lang="en-IN" dirty="0"/>
          </a:p>
          <a:p>
            <a:pPr marL="0" indent="0">
              <a:buNone/>
            </a:pPr>
            <a:r>
              <a:rPr lang="en-IN" dirty="0">
                <a:sym typeface="+mn-ea"/>
              </a:rPr>
              <a:t>A) 14 hours                                      </a:t>
            </a:r>
            <a:endParaRPr lang="en-IN" dirty="0"/>
          </a:p>
          <a:p>
            <a:pPr marL="0" indent="0">
              <a:buNone/>
            </a:pPr>
            <a:r>
              <a:rPr lang="en-IN" dirty="0">
                <a:sym typeface="+mn-ea"/>
              </a:rPr>
              <a:t>B) 26 hours</a:t>
            </a:r>
            <a:endParaRPr lang="en-IN" dirty="0"/>
          </a:p>
          <a:p>
            <a:pPr marL="0" indent="0">
              <a:buNone/>
            </a:pPr>
            <a:r>
              <a:rPr lang="en-IN" dirty="0">
                <a:sym typeface="+mn-ea"/>
              </a:rPr>
              <a:t>C) 22 hours                                   </a:t>
            </a:r>
            <a:endParaRPr lang="en-IN" dirty="0"/>
          </a:p>
          <a:p>
            <a:pPr marL="0" indent="0">
              <a:buNone/>
            </a:pPr>
            <a:r>
              <a:rPr lang="en-IN" dirty="0">
                <a:sym typeface="+mn-ea"/>
              </a:rPr>
              <a:t>D) 24 hours</a:t>
            </a:r>
            <a:endParaRPr lang="en-IN" dirty="0"/>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Custom</PresentationFormat>
  <Paragraphs>78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18</cp:revision>
  <dcterms:created xsi:type="dcterms:W3CDTF">2025-01-03T10:26:00Z</dcterms:created>
  <dcterms:modified xsi:type="dcterms:W3CDTF">2025-01-12T05:18:06Z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