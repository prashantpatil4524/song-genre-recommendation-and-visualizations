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2" r:id="rId12"/>
    <p:sldId id="273" r:id="rId13"/>
    <p:sldId id="274" r:id="rId14"/>
    <p:sldId id="275" r:id="rId15"/>
    <p:sldId id="276" r:id="rId16"/>
    <p:sldId id="277" r:id="rId17"/>
    <p:sldId id="278" r:id="rId18"/>
    <p:sldId id="279" r:id="rId19"/>
    <p:sldId id="280" r:id="rId20"/>
    <p:sldId id="281" r:id="rId21"/>
    <p:sldId id="266" r:id="rId22"/>
    <p:sldId id="267" r:id="rId23"/>
    <p:sldId id="282" r:id="rId24"/>
    <p:sldId id="283" r:id="rId25"/>
    <p:sldId id="284" r:id="rId26"/>
    <p:sldId id="285" r:id="rId27"/>
    <p:sldId id="286" r:id="rId28"/>
    <p:sldId id="287" r:id="rId29"/>
    <p:sldId id="288" r:id="rId30"/>
    <p:sldId id="268" r:id="rId31"/>
    <p:sldId id="269" r:id="rId32"/>
    <p:sldId id="27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9" autoAdjust="0"/>
    <p:restoredTop sz="94660"/>
  </p:normalViewPr>
  <p:slideViewPr>
    <p:cSldViewPr snapToGrid="0">
      <p:cViewPr varScale="1">
        <p:scale>
          <a:sx n="66" d="100"/>
          <a:sy n="66" d="100"/>
        </p:scale>
        <p:origin x="738"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6619E-6438-465E-ABA7-352079B5B4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D2EC64-DCBB-4165-AB53-43D3BCC9A6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1285569-C8CA-4C3A-B702-E11D6F8C3B46}"/>
              </a:ext>
            </a:extLst>
          </p:cNvPr>
          <p:cNvSpPr>
            <a:spLocks noGrp="1"/>
          </p:cNvSpPr>
          <p:nvPr>
            <p:ph type="dt" sz="half" idx="10"/>
          </p:nvPr>
        </p:nvSpPr>
        <p:spPr/>
        <p:txBody>
          <a:bodyPr/>
          <a:lstStyle/>
          <a:p>
            <a:fld id="{6C81A35F-AA1F-4072-AE3D-CEA9B4316338}" type="datetimeFigureOut">
              <a:rPr lang="en-IN" smtClean="0"/>
              <a:t>23-03-2026</a:t>
            </a:fld>
            <a:endParaRPr lang="en-IN"/>
          </a:p>
        </p:txBody>
      </p:sp>
      <p:sp>
        <p:nvSpPr>
          <p:cNvPr id="5" name="Footer Placeholder 4">
            <a:extLst>
              <a:ext uri="{FF2B5EF4-FFF2-40B4-BE49-F238E27FC236}">
                <a16:creationId xmlns:a16="http://schemas.microsoft.com/office/drawing/2014/main" id="{85EAA7DD-64DD-4476-BCDC-1D1AC29DDC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E8A78F-EF3F-470D-871B-7B697DCAA370}"/>
              </a:ext>
            </a:extLst>
          </p:cNvPr>
          <p:cNvSpPr>
            <a:spLocks noGrp="1"/>
          </p:cNvSpPr>
          <p:nvPr>
            <p:ph type="sldNum" sz="quarter" idx="12"/>
          </p:nvPr>
        </p:nvSpPr>
        <p:spPr/>
        <p:txBody>
          <a:bodyPr/>
          <a:lstStyle/>
          <a:p>
            <a:fld id="{7D218144-1F10-4CA6-AACC-C889165739C0}" type="slidenum">
              <a:rPr lang="en-IN" smtClean="0"/>
              <a:t>‹#›</a:t>
            </a:fld>
            <a:endParaRPr lang="en-IN"/>
          </a:p>
        </p:txBody>
      </p:sp>
    </p:spTree>
    <p:extLst>
      <p:ext uri="{BB962C8B-B14F-4D97-AF65-F5344CB8AC3E}">
        <p14:creationId xmlns:p14="http://schemas.microsoft.com/office/powerpoint/2010/main" val="3881125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BF26E-ED82-4F28-A7C0-F34A5A2454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58095D-7A0C-4942-8D71-E42416C0FF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03652C-2DE9-4D37-A996-A0244B2F5FA2}"/>
              </a:ext>
            </a:extLst>
          </p:cNvPr>
          <p:cNvSpPr>
            <a:spLocks noGrp="1"/>
          </p:cNvSpPr>
          <p:nvPr>
            <p:ph type="dt" sz="half" idx="10"/>
          </p:nvPr>
        </p:nvSpPr>
        <p:spPr/>
        <p:txBody>
          <a:bodyPr/>
          <a:lstStyle/>
          <a:p>
            <a:fld id="{6C81A35F-AA1F-4072-AE3D-CEA9B4316338}" type="datetimeFigureOut">
              <a:rPr lang="en-IN" smtClean="0"/>
              <a:t>23-03-2026</a:t>
            </a:fld>
            <a:endParaRPr lang="en-IN"/>
          </a:p>
        </p:txBody>
      </p:sp>
      <p:sp>
        <p:nvSpPr>
          <p:cNvPr id="5" name="Footer Placeholder 4">
            <a:extLst>
              <a:ext uri="{FF2B5EF4-FFF2-40B4-BE49-F238E27FC236}">
                <a16:creationId xmlns:a16="http://schemas.microsoft.com/office/drawing/2014/main" id="{ACA0ADA0-55F3-4A75-9037-7BCB88A674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64A9F4-978E-49E7-838F-5F3B43E3E913}"/>
              </a:ext>
            </a:extLst>
          </p:cNvPr>
          <p:cNvSpPr>
            <a:spLocks noGrp="1"/>
          </p:cNvSpPr>
          <p:nvPr>
            <p:ph type="sldNum" sz="quarter" idx="12"/>
          </p:nvPr>
        </p:nvSpPr>
        <p:spPr/>
        <p:txBody>
          <a:bodyPr/>
          <a:lstStyle/>
          <a:p>
            <a:fld id="{7D218144-1F10-4CA6-AACC-C889165739C0}" type="slidenum">
              <a:rPr lang="en-IN" smtClean="0"/>
              <a:t>‹#›</a:t>
            </a:fld>
            <a:endParaRPr lang="en-IN"/>
          </a:p>
        </p:txBody>
      </p:sp>
    </p:spTree>
    <p:extLst>
      <p:ext uri="{BB962C8B-B14F-4D97-AF65-F5344CB8AC3E}">
        <p14:creationId xmlns:p14="http://schemas.microsoft.com/office/powerpoint/2010/main" val="2040683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6FDB0-D39D-45AF-B3E6-3F73B00479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285097-E647-4928-9766-CF97250548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5DC703-9268-4175-B1E2-C7DD7F6B2DBE}"/>
              </a:ext>
            </a:extLst>
          </p:cNvPr>
          <p:cNvSpPr>
            <a:spLocks noGrp="1"/>
          </p:cNvSpPr>
          <p:nvPr>
            <p:ph type="dt" sz="half" idx="10"/>
          </p:nvPr>
        </p:nvSpPr>
        <p:spPr/>
        <p:txBody>
          <a:bodyPr/>
          <a:lstStyle/>
          <a:p>
            <a:fld id="{6C81A35F-AA1F-4072-AE3D-CEA9B4316338}" type="datetimeFigureOut">
              <a:rPr lang="en-IN" smtClean="0"/>
              <a:t>23-03-2026</a:t>
            </a:fld>
            <a:endParaRPr lang="en-IN"/>
          </a:p>
        </p:txBody>
      </p:sp>
      <p:sp>
        <p:nvSpPr>
          <p:cNvPr id="5" name="Footer Placeholder 4">
            <a:extLst>
              <a:ext uri="{FF2B5EF4-FFF2-40B4-BE49-F238E27FC236}">
                <a16:creationId xmlns:a16="http://schemas.microsoft.com/office/drawing/2014/main" id="{311764B0-CB5B-44AD-A821-839B791348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8E2888-CE4E-454D-8EA8-AC16663E2C75}"/>
              </a:ext>
            </a:extLst>
          </p:cNvPr>
          <p:cNvSpPr>
            <a:spLocks noGrp="1"/>
          </p:cNvSpPr>
          <p:nvPr>
            <p:ph type="sldNum" sz="quarter" idx="12"/>
          </p:nvPr>
        </p:nvSpPr>
        <p:spPr/>
        <p:txBody>
          <a:bodyPr/>
          <a:lstStyle/>
          <a:p>
            <a:fld id="{7D218144-1F10-4CA6-AACC-C889165739C0}" type="slidenum">
              <a:rPr lang="en-IN" smtClean="0"/>
              <a:t>‹#›</a:t>
            </a:fld>
            <a:endParaRPr lang="en-IN"/>
          </a:p>
        </p:txBody>
      </p:sp>
    </p:spTree>
    <p:extLst>
      <p:ext uri="{BB962C8B-B14F-4D97-AF65-F5344CB8AC3E}">
        <p14:creationId xmlns:p14="http://schemas.microsoft.com/office/powerpoint/2010/main" val="1082253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F93AF-DE2A-47EC-BE51-9D62DEBB04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A9EF23-58D4-4816-BD4F-3760337DA8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6F1D02F-20F2-4818-83D8-8622ADCB82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5A72CAA-E9C8-4A14-B42B-AB05D2ADADEF}"/>
              </a:ext>
            </a:extLst>
          </p:cNvPr>
          <p:cNvSpPr>
            <a:spLocks noGrp="1"/>
          </p:cNvSpPr>
          <p:nvPr>
            <p:ph type="dt" sz="half" idx="10"/>
          </p:nvPr>
        </p:nvSpPr>
        <p:spPr/>
        <p:txBody>
          <a:bodyPr/>
          <a:lstStyle/>
          <a:p>
            <a:fld id="{6C81A35F-AA1F-4072-AE3D-CEA9B4316338}" type="datetimeFigureOut">
              <a:rPr lang="en-IN" smtClean="0"/>
              <a:t>23-03-2026</a:t>
            </a:fld>
            <a:endParaRPr lang="en-IN"/>
          </a:p>
        </p:txBody>
      </p:sp>
      <p:sp>
        <p:nvSpPr>
          <p:cNvPr id="6" name="Footer Placeholder 5">
            <a:extLst>
              <a:ext uri="{FF2B5EF4-FFF2-40B4-BE49-F238E27FC236}">
                <a16:creationId xmlns:a16="http://schemas.microsoft.com/office/drawing/2014/main" id="{17F0DEE1-925F-4ACD-AC2A-E4570D7C6F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0FC003-1A9B-45C0-ACBF-AFE67E581545}"/>
              </a:ext>
            </a:extLst>
          </p:cNvPr>
          <p:cNvSpPr>
            <a:spLocks noGrp="1"/>
          </p:cNvSpPr>
          <p:nvPr>
            <p:ph type="sldNum" sz="quarter" idx="12"/>
          </p:nvPr>
        </p:nvSpPr>
        <p:spPr/>
        <p:txBody>
          <a:bodyPr/>
          <a:lstStyle/>
          <a:p>
            <a:fld id="{7D218144-1F10-4CA6-AACC-C889165739C0}" type="slidenum">
              <a:rPr lang="en-IN" smtClean="0"/>
              <a:t>‹#›</a:t>
            </a:fld>
            <a:endParaRPr lang="en-IN"/>
          </a:p>
        </p:txBody>
      </p:sp>
    </p:spTree>
    <p:extLst>
      <p:ext uri="{BB962C8B-B14F-4D97-AF65-F5344CB8AC3E}">
        <p14:creationId xmlns:p14="http://schemas.microsoft.com/office/powerpoint/2010/main" val="1733447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BB442-D85B-4D0D-AB73-90949E1C1FD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84F7E6-A7DB-45BB-830D-A3F785CE5E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5BC2E4-AA53-4D83-9D6D-7351631D3E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9E25EC-AFA9-49F3-983F-7FCA0B2FE0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5B72F2-E6FB-4CC0-8CAF-1207F72C29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701BA9-BB7F-4165-9DFA-9D621F5A068E}"/>
              </a:ext>
            </a:extLst>
          </p:cNvPr>
          <p:cNvSpPr>
            <a:spLocks noGrp="1"/>
          </p:cNvSpPr>
          <p:nvPr>
            <p:ph type="dt" sz="half" idx="10"/>
          </p:nvPr>
        </p:nvSpPr>
        <p:spPr/>
        <p:txBody>
          <a:bodyPr/>
          <a:lstStyle/>
          <a:p>
            <a:fld id="{6C81A35F-AA1F-4072-AE3D-CEA9B4316338}" type="datetimeFigureOut">
              <a:rPr lang="en-IN" smtClean="0"/>
              <a:t>23-03-2026</a:t>
            </a:fld>
            <a:endParaRPr lang="en-IN"/>
          </a:p>
        </p:txBody>
      </p:sp>
      <p:sp>
        <p:nvSpPr>
          <p:cNvPr id="8" name="Footer Placeholder 7">
            <a:extLst>
              <a:ext uri="{FF2B5EF4-FFF2-40B4-BE49-F238E27FC236}">
                <a16:creationId xmlns:a16="http://schemas.microsoft.com/office/drawing/2014/main" id="{10AB1E11-368D-40F8-BEB7-F3A29C7103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D107236-DC6C-407B-97AA-0F8755B6F26F}"/>
              </a:ext>
            </a:extLst>
          </p:cNvPr>
          <p:cNvSpPr>
            <a:spLocks noGrp="1"/>
          </p:cNvSpPr>
          <p:nvPr>
            <p:ph type="sldNum" sz="quarter" idx="12"/>
          </p:nvPr>
        </p:nvSpPr>
        <p:spPr/>
        <p:txBody>
          <a:bodyPr/>
          <a:lstStyle/>
          <a:p>
            <a:fld id="{7D218144-1F10-4CA6-AACC-C889165739C0}" type="slidenum">
              <a:rPr lang="en-IN" smtClean="0"/>
              <a:t>‹#›</a:t>
            </a:fld>
            <a:endParaRPr lang="en-IN"/>
          </a:p>
        </p:txBody>
      </p:sp>
    </p:spTree>
    <p:extLst>
      <p:ext uri="{BB962C8B-B14F-4D97-AF65-F5344CB8AC3E}">
        <p14:creationId xmlns:p14="http://schemas.microsoft.com/office/powerpoint/2010/main" val="915626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2BB94-7580-41A3-8CF0-6CFEA5CEC5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EFE5BFD-9C4C-4104-B9DE-064439BBC5A5}"/>
              </a:ext>
            </a:extLst>
          </p:cNvPr>
          <p:cNvSpPr>
            <a:spLocks noGrp="1"/>
          </p:cNvSpPr>
          <p:nvPr>
            <p:ph type="dt" sz="half" idx="10"/>
          </p:nvPr>
        </p:nvSpPr>
        <p:spPr/>
        <p:txBody>
          <a:bodyPr/>
          <a:lstStyle/>
          <a:p>
            <a:fld id="{6C81A35F-AA1F-4072-AE3D-CEA9B4316338}" type="datetimeFigureOut">
              <a:rPr lang="en-IN" smtClean="0"/>
              <a:t>23-03-2026</a:t>
            </a:fld>
            <a:endParaRPr lang="en-IN"/>
          </a:p>
        </p:txBody>
      </p:sp>
      <p:sp>
        <p:nvSpPr>
          <p:cNvPr id="4" name="Footer Placeholder 3">
            <a:extLst>
              <a:ext uri="{FF2B5EF4-FFF2-40B4-BE49-F238E27FC236}">
                <a16:creationId xmlns:a16="http://schemas.microsoft.com/office/drawing/2014/main" id="{67E1065B-F998-496C-B8EF-DE1548DE44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6176AE-A59B-4191-8726-2597EB433EE3}"/>
              </a:ext>
            </a:extLst>
          </p:cNvPr>
          <p:cNvSpPr>
            <a:spLocks noGrp="1"/>
          </p:cNvSpPr>
          <p:nvPr>
            <p:ph type="sldNum" sz="quarter" idx="12"/>
          </p:nvPr>
        </p:nvSpPr>
        <p:spPr/>
        <p:txBody>
          <a:bodyPr/>
          <a:lstStyle/>
          <a:p>
            <a:fld id="{7D218144-1F10-4CA6-AACC-C889165739C0}" type="slidenum">
              <a:rPr lang="en-IN" smtClean="0"/>
              <a:t>‹#›</a:t>
            </a:fld>
            <a:endParaRPr lang="en-IN"/>
          </a:p>
        </p:txBody>
      </p:sp>
    </p:spTree>
    <p:extLst>
      <p:ext uri="{BB962C8B-B14F-4D97-AF65-F5344CB8AC3E}">
        <p14:creationId xmlns:p14="http://schemas.microsoft.com/office/powerpoint/2010/main" val="2740837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A61735-9AD1-4CCB-A903-5CB7BA7472C2}"/>
              </a:ext>
            </a:extLst>
          </p:cNvPr>
          <p:cNvSpPr>
            <a:spLocks noGrp="1"/>
          </p:cNvSpPr>
          <p:nvPr>
            <p:ph type="dt" sz="half" idx="10"/>
          </p:nvPr>
        </p:nvSpPr>
        <p:spPr/>
        <p:txBody>
          <a:bodyPr/>
          <a:lstStyle/>
          <a:p>
            <a:fld id="{6C81A35F-AA1F-4072-AE3D-CEA9B4316338}" type="datetimeFigureOut">
              <a:rPr lang="en-IN" smtClean="0"/>
              <a:t>23-03-2026</a:t>
            </a:fld>
            <a:endParaRPr lang="en-IN"/>
          </a:p>
        </p:txBody>
      </p:sp>
      <p:sp>
        <p:nvSpPr>
          <p:cNvPr id="3" name="Footer Placeholder 2">
            <a:extLst>
              <a:ext uri="{FF2B5EF4-FFF2-40B4-BE49-F238E27FC236}">
                <a16:creationId xmlns:a16="http://schemas.microsoft.com/office/drawing/2014/main" id="{1466DBDD-2F94-43C3-82D2-9DEAD731D88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D4A818A-5EC7-480C-B1CF-2EA94EFAE95C}"/>
              </a:ext>
            </a:extLst>
          </p:cNvPr>
          <p:cNvSpPr>
            <a:spLocks noGrp="1"/>
          </p:cNvSpPr>
          <p:nvPr>
            <p:ph type="sldNum" sz="quarter" idx="12"/>
          </p:nvPr>
        </p:nvSpPr>
        <p:spPr/>
        <p:txBody>
          <a:bodyPr/>
          <a:lstStyle/>
          <a:p>
            <a:fld id="{7D218144-1F10-4CA6-AACC-C889165739C0}" type="slidenum">
              <a:rPr lang="en-IN" smtClean="0"/>
              <a:t>‹#›</a:t>
            </a:fld>
            <a:endParaRPr lang="en-IN"/>
          </a:p>
        </p:txBody>
      </p:sp>
    </p:spTree>
    <p:extLst>
      <p:ext uri="{BB962C8B-B14F-4D97-AF65-F5344CB8AC3E}">
        <p14:creationId xmlns:p14="http://schemas.microsoft.com/office/powerpoint/2010/main" val="1229534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388E-024F-4612-9081-C108178C3D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C7B429-F636-4240-9CA5-D7DE8973ED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90F727-7FDC-40D5-8761-C940B4DE55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A078A4-E7DD-4587-A820-C561C097695E}"/>
              </a:ext>
            </a:extLst>
          </p:cNvPr>
          <p:cNvSpPr>
            <a:spLocks noGrp="1"/>
          </p:cNvSpPr>
          <p:nvPr>
            <p:ph type="dt" sz="half" idx="10"/>
          </p:nvPr>
        </p:nvSpPr>
        <p:spPr/>
        <p:txBody>
          <a:bodyPr/>
          <a:lstStyle/>
          <a:p>
            <a:fld id="{6C81A35F-AA1F-4072-AE3D-CEA9B4316338}" type="datetimeFigureOut">
              <a:rPr lang="en-IN" smtClean="0"/>
              <a:t>23-03-2026</a:t>
            </a:fld>
            <a:endParaRPr lang="en-IN"/>
          </a:p>
        </p:txBody>
      </p:sp>
      <p:sp>
        <p:nvSpPr>
          <p:cNvPr id="6" name="Footer Placeholder 5">
            <a:extLst>
              <a:ext uri="{FF2B5EF4-FFF2-40B4-BE49-F238E27FC236}">
                <a16:creationId xmlns:a16="http://schemas.microsoft.com/office/drawing/2014/main" id="{BB3C41E7-6B24-4493-9853-E3B386A668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F992DA-0798-4A9D-B569-095E4E0C85FB}"/>
              </a:ext>
            </a:extLst>
          </p:cNvPr>
          <p:cNvSpPr>
            <a:spLocks noGrp="1"/>
          </p:cNvSpPr>
          <p:nvPr>
            <p:ph type="sldNum" sz="quarter" idx="12"/>
          </p:nvPr>
        </p:nvSpPr>
        <p:spPr/>
        <p:txBody>
          <a:bodyPr/>
          <a:lstStyle/>
          <a:p>
            <a:fld id="{7D218144-1F10-4CA6-AACC-C889165739C0}" type="slidenum">
              <a:rPr lang="en-IN" smtClean="0"/>
              <a:t>‹#›</a:t>
            </a:fld>
            <a:endParaRPr lang="en-IN"/>
          </a:p>
        </p:txBody>
      </p:sp>
    </p:spTree>
    <p:extLst>
      <p:ext uri="{BB962C8B-B14F-4D97-AF65-F5344CB8AC3E}">
        <p14:creationId xmlns:p14="http://schemas.microsoft.com/office/powerpoint/2010/main" val="438849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DB297-CCE7-41B7-A34D-747ACC5F9B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D7150C4-71D8-4C73-A89D-395CBF79E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2AD933D-76FC-416A-AD4A-E6C83F616A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2D3A09-2EB2-4F52-AF56-57113DAD988E}"/>
              </a:ext>
            </a:extLst>
          </p:cNvPr>
          <p:cNvSpPr>
            <a:spLocks noGrp="1"/>
          </p:cNvSpPr>
          <p:nvPr>
            <p:ph type="dt" sz="half" idx="10"/>
          </p:nvPr>
        </p:nvSpPr>
        <p:spPr/>
        <p:txBody>
          <a:bodyPr/>
          <a:lstStyle/>
          <a:p>
            <a:fld id="{6C81A35F-AA1F-4072-AE3D-CEA9B4316338}" type="datetimeFigureOut">
              <a:rPr lang="en-IN" smtClean="0"/>
              <a:t>23-03-2026</a:t>
            </a:fld>
            <a:endParaRPr lang="en-IN"/>
          </a:p>
        </p:txBody>
      </p:sp>
      <p:sp>
        <p:nvSpPr>
          <p:cNvPr id="6" name="Footer Placeholder 5">
            <a:extLst>
              <a:ext uri="{FF2B5EF4-FFF2-40B4-BE49-F238E27FC236}">
                <a16:creationId xmlns:a16="http://schemas.microsoft.com/office/drawing/2014/main" id="{3047FAF2-2908-40F4-8C22-79A3CBC094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30503A-033E-40FF-B688-EB4398715F3C}"/>
              </a:ext>
            </a:extLst>
          </p:cNvPr>
          <p:cNvSpPr>
            <a:spLocks noGrp="1"/>
          </p:cNvSpPr>
          <p:nvPr>
            <p:ph type="sldNum" sz="quarter" idx="12"/>
          </p:nvPr>
        </p:nvSpPr>
        <p:spPr/>
        <p:txBody>
          <a:bodyPr/>
          <a:lstStyle/>
          <a:p>
            <a:fld id="{7D218144-1F10-4CA6-AACC-C889165739C0}" type="slidenum">
              <a:rPr lang="en-IN" smtClean="0"/>
              <a:t>‹#›</a:t>
            </a:fld>
            <a:endParaRPr lang="en-IN"/>
          </a:p>
        </p:txBody>
      </p:sp>
    </p:spTree>
    <p:extLst>
      <p:ext uri="{BB962C8B-B14F-4D97-AF65-F5344CB8AC3E}">
        <p14:creationId xmlns:p14="http://schemas.microsoft.com/office/powerpoint/2010/main" val="303782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E7310-5B43-44C7-8BC6-102AB015B37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3F108C-17A3-4468-8EE8-9EB9F24965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611CEF-0AA9-4B8F-B56E-6C15CDC39260}"/>
              </a:ext>
            </a:extLst>
          </p:cNvPr>
          <p:cNvSpPr>
            <a:spLocks noGrp="1"/>
          </p:cNvSpPr>
          <p:nvPr>
            <p:ph type="dt" sz="half" idx="10"/>
          </p:nvPr>
        </p:nvSpPr>
        <p:spPr/>
        <p:txBody>
          <a:bodyPr/>
          <a:lstStyle/>
          <a:p>
            <a:fld id="{6C81A35F-AA1F-4072-AE3D-CEA9B4316338}" type="datetimeFigureOut">
              <a:rPr lang="en-IN" smtClean="0"/>
              <a:t>23-03-2026</a:t>
            </a:fld>
            <a:endParaRPr lang="en-IN"/>
          </a:p>
        </p:txBody>
      </p:sp>
      <p:sp>
        <p:nvSpPr>
          <p:cNvPr id="5" name="Footer Placeholder 4">
            <a:extLst>
              <a:ext uri="{FF2B5EF4-FFF2-40B4-BE49-F238E27FC236}">
                <a16:creationId xmlns:a16="http://schemas.microsoft.com/office/drawing/2014/main" id="{998902D5-9E43-4097-9430-61DAE84F1E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51EBA5-D4F6-4C4E-A9D0-5915502B425A}"/>
              </a:ext>
            </a:extLst>
          </p:cNvPr>
          <p:cNvSpPr>
            <a:spLocks noGrp="1"/>
          </p:cNvSpPr>
          <p:nvPr>
            <p:ph type="sldNum" sz="quarter" idx="12"/>
          </p:nvPr>
        </p:nvSpPr>
        <p:spPr/>
        <p:txBody>
          <a:bodyPr/>
          <a:lstStyle/>
          <a:p>
            <a:fld id="{7D218144-1F10-4CA6-AACC-C889165739C0}" type="slidenum">
              <a:rPr lang="en-IN" smtClean="0"/>
              <a:t>‹#›</a:t>
            </a:fld>
            <a:endParaRPr lang="en-IN"/>
          </a:p>
        </p:txBody>
      </p:sp>
    </p:spTree>
    <p:extLst>
      <p:ext uri="{BB962C8B-B14F-4D97-AF65-F5344CB8AC3E}">
        <p14:creationId xmlns:p14="http://schemas.microsoft.com/office/powerpoint/2010/main" val="387187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C037EF-1D35-4924-B037-D39B1C2375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575B76-4730-4EB3-B521-04AA099A13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9FA93A-ED2A-4DCA-9CA2-2ECDDC01BA5A}"/>
              </a:ext>
            </a:extLst>
          </p:cNvPr>
          <p:cNvSpPr>
            <a:spLocks noGrp="1"/>
          </p:cNvSpPr>
          <p:nvPr>
            <p:ph type="dt" sz="half" idx="10"/>
          </p:nvPr>
        </p:nvSpPr>
        <p:spPr/>
        <p:txBody>
          <a:bodyPr/>
          <a:lstStyle/>
          <a:p>
            <a:fld id="{6C81A35F-AA1F-4072-AE3D-CEA9B4316338}" type="datetimeFigureOut">
              <a:rPr lang="en-IN" smtClean="0"/>
              <a:t>23-03-2026</a:t>
            </a:fld>
            <a:endParaRPr lang="en-IN"/>
          </a:p>
        </p:txBody>
      </p:sp>
      <p:sp>
        <p:nvSpPr>
          <p:cNvPr id="5" name="Footer Placeholder 4">
            <a:extLst>
              <a:ext uri="{FF2B5EF4-FFF2-40B4-BE49-F238E27FC236}">
                <a16:creationId xmlns:a16="http://schemas.microsoft.com/office/drawing/2014/main" id="{2C2ECDB0-ACCC-4E4F-B591-D782480F8B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DC2895-9181-44B4-AECF-D13DE39089CB}"/>
              </a:ext>
            </a:extLst>
          </p:cNvPr>
          <p:cNvSpPr>
            <a:spLocks noGrp="1"/>
          </p:cNvSpPr>
          <p:nvPr>
            <p:ph type="sldNum" sz="quarter" idx="12"/>
          </p:nvPr>
        </p:nvSpPr>
        <p:spPr/>
        <p:txBody>
          <a:bodyPr/>
          <a:lstStyle/>
          <a:p>
            <a:fld id="{7D218144-1F10-4CA6-AACC-C889165739C0}" type="slidenum">
              <a:rPr lang="en-IN" smtClean="0"/>
              <a:t>‹#›</a:t>
            </a:fld>
            <a:endParaRPr lang="en-IN"/>
          </a:p>
        </p:txBody>
      </p:sp>
    </p:spTree>
    <p:extLst>
      <p:ext uri="{BB962C8B-B14F-4D97-AF65-F5344CB8AC3E}">
        <p14:creationId xmlns:p14="http://schemas.microsoft.com/office/powerpoint/2010/main" val="250575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AFCD38-EC9A-43B3-94D9-CB653ACB26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385937-D60D-4D56-B4E6-79F54FAB2F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854FB5-D839-4166-B162-AE5E0971E7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81A35F-AA1F-4072-AE3D-CEA9B4316338}" type="datetimeFigureOut">
              <a:rPr lang="en-IN" smtClean="0"/>
              <a:t>23-03-2026</a:t>
            </a:fld>
            <a:endParaRPr lang="en-IN"/>
          </a:p>
        </p:txBody>
      </p:sp>
      <p:sp>
        <p:nvSpPr>
          <p:cNvPr id="5" name="Footer Placeholder 4">
            <a:extLst>
              <a:ext uri="{FF2B5EF4-FFF2-40B4-BE49-F238E27FC236}">
                <a16:creationId xmlns:a16="http://schemas.microsoft.com/office/drawing/2014/main" id="{5898C229-C7EE-42EA-8EFC-2903358F79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F3EBE09-7C42-4C16-B795-D7EC1BCA78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218144-1F10-4CA6-AACC-C889165739C0}" type="slidenum">
              <a:rPr lang="en-IN" smtClean="0"/>
              <a:t>‹#›</a:t>
            </a:fld>
            <a:endParaRPr lang="en-IN"/>
          </a:p>
        </p:txBody>
      </p:sp>
    </p:spTree>
    <p:extLst>
      <p:ext uri="{BB962C8B-B14F-4D97-AF65-F5344CB8AC3E}">
        <p14:creationId xmlns:p14="http://schemas.microsoft.com/office/powerpoint/2010/main" val="2872425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3BE16-5B59-4934-8C5E-59721F461889}"/>
              </a:ext>
            </a:extLst>
          </p:cNvPr>
          <p:cNvSpPr>
            <a:spLocks noGrp="1"/>
          </p:cNvSpPr>
          <p:nvPr>
            <p:ph type="ctrTitle"/>
          </p:nvPr>
        </p:nvSpPr>
        <p:spPr/>
        <p:txBody>
          <a:bodyPr/>
          <a:lstStyle/>
          <a:p>
            <a:r>
              <a:rPr lang="en-IN" b="1" dirty="0"/>
              <a:t>Splay Tree Data structure</a:t>
            </a:r>
            <a:br>
              <a:rPr lang="en-IN" b="1" dirty="0"/>
            </a:br>
            <a:endParaRPr lang="en-IN" dirty="0"/>
          </a:p>
        </p:txBody>
      </p:sp>
    </p:spTree>
    <p:extLst>
      <p:ext uri="{BB962C8B-B14F-4D97-AF65-F5344CB8AC3E}">
        <p14:creationId xmlns:p14="http://schemas.microsoft.com/office/powerpoint/2010/main" val="3192745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63EE6-8BFD-4F57-9436-6236AEAA4E8B}"/>
              </a:ext>
            </a:extLst>
          </p:cNvPr>
          <p:cNvSpPr>
            <a:spLocks noGrp="1"/>
          </p:cNvSpPr>
          <p:nvPr>
            <p:ph type="title"/>
          </p:nvPr>
        </p:nvSpPr>
        <p:spPr/>
        <p:txBody>
          <a:bodyPr>
            <a:normAutofit/>
          </a:bodyPr>
          <a:lstStyle/>
          <a:p>
            <a:pPr algn="ctr"/>
            <a:r>
              <a:rPr lang="en-US" sz="6000" b="1" dirty="0"/>
              <a:t>Definition </a:t>
            </a:r>
            <a:endParaRPr lang="en-IN" sz="6000" b="1" dirty="0"/>
          </a:p>
        </p:txBody>
      </p:sp>
      <p:sp>
        <p:nvSpPr>
          <p:cNvPr id="3" name="Content Placeholder 2">
            <a:extLst>
              <a:ext uri="{FF2B5EF4-FFF2-40B4-BE49-F238E27FC236}">
                <a16:creationId xmlns:a16="http://schemas.microsoft.com/office/drawing/2014/main" id="{3D8EE303-DBB9-4094-8C0D-7AC1CD5E804F}"/>
              </a:ext>
            </a:extLst>
          </p:cNvPr>
          <p:cNvSpPr>
            <a:spLocks noGrp="1"/>
          </p:cNvSpPr>
          <p:nvPr>
            <p:ph idx="1"/>
          </p:nvPr>
        </p:nvSpPr>
        <p:spPr/>
        <p:txBody>
          <a:bodyPr/>
          <a:lstStyle/>
          <a:p>
            <a:r>
              <a:rPr lang="en-US" dirty="0"/>
              <a:t>Splay tree is another variant of a binary search tree. In a splay tree, recently accessed element is placed at the root of the tree. A splay tree is defined as follows…</a:t>
            </a:r>
          </a:p>
          <a:p>
            <a:endParaRPr lang="en-US" dirty="0"/>
          </a:p>
          <a:p>
            <a:pPr marL="0" indent="0" algn="ctr">
              <a:buNone/>
            </a:pPr>
            <a:r>
              <a:rPr lang="en-US" b="1" dirty="0"/>
              <a:t>Splay Tree is a self - adjusted Binary Search Tree in which every operation on element rearranges the tree so that the element is placed at the root position of the tree.</a:t>
            </a:r>
            <a:endParaRPr lang="en-IN" dirty="0"/>
          </a:p>
        </p:txBody>
      </p:sp>
    </p:spTree>
    <p:extLst>
      <p:ext uri="{BB962C8B-B14F-4D97-AF65-F5344CB8AC3E}">
        <p14:creationId xmlns:p14="http://schemas.microsoft.com/office/powerpoint/2010/main" val="3880761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E397C7-20D0-41E6-BB86-0C84E95777D1}"/>
              </a:ext>
            </a:extLst>
          </p:cNvPr>
          <p:cNvSpPr>
            <a:spLocks noGrp="1"/>
          </p:cNvSpPr>
          <p:nvPr>
            <p:ph type="title"/>
          </p:nvPr>
        </p:nvSpPr>
        <p:spPr>
          <a:xfrm>
            <a:off x="686834" y="1153572"/>
            <a:ext cx="3200400" cy="4461163"/>
          </a:xfrm>
        </p:spPr>
        <p:txBody>
          <a:bodyPr>
            <a:normAutofit/>
          </a:bodyPr>
          <a:lstStyle/>
          <a:p>
            <a:r>
              <a:rPr lang="en-US" b="1" dirty="0">
                <a:solidFill>
                  <a:srgbClr val="FFFFFF"/>
                </a:solidFill>
              </a:rPr>
              <a:t>Splaying</a:t>
            </a:r>
            <a:endParaRPr lang="en-IN"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036BCCC-2C79-433F-8474-6CB64E034323}"/>
              </a:ext>
            </a:extLst>
          </p:cNvPr>
          <p:cNvSpPr>
            <a:spLocks noGrp="1"/>
          </p:cNvSpPr>
          <p:nvPr>
            <p:ph idx="1"/>
          </p:nvPr>
        </p:nvSpPr>
        <p:spPr>
          <a:xfrm>
            <a:off x="4447308" y="423917"/>
            <a:ext cx="6906491" cy="5585619"/>
          </a:xfrm>
        </p:spPr>
        <p:txBody>
          <a:bodyPr anchor="ctr">
            <a:normAutofit/>
          </a:bodyPr>
          <a:lstStyle/>
          <a:p>
            <a:pPr marL="0" indent="0">
              <a:buNone/>
            </a:pPr>
            <a:br>
              <a:rPr lang="en-US" sz="2200" dirty="0"/>
            </a:br>
            <a:br>
              <a:rPr lang="en-US" sz="2200" dirty="0"/>
            </a:br>
            <a:endParaRPr lang="en-US" sz="2200" dirty="0"/>
          </a:p>
          <a:p>
            <a:pPr marL="0" indent="0" algn="ctr">
              <a:buNone/>
            </a:pPr>
            <a:r>
              <a:rPr lang="en-US" sz="1800" b="1" i="1" dirty="0"/>
              <a:t>Splaying an element, is the process of bringing it to the root position by performing suitable rotation operations.</a:t>
            </a:r>
            <a:r>
              <a:rPr lang="en-US" sz="1800" i="1" dirty="0"/>
              <a:t> </a:t>
            </a:r>
          </a:p>
          <a:p>
            <a:pPr marL="0" indent="0" algn="ctr">
              <a:buNone/>
            </a:pPr>
            <a:endParaRPr lang="en-US" sz="1800" i="1" dirty="0"/>
          </a:p>
          <a:p>
            <a:pPr marL="0" indent="0">
              <a:buNone/>
            </a:pPr>
            <a:endParaRPr lang="en-US" sz="2200" dirty="0"/>
          </a:p>
          <a:p>
            <a:r>
              <a:rPr lang="en-US" sz="2200" dirty="0"/>
              <a:t>In a splay tree, splaying an element rearranges all the elements in the tree so that splayed element is placed at the root of the tree.</a:t>
            </a:r>
            <a:endParaRPr lang="en-IN" sz="2200" b="1" i="1" dirty="0"/>
          </a:p>
        </p:txBody>
      </p:sp>
    </p:spTree>
    <p:extLst>
      <p:ext uri="{BB962C8B-B14F-4D97-AF65-F5344CB8AC3E}">
        <p14:creationId xmlns:p14="http://schemas.microsoft.com/office/powerpoint/2010/main" val="2319545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093F4-07C9-4108-995A-086173039B23}"/>
              </a:ext>
            </a:extLst>
          </p:cNvPr>
          <p:cNvSpPr>
            <a:spLocks noGrp="1"/>
          </p:cNvSpPr>
          <p:nvPr>
            <p:ph type="title"/>
          </p:nvPr>
        </p:nvSpPr>
        <p:spPr/>
        <p:txBody>
          <a:bodyPr/>
          <a:lstStyle/>
          <a:p>
            <a:r>
              <a:rPr lang="en-IN" b="1" dirty="0"/>
              <a:t>Rotations in Splay Tree</a:t>
            </a:r>
            <a:br>
              <a:rPr lang="en-IN" b="1" dirty="0"/>
            </a:br>
            <a:endParaRPr lang="en-IN" dirty="0"/>
          </a:p>
        </p:txBody>
      </p:sp>
      <p:sp>
        <p:nvSpPr>
          <p:cNvPr id="14" name="Rectangle 13">
            <a:extLst>
              <a:ext uri="{FF2B5EF4-FFF2-40B4-BE49-F238E27FC236}">
                <a16:creationId xmlns:a16="http://schemas.microsoft.com/office/drawing/2014/main" id="{07437EF2-F205-4A5C-9DE2-640ED22E2683}"/>
              </a:ext>
            </a:extLst>
          </p:cNvPr>
          <p:cNvSpPr/>
          <p:nvPr/>
        </p:nvSpPr>
        <p:spPr>
          <a:xfrm>
            <a:off x="838200" y="1690688"/>
            <a:ext cx="10022840" cy="369332"/>
          </a:xfrm>
          <a:prstGeom prst="rect">
            <a:avLst/>
          </a:prstGeom>
        </p:spPr>
        <p:txBody>
          <a:bodyPr wrap="square">
            <a:spAutoFit/>
          </a:bodyPr>
          <a:lstStyle/>
          <a:p>
            <a:r>
              <a:rPr lang="en-US" b="0" i="0" dirty="0">
                <a:solidFill>
                  <a:srgbClr val="333333"/>
                </a:solidFill>
                <a:effectLst/>
                <a:latin typeface="Open Sans"/>
              </a:rPr>
              <a:t>In splay tree, to splay any element we use the following rotation operations...</a:t>
            </a:r>
            <a:endParaRPr lang="en-IN" dirty="0"/>
          </a:p>
        </p:txBody>
      </p:sp>
      <p:sp>
        <p:nvSpPr>
          <p:cNvPr id="15" name="Rectangle 14">
            <a:extLst>
              <a:ext uri="{FF2B5EF4-FFF2-40B4-BE49-F238E27FC236}">
                <a16:creationId xmlns:a16="http://schemas.microsoft.com/office/drawing/2014/main" id="{2F46BE3D-2D27-4B6D-9666-2F85FD5586F5}"/>
              </a:ext>
            </a:extLst>
          </p:cNvPr>
          <p:cNvSpPr/>
          <p:nvPr/>
        </p:nvSpPr>
        <p:spPr>
          <a:xfrm>
            <a:off x="1158240" y="2551837"/>
            <a:ext cx="6096000" cy="1754326"/>
          </a:xfrm>
          <a:prstGeom prst="rect">
            <a:avLst/>
          </a:prstGeom>
        </p:spPr>
        <p:txBody>
          <a:bodyPr>
            <a:spAutoFit/>
          </a:bodyPr>
          <a:lstStyle/>
          <a:p>
            <a:pPr algn="just">
              <a:buFont typeface="Arial" panose="020B0604020202020204" pitchFamily="34" charset="0"/>
              <a:buChar char="•"/>
            </a:pPr>
            <a:r>
              <a:rPr lang="en-IN" b="1" i="0" dirty="0">
                <a:solidFill>
                  <a:srgbClr val="008000"/>
                </a:solidFill>
                <a:effectLst/>
                <a:latin typeface="Open Sans"/>
              </a:rPr>
              <a:t>1. Zig Rotation</a:t>
            </a:r>
          </a:p>
          <a:p>
            <a:pPr algn="just">
              <a:buFont typeface="Arial" panose="020B0604020202020204" pitchFamily="34" charset="0"/>
              <a:buChar char="•"/>
            </a:pPr>
            <a:r>
              <a:rPr lang="en-IN" b="1" i="0" dirty="0">
                <a:solidFill>
                  <a:srgbClr val="008000"/>
                </a:solidFill>
                <a:effectLst/>
                <a:latin typeface="Open Sans"/>
              </a:rPr>
              <a:t>2. Zag Rotation</a:t>
            </a:r>
          </a:p>
          <a:p>
            <a:pPr algn="just">
              <a:buFont typeface="Arial" panose="020B0604020202020204" pitchFamily="34" charset="0"/>
              <a:buChar char="•"/>
            </a:pPr>
            <a:r>
              <a:rPr lang="en-IN" b="1" i="0" dirty="0">
                <a:solidFill>
                  <a:srgbClr val="008000"/>
                </a:solidFill>
                <a:effectLst/>
                <a:latin typeface="Open Sans"/>
              </a:rPr>
              <a:t>3. Zig - Zig Rotation</a:t>
            </a:r>
          </a:p>
          <a:p>
            <a:pPr algn="just">
              <a:buFont typeface="Arial" panose="020B0604020202020204" pitchFamily="34" charset="0"/>
              <a:buChar char="•"/>
            </a:pPr>
            <a:r>
              <a:rPr lang="en-IN" b="1" i="0" dirty="0">
                <a:solidFill>
                  <a:srgbClr val="008000"/>
                </a:solidFill>
                <a:effectLst/>
                <a:latin typeface="Open Sans"/>
              </a:rPr>
              <a:t>4. Zag - Zag Rotation</a:t>
            </a:r>
          </a:p>
          <a:p>
            <a:pPr algn="just">
              <a:buFont typeface="Arial" panose="020B0604020202020204" pitchFamily="34" charset="0"/>
              <a:buChar char="•"/>
            </a:pPr>
            <a:r>
              <a:rPr lang="en-IN" b="1" i="0" dirty="0">
                <a:solidFill>
                  <a:srgbClr val="008000"/>
                </a:solidFill>
                <a:effectLst/>
                <a:latin typeface="Open Sans"/>
              </a:rPr>
              <a:t>5. Zig - Zag Rotation</a:t>
            </a:r>
          </a:p>
          <a:p>
            <a:pPr algn="just">
              <a:buFont typeface="Arial" panose="020B0604020202020204" pitchFamily="34" charset="0"/>
              <a:buChar char="•"/>
            </a:pPr>
            <a:r>
              <a:rPr lang="en-IN" b="1" i="0" dirty="0">
                <a:solidFill>
                  <a:srgbClr val="008000"/>
                </a:solidFill>
                <a:effectLst/>
                <a:latin typeface="Open Sans"/>
              </a:rPr>
              <a:t>6. Zag - Zig Rotation</a:t>
            </a:r>
          </a:p>
        </p:txBody>
      </p:sp>
    </p:spTree>
    <p:extLst>
      <p:ext uri="{BB962C8B-B14F-4D97-AF65-F5344CB8AC3E}">
        <p14:creationId xmlns:p14="http://schemas.microsoft.com/office/powerpoint/2010/main" val="3446554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5B635-6454-435F-9AAD-63C3A8248EC7}"/>
              </a:ext>
            </a:extLst>
          </p:cNvPr>
          <p:cNvSpPr>
            <a:spLocks noGrp="1"/>
          </p:cNvSpPr>
          <p:nvPr>
            <p:ph type="title"/>
          </p:nvPr>
        </p:nvSpPr>
        <p:spPr>
          <a:xfrm>
            <a:off x="648929" y="629266"/>
            <a:ext cx="3505495" cy="1622321"/>
          </a:xfrm>
        </p:spPr>
        <p:txBody>
          <a:bodyPr>
            <a:normAutofit/>
          </a:bodyPr>
          <a:lstStyle/>
          <a:p>
            <a:r>
              <a:rPr lang="en-IN" b="1"/>
              <a:t>Example</a:t>
            </a:r>
            <a:br>
              <a:rPr lang="en-IN" b="1"/>
            </a:br>
            <a:endParaRPr lang="en-IN" dirty="0"/>
          </a:p>
        </p:txBody>
      </p:sp>
      <p:sp>
        <p:nvSpPr>
          <p:cNvPr id="3" name="Content Placeholder 2">
            <a:extLst>
              <a:ext uri="{FF2B5EF4-FFF2-40B4-BE49-F238E27FC236}">
                <a16:creationId xmlns:a16="http://schemas.microsoft.com/office/drawing/2014/main" id="{6A233F05-518F-4C85-AE08-A9C19AEB6D6D}"/>
              </a:ext>
            </a:extLst>
          </p:cNvPr>
          <p:cNvSpPr>
            <a:spLocks noGrp="1"/>
          </p:cNvSpPr>
          <p:nvPr>
            <p:ph idx="1"/>
          </p:nvPr>
        </p:nvSpPr>
        <p:spPr>
          <a:xfrm>
            <a:off x="648931" y="2438400"/>
            <a:ext cx="3505494" cy="3785419"/>
          </a:xfrm>
        </p:spPr>
        <p:txBody>
          <a:bodyPr>
            <a:normAutofit/>
          </a:bodyPr>
          <a:lstStyle/>
          <a:p>
            <a:pPr algn="just"/>
            <a:r>
              <a:rPr lang="en-US" sz="1800" dirty="0"/>
              <a:t>The </a:t>
            </a:r>
            <a:r>
              <a:rPr lang="en-US" sz="1800" b="1" dirty="0"/>
              <a:t>Zig Rotation</a:t>
            </a:r>
            <a:r>
              <a:rPr lang="en-US" sz="1800" dirty="0"/>
              <a:t> in splay tree is like the single right rotation in AVL Tree rotations. In zig rotation, every node moves one position to the right from its current position. Consider the following example...</a:t>
            </a:r>
            <a:endParaRPr lang="en-IN" sz="1800" dirty="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zig rotation,splay tree,datastructure">
            <a:extLst>
              <a:ext uri="{FF2B5EF4-FFF2-40B4-BE49-F238E27FC236}">
                <a16:creationId xmlns:a16="http://schemas.microsoft.com/office/drawing/2014/main" id="{FD65F38B-0094-4100-AF80-F9D04855E18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05862" y="1300480"/>
            <a:ext cx="6019331" cy="3007224"/>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4359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36FFF-0B64-43E7-8BBC-34F0C4BEFBF2}"/>
              </a:ext>
            </a:extLst>
          </p:cNvPr>
          <p:cNvSpPr>
            <a:spLocks noGrp="1"/>
          </p:cNvSpPr>
          <p:nvPr>
            <p:ph type="title"/>
          </p:nvPr>
        </p:nvSpPr>
        <p:spPr>
          <a:xfrm>
            <a:off x="648929" y="629266"/>
            <a:ext cx="3505495" cy="1622321"/>
          </a:xfrm>
        </p:spPr>
        <p:txBody>
          <a:bodyPr>
            <a:normAutofit/>
          </a:bodyPr>
          <a:lstStyle/>
          <a:p>
            <a:r>
              <a:rPr lang="en-IN" b="1" dirty="0"/>
              <a:t>Zag Rotation</a:t>
            </a:r>
            <a:br>
              <a:rPr lang="en-IN" b="1" dirty="0"/>
            </a:br>
            <a:r>
              <a:rPr lang="en-IN" b="1" dirty="0"/>
              <a:t> </a:t>
            </a:r>
            <a:endParaRPr lang="en-IN" dirty="0"/>
          </a:p>
        </p:txBody>
      </p:sp>
      <p:sp>
        <p:nvSpPr>
          <p:cNvPr id="3" name="Content Placeholder 2">
            <a:extLst>
              <a:ext uri="{FF2B5EF4-FFF2-40B4-BE49-F238E27FC236}">
                <a16:creationId xmlns:a16="http://schemas.microsoft.com/office/drawing/2014/main" id="{9726F9E6-3C9D-41B4-BB6B-BE1C997000B4}"/>
              </a:ext>
            </a:extLst>
          </p:cNvPr>
          <p:cNvSpPr>
            <a:spLocks noGrp="1"/>
          </p:cNvSpPr>
          <p:nvPr>
            <p:ph idx="1"/>
          </p:nvPr>
        </p:nvSpPr>
        <p:spPr>
          <a:xfrm>
            <a:off x="648931" y="2438400"/>
            <a:ext cx="3505494" cy="3785419"/>
          </a:xfrm>
        </p:spPr>
        <p:txBody>
          <a:bodyPr>
            <a:normAutofit/>
          </a:bodyPr>
          <a:lstStyle/>
          <a:p>
            <a:pPr algn="just"/>
            <a:r>
              <a:rPr lang="en-US" sz="1600" dirty="0"/>
              <a:t>The </a:t>
            </a:r>
            <a:r>
              <a:rPr lang="en-US" sz="1600" b="1" dirty="0"/>
              <a:t>Zag Rotation</a:t>
            </a:r>
            <a:r>
              <a:rPr lang="en-US" sz="1600" dirty="0"/>
              <a:t> in splay tree is like the single left rotation in AVL Tree rotations. In zag rotation, every node moves one position to the left from its current position. Consider the following example... </a:t>
            </a:r>
            <a:endParaRPr lang="en-IN" sz="1600" dirty="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zag rotation,splay tree,datastructure">
            <a:extLst>
              <a:ext uri="{FF2B5EF4-FFF2-40B4-BE49-F238E27FC236}">
                <a16:creationId xmlns:a16="http://schemas.microsoft.com/office/drawing/2014/main" id="{D56BBDDE-F4C3-46AF-821E-6CBF37CAD23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05862" y="1653988"/>
            <a:ext cx="6019331" cy="2653716"/>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734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951B4-3E7B-428A-9069-EBF32E3BC078}"/>
              </a:ext>
            </a:extLst>
          </p:cNvPr>
          <p:cNvSpPr>
            <a:spLocks noGrp="1"/>
          </p:cNvSpPr>
          <p:nvPr>
            <p:ph type="title"/>
          </p:nvPr>
        </p:nvSpPr>
        <p:spPr>
          <a:xfrm>
            <a:off x="648929" y="629266"/>
            <a:ext cx="3505495" cy="1622321"/>
          </a:xfrm>
        </p:spPr>
        <p:txBody>
          <a:bodyPr>
            <a:normAutofit/>
          </a:bodyPr>
          <a:lstStyle/>
          <a:p>
            <a:r>
              <a:rPr lang="en-IN" sz="4100" b="1"/>
              <a:t>Zig-Zig Rotation</a:t>
            </a:r>
            <a:br>
              <a:rPr lang="en-IN" sz="4100" b="1"/>
            </a:br>
            <a:endParaRPr lang="en-IN" sz="4100"/>
          </a:p>
        </p:txBody>
      </p:sp>
      <p:sp>
        <p:nvSpPr>
          <p:cNvPr id="3" name="Content Placeholder 2">
            <a:extLst>
              <a:ext uri="{FF2B5EF4-FFF2-40B4-BE49-F238E27FC236}">
                <a16:creationId xmlns:a16="http://schemas.microsoft.com/office/drawing/2014/main" id="{3C7299A8-03C7-4EFF-9C5A-F53F1AFFE9E8}"/>
              </a:ext>
            </a:extLst>
          </p:cNvPr>
          <p:cNvSpPr>
            <a:spLocks noGrp="1"/>
          </p:cNvSpPr>
          <p:nvPr>
            <p:ph idx="1"/>
          </p:nvPr>
        </p:nvSpPr>
        <p:spPr>
          <a:xfrm>
            <a:off x="648931" y="2438400"/>
            <a:ext cx="3505494" cy="3785419"/>
          </a:xfrm>
        </p:spPr>
        <p:txBody>
          <a:bodyPr>
            <a:normAutofit/>
          </a:bodyPr>
          <a:lstStyle/>
          <a:p>
            <a:pPr algn="just"/>
            <a:r>
              <a:rPr lang="en-US" sz="1600" dirty="0"/>
              <a:t>The </a:t>
            </a:r>
            <a:r>
              <a:rPr lang="en-US" sz="1600" b="1" dirty="0"/>
              <a:t>Zig-Zig Rotation</a:t>
            </a:r>
            <a:r>
              <a:rPr lang="en-US" sz="1600" dirty="0"/>
              <a:t> in splay tree is a double zig rotation. In zig-zig rotation, every node moves two positions to the right from its current position. Consider the following example...</a:t>
            </a:r>
            <a:endParaRPr lang="en-IN" sz="1600" dirty="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zig-zig rotation,splay tree,datastructure,zigzig rotation,zig zig rotation">
            <a:extLst>
              <a:ext uri="{FF2B5EF4-FFF2-40B4-BE49-F238E27FC236}">
                <a16:creationId xmlns:a16="http://schemas.microsoft.com/office/drawing/2014/main" id="{921DDD76-6280-4DE5-A777-B7B2D6961A5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05862" y="1586753"/>
            <a:ext cx="6019331" cy="272095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517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5B743-1A0C-4F87-B5D9-039304B80ABE}"/>
              </a:ext>
            </a:extLst>
          </p:cNvPr>
          <p:cNvSpPr>
            <a:spLocks noGrp="1"/>
          </p:cNvSpPr>
          <p:nvPr>
            <p:ph type="title"/>
          </p:nvPr>
        </p:nvSpPr>
        <p:spPr>
          <a:xfrm>
            <a:off x="648929" y="629266"/>
            <a:ext cx="3505495" cy="1622321"/>
          </a:xfrm>
        </p:spPr>
        <p:txBody>
          <a:bodyPr>
            <a:normAutofit/>
          </a:bodyPr>
          <a:lstStyle/>
          <a:p>
            <a:r>
              <a:rPr lang="en-IN" sz="3700" b="1"/>
              <a:t>Zag-Zag Rotation</a:t>
            </a:r>
            <a:br>
              <a:rPr lang="en-IN" sz="3700" b="1"/>
            </a:br>
            <a:endParaRPr lang="en-IN" sz="3700"/>
          </a:p>
        </p:txBody>
      </p:sp>
      <p:sp>
        <p:nvSpPr>
          <p:cNvPr id="3" name="Content Placeholder 2">
            <a:extLst>
              <a:ext uri="{FF2B5EF4-FFF2-40B4-BE49-F238E27FC236}">
                <a16:creationId xmlns:a16="http://schemas.microsoft.com/office/drawing/2014/main" id="{26B4134D-B56C-4DF3-AF65-C8A57FE35C2A}"/>
              </a:ext>
            </a:extLst>
          </p:cNvPr>
          <p:cNvSpPr>
            <a:spLocks noGrp="1"/>
          </p:cNvSpPr>
          <p:nvPr>
            <p:ph idx="1"/>
          </p:nvPr>
        </p:nvSpPr>
        <p:spPr>
          <a:xfrm>
            <a:off x="648931" y="2438400"/>
            <a:ext cx="3505494" cy="3785419"/>
          </a:xfrm>
        </p:spPr>
        <p:txBody>
          <a:bodyPr>
            <a:normAutofit/>
          </a:bodyPr>
          <a:lstStyle/>
          <a:p>
            <a:pPr algn="just"/>
            <a:r>
              <a:rPr lang="en-US" sz="2000" dirty="0"/>
              <a:t>The </a:t>
            </a:r>
            <a:r>
              <a:rPr lang="en-US" sz="2000" b="1" dirty="0"/>
              <a:t>Zag-Zag Rotation</a:t>
            </a:r>
            <a:r>
              <a:rPr lang="en-US" sz="2000" dirty="0"/>
              <a:t> in splay tree is a double zag rotation. In zag-zag rotation, every node moves two positions to the left from its current position. Consider the following example...</a:t>
            </a:r>
            <a:endParaRPr lang="en-IN" sz="2000" dirty="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zig-zig rotation,splay tree,datastructure,zagzag rotation,zag zag rotation">
            <a:extLst>
              <a:ext uri="{FF2B5EF4-FFF2-40B4-BE49-F238E27FC236}">
                <a16:creationId xmlns:a16="http://schemas.microsoft.com/office/drawing/2014/main" id="{CD546A79-A0CB-46E7-9797-866E0A9BEB8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05862" y="1707776"/>
            <a:ext cx="6019331" cy="2855422"/>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589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B0D59-9326-469C-9617-A113AB439BA7}"/>
              </a:ext>
            </a:extLst>
          </p:cNvPr>
          <p:cNvSpPr>
            <a:spLocks noGrp="1"/>
          </p:cNvSpPr>
          <p:nvPr>
            <p:ph type="title"/>
          </p:nvPr>
        </p:nvSpPr>
        <p:spPr>
          <a:xfrm>
            <a:off x="499459" y="641121"/>
            <a:ext cx="3505495" cy="1622321"/>
          </a:xfrm>
        </p:spPr>
        <p:txBody>
          <a:bodyPr>
            <a:normAutofit/>
          </a:bodyPr>
          <a:lstStyle/>
          <a:p>
            <a:r>
              <a:rPr lang="en-IN" sz="4100" b="1"/>
              <a:t>Zig-Zag Rotation</a:t>
            </a:r>
            <a:br>
              <a:rPr lang="en-IN" sz="4100" b="1"/>
            </a:br>
            <a:endParaRPr lang="en-IN" sz="4100"/>
          </a:p>
        </p:txBody>
      </p:sp>
      <p:sp>
        <p:nvSpPr>
          <p:cNvPr id="3" name="Content Placeholder 2">
            <a:extLst>
              <a:ext uri="{FF2B5EF4-FFF2-40B4-BE49-F238E27FC236}">
                <a16:creationId xmlns:a16="http://schemas.microsoft.com/office/drawing/2014/main" id="{E057F344-FB86-4260-BB8E-BAF12A78B1F9}"/>
              </a:ext>
            </a:extLst>
          </p:cNvPr>
          <p:cNvSpPr>
            <a:spLocks noGrp="1"/>
          </p:cNvSpPr>
          <p:nvPr>
            <p:ph idx="1"/>
          </p:nvPr>
        </p:nvSpPr>
        <p:spPr>
          <a:xfrm>
            <a:off x="648931" y="2438400"/>
            <a:ext cx="3505494" cy="3785419"/>
          </a:xfrm>
        </p:spPr>
        <p:txBody>
          <a:bodyPr>
            <a:normAutofit/>
          </a:bodyPr>
          <a:lstStyle/>
          <a:p>
            <a:pPr algn="just"/>
            <a:r>
              <a:rPr lang="en-US" sz="2000" dirty="0"/>
              <a:t>The </a:t>
            </a:r>
            <a:r>
              <a:rPr lang="en-US" sz="2000" b="1" dirty="0"/>
              <a:t>Zig-Zag Rotation</a:t>
            </a:r>
            <a:r>
              <a:rPr lang="en-US" sz="2000" dirty="0"/>
              <a:t> in splay tree is a sequence of zig rotation followed by zag rotation. In zig-zag rotation, every node moves one position to the right followed by one position to the left from its current position. Consider the following example...</a:t>
            </a:r>
            <a:endParaRPr lang="en-IN" sz="2000" dirty="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zig-zag rotation,splay tree,datastructure,zigzag rotation,zig zag rotation">
            <a:extLst>
              <a:ext uri="{FF2B5EF4-FFF2-40B4-BE49-F238E27FC236}">
                <a16:creationId xmlns:a16="http://schemas.microsoft.com/office/drawing/2014/main" id="{0A55F16E-F312-4F7E-B69D-DD8B1584372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05862" y="1452282"/>
            <a:ext cx="6019331" cy="2855422"/>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DD4831B5-AA4B-420E-B956-84DB4E15F977}"/>
              </a:ext>
            </a:extLst>
          </p:cNvPr>
          <p:cNvCxnSpPr/>
          <p:nvPr/>
        </p:nvCxnSpPr>
        <p:spPr>
          <a:xfrm flipH="1" flipV="1">
            <a:off x="6029195" y="3755238"/>
            <a:ext cx="217118" cy="1665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8441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64175-79FA-48A9-B172-6E62D43A402E}"/>
              </a:ext>
            </a:extLst>
          </p:cNvPr>
          <p:cNvSpPr>
            <a:spLocks noGrp="1"/>
          </p:cNvSpPr>
          <p:nvPr>
            <p:ph type="title"/>
          </p:nvPr>
        </p:nvSpPr>
        <p:spPr>
          <a:xfrm>
            <a:off x="648929" y="629266"/>
            <a:ext cx="3505495" cy="1622321"/>
          </a:xfrm>
        </p:spPr>
        <p:txBody>
          <a:bodyPr>
            <a:normAutofit/>
          </a:bodyPr>
          <a:lstStyle/>
          <a:p>
            <a:r>
              <a:rPr lang="en-IN" sz="4100" b="1"/>
              <a:t>Zag-Zig Rotation</a:t>
            </a:r>
            <a:br>
              <a:rPr lang="en-IN" sz="4100" b="1"/>
            </a:br>
            <a:endParaRPr lang="en-IN" sz="4100"/>
          </a:p>
        </p:txBody>
      </p:sp>
      <p:sp>
        <p:nvSpPr>
          <p:cNvPr id="3" name="Content Placeholder 2">
            <a:extLst>
              <a:ext uri="{FF2B5EF4-FFF2-40B4-BE49-F238E27FC236}">
                <a16:creationId xmlns:a16="http://schemas.microsoft.com/office/drawing/2014/main" id="{2EEDC046-07F1-488D-B6E2-1F1F33628321}"/>
              </a:ext>
            </a:extLst>
          </p:cNvPr>
          <p:cNvSpPr>
            <a:spLocks noGrp="1"/>
          </p:cNvSpPr>
          <p:nvPr>
            <p:ph idx="1"/>
          </p:nvPr>
        </p:nvSpPr>
        <p:spPr>
          <a:xfrm>
            <a:off x="648931" y="2438400"/>
            <a:ext cx="3505494" cy="3785419"/>
          </a:xfrm>
        </p:spPr>
        <p:txBody>
          <a:bodyPr>
            <a:normAutofit/>
          </a:bodyPr>
          <a:lstStyle/>
          <a:p>
            <a:pPr algn="just"/>
            <a:r>
              <a:rPr lang="en-US" sz="2000" dirty="0"/>
              <a:t>The </a:t>
            </a:r>
            <a:r>
              <a:rPr lang="en-US" sz="2000" b="1" dirty="0"/>
              <a:t>Zag-Zig Rotation</a:t>
            </a:r>
            <a:r>
              <a:rPr lang="en-US" sz="2000" dirty="0"/>
              <a:t> in splay tree is a sequence of zag rotation followed by zig rotation. In zag-zig rotation, every node moves one position to the left followed by one position to the right from its current position. Consider the following example...</a:t>
            </a:r>
            <a:endParaRPr lang="en-IN" sz="2000" dirty="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zag-zig rotation,splay tree,datastructure,zagzig rotation,zag zig rotation">
            <a:extLst>
              <a:ext uri="{FF2B5EF4-FFF2-40B4-BE49-F238E27FC236}">
                <a16:creationId xmlns:a16="http://schemas.microsoft.com/office/drawing/2014/main" id="{F99E29C8-D7CE-4EFF-8B54-723B38336B1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05862" y="1613647"/>
            <a:ext cx="6019331" cy="3039035"/>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53E313AD-46B2-4D70-B4D1-77C7F41258B2}"/>
              </a:ext>
            </a:extLst>
          </p:cNvPr>
          <p:cNvCxnSpPr/>
          <p:nvPr/>
        </p:nvCxnSpPr>
        <p:spPr>
          <a:xfrm flipH="1" flipV="1">
            <a:off x="6363222" y="3945699"/>
            <a:ext cx="488515" cy="1277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1148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D5750-B220-4FC9-BFC8-7CA17EEACFEB}"/>
              </a:ext>
            </a:extLst>
          </p:cNvPr>
          <p:cNvSpPr>
            <a:spLocks noGrp="1"/>
          </p:cNvSpPr>
          <p:nvPr>
            <p:ph type="ctrTitle"/>
          </p:nvPr>
        </p:nvSpPr>
        <p:spPr/>
        <p:txBody>
          <a:bodyPr/>
          <a:lstStyle/>
          <a:p>
            <a:r>
              <a:rPr lang="en-US" dirty="0"/>
              <a:t>RED-BLACK TREE</a:t>
            </a:r>
            <a:endParaRPr lang="en-IN" dirty="0"/>
          </a:p>
        </p:txBody>
      </p:sp>
    </p:spTree>
    <p:extLst>
      <p:ext uri="{BB962C8B-B14F-4D97-AF65-F5344CB8AC3E}">
        <p14:creationId xmlns:p14="http://schemas.microsoft.com/office/powerpoint/2010/main" val="2313364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95FF8-E8F6-480F-92EB-43A83F87735F}"/>
              </a:ext>
            </a:extLst>
          </p:cNvPr>
          <p:cNvSpPr>
            <a:spLocks noGrp="1"/>
          </p:cNvSpPr>
          <p:nvPr>
            <p:ph type="title"/>
          </p:nvPr>
        </p:nvSpPr>
        <p:spPr>
          <a:xfrm>
            <a:off x="6498947" y="288049"/>
            <a:ext cx="4977976" cy="1454051"/>
          </a:xfrm>
        </p:spPr>
        <p:txBody>
          <a:bodyPr>
            <a:normAutofit/>
          </a:bodyPr>
          <a:lstStyle/>
          <a:p>
            <a:r>
              <a:rPr lang="en-US" dirty="0">
                <a:solidFill>
                  <a:srgbClr val="FF0000"/>
                </a:solidFill>
              </a:rPr>
              <a:t>D</a:t>
            </a:r>
            <a:r>
              <a:rPr lang="en-US" dirty="0">
                <a:solidFill>
                  <a:srgbClr val="000000"/>
                </a:solidFill>
              </a:rPr>
              <a:t>e</a:t>
            </a:r>
            <a:r>
              <a:rPr lang="en-US" dirty="0">
                <a:solidFill>
                  <a:srgbClr val="FF0000"/>
                </a:solidFill>
              </a:rPr>
              <a:t>f</a:t>
            </a:r>
            <a:r>
              <a:rPr lang="en-US" dirty="0">
                <a:solidFill>
                  <a:srgbClr val="000000"/>
                </a:solidFill>
              </a:rPr>
              <a:t>i</a:t>
            </a:r>
            <a:r>
              <a:rPr lang="en-US" dirty="0">
                <a:solidFill>
                  <a:srgbClr val="FF0000"/>
                </a:solidFill>
              </a:rPr>
              <a:t>n</a:t>
            </a:r>
            <a:r>
              <a:rPr lang="en-US" dirty="0">
                <a:solidFill>
                  <a:srgbClr val="000000"/>
                </a:solidFill>
              </a:rPr>
              <a:t>i</a:t>
            </a:r>
            <a:r>
              <a:rPr lang="en-US" dirty="0">
                <a:solidFill>
                  <a:srgbClr val="FF0000"/>
                </a:solidFill>
              </a:rPr>
              <a:t>t</a:t>
            </a:r>
            <a:r>
              <a:rPr lang="en-US" dirty="0">
                <a:solidFill>
                  <a:srgbClr val="000000"/>
                </a:solidFill>
              </a:rPr>
              <a:t>i</a:t>
            </a:r>
            <a:r>
              <a:rPr lang="en-US" dirty="0">
                <a:solidFill>
                  <a:srgbClr val="FF0000"/>
                </a:solidFill>
              </a:rPr>
              <a:t>o</a:t>
            </a:r>
            <a:r>
              <a:rPr lang="en-US" dirty="0">
                <a:solidFill>
                  <a:srgbClr val="000000"/>
                </a:solidFill>
              </a:rPr>
              <a:t>n </a:t>
            </a:r>
            <a:endParaRPr lang="en-IN" dirty="0">
              <a:solidFill>
                <a:srgbClr val="000000"/>
              </a:solidFill>
            </a:endParaRPr>
          </a:p>
        </p:txBody>
      </p:sp>
      <p:pic>
        <p:nvPicPr>
          <p:cNvPr id="1026" name="Picture 2" descr="RedBlackTree">
            <a:extLst>
              <a:ext uri="{FF2B5EF4-FFF2-40B4-BE49-F238E27FC236}">
                <a16:creationId xmlns:a16="http://schemas.microsoft.com/office/drawing/2014/main" id="{92D58708-8905-49EC-A609-7233A0D083A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9349" y="2491601"/>
            <a:ext cx="3661831" cy="189499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E799453-4157-44F4-8BD8-4AE0DB165FC9}"/>
              </a:ext>
            </a:extLst>
          </p:cNvPr>
          <p:cNvSpPr>
            <a:spLocks noGrp="1"/>
          </p:cNvSpPr>
          <p:nvPr>
            <p:ph idx="1"/>
          </p:nvPr>
        </p:nvSpPr>
        <p:spPr>
          <a:xfrm>
            <a:off x="6498947" y="1871267"/>
            <a:ext cx="4977578" cy="3639289"/>
          </a:xfrm>
        </p:spPr>
        <p:txBody>
          <a:bodyPr anchor="ctr">
            <a:normAutofit/>
          </a:bodyPr>
          <a:lstStyle/>
          <a:p>
            <a:pPr marL="0" indent="0" algn="ctr">
              <a:buNone/>
            </a:pPr>
            <a:r>
              <a:rPr lang="en-US" dirty="0">
                <a:solidFill>
                  <a:srgbClr val="000000"/>
                </a:solidFill>
              </a:rPr>
              <a:t>Red-Black Tree is a self-balancing Binary Search Tree (BST) where every node either having red color or black color</a:t>
            </a:r>
          </a:p>
          <a:p>
            <a:endParaRPr lang="en-IN" sz="2000" dirty="0">
              <a:solidFill>
                <a:srgbClr val="000000"/>
              </a:solidFill>
            </a:endParaRPr>
          </a:p>
        </p:txBody>
      </p:sp>
    </p:spTree>
    <p:extLst>
      <p:ext uri="{BB962C8B-B14F-4D97-AF65-F5344CB8AC3E}">
        <p14:creationId xmlns:p14="http://schemas.microsoft.com/office/powerpoint/2010/main" val="3252958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AAF56-EB79-4809-9D78-6EE4389AB283}"/>
              </a:ext>
            </a:extLst>
          </p:cNvPr>
          <p:cNvSpPr>
            <a:spLocks noGrp="1"/>
          </p:cNvSpPr>
          <p:nvPr>
            <p:ph type="title"/>
          </p:nvPr>
        </p:nvSpPr>
        <p:spPr>
          <a:xfrm>
            <a:off x="801340" y="802955"/>
            <a:ext cx="4977976" cy="1454051"/>
          </a:xfrm>
        </p:spPr>
        <p:txBody>
          <a:bodyPr>
            <a:normAutofit/>
          </a:bodyPr>
          <a:lstStyle/>
          <a:p>
            <a:r>
              <a:rPr lang="en-US" sz="3600" dirty="0">
                <a:solidFill>
                  <a:srgbClr val="C00000"/>
                </a:solidFill>
              </a:rPr>
              <a:t>Rules For RED-BLACK Tree</a:t>
            </a:r>
            <a:endParaRPr lang="en-IN" sz="3600" dirty="0">
              <a:solidFill>
                <a:srgbClr val="C00000"/>
              </a:solidFill>
            </a:endParaRPr>
          </a:p>
        </p:txBody>
      </p:sp>
      <p:sp>
        <p:nvSpPr>
          <p:cNvPr id="3" name="Content Placeholder 2">
            <a:extLst>
              <a:ext uri="{FF2B5EF4-FFF2-40B4-BE49-F238E27FC236}">
                <a16:creationId xmlns:a16="http://schemas.microsoft.com/office/drawing/2014/main" id="{2D63DC14-5761-401F-83D2-32DA0C6E1CED}"/>
              </a:ext>
            </a:extLst>
          </p:cNvPr>
          <p:cNvSpPr>
            <a:spLocks noGrp="1"/>
          </p:cNvSpPr>
          <p:nvPr>
            <p:ph idx="1"/>
          </p:nvPr>
        </p:nvSpPr>
        <p:spPr>
          <a:xfrm>
            <a:off x="797809" y="2421682"/>
            <a:ext cx="4977578" cy="3639289"/>
          </a:xfrm>
        </p:spPr>
        <p:txBody>
          <a:bodyPr anchor="ctr">
            <a:normAutofit/>
          </a:bodyPr>
          <a:lstStyle/>
          <a:p>
            <a:pPr marL="0" indent="0">
              <a:buNone/>
            </a:pPr>
            <a:endParaRPr lang="en-US" sz="1700" dirty="0">
              <a:solidFill>
                <a:srgbClr val="000000"/>
              </a:solidFill>
            </a:endParaRPr>
          </a:p>
          <a:p>
            <a:pPr marL="514350" indent="-514350" fontAlgn="base">
              <a:buFont typeface="+mj-lt"/>
              <a:buAutoNum type="arabicPeriod"/>
            </a:pPr>
            <a:r>
              <a:rPr lang="en-US" sz="1700" dirty="0">
                <a:solidFill>
                  <a:srgbClr val="000000"/>
                </a:solidFill>
              </a:rPr>
              <a:t>Every node has a color either red or black.</a:t>
            </a:r>
          </a:p>
          <a:p>
            <a:pPr marL="514350" indent="-514350" fontAlgn="base">
              <a:buFont typeface="+mj-lt"/>
              <a:buAutoNum type="arabicPeriod"/>
            </a:pPr>
            <a:r>
              <a:rPr lang="en-US" sz="1700" dirty="0">
                <a:solidFill>
                  <a:srgbClr val="000000"/>
                </a:solidFill>
              </a:rPr>
              <a:t>Root of tree is always black.</a:t>
            </a:r>
          </a:p>
          <a:p>
            <a:pPr marL="514350" indent="-514350" fontAlgn="base">
              <a:buFont typeface="+mj-lt"/>
              <a:buAutoNum type="arabicPeriod"/>
            </a:pPr>
            <a:r>
              <a:rPr lang="en-US" sz="1700" dirty="0">
                <a:solidFill>
                  <a:srgbClr val="000000"/>
                </a:solidFill>
              </a:rPr>
              <a:t>There are no two adjacent red nodes (A red node cannot have a red parent or red child).</a:t>
            </a:r>
          </a:p>
          <a:p>
            <a:pPr marL="514350" indent="-514350" fontAlgn="base">
              <a:buFont typeface="+mj-lt"/>
              <a:buAutoNum type="arabicPeriod"/>
            </a:pPr>
            <a:r>
              <a:rPr lang="en-US" sz="1700" dirty="0">
                <a:solidFill>
                  <a:srgbClr val="000000"/>
                </a:solidFill>
              </a:rPr>
              <a:t>Every path from a node (including root) to any of its descendant NULL node has the same number of black nodes.</a:t>
            </a:r>
          </a:p>
          <a:p>
            <a:endParaRPr lang="en-IN" sz="1700" dirty="0">
              <a:solidFill>
                <a:srgbClr val="000000"/>
              </a:solidFill>
            </a:endParaRPr>
          </a:p>
        </p:txBody>
      </p:sp>
      <p:pic>
        <p:nvPicPr>
          <p:cNvPr id="2050" name="Picture 2" descr="RedBlackTree">
            <a:extLst>
              <a:ext uri="{FF2B5EF4-FFF2-40B4-BE49-F238E27FC236}">
                <a16:creationId xmlns:a16="http://schemas.microsoft.com/office/drawing/2014/main" id="{CD143CAA-ACFE-4AC5-8CE6-F7F639F153E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739083" y="2189761"/>
            <a:ext cx="4174490" cy="2160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220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1FB03-251D-4034-A39A-874F01B3A967}"/>
              </a:ext>
            </a:extLst>
          </p:cNvPr>
          <p:cNvSpPr>
            <a:spLocks noGrp="1"/>
          </p:cNvSpPr>
          <p:nvPr>
            <p:ph type="title"/>
          </p:nvPr>
        </p:nvSpPr>
        <p:spPr/>
        <p:txBody>
          <a:bodyPr/>
          <a:lstStyle/>
          <a:p>
            <a:r>
              <a:rPr lang="en-IN" b="1" dirty="0"/>
              <a:t>Why Red-Black Trees?</a:t>
            </a:r>
            <a:endParaRPr lang="en-IN" dirty="0"/>
          </a:p>
        </p:txBody>
      </p:sp>
      <p:sp>
        <p:nvSpPr>
          <p:cNvPr id="3" name="Content Placeholder 2">
            <a:extLst>
              <a:ext uri="{FF2B5EF4-FFF2-40B4-BE49-F238E27FC236}">
                <a16:creationId xmlns:a16="http://schemas.microsoft.com/office/drawing/2014/main" id="{E4A045B0-9F31-425D-AF90-76EB66E6D995}"/>
              </a:ext>
            </a:extLst>
          </p:cNvPr>
          <p:cNvSpPr>
            <a:spLocks noGrp="1"/>
          </p:cNvSpPr>
          <p:nvPr>
            <p:ph idx="1"/>
          </p:nvPr>
        </p:nvSpPr>
        <p:spPr/>
        <p:txBody>
          <a:bodyPr/>
          <a:lstStyle/>
          <a:p>
            <a:pPr marL="0" indent="0" algn="just">
              <a:buNone/>
            </a:pPr>
            <a:r>
              <a:rPr lang="en-US" dirty="0"/>
              <a:t>Most of the BST operations (e.g., search, max, min, insert, delete.. </a:t>
            </a:r>
            <a:r>
              <a:rPr lang="en-US" dirty="0" err="1"/>
              <a:t>etc</a:t>
            </a:r>
            <a:r>
              <a:rPr lang="en-US" dirty="0"/>
              <a:t>) take O(h) time where h is the height of the BST. The cost of these operations may become O(n) for a skewed Binary tree. </a:t>
            </a:r>
          </a:p>
          <a:p>
            <a:pPr marL="0" indent="0" algn="just">
              <a:buNone/>
            </a:pPr>
            <a:endParaRPr lang="en-US" dirty="0"/>
          </a:p>
          <a:p>
            <a:pPr marL="0" indent="0" algn="just">
              <a:buNone/>
            </a:pPr>
            <a:r>
              <a:rPr lang="en-US" dirty="0"/>
              <a:t>If we make sure that height of the tree remains O(</a:t>
            </a:r>
            <a:r>
              <a:rPr lang="en-US" dirty="0" err="1"/>
              <a:t>Logn</a:t>
            </a:r>
            <a:r>
              <a:rPr lang="en-US" dirty="0"/>
              <a:t>) after every insertion and deletion, then we can guarantee an upper bound of O(</a:t>
            </a:r>
            <a:r>
              <a:rPr lang="en-US" dirty="0" err="1"/>
              <a:t>Logn</a:t>
            </a:r>
            <a:r>
              <a:rPr lang="en-US" dirty="0"/>
              <a:t>) for all these operations. The height of a Red-Black tree is always O(</a:t>
            </a:r>
            <a:r>
              <a:rPr lang="en-US" dirty="0" err="1"/>
              <a:t>Logn</a:t>
            </a:r>
            <a:r>
              <a:rPr lang="en-US" dirty="0"/>
              <a:t>) where n is the number of nodes in the tree.</a:t>
            </a:r>
            <a:endParaRPr lang="en-IN" dirty="0"/>
          </a:p>
        </p:txBody>
      </p:sp>
    </p:spTree>
    <p:extLst>
      <p:ext uri="{BB962C8B-B14F-4D97-AF65-F5344CB8AC3E}">
        <p14:creationId xmlns:p14="http://schemas.microsoft.com/office/powerpoint/2010/main" val="2944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ABE17-4A51-471E-939A-04D8DF0383AB}"/>
              </a:ext>
            </a:extLst>
          </p:cNvPr>
          <p:cNvSpPr>
            <a:spLocks noGrp="1"/>
          </p:cNvSpPr>
          <p:nvPr>
            <p:ph type="title"/>
          </p:nvPr>
        </p:nvSpPr>
        <p:spPr/>
        <p:txBody>
          <a:bodyPr/>
          <a:lstStyle/>
          <a:p>
            <a:r>
              <a:rPr lang="en-US" b="1" dirty="0"/>
              <a:t>A</a:t>
            </a:r>
            <a:r>
              <a:rPr lang="en-IN" b="1" dirty="0"/>
              <a:t>VL Tree Disadvantage</a:t>
            </a:r>
            <a:endParaRPr lang="en-IN" dirty="0"/>
          </a:p>
        </p:txBody>
      </p:sp>
      <p:sp>
        <p:nvSpPr>
          <p:cNvPr id="3" name="Content Placeholder 2">
            <a:extLst>
              <a:ext uri="{FF2B5EF4-FFF2-40B4-BE49-F238E27FC236}">
                <a16:creationId xmlns:a16="http://schemas.microsoft.com/office/drawing/2014/main" id="{5F8DD545-2C11-48E4-81DD-24AA9FB5001C}"/>
              </a:ext>
            </a:extLst>
          </p:cNvPr>
          <p:cNvSpPr>
            <a:spLocks noGrp="1"/>
          </p:cNvSpPr>
          <p:nvPr>
            <p:ph idx="1"/>
          </p:nvPr>
        </p:nvSpPr>
        <p:spPr/>
        <p:txBody>
          <a:bodyPr/>
          <a:lstStyle/>
          <a:p>
            <a:pPr marL="0" indent="0" algn="just">
              <a:buNone/>
            </a:pPr>
            <a:r>
              <a:rPr lang="en-US" dirty="0"/>
              <a:t>The AVL trees are more balanced compared to Red-Black Trees, but they may cause more rotations during insertion and deletion. So if your application involves many frequent insertions and deletions, then Red Black trees should be preferred. And if the insertions and deletions are less frequent and search is a more frequent operation, then AVL tree should be preferred over Red-Black Tree.</a:t>
            </a:r>
            <a:endParaRPr lang="en-IN" dirty="0"/>
          </a:p>
        </p:txBody>
      </p:sp>
    </p:spTree>
    <p:extLst>
      <p:ext uri="{BB962C8B-B14F-4D97-AF65-F5344CB8AC3E}">
        <p14:creationId xmlns:p14="http://schemas.microsoft.com/office/powerpoint/2010/main" val="599826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0686F-8D58-4799-8917-25845C567E49}"/>
              </a:ext>
            </a:extLst>
          </p:cNvPr>
          <p:cNvSpPr>
            <a:spLocks noGrp="1"/>
          </p:cNvSpPr>
          <p:nvPr>
            <p:ph type="title"/>
          </p:nvPr>
        </p:nvSpPr>
        <p:spPr/>
        <p:txBody>
          <a:bodyPr/>
          <a:lstStyle/>
          <a:p>
            <a:r>
              <a:rPr lang="en-US" b="1" dirty="0"/>
              <a:t>How does a Red-Black Tree ensure balance?</a:t>
            </a:r>
            <a:endParaRPr lang="en-IN" dirty="0"/>
          </a:p>
        </p:txBody>
      </p:sp>
      <p:sp>
        <p:nvSpPr>
          <p:cNvPr id="3" name="Content Placeholder 2">
            <a:extLst>
              <a:ext uri="{FF2B5EF4-FFF2-40B4-BE49-F238E27FC236}">
                <a16:creationId xmlns:a16="http://schemas.microsoft.com/office/drawing/2014/main" id="{668667E5-2A00-420B-8653-48E1D70FEBED}"/>
              </a:ext>
            </a:extLst>
          </p:cNvPr>
          <p:cNvSpPr>
            <a:spLocks noGrp="1"/>
          </p:cNvSpPr>
          <p:nvPr>
            <p:ph idx="1"/>
          </p:nvPr>
        </p:nvSpPr>
        <p:spPr/>
        <p:txBody>
          <a:bodyPr/>
          <a:lstStyle/>
          <a:p>
            <a:r>
              <a:rPr lang="en-US" dirty="0"/>
              <a:t>A simple example to understand balancing is, a chain of 3 nodes is not possible in the Red-Black tree. We can try any combination of </a:t>
            </a:r>
            <a:r>
              <a:rPr lang="en-US" dirty="0" err="1"/>
              <a:t>colours</a:t>
            </a:r>
            <a:r>
              <a:rPr lang="en-US" dirty="0"/>
              <a:t> and see all of them violate Red-Black tree property.</a:t>
            </a:r>
            <a:endParaRPr lang="en-IN" dirty="0"/>
          </a:p>
        </p:txBody>
      </p:sp>
    </p:spTree>
    <p:extLst>
      <p:ext uri="{BB962C8B-B14F-4D97-AF65-F5344CB8AC3E}">
        <p14:creationId xmlns:p14="http://schemas.microsoft.com/office/powerpoint/2010/main" val="1379242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58F7F-9B6E-4A0F-A184-8970D211FDBA}"/>
              </a:ext>
            </a:extLst>
          </p:cNvPr>
          <p:cNvSpPr>
            <a:spLocks noGrp="1"/>
          </p:cNvSpPr>
          <p:nvPr>
            <p:ph type="title"/>
          </p:nvPr>
        </p:nvSpPr>
        <p:spPr>
          <a:xfrm>
            <a:off x="599435" y="24849"/>
            <a:ext cx="5667375" cy="1908902"/>
          </a:xfrm>
        </p:spPr>
        <p:txBody>
          <a:bodyPr vert="horz" lIns="91440" tIns="45720" rIns="91440" bIns="45720" rtlCol="0" anchor="ctr">
            <a:normAutofit/>
          </a:bodyPr>
          <a:lstStyle/>
          <a:p>
            <a:r>
              <a:rPr lang="en-US" kern="1200" dirty="0">
                <a:solidFill>
                  <a:schemeClr val="tx1"/>
                </a:solidFill>
                <a:latin typeface="+mj-lt"/>
                <a:ea typeface="+mj-ea"/>
                <a:cs typeface="+mj-cs"/>
              </a:rPr>
              <a:t>Example</a:t>
            </a:r>
          </a:p>
        </p:txBody>
      </p:sp>
      <p:pic>
        <p:nvPicPr>
          <p:cNvPr id="6" name="Picture 5">
            <a:extLst>
              <a:ext uri="{FF2B5EF4-FFF2-40B4-BE49-F238E27FC236}">
                <a16:creationId xmlns:a16="http://schemas.microsoft.com/office/drawing/2014/main" id="{752E1E6F-051C-49E6-83E7-62AD72A560D9}"/>
              </a:ext>
            </a:extLst>
          </p:cNvPr>
          <p:cNvPicPr>
            <a:picLocks noChangeAspect="1"/>
          </p:cNvPicPr>
          <p:nvPr/>
        </p:nvPicPr>
        <p:blipFill rotWithShape="1">
          <a:blip r:embed="rId2"/>
          <a:srcRect l="22584" t="28000" r="39687" b="27110"/>
          <a:stretch/>
        </p:blipFill>
        <p:spPr>
          <a:xfrm>
            <a:off x="5784460" y="660400"/>
            <a:ext cx="6178696" cy="4135120"/>
          </a:xfrm>
          <a:prstGeom prst="rect">
            <a:avLst/>
          </a:prstGeom>
        </p:spPr>
      </p:pic>
    </p:spTree>
    <p:extLst>
      <p:ext uri="{BB962C8B-B14F-4D97-AF65-F5344CB8AC3E}">
        <p14:creationId xmlns:p14="http://schemas.microsoft.com/office/powerpoint/2010/main" val="1655362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7F10-0C49-4583-AA28-9C522B9BA99B}"/>
              </a:ext>
            </a:extLst>
          </p:cNvPr>
          <p:cNvSpPr>
            <a:spLocks noGrp="1"/>
          </p:cNvSpPr>
          <p:nvPr>
            <p:ph type="title"/>
          </p:nvPr>
        </p:nvSpPr>
        <p:spPr/>
        <p:txBody>
          <a:bodyPr/>
          <a:lstStyle/>
          <a:p>
            <a:r>
              <a:rPr lang="en-US" dirty="0"/>
              <a:t>Continue. . . </a:t>
            </a:r>
            <a:endParaRPr lang="en-IN" dirty="0"/>
          </a:p>
        </p:txBody>
      </p:sp>
      <p:sp>
        <p:nvSpPr>
          <p:cNvPr id="3" name="Content Placeholder 2">
            <a:extLst>
              <a:ext uri="{FF2B5EF4-FFF2-40B4-BE49-F238E27FC236}">
                <a16:creationId xmlns:a16="http://schemas.microsoft.com/office/drawing/2014/main" id="{19199A39-EDD3-4743-903F-53F35FD15CF7}"/>
              </a:ext>
            </a:extLst>
          </p:cNvPr>
          <p:cNvSpPr>
            <a:spLocks noGrp="1"/>
          </p:cNvSpPr>
          <p:nvPr>
            <p:ph idx="1"/>
          </p:nvPr>
        </p:nvSpPr>
        <p:spPr/>
        <p:txBody>
          <a:bodyPr>
            <a:normAutofit/>
          </a:bodyPr>
          <a:lstStyle/>
          <a:p>
            <a:r>
              <a:rPr lang="en-US" b="1" i="1" dirty="0"/>
              <a:t>Black Height of a Red-Black Tree :</a:t>
            </a:r>
          </a:p>
          <a:p>
            <a:pPr marL="0" indent="0">
              <a:buNone/>
            </a:pPr>
            <a:br>
              <a:rPr lang="en-US" dirty="0"/>
            </a:br>
            <a:r>
              <a:rPr lang="en-US" i="1" dirty="0"/>
              <a:t>Black height is number of black nodes on a path from root to a leaf. Leaf nodes are also counted black nodes. From above properties 3 and 4, we can derive, </a:t>
            </a:r>
            <a:r>
              <a:rPr lang="en-US" b="1" i="1" dirty="0"/>
              <a:t>a Red-Black Tree of height h has black-height &gt;= h/2</a:t>
            </a:r>
            <a:r>
              <a:rPr lang="en-US" i="1" dirty="0"/>
              <a:t>.</a:t>
            </a:r>
          </a:p>
          <a:p>
            <a:pPr marL="0" indent="0">
              <a:buNone/>
            </a:pPr>
            <a:endParaRPr lang="en-US" i="1" dirty="0"/>
          </a:p>
          <a:p>
            <a:pPr marL="0" indent="0" algn="ctr">
              <a:buNone/>
            </a:pPr>
            <a:endParaRPr lang="en-US" sz="2000" i="1" dirty="0"/>
          </a:p>
          <a:p>
            <a:pPr marL="0" indent="0" algn="ctr">
              <a:buNone/>
            </a:pPr>
            <a:r>
              <a:rPr lang="en-US" sz="2000" i="1" dirty="0"/>
              <a:t>Number of nodes from a node to its farthest descendant leaf is no more than twice as the number of nodes to the nearest descendant leaf.</a:t>
            </a:r>
            <a:endParaRPr lang="en-IN" sz="2000" i="1" dirty="0"/>
          </a:p>
        </p:txBody>
      </p:sp>
    </p:spTree>
    <p:extLst>
      <p:ext uri="{BB962C8B-B14F-4D97-AF65-F5344CB8AC3E}">
        <p14:creationId xmlns:p14="http://schemas.microsoft.com/office/powerpoint/2010/main" val="198059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E7EAA-CF9F-4995-B8FB-1FC4C77A908A}"/>
              </a:ext>
            </a:extLst>
          </p:cNvPr>
          <p:cNvSpPr>
            <a:spLocks noGrp="1"/>
          </p:cNvSpPr>
          <p:nvPr>
            <p:ph type="title"/>
          </p:nvPr>
        </p:nvSpPr>
        <p:spPr/>
        <p:txBody>
          <a:bodyPr/>
          <a:lstStyle/>
          <a:p>
            <a:r>
              <a:rPr lang="en-US" dirty="0"/>
              <a:t>Continue . . .</a:t>
            </a:r>
            <a:endParaRPr lang="en-IN" dirty="0"/>
          </a:p>
        </p:txBody>
      </p:sp>
      <p:sp>
        <p:nvSpPr>
          <p:cNvPr id="3" name="Content Placeholder 2">
            <a:extLst>
              <a:ext uri="{FF2B5EF4-FFF2-40B4-BE49-F238E27FC236}">
                <a16:creationId xmlns:a16="http://schemas.microsoft.com/office/drawing/2014/main" id="{F4BE60BF-A0CA-4D6D-B8FD-333C74340A17}"/>
              </a:ext>
            </a:extLst>
          </p:cNvPr>
          <p:cNvSpPr>
            <a:spLocks noGrp="1"/>
          </p:cNvSpPr>
          <p:nvPr>
            <p:ph idx="1"/>
          </p:nvPr>
        </p:nvSpPr>
        <p:spPr/>
        <p:txBody>
          <a:bodyPr>
            <a:normAutofit lnSpcReduction="10000"/>
          </a:bodyPr>
          <a:lstStyle/>
          <a:p>
            <a:r>
              <a:rPr lang="en-US" b="1" i="1" dirty="0"/>
              <a:t>Every Red Black Tree with n nodes has height &lt;= </a:t>
            </a:r>
            <a:r>
              <a:rPr lang="en-US" dirty="0"/>
              <a:t>2Log</a:t>
            </a:r>
            <a:r>
              <a:rPr lang="en-US" baseline="-25000" dirty="0"/>
              <a:t>2</a:t>
            </a:r>
            <a:r>
              <a:rPr lang="en-US" dirty="0"/>
              <a:t>(n+1)</a:t>
            </a:r>
          </a:p>
          <a:p>
            <a:endParaRPr lang="en-US" dirty="0"/>
          </a:p>
          <a:p>
            <a:pPr marL="0" indent="0" fontAlgn="base">
              <a:buNone/>
            </a:pPr>
            <a:r>
              <a:rPr lang="en-US" dirty="0"/>
              <a:t>This can be proved using following facts:</a:t>
            </a:r>
            <a:br>
              <a:rPr lang="en-US" dirty="0"/>
            </a:br>
            <a:r>
              <a:rPr lang="en-US" dirty="0"/>
              <a:t>1) For a general Binary Tree, let </a:t>
            </a:r>
            <a:r>
              <a:rPr lang="en-US" b="1" dirty="0"/>
              <a:t>k</a:t>
            </a:r>
            <a:r>
              <a:rPr lang="en-US" dirty="0"/>
              <a:t> be the minimum number of nodes on all root to NULL paths, then n &gt;= 2</a:t>
            </a:r>
            <a:r>
              <a:rPr lang="en-US" baseline="30000" dirty="0"/>
              <a:t>k</a:t>
            </a:r>
            <a:r>
              <a:rPr lang="en-US" dirty="0"/>
              <a:t> – 1 (Ex. If k is 3, then n is </a:t>
            </a:r>
            <a:r>
              <a:rPr lang="en-US" dirty="0" err="1"/>
              <a:t>atleast</a:t>
            </a:r>
            <a:r>
              <a:rPr lang="en-US" dirty="0"/>
              <a:t> 7). </a:t>
            </a:r>
          </a:p>
          <a:p>
            <a:pPr marL="0" indent="0" fontAlgn="base">
              <a:buNone/>
            </a:pPr>
            <a:endParaRPr lang="en-US" dirty="0"/>
          </a:p>
          <a:p>
            <a:pPr marL="0" indent="0" fontAlgn="base">
              <a:buNone/>
            </a:pPr>
            <a:r>
              <a:rPr lang="en-US" dirty="0"/>
              <a:t>This expression can also be written as k &lt;= Log</a:t>
            </a:r>
            <a:r>
              <a:rPr lang="en-US" baseline="-25000" dirty="0"/>
              <a:t>2</a:t>
            </a:r>
            <a:r>
              <a:rPr lang="en-US" dirty="0"/>
              <a:t>(n+1)</a:t>
            </a:r>
          </a:p>
          <a:p>
            <a:pPr marL="0" indent="0" fontAlgn="base">
              <a:buNone/>
            </a:pPr>
            <a:r>
              <a:rPr lang="en-US" dirty="0"/>
              <a:t>2) From property 4 of Red-Black trees and above claim, we can say in a Red-Black Tree with n nodes, there is a root to leaf path with at-most Log</a:t>
            </a:r>
            <a:r>
              <a:rPr lang="en-US" baseline="-25000" dirty="0"/>
              <a:t>2</a:t>
            </a:r>
            <a:r>
              <a:rPr lang="en-US" dirty="0"/>
              <a:t>(n+1) black nodes.</a:t>
            </a:r>
          </a:p>
          <a:p>
            <a:endParaRPr lang="en-IN" dirty="0"/>
          </a:p>
        </p:txBody>
      </p:sp>
    </p:spTree>
    <p:extLst>
      <p:ext uri="{BB962C8B-B14F-4D97-AF65-F5344CB8AC3E}">
        <p14:creationId xmlns:p14="http://schemas.microsoft.com/office/powerpoint/2010/main" val="1891506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2634E-6F0B-4E2E-828A-829063D2C770}"/>
              </a:ext>
            </a:extLst>
          </p:cNvPr>
          <p:cNvSpPr>
            <a:spLocks noGrp="1"/>
          </p:cNvSpPr>
          <p:nvPr>
            <p:ph type="title"/>
          </p:nvPr>
        </p:nvSpPr>
        <p:spPr/>
        <p:txBody>
          <a:bodyPr/>
          <a:lstStyle/>
          <a:p>
            <a:r>
              <a:rPr lang="en-US" dirty="0"/>
              <a:t>Continue. . . </a:t>
            </a:r>
            <a:endParaRPr lang="en-IN" dirty="0"/>
          </a:p>
        </p:txBody>
      </p:sp>
      <p:sp>
        <p:nvSpPr>
          <p:cNvPr id="3" name="Content Placeholder 2">
            <a:extLst>
              <a:ext uri="{FF2B5EF4-FFF2-40B4-BE49-F238E27FC236}">
                <a16:creationId xmlns:a16="http://schemas.microsoft.com/office/drawing/2014/main" id="{76173C33-331D-4AC1-BF72-7016B51F0756}"/>
              </a:ext>
            </a:extLst>
          </p:cNvPr>
          <p:cNvSpPr>
            <a:spLocks noGrp="1"/>
          </p:cNvSpPr>
          <p:nvPr>
            <p:ph idx="1"/>
          </p:nvPr>
        </p:nvSpPr>
        <p:spPr/>
        <p:txBody>
          <a:bodyPr/>
          <a:lstStyle/>
          <a:p>
            <a:pPr marL="0" indent="0" fontAlgn="base">
              <a:buNone/>
            </a:pPr>
            <a:r>
              <a:rPr lang="en-US" dirty="0"/>
              <a:t>3) From property 3 of Red-Black trees, we can claim that the number black nodes in a Red-Black tree is at least ⌊ n/2 ⌋ where n is the total number of nodes.</a:t>
            </a:r>
          </a:p>
          <a:p>
            <a:pPr marL="0" indent="0" fontAlgn="base">
              <a:buNone/>
            </a:pPr>
            <a:endParaRPr lang="en-US" dirty="0"/>
          </a:p>
          <a:p>
            <a:pPr marL="0" indent="0" fontAlgn="base">
              <a:buNone/>
            </a:pPr>
            <a:endParaRPr lang="en-US" dirty="0"/>
          </a:p>
          <a:p>
            <a:pPr marL="0" indent="0" fontAlgn="base">
              <a:buNone/>
            </a:pPr>
            <a:r>
              <a:rPr lang="en-US" dirty="0"/>
              <a:t>From above 2 points, we can conclude the fact that Red Black Tree with </a:t>
            </a:r>
            <a:r>
              <a:rPr lang="en-US" b="1" dirty="0"/>
              <a:t>n</a:t>
            </a:r>
            <a:r>
              <a:rPr lang="en-US" dirty="0"/>
              <a:t> nodes has height &lt;= 2Log</a:t>
            </a:r>
            <a:r>
              <a:rPr lang="en-US" baseline="-25000" dirty="0"/>
              <a:t>2</a:t>
            </a:r>
            <a:r>
              <a:rPr lang="en-US" dirty="0"/>
              <a:t>(n+1)</a:t>
            </a:r>
          </a:p>
          <a:p>
            <a:endParaRPr lang="en-IN" dirty="0"/>
          </a:p>
        </p:txBody>
      </p:sp>
    </p:spTree>
    <p:extLst>
      <p:ext uri="{BB962C8B-B14F-4D97-AF65-F5344CB8AC3E}">
        <p14:creationId xmlns:p14="http://schemas.microsoft.com/office/powerpoint/2010/main" val="3878424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C4570-BFF9-4147-B569-29C9CB462B7D}"/>
              </a:ext>
            </a:extLst>
          </p:cNvPr>
          <p:cNvSpPr>
            <a:spLocks noGrp="1"/>
          </p:cNvSpPr>
          <p:nvPr>
            <p:ph type="title"/>
          </p:nvPr>
        </p:nvSpPr>
        <p:spPr/>
        <p:txBody>
          <a:bodyPr/>
          <a:lstStyle/>
          <a:p>
            <a:r>
              <a:rPr lang="en-IN" dirty="0"/>
              <a:t>Red-Black Tree -Insertion</a:t>
            </a:r>
          </a:p>
        </p:txBody>
      </p:sp>
      <p:sp>
        <p:nvSpPr>
          <p:cNvPr id="3" name="Content Placeholder 2">
            <a:extLst>
              <a:ext uri="{FF2B5EF4-FFF2-40B4-BE49-F238E27FC236}">
                <a16:creationId xmlns:a16="http://schemas.microsoft.com/office/drawing/2014/main" id="{E0BED3E0-6EEE-43A1-87FD-6BBC794AD31B}"/>
              </a:ext>
            </a:extLst>
          </p:cNvPr>
          <p:cNvSpPr>
            <a:spLocks noGrp="1"/>
          </p:cNvSpPr>
          <p:nvPr>
            <p:ph idx="1"/>
          </p:nvPr>
        </p:nvSpPr>
        <p:spPr/>
        <p:txBody>
          <a:bodyPr>
            <a:normAutofit fontScale="92500" lnSpcReduction="10000"/>
          </a:bodyPr>
          <a:lstStyle/>
          <a:p>
            <a:pPr marL="0" indent="0" fontAlgn="base">
              <a:buNone/>
            </a:pPr>
            <a:r>
              <a:rPr lang="en-US" dirty="0"/>
              <a:t>In AVL tree insertion, we used rotation as a tool to do balancing after insertion caused imbalance. In Red-Black tree, we use two tools to do balancing.</a:t>
            </a:r>
          </a:p>
          <a:p>
            <a:pPr marL="0" indent="0" fontAlgn="base">
              <a:buNone/>
            </a:pPr>
            <a:r>
              <a:rPr lang="en-US" b="1" dirty="0"/>
              <a:t>1)</a:t>
            </a:r>
            <a:r>
              <a:rPr lang="en-US" dirty="0"/>
              <a:t> Recoloring</a:t>
            </a:r>
            <a:br>
              <a:rPr lang="en-US" dirty="0"/>
            </a:br>
            <a:r>
              <a:rPr lang="en-US" b="1" dirty="0"/>
              <a:t>2)</a:t>
            </a:r>
            <a:r>
              <a:rPr lang="en-US" dirty="0"/>
              <a:t> Rotation</a:t>
            </a:r>
          </a:p>
          <a:p>
            <a:pPr marL="0" indent="0" fontAlgn="base">
              <a:buNone/>
            </a:pPr>
            <a:endParaRPr lang="en-US" dirty="0"/>
          </a:p>
          <a:p>
            <a:pPr marL="0" indent="0" fontAlgn="base">
              <a:buNone/>
            </a:pPr>
            <a:r>
              <a:rPr lang="en-US" dirty="0"/>
              <a:t>We try recoloring first, if recoloring doesn’t work, then we go for rotation. Following is detailed algorithm. The algorithms has mainly two cases depending upon the color of uncle. If uncle is red, we do recoloring. If uncle is black, we do rotations and/or recoloring.</a:t>
            </a:r>
          </a:p>
          <a:p>
            <a:pPr marL="0" indent="0" fontAlgn="base">
              <a:buNone/>
            </a:pPr>
            <a:r>
              <a:rPr lang="en-US" dirty="0"/>
              <a:t>Color of a NULL node is considered as BLACK.</a:t>
            </a:r>
          </a:p>
          <a:p>
            <a:endParaRPr lang="en-IN" dirty="0"/>
          </a:p>
        </p:txBody>
      </p:sp>
    </p:spTree>
    <p:extLst>
      <p:ext uri="{BB962C8B-B14F-4D97-AF65-F5344CB8AC3E}">
        <p14:creationId xmlns:p14="http://schemas.microsoft.com/office/powerpoint/2010/main" val="3072517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35297-4E2F-4A4E-907D-B5949294428F}"/>
              </a:ext>
            </a:extLst>
          </p:cNvPr>
          <p:cNvSpPr>
            <a:spLocks noGrp="1"/>
          </p:cNvSpPr>
          <p:nvPr>
            <p:ph type="title"/>
          </p:nvPr>
        </p:nvSpPr>
        <p:spPr>
          <a:xfrm>
            <a:off x="838200" y="365126"/>
            <a:ext cx="10515600" cy="1002036"/>
          </a:xfrm>
        </p:spPr>
        <p:txBody>
          <a:bodyPr/>
          <a:lstStyle/>
          <a:p>
            <a:r>
              <a:rPr lang="en-US" dirty="0"/>
              <a:t>Continue. . . </a:t>
            </a:r>
            <a:endParaRPr lang="en-IN" dirty="0"/>
          </a:p>
        </p:txBody>
      </p:sp>
      <p:sp>
        <p:nvSpPr>
          <p:cNvPr id="3" name="Content Placeholder 2">
            <a:extLst>
              <a:ext uri="{FF2B5EF4-FFF2-40B4-BE49-F238E27FC236}">
                <a16:creationId xmlns:a16="http://schemas.microsoft.com/office/drawing/2014/main" id="{5E5E7105-9E2B-4DB5-ABE4-838B70C8221C}"/>
              </a:ext>
            </a:extLst>
          </p:cNvPr>
          <p:cNvSpPr>
            <a:spLocks noGrp="1"/>
          </p:cNvSpPr>
          <p:nvPr>
            <p:ph idx="1"/>
          </p:nvPr>
        </p:nvSpPr>
        <p:spPr/>
        <p:txBody>
          <a:bodyPr>
            <a:normAutofit lnSpcReduction="10000"/>
          </a:bodyPr>
          <a:lstStyle/>
          <a:p>
            <a:pPr fontAlgn="base"/>
            <a:r>
              <a:rPr lang="en-US" dirty="0"/>
              <a:t>Let x be the newly inserted node.</a:t>
            </a:r>
            <a:br>
              <a:rPr lang="en-US" dirty="0"/>
            </a:br>
            <a:r>
              <a:rPr lang="en-US" b="1" dirty="0"/>
              <a:t>1)</a:t>
            </a:r>
            <a:r>
              <a:rPr lang="en-US" dirty="0"/>
              <a:t> Perform standard BST insertion and make the color of newly inserted nodes as RED.</a:t>
            </a:r>
          </a:p>
          <a:p>
            <a:pPr fontAlgn="base"/>
            <a:r>
              <a:rPr lang="en-US" b="1" dirty="0"/>
              <a:t>2)</a:t>
            </a:r>
            <a:r>
              <a:rPr lang="en-US" dirty="0"/>
              <a:t> If x is root, change color of x as BLACK (Black height of complete tree increases by 1).</a:t>
            </a:r>
          </a:p>
          <a:p>
            <a:pPr fontAlgn="base"/>
            <a:r>
              <a:rPr lang="en-US" b="1" dirty="0"/>
              <a:t>3) </a:t>
            </a:r>
            <a:r>
              <a:rPr lang="en-US" dirty="0"/>
              <a:t>Do following if color of x’s parent is not BLACK </a:t>
            </a:r>
            <a:r>
              <a:rPr lang="en-US" b="1" dirty="0"/>
              <a:t>and</a:t>
            </a:r>
            <a:r>
              <a:rPr lang="en-US" dirty="0"/>
              <a:t> x is not root.</a:t>
            </a:r>
            <a:br>
              <a:rPr lang="en-US" dirty="0"/>
            </a:br>
            <a:r>
              <a:rPr lang="en-US" dirty="0"/>
              <a:t>….</a:t>
            </a:r>
            <a:r>
              <a:rPr lang="en-US" b="1" dirty="0"/>
              <a:t>a) If x’s uncle is</a:t>
            </a:r>
            <a:r>
              <a:rPr lang="en-US" dirty="0"/>
              <a:t> </a:t>
            </a:r>
            <a:r>
              <a:rPr lang="en-US" b="1" dirty="0"/>
              <a:t>RED</a:t>
            </a:r>
            <a:r>
              <a:rPr lang="en-US" dirty="0"/>
              <a:t> (Grand parent must have been black from property 4)</a:t>
            </a:r>
            <a:br>
              <a:rPr lang="en-US" dirty="0"/>
            </a:br>
            <a:r>
              <a:rPr lang="en-US" dirty="0"/>
              <a:t>……..</a:t>
            </a:r>
            <a:r>
              <a:rPr lang="en-US" b="1" dirty="0"/>
              <a:t>(</a:t>
            </a:r>
            <a:r>
              <a:rPr lang="en-US" b="1" dirty="0" err="1"/>
              <a:t>i</a:t>
            </a:r>
            <a:r>
              <a:rPr lang="en-US" b="1" dirty="0"/>
              <a:t>)</a:t>
            </a:r>
            <a:r>
              <a:rPr lang="en-US" dirty="0"/>
              <a:t> Change color of parent and uncle as BLACK.</a:t>
            </a:r>
            <a:br>
              <a:rPr lang="en-US" dirty="0"/>
            </a:br>
            <a:r>
              <a:rPr lang="en-US" dirty="0"/>
              <a:t>……..</a:t>
            </a:r>
            <a:r>
              <a:rPr lang="en-US" b="1" dirty="0"/>
              <a:t>(ii)</a:t>
            </a:r>
            <a:r>
              <a:rPr lang="en-US" dirty="0"/>
              <a:t> color of grand parent as RED.</a:t>
            </a:r>
            <a:br>
              <a:rPr lang="en-US" dirty="0"/>
            </a:br>
            <a:r>
              <a:rPr lang="en-US" dirty="0"/>
              <a:t>……..</a:t>
            </a:r>
            <a:r>
              <a:rPr lang="en-US" b="1" dirty="0"/>
              <a:t>(iii)</a:t>
            </a:r>
            <a:r>
              <a:rPr lang="en-US" dirty="0"/>
              <a:t> Change x = x’s grandparent, repeat steps 2 and 3 for new x.</a:t>
            </a:r>
          </a:p>
          <a:p>
            <a:endParaRPr lang="en-IN" dirty="0"/>
          </a:p>
        </p:txBody>
      </p:sp>
    </p:spTree>
    <p:extLst>
      <p:ext uri="{BB962C8B-B14F-4D97-AF65-F5344CB8AC3E}">
        <p14:creationId xmlns:p14="http://schemas.microsoft.com/office/powerpoint/2010/main" val="575323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9D120-90A6-4383-BC8E-7F3F6DED20B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400" kern="1200" dirty="0">
                <a:solidFill>
                  <a:schemeClr val="tx1"/>
                </a:solidFill>
                <a:latin typeface="+mj-lt"/>
                <a:ea typeface="+mj-ea"/>
                <a:cs typeface="+mj-cs"/>
              </a:rPr>
              <a:t>Continue . . . </a:t>
            </a:r>
          </a:p>
        </p:txBody>
      </p:sp>
      <p:pic>
        <p:nvPicPr>
          <p:cNvPr id="4098" name="Picture 2" descr="redBlackCase2">
            <a:extLst>
              <a:ext uri="{FF2B5EF4-FFF2-40B4-BE49-F238E27FC236}">
                <a16:creationId xmlns:a16="http://schemas.microsoft.com/office/drawing/2014/main" id="{EEB9A487-729D-4433-A881-7BEDBB26C12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93353" y="1960784"/>
            <a:ext cx="98564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355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9D80C6-2C1C-42EE-BF69-A8DE0005BD6D}"/>
              </a:ext>
            </a:extLst>
          </p:cNvPr>
          <p:cNvSpPr>
            <a:spLocks noGrp="1"/>
          </p:cNvSpPr>
          <p:nvPr>
            <p:ph idx="1"/>
          </p:nvPr>
        </p:nvSpPr>
        <p:spPr/>
        <p:txBody>
          <a:bodyPr/>
          <a:lstStyle/>
          <a:p>
            <a:pPr fontAlgn="base"/>
            <a:r>
              <a:rPr lang="en-US" b="1" dirty="0"/>
              <a:t>b) If x’s uncle is BLACK</a:t>
            </a:r>
            <a:r>
              <a:rPr lang="en-US" dirty="0"/>
              <a:t>, then there can be four configurations for x, x’s parent (</a:t>
            </a:r>
            <a:r>
              <a:rPr lang="en-US" b="1" dirty="0"/>
              <a:t>p</a:t>
            </a:r>
            <a:r>
              <a:rPr lang="en-US" dirty="0"/>
              <a:t>) and x’s grandparent (</a:t>
            </a:r>
            <a:r>
              <a:rPr lang="en-US" b="1" dirty="0"/>
              <a:t>g</a:t>
            </a:r>
            <a:r>
              <a:rPr lang="en-US" dirty="0"/>
              <a:t>) (This is similar to AVL Tree)</a:t>
            </a:r>
            <a:br>
              <a:rPr lang="en-US" dirty="0"/>
            </a:br>
            <a:r>
              <a:rPr lang="en-US" dirty="0"/>
              <a:t>……..</a:t>
            </a:r>
            <a:r>
              <a:rPr lang="en-US" b="1" dirty="0" err="1"/>
              <a:t>i</a:t>
            </a:r>
            <a:r>
              <a:rPr lang="en-US" b="1" dirty="0"/>
              <a:t>)</a:t>
            </a:r>
            <a:r>
              <a:rPr lang="en-US" dirty="0"/>
              <a:t> Left </a:t>
            </a:r>
            <a:r>
              <a:rPr lang="en-US" dirty="0" err="1"/>
              <a:t>Left</a:t>
            </a:r>
            <a:r>
              <a:rPr lang="en-US" dirty="0"/>
              <a:t> Case (p is left child of g and x is left child of p)</a:t>
            </a:r>
            <a:br>
              <a:rPr lang="en-US" dirty="0"/>
            </a:br>
            <a:r>
              <a:rPr lang="en-US" dirty="0"/>
              <a:t>……..</a:t>
            </a:r>
            <a:r>
              <a:rPr lang="en-US" b="1" dirty="0"/>
              <a:t>ii)</a:t>
            </a:r>
            <a:r>
              <a:rPr lang="en-US" dirty="0"/>
              <a:t> Left Right Case (p is left child of g and x is right child of p)</a:t>
            </a:r>
            <a:br>
              <a:rPr lang="en-US" dirty="0"/>
            </a:br>
            <a:r>
              <a:rPr lang="en-US" dirty="0"/>
              <a:t>……..</a:t>
            </a:r>
            <a:r>
              <a:rPr lang="en-US" b="1" dirty="0"/>
              <a:t>iii)</a:t>
            </a:r>
            <a:r>
              <a:rPr lang="en-US" dirty="0"/>
              <a:t> Right </a:t>
            </a:r>
            <a:r>
              <a:rPr lang="en-US" dirty="0" err="1"/>
              <a:t>Right</a:t>
            </a:r>
            <a:r>
              <a:rPr lang="en-US" dirty="0"/>
              <a:t> Case (Mirror of case </a:t>
            </a:r>
            <a:r>
              <a:rPr lang="en-US" dirty="0" err="1"/>
              <a:t>i</a:t>
            </a:r>
            <a:r>
              <a:rPr lang="en-US" dirty="0"/>
              <a:t>)</a:t>
            </a:r>
            <a:br>
              <a:rPr lang="en-US" dirty="0"/>
            </a:br>
            <a:r>
              <a:rPr lang="en-US" dirty="0"/>
              <a:t>……..</a:t>
            </a:r>
            <a:r>
              <a:rPr lang="en-US" b="1" dirty="0"/>
              <a:t>iv)</a:t>
            </a:r>
            <a:r>
              <a:rPr lang="en-US" dirty="0"/>
              <a:t> Right Left Case (Mirror of case ii)</a:t>
            </a:r>
          </a:p>
          <a:p>
            <a:pPr fontAlgn="base"/>
            <a:r>
              <a:rPr lang="en-US" dirty="0"/>
              <a:t>Following are operations to be performed in four subcases when uncle is BLACK.</a:t>
            </a:r>
          </a:p>
          <a:p>
            <a:pPr fontAlgn="base"/>
            <a:r>
              <a:rPr lang="en-US" b="1" dirty="0"/>
              <a:t>All four cases when Uncle is BLACK</a:t>
            </a:r>
          </a:p>
          <a:p>
            <a:endParaRPr lang="en-IN" dirty="0"/>
          </a:p>
        </p:txBody>
      </p:sp>
    </p:spTree>
    <p:extLst>
      <p:ext uri="{BB962C8B-B14F-4D97-AF65-F5344CB8AC3E}">
        <p14:creationId xmlns:p14="http://schemas.microsoft.com/office/powerpoint/2010/main" val="2753813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49153-F40D-4628-8955-D5D17F442A29}"/>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a:t>Left Left Case (See g, p and x)</a:t>
            </a:r>
            <a:endParaRPr lang="en-US"/>
          </a:p>
        </p:txBody>
      </p:sp>
      <p:pic>
        <p:nvPicPr>
          <p:cNvPr id="5122" name="Picture 2" descr="redBlackCase3a">
            <a:extLst>
              <a:ext uri="{FF2B5EF4-FFF2-40B4-BE49-F238E27FC236}">
                <a16:creationId xmlns:a16="http://schemas.microsoft.com/office/drawing/2014/main" id="{65436FD7-8A24-4D8F-982F-46F8E264173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04" r="9020"/>
          <a:stretch/>
        </p:blipFill>
        <p:spPr bwMode="auto">
          <a:xfrm>
            <a:off x="828675" y="1825626"/>
            <a:ext cx="1052512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0617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F6657-66E1-48A6-80CD-82D098572320}"/>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dirty="0"/>
              <a:t>Left Right Case (See g, p and x)</a:t>
            </a:r>
            <a:endParaRPr lang="en-US"/>
          </a:p>
        </p:txBody>
      </p:sp>
      <p:pic>
        <p:nvPicPr>
          <p:cNvPr id="6146" name="Picture 2" descr="A close up of a map&#10;&#10;Description automatically generated">
            <a:extLst>
              <a:ext uri="{FF2B5EF4-FFF2-40B4-BE49-F238E27FC236}">
                <a16:creationId xmlns:a16="http://schemas.microsoft.com/office/drawing/2014/main" id="{29ACB5E9-FC68-4487-87D8-88A95933114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788" r="2460" b="1"/>
          <a:stretch/>
        </p:blipFill>
        <p:spPr bwMode="auto">
          <a:xfrm>
            <a:off x="828675" y="1825626"/>
            <a:ext cx="1052512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3295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2B285-1592-41F2-8986-52006A31713C}"/>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dirty="0"/>
              <a:t>Right </a:t>
            </a:r>
            <a:r>
              <a:rPr lang="en-US" b="1"/>
              <a:t>Right</a:t>
            </a:r>
            <a:r>
              <a:rPr lang="en-US" b="1" dirty="0"/>
              <a:t> Case (See g, p and x)</a:t>
            </a:r>
            <a:endParaRPr lang="en-US"/>
          </a:p>
        </p:txBody>
      </p:sp>
      <p:pic>
        <p:nvPicPr>
          <p:cNvPr id="7170" name="Picture 2" descr="redBlackCase3c">
            <a:extLst>
              <a:ext uri="{FF2B5EF4-FFF2-40B4-BE49-F238E27FC236}">
                <a16:creationId xmlns:a16="http://schemas.microsoft.com/office/drawing/2014/main" id="{8023CCBB-05D2-4065-89EF-8217A0B5CB5A}"/>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55" r="1" b="9005"/>
          <a:stretch/>
        </p:blipFill>
        <p:spPr bwMode="auto">
          <a:xfrm>
            <a:off x="828675" y="1825626"/>
            <a:ext cx="1052512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699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EEB5C-F4EE-433A-BA6F-612DF47AD180}"/>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dirty="0"/>
              <a:t>Right Left Case (See g, p and x)</a:t>
            </a:r>
            <a:endParaRPr lang="en-US"/>
          </a:p>
        </p:txBody>
      </p:sp>
      <p:pic>
        <p:nvPicPr>
          <p:cNvPr id="8194" name="Picture 2" descr="redBlackCase3d">
            <a:extLst>
              <a:ext uri="{FF2B5EF4-FFF2-40B4-BE49-F238E27FC236}">
                <a16:creationId xmlns:a16="http://schemas.microsoft.com/office/drawing/2014/main" id="{4382FB22-5CDA-4AD9-B9BB-F7B5FCC63C0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1" b="3856"/>
          <a:stretch/>
        </p:blipFill>
        <p:spPr bwMode="auto">
          <a:xfrm>
            <a:off x="828675" y="1825626"/>
            <a:ext cx="1052512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285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26E72-B385-411C-8636-07E4F001C452}"/>
              </a:ext>
            </a:extLst>
          </p:cNvPr>
          <p:cNvSpPr>
            <a:spLocks noGrp="1"/>
          </p:cNvSpPr>
          <p:nvPr>
            <p:ph type="title"/>
          </p:nvPr>
        </p:nvSpPr>
        <p:spPr>
          <a:xfrm>
            <a:off x="157375" y="1685925"/>
            <a:ext cx="3200400" cy="1325563"/>
          </a:xfrm>
        </p:spPr>
        <p:txBody>
          <a:bodyPr>
            <a:normAutofit/>
          </a:bodyPr>
          <a:lstStyle/>
          <a:p>
            <a:r>
              <a:rPr lang="en-IN" sz="3600" b="1" dirty="0"/>
              <a:t>Examples of Insertion</a:t>
            </a:r>
            <a:endParaRPr lang="en-IN" sz="3600" dirty="0"/>
          </a:p>
        </p:txBody>
      </p:sp>
      <p:pic>
        <p:nvPicPr>
          <p:cNvPr id="9218" name="Picture 2" descr="Examples">
            <a:extLst>
              <a:ext uri="{FF2B5EF4-FFF2-40B4-BE49-F238E27FC236}">
                <a16:creationId xmlns:a16="http://schemas.microsoft.com/office/drawing/2014/main" id="{4A1A0EA5-E599-43E7-B37F-71ADE483D9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290" b="3"/>
          <a:stretch/>
        </p:blipFill>
        <p:spPr bwMode="auto">
          <a:xfrm>
            <a:off x="5311189" y="1263897"/>
            <a:ext cx="5921978" cy="4547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098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1">
            <a:extLst>
              <a:ext uri="{FF2B5EF4-FFF2-40B4-BE49-F238E27FC236}">
                <a16:creationId xmlns:a16="http://schemas.microsoft.com/office/drawing/2014/main" id="{B0792D4F-247E-46FE-85FC-881DEFA41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554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D7B6DAA1-4E5D-404E-815E-D48DD5BCC4EB}"/>
              </a:ext>
            </a:extLst>
          </p:cNvPr>
          <p:cNvSpPr>
            <a:spLocks noGrp="1"/>
          </p:cNvSpPr>
          <p:nvPr>
            <p:ph type="title"/>
          </p:nvPr>
        </p:nvSpPr>
        <p:spPr>
          <a:xfrm>
            <a:off x="795142" y="479990"/>
            <a:ext cx="10634858" cy="1325563"/>
          </a:xfrm>
        </p:spPr>
        <p:txBody>
          <a:bodyPr>
            <a:normAutofit/>
          </a:bodyPr>
          <a:lstStyle/>
          <a:p>
            <a:pPr algn="r"/>
            <a:r>
              <a:rPr lang="en-IN" sz="4000" b="1" dirty="0">
                <a:solidFill>
                  <a:schemeClr val="bg1"/>
                </a:solidFill>
              </a:rPr>
              <a:t>Comparison of Search Trees</a:t>
            </a:r>
            <a:br>
              <a:rPr lang="en-IN" sz="4000" b="1" dirty="0">
                <a:solidFill>
                  <a:schemeClr val="bg1"/>
                </a:solidFill>
              </a:rPr>
            </a:br>
            <a:endParaRPr lang="en-IN" sz="4000" dirty="0">
              <a:solidFill>
                <a:schemeClr val="bg1"/>
              </a:solidFill>
            </a:endParaRPr>
          </a:p>
        </p:txBody>
      </p:sp>
      <p:cxnSp>
        <p:nvCxnSpPr>
          <p:cNvPr id="17" name="Straight Connector 13">
            <a:extLst>
              <a:ext uri="{FF2B5EF4-FFF2-40B4-BE49-F238E27FC236}">
                <a16:creationId xmlns:a16="http://schemas.microsoft.com/office/drawing/2014/main" id="{CE272F12-AF86-441A-BC1B-C014BBBF85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639665" y="685571"/>
            <a:ext cx="0" cy="91440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6BEF8B3-689F-418B-BDF9-CF7A72986CDB}"/>
              </a:ext>
            </a:extLst>
          </p:cNvPr>
          <p:cNvPicPr>
            <a:picLocks noChangeAspect="1"/>
          </p:cNvPicPr>
          <p:nvPr/>
        </p:nvPicPr>
        <p:blipFill rotWithShape="1">
          <a:blip r:embed="rId2"/>
          <a:srcRect l="14678" t="43727" r="16855" b="18853"/>
          <a:stretch/>
        </p:blipFill>
        <p:spPr>
          <a:xfrm>
            <a:off x="363793" y="2595715"/>
            <a:ext cx="11634592" cy="3576713"/>
          </a:xfrm>
          <a:prstGeom prst="rect">
            <a:avLst/>
          </a:prstGeom>
        </p:spPr>
      </p:pic>
    </p:spTree>
    <p:extLst>
      <p:ext uri="{BB962C8B-B14F-4D97-AF65-F5344CB8AC3E}">
        <p14:creationId xmlns:p14="http://schemas.microsoft.com/office/powerpoint/2010/main" val="1145169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Why to prefer splay trees?</a:t>
            </a:r>
            <a:br>
              <a:rPr lang="en-US" dirty="0"/>
            </a:br>
            <a:r>
              <a:rPr lang="en-US" dirty="0"/>
              <a:t>a) easier to program</a:t>
            </a:r>
            <a:br>
              <a:rPr lang="en-US" dirty="0"/>
            </a:br>
            <a:r>
              <a:rPr lang="en-US" dirty="0"/>
              <a:t>b) space efficiency</a:t>
            </a:r>
            <a:br>
              <a:rPr lang="en-US" dirty="0"/>
            </a:br>
            <a:r>
              <a:rPr lang="en-US" dirty="0"/>
              <a:t>c) easier to program and faster access to recently accessed items</a:t>
            </a:r>
            <a:br>
              <a:rPr lang="en-US" dirty="0"/>
            </a:br>
            <a:r>
              <a:rPr lang="en-US" dirty="0"/>
              <a:t>d) quick searching</a:t>
            </a:r>
          </a:p>
        </p:txBody>
      </p:sp>
    </p:spTree>
    <p:extLst>
      <p:ext uri="{BB962C8B-B14F-4D97-AF65-F5344CB8AC3E}">
        <p14:creationId xmlns:p14="http://schemas.microsoft.com/office/powerpoint/2010/main" val="19670203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 What is a splay operation?</a:t>
            </a:r>
            <a:br>
              <a:rPr lang="en-US" dirty="0"/>
            </a:br>
            <a:r>
              <a:rPr lang="en-US" dirty="0"/>
              <a:t>a) moving parent node to down of child</a:t>
            </a:r>
            <a:br>
              <a:rPr lang="en-US" dirty="0"/>
            </a:br>
            <a:r>
              <a:rPr lang="en-US" dirty="0"/>
              <a:t>b) moving a node to root</a:t>
            </a:r>
            <a:br>
              <a:rPr lang="en-US" dirty="0"/>
            </a:br>
            <a:r>
              <a:rPr lang="en-US" dirty="0"/>
              <a:t>c) moving root to leaf</a:t>
            </a:r>
            <a:br>
              <a:rPr lang="en-US" dirty="0"/>
            </a:br>
            <a:r>
              <a:rPr lang="en-US" dirty="0"/>
              <a:t>d) removing leaf node</a:t>
            </a:r>
          </a:p>
        </p:txBody>
      </p:sp>
    </p:spTree>
    <p:extLst>
      <p:ext uri="{BB962C8B-B14F-4D97-AF65-F5344CB8AC3E}">
        <p14:creationId xmlns:p14="http://schemas.microsoft.com/office/powerpoint/2010/main" val="274877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TotalTime>
  <Words>1541</Words>
  <Application>Microsoft Office PowerPoint</Application>
  <PresentationFormat>Widescreen</PresentationFormat>
  <Paragraphs>89</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Open Sans</vt:lpstr>
      <vt:lpstr>Tw Cen MT</vt:lpstr>
      <vt:lpstr>Office Theme</vt:lpstr>
      <vt:lpstr>Splay Tree Data structure </vt:lpstr>
      <vt:lpstr>Definition </vt:lpstr>
      <vt:lpstr>Splaying</vt:lpstr>
      <vt:lpstr>Rotations in Splay Tree </vt:lpstr>
      <vt:lpstr>Example </vt:lpstr>
      <vt:lpstr>Zag Rotation  </vt:lpstr>
      <vt:lpstr>Zig-Zig Rotation </vt:lpstr>
      <vt:lpstr>Zag-Zag Rotation </vt:lpstr>
      <vt:lpstr>Zig-Zag Rotation </vt:lpstr>
      <vt:lpstr>Zag-Zig Rotation </vt:lpstr>
      <vt:lpstr>RED-BLACK TREE</vt:lpstr>
      <vt:lpstr>Definition </vt:lpstr>
      <vt:lpstr>Rules For RED-BLACK Tree</vt:lpstr>
      <vt:lpstr>Why Red-Black Trees?</vt:lpstr>
      <vt:lpstr>AVL Tree Disadvantage</vt:lpstr>
      <vt:lpstr>How does a Red-Black Tree ensure balance?</vt:lpstr>
      <vt:lpstr>Example</vt:lpstr>
      <vt:lpstr>Continue. . . </vt:lpstr>
      <vt:lpstr>Continue . . .</vt:lpstr>
      <vt:lpstr>Continue. . . </vt:lpstr>
      <vt:lpstr>Red-Black Tree -Insertion</vt:lpstr>
      <vt:lpstr>Continue. . . </vt:lpstr>
      <vt:lpstr>Continue . . . </vt:lpstr>
      <vt:lpstr>PowerPoint Presentation</vt:lpstr>
      <vt:lpstr>Left Left Case (See g, p and x)</vt:lpstr>
      <vt:lpstr>Left Right Case (See g, p and x)</vt:lpstr>
      <vt:lpstr>Right Right Case (See g, p and x)</vt:lpstr>
      <vt:lpstr>Right Left Case (See g, p and x)</vt:lpstr>
      <vt:lpstr>Examples of Insertion</vt:lpstr>
      <vt:lpstr>Comparison of Search Trees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Splay Tree Data structure</dc:title>
  <dc:creator>Girish Kumar</dc:creator>
  <cp:lastModifiedBy>Thind</cp:lastModifiedBy>
  <cp:revision>12</cp:revision>
  <dcterms:created xsi:type="dcterms:W3CDTF">2020-08-19T05:19:59Z</dcterms:created>
  <dcterms:modified xsi:type="dcterms:W3CDTF">2026-03-23T09:04:30Z</dcterms:modified>
</cp:coreProperties>
</file>