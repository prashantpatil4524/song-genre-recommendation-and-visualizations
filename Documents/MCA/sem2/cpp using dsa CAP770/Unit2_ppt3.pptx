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3"/>
  </p:notesMasterIdLst>
  <p:sldIdLst>
    <p:sldId id="295" r:id="rId2"/>
    <p:sldId id="298" r:id="rId3"/>
    <p:sldId id="327" r:id="rId4"/>
    <p:sldId id="300" r:id="rId5"/>
    <p:sldId id="302" r:id="rId6"/>
    <p:sldId id="358" r:id="rId7"/>
    <p:sldId id="359" r:id="rId8"/>
    <p:sldId id="345" r:id="rId9"/>
    <p:sldId id="346" r:id="rId10"/>
    <p:sldId id="356" r:id="rId11"/>
    <p:sldId id="348" r:id="rId12"/>
    <p:sldId id="349" r:id="rId13"/>
    <p:sldId id="350" r:id="rId14"/>
    <p:sldId id="360" r:id="rId15"/>
    <p:sldId id="351" r:id="rId16"/>
    <p:sldId id="256" r:id="rId17"/>
    <p:sldId id="257" r:id="rId18"/>
    <p:sldId id="258" r:id="rId19"/>
    <p:sldId id="259" r:id="rId20"/>
    <p:sldId id="260" r:id="rId21"/>
    <p:sldId id="261" r:id="rId22"/>
  </p:sldIdLst>
  <p:sldSz cx="9144000" cy="6858000" type="screen4x3"/>
  <p:notesSz cx="7034213" cy="9294813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8015" autoAdjust="0"/>
    <p:restoredTop sz="94660"/>
  </p:normalViewPr>
  <p:slideViewPr>
    <p:cSldViewPr>
      <p:cViewPr varScale="1">
        <p:scale>
          <a:sx n="66" d="100"/>
          <a:sy n="66" d="100"/>
        </p:scale>
        <p:origin x="762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BC8F3999-905E-29EF-9ABB-CBE82719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034213" cy="9294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634B3431-346C-4EDA-C61A-C8E60B8F8E0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08088" y="596900"/>
            <a:ext cx="4630737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B9836D6-7C22-42B4-27D3-237A6B57111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528638" y="4416425"/>
            <a:ext cx="6061075" cy="418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520" tIns="45360" rIns="92520" bIns="453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A0B95E7A-119D-E44A-4AA9-4C44D8F6051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38213" y="4414838"/>
            <a:ext cx="5157787" cy="608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3000"/>
              </a:lnSpc>
              <a:spcBef>
                <a:spcPts val="463"/>
              </a:spcBef>
              <a:tabLst>
                <a:tab pos="0" algn="l"/>
                <a:tab pos="931863" algn="l"/>
                <a:tab pos="1865313" algn="l"/>
                <a:tab pos="2798763" algn="l"/>
                <a:tab pos="3732213" algn="l"/>
                <a:tab pos="4664075" algn="l"/>
                <a:tab pos="5597525" algn="l"/>
                <a:tab pos="6530975" algn="l"/>
                <a:tab pos="7464425" algn="l"/>
                <a:tab pos="8396288" algn="l"/>
                <a:tab pos="9329738" algn="l"/>
                <a:tab pos="10263188" algn="l"/>
              </a:tabLst>
            </a:pPr>
            <a:r>
              <a:rPr lang="en-GB" altLang="en-US">
                <a:latin typeface="Arial" panose="020B0604020202020204" pitchFamily="34" charset="0"/>
                <a:ea typeface="Arial Unicode MS" pitchFamily="34" charset="-128"/>
              </a:rPr>
              <a:t>Don’t ask me why the C++ STL used the name push.  It only confuses matters with a stack.  In any case, when a new item enters a queue, it does so at the rear.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9FA369D-D043-D38F-D09E-FD9A92E0C134}"/>
              </a:ext>
            </a:extLst>
          </p:cNvPr>
          <p:cNvSpPr>
            <a:spLocks noGrp="1" noRot="1" noChangeAspect="1" noChangeArrowheads="1" noTextEdit="1"/>
          </p:cNvSpPr>
          <p:nvPr>
            <p:ph type="sldImg" idx="1"/>
          </p:nvPr>
        </p:nvSpPr>
        <p:spPr>
          <a:xfrm>
            <a:off x="1201738" y="703263"/>
            <a:ext cx="4630737" cy="34734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4336845D-6B31-F33B-F1B5-7A0F294724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A41310EB-5D18-A284-63D9-EC5EA507B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70AF8AD0-919D-7FA5-A0C4-0E3A0CA67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A9EE4A19-E14F-2319-715F-C67A3C428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2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1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365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6513" cy="3627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4713" y="1143000"/>
            <a:ext cx="3848100" cy="3627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40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395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47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39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48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967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2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0563" cy="4618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4618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541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958850" cy="3440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860D1608-161B-AD72-312F-47CE5EF77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52400"/>
            <a:ext cx="958850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EA1E77FF-A6CF-36CC-7528-0F9DF3E91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7013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F3A48326-1350-68BA-EB10-6ACB7097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6515100"/>
            <a:ext cx="1044575" cy="265113"/>
          </a:xfrm>
          <a:prstGeom prst="rect">
            <a:avLst/>
          </a:prstGeom>
          <a:noFill/>
          <a:ln>
            <a:noFill/>
          </a:ln>
        </p:spPr>
        <p:txBody>
          <a:bodyPr wrap="none" lIns="63360" tIns="25560" rIns="63360" bIns="2556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>
              <a:defRPr/>
            </a:pPr>
            <a:endParaRPr lang="en-US" altLang="en-US" sz="1400" b="1">
              <a:solidFill>
                <a:srgbClr val="FFCC00"/>
              </a:solidFill>
            </a:endParaRP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2C3FB5E1-78FA-BAA1-1734-4F83F8D56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6477000"/>
            <a:ext cx="933450" cy="265113"/>
          </a:xfrm>
          <a:prstGeom prst="rect">
            <a:avLst/>
          </a:prstGeom>
          <a:noFill/>
          <a:ln>
            <a:noFill/>
          </a:ln>
        </p:spPr>
        <p:txBody>
          <a:bodyPr wrap="none" lIns="63360" tIns="25560" rIns="63360" bIns="2556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DE0CDF20-8AD5-47E0-B0B1-71E4A6F78B24}" type="slidenum">
              <a:rPr lang="en-US" altLang="en-US" sz="1400" b="1" smtClean="0">
                <a:solidFill>
                  <a:srgbClr val="0332B7"/>
                </a:solidFill>
              </a:rPr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‹#›</a:t>
            </a:fld>
            <a:endParaRPr lang="en-US" altLang="en-US" sz="1400" b="1">
              <a:solidFill>
                <a:srgbClr val="0332B7"/>
              </a:solidFill>
            </a:endParaRPr>
          </a:p>
        </p:txBody>
      </p:sp>
      <p:sp>
        <p:nvSpPr>
          <p:cNvPr id="1030" name="Line 5">
            <a:extLst>
              <a:ext uri="{FF2B5EF4-FFF2-40B4-BE49-F238E27FC236}">
                <a16:creationId xmlns:a16="http://schemas.microsoft.com/office/drawing/2014/main" id="{0AAAF2AC-E433-EEC3-D816-B3EDEF1D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85800"/>
            <a:ext cx="7943850" cy="1588"/>
          </a:xfrm>
          <a:prstGeom prst="line">
            <a:avLst/>
          </a:prstGeom>
          <a:noFill/>
          <a:ln w="57240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2pPr>
      <a:lvl3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3pPr>
      <a:lvl4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4pPr>
      <a:lvl5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5pPr>
      <a:lvl6pPr marL="25146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6pPr>
      <a:lvl7pPr marL="29718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7pPr>
      <a:lvl8pPr marL="34290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8pPr>
      <a:lvl9pPr marL="38862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9pPr>
    </p:titleStyle>
    <p:bodyStyle>
      <a:lvl1pPr marL="342900" indent="-342900" algn="l" defTabSz="457200" rtl="0" eaLnBrk="0" fontAlgn="base" hangingPunct="0">
        <a:lnSpc>
          <a:spcPct val="75000"/>
        </a:lnSpc>
        <a:spcBef>
          <a:spcPts val="2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85000"/>
        </a:lnSpc>
        <a:spcBef>
          <a:spcPts val="1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 b="1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85000"/>
        </a:lnSpc>
        <a:spcBef>
          <a:spcPts val="12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>
            <a:extLst>
              <a:ext uri="{FF2B5EF4-FFF2-40B4-BE49-F238E27FC236}">
                <a16:creationId xmlns:a16="http://schemas.microsoft.com/office/drawing/2014/main" id="{F553236A-9041-8C52-4D45-EDE30298C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Times New Roman" panose="02020603050405020304" pitchFamily="18" charset="0"/>
              <a:buNone/>
            </a:pPr>
            <a:endParaRPr lang="en-US" altLang="en-US"/>
          </a:p>
          <a:p>
            <a:pPr algn="ctr">
              <a:buFont typeface="Times New Roman" panose="02020603050405020304" pitchFamily="18" charset="0"/>
              <a:buNone/>
            </a:pPr>
            <a:endParaRPr lang="en-US" altLang="en-US"/>
          </a:p>
          <a:p>
            <a:pPr algn="ctr">
              <a:buFont typeface="Times New Roman" panose="02020603050405020304" pitchFamily="18" charset="0"/>
              <a:buNone/>
            </a:pPr>
            <a:r>
              <a:rPr lang="en-US" altLang="en-US"/>
              <a:t>Queue</a:t>
            </a:r>
          </a:p>
          <a:p>
            <a:pPr>
              <a:buFont typeface="Times New Roman" panose="02020603050405020304" pitchFamily="18" charset="0"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132791-EFB8-2E5F-4F21-B2E5EDD4E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4095750" cy="3440113"/>
          </a:xfrm>
        </p:spPr>
        <p:txBody>
          <a:bodyPr/>
          <a:lstStyle/>
          <a:p>
            <a:r>
              <a:rPr lang="en-US" altLang="en-US"/>
              <a:t>Queue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4B84A8F-092D-F047-C993-2B54997E04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063" y="714375"/>
            <a:ext cx="7848600" cy="5357813"/>
          </a:xfrm>
        </p:spPr>
        <p:txBody>
          <a:bodyPr/>
          <a:lstStyle/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Like a stack, a</a:t>
            </a:r>
            <a:r>
              <a:rPr lang="en-US" sz="1800" b="0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0" i="1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queue</a:t>
            </a: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 is also a list. However, with a queue, insertion is done at one end, while deletion is performed at the other end.</a:t>
            </a: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Accessing the elements of queues follows a </a:t>
            </a: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First In, First Out (FIFO) </a:t>
            </a: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order.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Like customers standing in a check-out line in a store, the first customer in is the first customer served.</a:t>
            </a: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Basic operations: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 err="1"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: insert an element at the rear of the list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 err="1">
                <a:latin typeface="Times New Roman" pitchFamily="18" charset="0"/>
                <a:cs typeface="Times New Roman" pitchFamily="18" charset="0"/>
              </a:rPr>
              <a:t>dequeue</a:t>
            </a: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: delete the element at the front of the list</a:t>
            </a:r>
          </a:p>
          <a:p>
            <a:pPr lvl="1">
              <a:buFont typeface="Times New Roman" pitchFamily="16" charset="0"/>
              <a:buChar char="–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0" name="Picture 4" descr="fig3_57">
            <a:extLst>
              <a:ext uri="{FF2B5EF4-FFF2-40B4-BE49-F238E27FC236}">
                <a16:creationId xmlns:a16="http://schemas.microsoft.com/office/drawing/2014/main" id="{4D3855EA-F7A5-438B-1314-F66ACBA9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2" b="9926"/>
          <a:stretch>
            <a:fillRect/>
          </a:stretch>
        </p:blipFill>
        <p:spPr bwMode="auto">
          <a:xfrm>
            <a:off x="1714500" y="4429125"/>
            <a:ext cx="5410200" cy="152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val 60">
            <a:extLst>
              <a:ext uri="{FF2B5EF4-FFF2-40B4-BE49-F238E27FC236}">
                <a16:creationId xmlns:a16="http://schemas.microsoft.com/office/drawing/2014/main" id="{C5B446BC-ECFE-5F50-F750-7313245D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038600"/>
            <a:ext cx="1066800" cy="1981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1E5AC3F-87D0-6CFC-527C-52EB7BFF1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42900"/>
            <a:ext cx="7772400" cy="1143000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The Queue Operations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D290C4B0-E3A9-9468-944B-44E4D0974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49325"/>
            <a:ext cx="8443913" cy="2551113"/>
          </a:xfrm>
        </p:spPr>
        <p:txBody>
          <a:bodyPr/>
          <a:lstStyle/>
          <a:p>
            <a:pPr algn="just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/>
              <a:t>A queue is like a line of people waiting for a bank teller. The queue has a </a:t>
            </a:r>
            <a:r>
              <a:rPr lang="en-GB" altLang="en-US" sz="2000" u="sng">
                <a:solidFill>
                  <a:srgbClr val="FF8000"/>
                </a:solidFill>
              </a:rPr>
              <a:t>front</a:t>
            </a:r>
            <a:r>
              <a:rPr lang="en-GB" altLang="en-US" sz="2000"/>
              <a:t> and a </a:t>
            </a:r>
            <a:r>
              <a:rPr lang="en-GB" altLang="en-US" sz="2000" u="sng">
                <a:solidFill>
                  <a:srgbClr val="FF8000"/>
                </a:solidFill>
              </a:rPr>
              <a:t>rear </a:t>
            </a:r>
            <a:r>
              <a:rPr lang="en-GB" altLang="en-US" sz="2000">
                <a:solidFill>
                  <a:schemeClr val="tx1"/>
                </a:solidFill>
              </a:rPr>
              <a:t>ends</a:t>
            </a:r>
            <a:r>
              <a:rPr lang="en-GB" altLang="en-US" sz="2000"/>
              <a:t>.</a:t>
            </a:r>
          </a:p>
          <a:p>
            <a:pPr algn="just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/>
              <a:t>New people must enter the queue at the rear. To insert an element in queue is called </a:t>
            </a:r>
            <a:r>
              <a:rPr lang="en-GB" altLang="en-US" sz="2000" u="sng">
                <a:solidFill>
                  <a:srgbClr val="FF8000"/>
                </a:solidFill>
              </a:rPr>
              <a:t>enqueue</a:t>
            </a:r>
            <a:r>
              <a:rPr lang="en-GB" altLang="en-US" sz="2000"/>
              <a:t> operation.</a:t>
            </a:r>
          </a:p>
          <a:p>
            <a:pPr algn="just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/>
              <a:t>People must leave from the queue at the front. To insert an element in queue is called </a:t>
            </a:r>
            <a:r>
              <a:rPr lang="en-GB" altLang="en-US" sz="2000" u="sng">
                <a:solidFill>
                  <a:srgbClr val="FF8000"/>
                </a:solidFill>
              </a:rPr>
              <a:t>dequeue</a:t>
            </a:r>
            <a:r>
              <a:rPr lang="en-GB" altLang="en-US" sz="2000"/>
              <a:t> operation.</a:t>
            </a:r>
          </a:p>
          <a:p>
            <a:pPr algn="just">
              <a:spcBef>
                <a:spcPts val="700"/>
              </a:spcBef>
              <a:buFont typeface="Monotype Sorts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/>
          </a:p>
          <a:p>
            <a:pPr algn="just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/>
          </a:p>
          <a:p>
            <a:pPr algn="just">
              <a:spcBef>
                <a:spcPts val="700"/>
              </a:spcBef>
              <a:buFont typeface="Monotype Sorts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/>
          </a:p>
        </p:txBody>
      </p:sp>
      <p:grpSp>
        <p:nvGrpSpPr>
          <p:cNvPr id="5125" name="Group 4">
            <a:extLst>
              <a:ext uri="{FF2B5EF4-FFF2-40B4-BE49-F238E27FC236}">
                <a16:creationId xmlns:a16="http://schemas.microsoft.com/office/drawing/2014/main" id="{A158AFBD-2F74-B697-577B-F905345FFDCE}"/>
              </a:ext>
            </a:extLst>
          </p:cNvPr>
          <p:cNvGrpSpPr>
            <a:grpSpLocks/>
          </p:cNvGrpSpPr>
          <p:nvPr/>
        </p:nvGrpSpPr>
        <p:grpSpPr bwMode="auto">
          <a:xfrm>
            <a:off x="2997200" y="3962400"/>
            <a:ext cx="381000" cy="1295400"/>
            <a:chOff x="2784" y="2448"/>
            <a:chExt cx="240" cy="816"/>
          </a:xfrm>
        </p:grpSpPr>
        <p:grpSp>
          <p:nvGrpSpPr>
            <p:cNvPr id="5176" name="Group 5">
              <a:extLst>
                <a:ext uri="{FF2B5EF4-FFF2-40B4-BE49-F238E27FC236}">
                  <a16:creationId xmlns:a16="http://schemas.microsoft.com/office/drawing/2014/main" id="{CB6861C4-E026-5E4B-B8BF-FF7DC39A5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784"/>
              <a:ext cx="144" cy="240"/>
              <a:chOff x="3312" y="3072"/>
              <a:chExt cx="144" cy="240"/>
            </a:xfrm>
          </p:grpSpPr>
          <p:sp>
            <p:nvSpPr>
              <p:cNvPr id="5182" name="Rectangle 6">
                <a:extLst>
                  <a:ext uri="{FF2B5EF4-FFF2-40B4-BE49-F238E27FC236}">
                    <a16:creationId xmlns:a16="http://schemas.microsoft.com/office/drawing/2014/main" id="{3803EB63-F6C8-7BD1-EAE4-6757756A4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83" name="Rectangle 7">
                <a:extLst>
                  <a:ext uri="{FF2B5EF4-FFF2-40B4-BE49-F238E27FC236}">
                    <a16:creationId xmlns:a16="http://schemas.microsoft.com/office/drawing/2014/main" id="{98488922-D33C-7DDF-63B6-2957F699F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  <p:sp>
          <p:nvSpPr>
            <p:cNvPr id="5177" name="Rectangle 8">
              <a:extLst>
                <a:ext uri="{FF2B5EF4-FFF2-40B4-BE49-F238E27FC236}">
                  <a16:creationId xmlns:a16="http://schemas.microsoft.com/office/drawing/2014/main" id="{2B159F61-4262-5052-967F-F5D3B36D2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688"/>
              <a:ext cx="48" cy="384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sp>
          <p:nvSpPr>
            <p:cNvPr id="5178" name="Oval 9">
              <a:extLst>
                <a:ext uri="{FF2B5EF4-FFF2-40B4-BE49-F238E27FC236}">
                  <a16:creationId xmlns:a16="http://schemas.microsoft.com/office/drawing/2014/main" id="{3844B4EB-4373-3736-A2C3-3FF2105BF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48"/>
              <a:ext cx="240" cy="288"/>
            </a:xfrm>
            <a:prstGeom prst="ellipse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grpSp>
          <p:nvGrpSpPr>
            <p:cNvPr id="5179" name="Group 10">
              <a:extLst>
                <a:ext uri="{FF2B5EF4-FFF2-40B4-BE49-F238E27FC236}">
                  <a16:creationId xmlns:a16="http://schemas.microsoft.com/office/drawing/2014/main" id="{A6F242BC-CE31-292B-561D-32C64C34E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3024"/>
              <a:ext cx="144" cy="240"/>
              <a:chOff x="3312" y="3072"/>
              <a:chExt cx="144" cy="240"/>
            </a:xfrm>
          </p:grpSpPr>
          <p:sp>
            <p:nvSpPr>
              <p:cNvPr id="5180" name="Rectangle 11">
                <a:extLst>
                  <a:ext uri="{FF2B5EF4-FFF2-40B4-BE49-F238E27FC236}">
                    <a16:creationId xmlns:a16="http://schemas.microsoft.com/office/drawing/2014/main" id="{A825AD03-28EF-FCB3-C5D0-900BEC6AE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81" name="Rectangle 12">
                <a:extLst>
                  <a:ext uri="{FF2B5EF4-FFF2-40B4-BE49-F238E27FC236}">
                    <a16:creationId xmlns:a16="http://schemas.microsoft.com/office/drawing/2014/main" id="{27D6DC90-4508-1158-7182-64C97B6263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</p:grpSp>
      <p:grpSp>
        <p:nvGrpSpPr>
          <p:cNvPr id="5126" name="Group 13">
            <a:extLst>
              <a:ext uri="{FF2B5EF4-FFF2-40B4-BE49-F238E27FC236}">
                <a16:creationId xmlns:a16="http://schemas.microsoft.com/office/drawing/2014/main" id="{43FB102D-7005-9E7F-8433-B72B905EA26C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962400"/>
            <a:ext cx="381000" cy="1295400"/>
            <a:chOff x="2784" y="2448"/>
            <a:chExt cx="240" cy="816"/>
          </a:xfrm>
        </p:grpSpPr>
        <p:grpSp>
          <p:nvGrpSpPr>
            <p:cNvPr id="5168" name="Group 14">
              <a:extLst>
                <a:ext uri="{FF2B5EF4-FFF2-40B4-BE49-F238E27FC236}">
                  <a16:creationId xmlns:a16="http://schemas.microsoft.com/office/drawing/2014/main" id="{BCD6DA90-427B-D7CC-03D6-8B5E5CECD2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784"/>
              <a:ext cx="144" cy="240"/>
              <a:chOff x="3312" y="3072"/>
              <a:chExt cx="144" cy="240"/>
            </a:xfrm>
          </p:grpSpPr>
          <p:sp>
            <p:nvSpPr>
              <p:cNvPr id="5174" name="Rectangle 15">
                <a:extLst>
                  <a:ext uri="{FF2B5EF4-FFF2-40B4-BE49-F238E27FC236}">
                    <a16:creationId xmlns:a16="http://schemas.microsoft.com/office/drawing/2014/main" id="{FCB78ECC-08B1-396E-85A7-7D24CFB73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75" name="Rectangle 16">
                <a:extLst>
                  <a:ext uri="{FF2B5EF4-FFF2-40B4-BE49-F238E27FC236}">
                    <a16:creationId xmlns:a16="http://schemas.microsoft.com/office/drawing/2014/main" id="{19B04EE6-63B9-FD79-8351-B7411EB7F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  <p:sp>
          <p:nvSpPr>
            <p:cNvPr id="5169" name="Rectangle 17">
              <a:extLst>
                <a:ext uri="{FF2B5EF4-FFF2-40B4-BE49-F238E27FC236}">
                  <a16:creationId xmlns:a16="http://schemas.microsoft.com/office/drawing/2014/main" id="{4117BE95-0FA8-1FDC-4992-6D210E140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688"/>
              <a:ext cx="48" cy="384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sp>
          <p:nvSpPr>
            <p:cNvPr id="5170" name="Oval 18">
              <a:extLst>
                <a:ext uri="{FF2B5EF4-FFF2-40B4-BE49-F238E27FC236}">
                  <a16:creationId xmlns:a16="http://schemas.microsoft.com/office/drawing/2014/main" id="{D0D47E4D-E5B3-73DB-FFC1-E980D353A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48"/>
              <a:ext cx="240" cy="288"/>
            </a:xfrm>
            <a:prstGeom prst="ellipse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grpSp>
          <p:nvGrpSpPr>
            <p:cNvPr id="5171" name="Group 19">
              <a:extLst>
                <a:ext uri="{FF2B5EF4-FFF2-40B4-BE49-F238E27FC236}">
                  <a16:creationId xmlns:a16="http://schemas.microsoft.com/office/drawing/2014/main" id="{9FCCAB7A-3E8C-CF76-7CB7-5444B10463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3024"/>
              <a:ext cx="144" cy="240"/>
              <a:chOff x="3312" y="3072"/>
              <a:chExt cx="144" cy="240"/>
            </a:xfrm>
          </p:grpSpPr>
          <p:sp>
            <p:nvSpPr>
              <p:cNvPr id="5172" name="Rectangle 20">
                <a:extLst>
                  <a:ext uri="{FF2B5EF4-FFF2-40B4-BE49-F238E27FC236}">
                    <a16:creationId xmlns:a16="http://schemas.microsoft.com/office/drawing/2014/main" id="{B0BFC306-5DAA-36E3-8848-A7FA866BC6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73" name="Rectangle 21">
                <a:extLst>
                  <a:ext uri="{FF2B5EF4-FFF2-40B4-BE49-F238E27FC236}">
                    <a16:creationId xmlns:a16="http://schemas.microsoft.com/office/drawing/2014/main" id="{56F0C179-6E26-2765-6099-1A1BB37DD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</p:grpSp>
      <p:grpSp>
        <p:nvGrpSpPr>
          <p:cNvPr id="5127" name="Group 22">
            <a:extLst>
              <a:ext uri="{FF2B5EF4-FFF2-40B4-BE49-F238E27FC236}">
                <a16:creationId xmlns:a16="http://schemas.microsoft.com/office/drawing/2014/main" id="{7C6B1558-0A9A-DC14-2EB3-373B3977E71A}"/>
              </a:ext>
            </a:extLst>
          </p:cNvPr>
          <p:cNvGrpSpPr>
            <a:grpSpLocks/>
          </p:cNvGrpSpPr>
          <p:nvPr/>
        </p:nvGrpSpPr>
        <p:grpSpPr bwMode="auto">
          <a:xfrm>
            <a:off x="4318000" y="3962400"/>
            <a:ext cx="381000" cy="1295400"/>
            <a:chOff x="2784" y="2448"/>
            <a:chExt cx="240" cy="816"/>
          </a:xfrm>
        </p:grpSpPr>
        <p:grpSp>
          <p:nvGrpSpPr>
            <p:cNvPr id="5160" name="Group 23">
              <a:extLst>
                <a:ext uri="{FF2B5EF4-FFF2-40B4-BE49-F238E27FC236}">
                  <a16:creationId xmlns:a16="http://schemas.microsoft.com/office/drawing/2014/main" id="{2121DA18-A435-400B-0DD4-3BD6FD378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784"/>
              <a:ext cx="144" cy="240"/>
              <a:chOff x="3312" y="3072"/>
              <a:chExt cx="144" cy="240"/>
            </a:xfrm>
          </p:grpSpPr>
          <p:sp>
            <p:nvSpPr>
              <p:cNvPr id="5166" name="Rectangle 24">
                <a:extLst>
                  <a:ext uri="{FF2B5EF4-FFF2-40B4-BE49-F238E27FC236}">
                    <a16:creationId xmlns:a16="http://schemas.microsoft.com/office/drawing/2014/main" id="{A7E7B746-1C23-8CCB-4298-5234B574F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67" name="Rectangle 25">
                <a:extLst>
                  <a:ext uri="{FF2B5EF4-FFF2-40B4-BE49-F238E27FC236}">
                    <a16:creationId xmlns:a16="http://schemas.microsoft.com/office/drawing/2014/main" id="{AC418461-C29D-8900-D6F1-6BF994309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  <p:sp>
          <p:nvSpPr>
            <p:cNvPr id="5161" name="Rectangle 26">
              <a:extLst>
                <a:ext uri="{FF2B5EF4-FFF2-40B4-BE49-F238E27FC236}">
                  <a16:creationId xmlns:a16="http://schemas.microsoft.com/office/drawing/2014/main" id="{E0511ADA-2B75-0432-2CBA-7713B68AA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688"/>
              <a:ext cx="48" cy="384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sp>
          <p:nvSpPr>
            <p:cNvPr id="5162" name="Oval 27">
              <a:extLst>
                <a:ext uri="{FF2B5EF4-FFF2-40B4-BE49-F238E27FC236}">
                  <a16:creationId xmlns:a16="http://schemas.microsoft.com/office/drawing/2014/main" id="{7DD5FA44-927A-1397-EB5E-730422671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48"/>
              <a:ext cx="240" cy="288"/>
            </a:xfrm>
            <a:prstGeom prst="ellipse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grpSp>
          <p:nvGrpSpPr>
            <p:cNvPr id="5163" name="Group 28">
              <a:extLst>
                <a:ext uri="{FF2B5EF4-FFF2-40B4-BE49-F238E27FC236}">
                  <a16:creationId xmlns:a16="http://schemas.microsoft.com/office/drawing/2014/main" id="{29A6B8C5-1906-754B-52B5-C9F5FA8EF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3024"/>
              <a:ext cx="144" cy="240"/>
              <a:chOff x="3312" y="3072"/>
              <a:chExt cx="144" cy="240"/>
            </a:xfrm>
          </p:grpSpPr>
          <p:sp>
            <p:nvSpPr>
              <p:cNvPr id="5164" name="Rectangle 29">
                <a:extLst>
                  <a:ext uri="{FF2B5EF4-FFF2-40B4-BE49-F238E27FC236}">
                    <a16:creationId xmlns:a16="http://schemas.microsoft.com/office/drawing/2014/main" id="{071CCE47-8DDC-2641-F442-00E96B4A9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65" name="Rectangle 30">
                <a:extLst>
                  <a:ext uri="{FF2B5EF4-FFF2-40B4-BE49-F238E27FC236}">
                    <a16:creationId xmlns:a16="http://schemas.microsoft.com/office/drawing/2014/main" id="{53FA153B-354D-ECD5-A2A3-E0511DF5F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</p:grpSp>
      <p:grpSp>
        <p:nvGrpSpPr>
          <p:cNvPr id="5128" name="Group 31">
            <a:extLst>
              <a:ext uri="{FF2B5EF4-FFF2-40B4-BE49-F238E27FC236}">
                <a16:creationId xmlns:a16="http://schemas.microsoft.com/office/drawing/2014/main" id="{D8093AAD-746E-47E5-58BC-70BF92DF3DE7}"/>
              </a:ext>
            </a:extLst>
          </p:cNvPr>
          <p:cNvGrpSpPr>
            <a:grpSpLocks/>
          </p:cNvGrpSpPr>
          <p:nvPr/>
        </p:nvGrpSpPr>
        <p:grpSpPr bwMode="auto">
          <a:xfrm>
            <a:off x="4978400" y="3962400"/>
            <a:ext cx="381000" cy="1295400"/>
            <a:chOff x="2784" y="2448"/>
            <a:chExt cx="240" cy="816"/>
          </a:xfrm>
        </p:grpSpPr>
        <p:grpSp>
          <p:nvGrpSpPr>
            <p:cNvPr id="5152" name="Group 32">
              <a:extLst>
                <a:ext uri="{FF2B5EF4-FFF2-40B4-BE49-F238E27FC236}">
                  <a16:creationId xmlns:a16="http://schemas.microsoft.com/office/drawing/2014/main" id="{934EECC4-5741-675E-DBA7-A76693F28E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784"/>
              <a:ext cx="144" cy="240"/>
              <a:chOff x="3312" y="3072"/>
              <a:chExt cx="144" cy="240"/>
            </a:xfrm>
          </p:grpSpPr>
          <p:sp>
            <p:nvSpPr>
              <p:cNvPr id="5158" name="Rectangle 33">
                <a:extLst>
                  <a:ext uri="{FF2B5EF4-FFF2-40B4-BE49-F238E27FC236}">
                    <a16:creationId xmlns:a16="http://schemas.microsoft.com/office/drawing/2014/main" id="{59954A08-110E-385A-760C-7FA6921EE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59" name="Rectangle 34">
                <a:extLst>
                  <a:ext uri="{FF2B5EF4-FFF2-40B4-BE49-F238E27FC236}">
                    <a16:creationId xmlns:a16="http://schemas.microsoft.com/office/drawing/2014/main" id="{FC328555-6A92-F3BC-4CD9-08CC39629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  <p:sp>
          <p:nvSpPr>
            <p:cNvPr id="5153" name="Rectangle 35">
              <a:extLst>
                <a:ext uri="{FF2B5EF4-FFF2-40B4-BE49-F238E27FC236}">
                  <a16:creationId xmlns:a16="http://schemas.microsoft.com/office/drawing/2014/main" id="{8E890771-18A1-DA72-1814-29D5E2C3F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688"/>
              <a:ext cx="48" cy="384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sp>
          <p:nvSpPr>
            <p:cNvPr id="5154" name="Oval 36">
              <a:extLst>
                <a:ext uri="{FF2B5EF4-FFF2-40B4-BE49-F238E27FC236}">
                  <a16:creationId xmlns:a16="http://schemas.microsoft.com/office/drawing/2014/main" id="{E5FD5688-DE07-115B-F8CF-305770A31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48"/>
              <a:ext cx="240" cy="288"/>
            </a:xfrm>
            <a:prstGeom prst="ellipse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grpSp>
          <p:nvGrpSpPr>
            <p:cNvPr id="5155" name="Group 37">
              <a:extLst>
                <a:ext uri="{FF2B5EF4-FFF2-40B4-BE49-F238E27FC236}">
                  <a16:creationId xmlns:a16="http://schemas.microsoft.com/office/drawing/2014/main" id="{A1C7F6EF-60D3-EDDC-5612-44A87AD5F0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3024"/>
              <a:ext cx="144" cy="240"/>
              <a:chOff x="3312" y="3072"/>
              <a:chExt cx="144" cy="240"/>
            </a:xfrm>
          </p:grpSpPr>
          <p:sp>
            <p:nvSpPr>
              <p:cNvPr id="5156" name="Rectangle 38">
                <a:extLst>
                  <a:ext uri="{FF2B5EF4-FFF2-40B4-BE49-F238E27FC236}">
                    <a16:creationId xmlns:a16="http://schemas.microsoft.com/office/drawing/2014/main" id="{D5FE3C54-5057-B38D-5768-7CC7975CF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57" name="Rectangle 39">
                <a:extLst>
                  <a:ext uri="{FF2B5EF4-FFF2-40B4-BE49-F238E27FC236}">
                    <a16:creationId xmlns:a16="http://schemas.microsoft.com/office/drawing/2014/main" id="{B66D006B-EF28-8074-2F79-623BF1C5A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</p:grpSp>
      <p:grpSp>
        <p:nvGrpSpPr>
          <p:cNvPr id="5129" name="Group 40">
            <a:extLst>
              <a:ext uri="{FF2B5EF4-FFF2-40B4-BE49-F238E27FC236}">
                <a16:creationId xmlns:a16="http://schemas.microsoft.com/office/drawing/2014/main" id="{1DB819EC-A577-37B6-3DA1-A26C6811FBBE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3657600"/>
            <a:ext cx="457200" cy="1295400"/>
            <a:chOff x="5136" y="2304"/>
            <a:chExt cx="288" cy="816"/>
          </a:xfrm>
        </p:grpSpPr>
        <p:grpSp>
          <p:nvGrpSpPr>
            <p:cNvPr id="5142" name="Group 41">
              <a:extLst>
                <a:ext uri="{FF2B5EF4-FFF2-40B4-BE49-F238E27FC236}">
                  <a16:creationId xmlns:a16="http://schemas.microsoft.com/office/drawing/2014/main" id="{C7A794C3-2B48-A9E0-20EC-025B5E94F3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0" y="2304"/>
              <a:ext cx="240" cy="816"/>
              <a:chOff x="2784" y="2448"/>
              <a:chExt cx="240" cy="816"/>
            </a:xfrm>
          </p:grpSpPr>
          <p:grpSp>
            <p:nvGrpSpPr>
              <p:cNvPr id="5144" name="Group 42">
                <a:extLst>
                  <a:ext uri="{FF2B5EF4-FFF2-40B4-BE49-F238E27FC236}">
                    <a16:creationId xmlns:a16="http://schemas.microsoft.com/office/drawing/2014/main" id="{2EC59BDF-1686-ABF8-037F-8A4FE6A9E3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2784"/>
                <a:ext cx="144" cy="240"/>
                <a:chOff x="3312" y="3072"/>
                <a:chExt cx="144" cy="240"/>
              </a:xfrm>
            </p:grpSpPr>
            <p:sp>
              <p:nvSpPr>
                <p:cNvPr id="5150" name="Rectangle 43">
                  <a:extLst>
                    <a:ext uri="{FF2B5EF4-FFF2-40B4-BE49-F238E27FC236}">
                      <a16:creationId xmlns:a16="http://schemas.microsoft.com/office/drawing/2014/main" id="{26FDEAA8-4097-FF74-EC24-DE3CC7FA7E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04760">
                  <a:off x="3312" y="3072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IN" altLang="en-US"/>
                </a:p>
              </p:txBody>
            </p:sp>
            <p:sp>
              <p:nvSpPr>
                <p:cNvPr id="5151" name="Rectangle 44">
                  <a:extLst>
                    <a:ext uri="{FF2B5EF4-FFF2-40B4-BE49-F238E27FC236}">
                      <a16:creationId xmlns:a16="http://schemas.microsoft.com/office/drawing/2014/main" id="{2CD4D33D-C840-A74D-16F0-AB0A8EBB67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895240" flipH="1">
                  <a:off x="3408" y="3072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IN" altLang="en-US"/>
                </a:p>
              </p:txBody>
            </p:sp>
          </p:grpSp>
          <p:sp>
            <p:nvSpPr>
              <p:cNvPr id="5145" name="Rectangle 45">
                <a:extLst>
                  <a:ext uri="{FF2B5EF4-FFF2-40B4-BE49-F238E27FC236}">
                    <a16:creationId xmlns:a16="http://schemas.microsoft.com/office/drawing/2014/main" id="{F0695FFE-E4EE-9D99-5A73-119AA09CF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688"/>
                <a:ext cx="48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46" name="Oval 46">
                <a:extLst>
                  <a:ext uri="{FF2B5EF4-FFF2-40B4-BE49-F238E27FC236}">
                    <a16:creationId xmlns:a16="http://schemas.microsoft.com/office/drawing/2014/main" id="{218B88FE-6AC6-B34D-9410-DD387C295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grpSp>
            <p:nvGrpSpPr>
              <p:cNvPr id="5147" name="Group 47">
                <a:extLst>
                  <a:ext uri="{FF2B5EF4-FFF2-40B4-BE49-F238E27FC236}">
                    <a16:creationId xmlns:a16="http://schemas.microsoft.com/office/drawing/2014/main" id="{3BD41A19-50D0-2634-8055-4B3D8B4CE5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3024"/>
                <a:ext cx="144" cy="240"/>
                <a:chOff x="3312" y="3072"/>
                <a:chExt cx="144" cy="240"/>
              </a:xfrm>
            </p:grpSpPr>
            <p:sp>
              <p:nvSpPr>
                <p:cNvPr id="5148" name="Rectangle 48">
                  <a:extLst>
                    <a:ext uri="{FF2B5EF4-FFF2-40B4-BE49-F238E27FC236}">
                      <a16:creationId xmlns:a16="http://schemas.microsoft.com/office/drawing/2014/main" id="{C028355D-F123-F48F-2568-C1E2294F51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04760">
                  <a:off x="3312" y="3072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IN" altLang="en-US"/>
                </a:p>
              </p:txBody>
            </p:sp>
            <p:sp>
              <p:nvSpPr>
                <p:cNvPr id="5149" name="Rectangle 49">
                  <a:extLst>
                    <a:ext uri="{FF2B5EF4-FFF2-40B4-BE49-F238E27FC236}">
                      <a16:creationId xmlns:a16="http://schemas.microsoft.com/office/drawing/2014/main" id="{246385FE-1A62-F3A1-7F16-937C58E359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895240" flipH="1">
                  <a:off x="3408" y="3072"/>
                  <a:ext cx="48" cy="24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en-IN" altLang="en-US"/>
                </a:p>
              </p:txBody>
            </p:sp>
          </p:grpSp>
        </p:grpSp>
        <p:sp>
          <p:nvSpPr>
            <p:cNvPr id="5143" name="Rectangle 50">
              <a:extLst>
                <a:ext uri="{FF2B5EF4-FFF2-40B4-BE49-F238E27FC236}">
                  <a16:creationId xmlns:a16="http://schemas.microsoft.com/office/drawing/2014/main" id="{E330F1EF-057D-6214-1408-AC7C6B91E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30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9913" algn="l"/>
                  <a:tab pos="1484313" algn="l"/>
                  <a:tab pos="2398713" algn="l"/>
                  <a:tab pos="3313113" algn="l"/>
                  <a:tab pos="4227513" algn="l"/>
                  <a:tab pos="5141913" algn="l"/>
                  <a:tab pos="6056313" algn="l"/>
                  <a:tab pos="6970713" algn="l"/>
                  <a:tab pos="7885113" algn="l"/>
                  <a:tab pos="8799513" algn="l"/>
                  <a:tab pos="971391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95000"/>
                </a:lnSpc>
                <a:spcBef>
                  <a:spcPts val="700"/>
                </a:spcBef>
                <a:buClr>
                  <a:srgbClr val="00CECE"/>
                </a:buClr>
                <a:buSzPct val="75000"/>
                <a:buFont typeface="Monotype Sorts"/>
                <a:buNone/>
              </a:pPr>
              <a:r>
                <a:rPr lang="en-GB" altLang="en-US" sz="1200" b="1" i="1">
                  <a:solidFill>
                    <a:schemeClr val="tx1"/>
                  </a:solidFill>
                  <a:ea typeface="Arial Unicode MS" pitchFamily="34" charset="-128"/>
                </a:rPr>
                <a:t>$</a:t>
              </a:r>
              <a:r>
                <a:rPr lang="en-GB" altLang="en-US" sz="1200" b="1" i="1">
                  <a:solidFill>
                    <a:srgbClr val="00FF00"/>
                  </a:solidFill>
                  <a:ea typeface="Arial Unicode MS" pitchFamily="34" charset="-128"/>
                </a:rPr>
                <a:t> </a:t>
              </a:r>
              <a:r>
                <a:rPr lang="en-GB" altLang="en-US" sz="1200" b="1" i="1">
                  <a:solidFill>
                    <a:schemeClr val="tx1"/>
                  </a:solidFill>
                  <a:ea typeface="Arial Unicode MS" pitchFamily="34" charset="-128"/>
                </a:rPr>
                <a:t> $ </a:t>
              </a:r>
            </a:p>
          </p:txBody>
        </p:sp>
      </p:grpSp>
      <p:grpSp>
        <p:nvGrpSpPr>
          <p:cNvPr id="5130" name="Group 51">
            <a:extLst>
              <a:ext uri="{FF2B5EF4-FFF2-40B4-BE49-F238E27FC236}">
                <a16:creationId xmlns:a16="http://schemas.microsoft.com/office/drawing/2014/main" id="{796A364A-E164-02A2-3C28-A754A1C3E70E}"/>
              </a:ext>
            </a:extLst>
          </p:cNvPr>
          <p:cNvGrpSpPr>
            <a:grpSpLocks/>
          </p:cNvGrpSpPr>
          <p:nvPr/>
        </p:nvGrpSpPr>
        <p:grpSpPr bwMode="auto">
          <a:xfrm>
            <a:off x="2171700" y="4191000"/>
            <a:ext cx="381000" cy="1295400"/>
            <a:chOff x="2784" y="2448"/>
            <a:chExt cx="240" cy="816"/>
          </a:xfrm>
        </p:grpSpPr>
        <p:grpSp>
          <p:nvGrpSpPr>
            <p:cNvPr id="5134" name="Group 52">
              <a:extLst>
                <a:ext uri="{FF2B5EF4-FFF2-40B4-BE49-F238E27FC236}">
                  <a16:creationId xmlns:a16="http://schemas.microsoft.com/office/drawing/2014/main" id="{AF615843-E24B-827D-B944-73E4CAAB4D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784"/>
              <a:ext cx="144" cy="240"/>
              <a:chOff x="3312" y="3072"/>
              <a:chExt cx="144" cy="240"/>
            </a:xfrm>
          </p:grpSpPr>
          <p:sp>
            <p:nvSpPr>
              <p:cNvPr id="5140" name="Rectangle 53">
                <a:extLst>
                  <a:ext uri="{FF2B5EF4-FFF2-40B4-BE49-F238E27FC236}">
                    <a16:creationId xmlns:a16="http://schemas.microsoft.com/office/drawing/2014/main" id="{52A2387F-C6A1-5AC1-6859-E744078B4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41" name="Rectangle 54">
                <a:extLst>
                  <a:ext uri="{FF2B5EF4-FFF2-40B4-BE49-F238E27FC236}">
                    <a16:creationId xmlns:a16="http://schemas.microsoft.com/office/drawing/2014/main" id="{FE04D9C8-AD4D-AB61-C536-88AA8067B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  <p:sp>
          <p:nvSpPr>
            <p:cNvPr id="5135" name="Rectangle 55">
              <a:extLst>
                <a:ext uri="{FF2B5EF4-FFF2-40B4-BE49-F238E27FC236}">
                  <a16:creationId xmlns:a16="http://schemas.microsoft.com/office/drawing/2014/main" id="{9C321F46-1180-BE84-05A5-73123FC1C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688"/>
              <a:ext cx="48" cy="384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sp>
          <p:nvSpPr>
            <p:cNvPr id="5136" name="Oval 56">
              <a:extLst>
                <a:ext uri="{FF2B5EF4-FFF2-40B4-BE49-F238E27FC236}">
                  <a16:creationId xmlns:a16="http://schemas.microsoft.com/office/drawing/2014/main" id="{F4902110-2807-BD22-83B7-F1A45A05A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48"/>
              <a:ext cx="240" cy="288"/>
            </a:xfrm>
            <a:prstGeom prst="ellipse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IN" altLang="en-US"/>
            </a:p>
          </p:txBody>
        </p:sp>
        <p:grpSp>
          <p:nvGrpSpPr>
            <p:cNvPr id="5137" name="Group 57">
              <a:extLst>
                <a:ext uri="{FF2B5EF4-FFF2-40B4-BE49-F238E27FC236}">
                  <a16:creationId xmlns:a16="http://schemas.microsoft.com/office/drawing/2014/main" id="{3DECBDBD-57B6-64A8-9D03-CA6916253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3024"/>
              <a:ext cx="144" cy="240"/>
              <a:chOff x="3312" y="3072"/>
              <a:chExt cx="144" cy="240"/>
            </a:xfrm>
          </p:grpSpPr>
          <p:sp>
            <p:nvSpPr>
              <p:cNvPr id="5138" name="Rectangle 58">
                <a:extLst>
                  <a:ext uri="{FF2B5EF4-FFF2-40B4-BE49-F238E27FC236}">
                    <a16:creationId xmlns:a16="http://schemas.microsoft.com/office/drawing/2014/main" id="{BF358E41-238B-7D20-1CFB-0AE775B50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04760">
                <a:off x="3312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  <p:sp>
            <p:nvSpPr>
              <p:cNvPr id="5139" name="Rectangle 59">
                <a:extLst>
                  <a:ext uri="{FF2B5EF4-FFF2-40B4-BE49-F238E27FC236}">
                    <a16:creationId xmlns:a16="http://schemas.microsoft.com/office/drawing/2014/main" id="{348D2A24-F3BE-32F4-D8DA-6D378060E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95240" flipH="1">
                <a:off x="3408" y="3072"/>
                <a:ext cx="48" cy="240"/>
              </a:xfrm>
              <a:prstGeom prst="rect">
                <a:avLst/>
              </a:prstGeom>
              <a:solidFill>
                <a:srgbClr val="00B8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IN" altLang="en-US"/>
              </a:p>
            </p:txBody>
          </p:sp>
        </p:grpSp>
      </p:grpSp>
      <p:sp>
        <p:nvSpPr>
          <p:cNvPr id="5131" name="Line 65">
            <a:extLst>
              <a:ext uri="{FF2B5EF4-FFF2-40B4-BE49-F238E27FC236}">
                <a16:creationId xmlns:a16="http://schemas.microsoft.com/office/drawing/2014/main" id="{50A2F289-FB47-06DE-D482-F04747A115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" y="5181600"/>
            <a:ext cx="152400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2" name="AutoShape 66">
            <a:extLst>
              <a:ext uri="{FF2B5EF4-FFF2-40B4-BE49-F238E27FC236}">
                <a16:creationId xmlns:a16="http://schemas.microsoft.com/office/drawing/2014/main" id="{2118A6B5-2848-502B-DA2F-4ABEB8209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334000"/>
            <a:ext cx="955675" cy="498475"/>
          </a:xfrm>
          <a:prstGeom prst="roundRect">
            <a:avLst>
              <a:gd name="adj" fmla="val 306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  <a:buClr>
                <a:srgbClr val="E0E0E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2800">
                <a:solidFill>
                  <a:schemeClr val="folHlink"/>
                </a:solidFill>
              </a:rPr>
              <a:t>Front</a:t>
            </a:r>
          </a:p>
        </p:txBody>
      </p:sp>
      <p:sp>
        <p:nvSpPr>
          <p:cNvPr id="5133" name="AutoShape 67">
            <a:extLst>
              <a:ext uri="{FF2B5EF4-FFF2-40B4-BE49-F238E27FC236}">
                <a16:creationId xmlns:a16="http://schemas.microsoft.com/office/drawing/2014/main" id="{EBD31147-6C77-029A-DBB9-76980CACD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854075" cy="498475"/>
          </a:xfrm>
          <a:prstGeom prst="roundRect">
            <a:avLst>
              <a:gd name="adj" fmla="val 306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95000"/>
              </a:lnSpc>
              <a:buClr>
                <a:srgbClr val="E0E0E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en-US" sz="2800">
                <a:solidFill>
                  <a:schemeClr val="folHlink"/>
                </a:solidFill>
              </a:rPr>
              <a:t>Rear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AC17D4D-5351-5B5C-B9F1-295A47FE8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5453063" cy="919163"/>
          </a:xfrm>
        </p:spPr>
        <p:txBody>
          <a:bodyPr/>
          <a:lstStyle/>
          <a:p>
            <a:r>
              <a:rPr lang="en-US" altLang="en-US"/>
              <a:t>Enqueue and Dequeue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B7AB0B-156D-39E1-D493-B9A12AFAD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7188" y="785813"/>
            <a:ext cx="8534400" cy="3429000"/>
          </a:xfrm>
        </p:spPr>
        <p:txBody>
          <a:bodyPr/>
          <a:lstStyle/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Primary queue operations: </a:t>
            </a:r>
            <a:r>
              <a:rPr lang="en-US" sz="1800" b="0" dirty="0" err="1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800" b="0" dirty="0" err="1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Dequeue</a:t>
            </a:r>
            <a:endParaRPr lang="en-US" sz="1800" b="0" dirty="0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Like check-out lines in a store, a queue has a front and a rear. </a:t>
            </a: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Enqueue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Insert an element at the rear of the queue</a:t>
            </a: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Dequeue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Remove an element from the front of the queue</a:t>
            </a: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Implementation of Queue</a:t>
            </a:r>
            <a:r>
              <a:rPr lang="en-US" sz="1800" dirty="0"/>
              <a:t>: </a:t>
            </a: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Just as stacks can be implemented as arrays or linked lists, so with queues.</a:t>
            </a: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3A3CEFC3-1B9B-7DC8-30E0-589F8A59A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181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7173" name="Freeform 18">
            <a:extLst>
              <a:ext uri="{FF2B5EF4-FFF2-40B4-BE49-F238E27FC236}">
                <a16:creationId xmlns:a16="http://schemas.microsoft.com/office/drawing/2014/main" id="{F1692603-68D8-13C4-5B09-7F6C92016275}"/>
              </a:ext>
            </a:extLst>
          </p:cNvPr>
          <p:cNvSpPr>
            <a:spLocks/>
          </p:cNvSpPr>
          <p:nvPr/>
        </p:nvSpPr>
        <p:spPr bwMode="auto">
          <a:xfrm>
            <a:off x="1143000" y="5486400"/>
            <a:ext cx="1295400" cy="457200"/>
          </a:xfrm>
          <a:custGeom>
            <a:avLst/>
            <a:gdLst>
              <a:gd name="T0" fmla="*/ 2147483646 w 816"/>
              <a:gd name="T1" fmla="*/ 0 h 288"/>
              <a:gd name="T2" fmla="*/ 2147483646 w 816"/>
              <a:gd name="T3" fmla="*/ 2147483646 h 288"/>
              <a:gd name="T4" fmla="*/ 0 w 816"/>
              <a:gd name="T5" fmla="*/ 2147483646 h 288"/>
              <a:gd name="T6" fmla="*/ 0 60000 65536"/>
              <a:gd name="T7" fmla="*/ 0 60000 65536"/>
              <a:gd name="T8" fmla="*/ 0 60000 65536"/>
              <a:gd name="T9" fmla="*/ 0 w 816"/>
              <a:gd name="T10" fmla="*/ 0 h 288"/>
              <a:gd name="T11" fmla="*/ 816 w 816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288">
                <a:moveTo>
                  <a:pt x="816" y="0"/>
                </a:moveTo>
                <a:cubicBezTo>
                  <a:pt x="620" y="0"/>
                  <a:pt x="424" y="0"/>
                  <a:pt x="288" y="48"/>
                </a:cubicBezTo>
                <a:cubicBezTo>
                  <a:pt x="152" y="96"/>
                  <a:pt x="56" y="216"/>
                  <a:pt x="0" y="288"/>
                </a:cubicBezTo>
              </a:path>
            </a:pathLst>
          </a:custGeom>
          <a:noFill/>
          <a:ln w="31750">
            <a:solidFill>
              <a:schemeClr val="hlink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16" name="Freeform 20">
            <a:extLst>
              <a:ext uri="{FF2B5EF4-FFF2-40B4-BE49-F238E27FC236}">
                <a16:creationId xmlns:a16="http://schemas.microsoft.com/office/drawing/2014/main" id="{FC83FB21-9744-C7A0-A393-FAC10C9227B6}"/>
              </a:ext>
            </a:extLst>
          </p:cNvPr>
          <p:cNvSpPr>
            <a:spLocks/>
          </p:cNvSpPr>
          <p:nvPr/>
        </p:nvSpPr>
        <p:spPr bwMode="auto">
          <a:xfrm>
            <a:off x="6750050" y="5486400"/>
            <a:ext cx="1371600" cy="457200"/>
          </a:xfrm>
          <a:custGeom>
            <a:avLst/>
            <a:gdLst/>
            <a:ahLst/>
            <a:cxnLst>
              <a:cxn ang="0">
                <a:pos x="864" y="288"/>
              </a:cxn>
              <a:cxn ang="0">
                <a:pos x="624" y="96"/>
              </a:cxn>
              <a:cxn ang="0">
                <a:pos x="0" y="0"/>
              </a:cxn>
            </a:cxnLst>
            <a:rect l="0" t="0" r="r" b="b"/>
            <a:pathLst>
              <a:path w="864" h="288">
                <a:moveTo>
                  <a:pt x="864" y="288"/>
                </a:moveTo>
                <a:cubicBezTo>
                  <a:pt x="816" y="216"/>
                  <a:pt x="768" y="144"/>
                  <a:pt x="624" y="96"/>
                </a:cubicBezTo>
                <a:cubicBezTo>
                  <a:pt x="480" y="48"/>
                  <a:pt x="136" y="8"/>
                  <a:pt x="0" y="0"/>
                </a:cubicBezTo>
              </a:path>
            </a:pathLst>
          </a:custGeom>
          <a:noFill/>
          <a:ln w="31750" cap="flat" cmpd="sng">
            <a:solidFill>
              <a:schemeClr val="hlink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55317" name="Rectangle 21">
            <a:extLst>
              <a:ext uri="{FF2B5EF4-FFF2-40B4-BE49-F238E27FC236}">
                <a16:creationId xmlns:a16="http://schemas.microsoft.com/office/drawing/2014/main" id="{BE78F3B1-61D1-7B8A-BC2D-F3D6D8035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181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55318" name="Rectangle 22">
            <a:extLst>
              <a:ext uri="{FF2B5EF4-FFF2-40B4-BE49-F238E27FC236}">
                <a16:creationId xmlns:a16="http://schemas.microsoft.com/office/drawing/2014/main" id="{EDB0B3FB-3535-B596-657B-FBCB787E7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181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55319" name="Rectangle 23">
            <a:extLst>
              <a:ext uri="{FF2B5EF4-FFF2-40B4-BE49-F238E27FC236}">
                <a16:creationId xmlns:a16="http://schemas.microsoft.com/office/drawing/2014/main" id="{6C10DC41-E78D-8AB9-5D22-76713AC80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181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55320" name="Rectangle 24">
            <a:extLst>
              <a:ext uri="{FF2B5EF4-FFF2-40B4-BE49-F238E27FC236}">
                <a16:creationId xmlns:a16="http://schemas.microsoft.com/office/drawing/2014/main" id="{2AA21314-7591-A9C2-77DD-5DCBD4322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181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55321" name="Rectangle 25">
            <a:extLst>
              <a:ext uri="{FF2B5EF4-FFF2-40B4-BE49-F238E27FC236}">
                <a16:creationId xmlns:a16="http://schemas.microsoft.com/office/drawing/2014/main" id="{65715403-E215-D2E9-440D-BCD4E7643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181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55322" name="Rectangle 26">
            <a:extLst>
              <a:ext uri="{FF2B5EF4-FFF2-40B4-BE49-F238E27FC236}">
                <a16:creationId xmlns:a16="http://schemas.microsoft.com/office/drawing/2014/main" id="{828386BC-0125-C72D-7E4B-ADDCE33FA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1816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IN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55324" name="Text Box 28">
            <a:extLst>
              <a:ext uri="{FF2B5EF4-FFF2-40B4-BE49-F238E27FC236}">
                <a16:creationId xmlns:a16="http://schemas.microsoft.com/office/drawing/2014/main" id="{12608959-AE6F-C0EE-4948-40086A575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5791200"/>
            <a:ext cx="1600200" cy="830263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 pitchFamily="2" charset="2"/>
              <a:buNone/>
              <a:defRPr/>
            </a:pPr>
            <a: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Insert </a:t>
            </a:r>
            <a:b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</a:br>
            <a: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(</a:t>
            </a:r>
            <a:r>
              <a:rPr lang="en-US" dirty="0" err="1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Enqueue</a:t>
            </a:r>
            <a: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)</a:t>
            </a:r>
          </a:p>
        </p:txBody>
      </p:sp>
      <p:sp>
        <p:nvSpPr>
          <p:cNvPr id="55325" name="Text Box 29">
            <a:extLst>
              <a:ext uri="{FF2B5EF4-FFF2-40B4-BE49-F238E27FC236}">
                <a16:creationId xmlns:a16="http://schemas.microsoft.com/office/drawing/2014/main" id="{304805EE-3412-461D-392A-10A3D7262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867400"/>
            <a:ext cx="1600200" cy="830263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 pitchFamily="2" charset="2"/>
              <a:buNone/>
              <a:defRPr/>
            </a:pPr>
            <a: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Remove</a:t>
            </a:r>
            <a:b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</a:br>
            <a: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(</a:t>
            </a:r>
            <a:r>
              <a:rPr lang="en-US" dirty="0" err="1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Dequeue</a:t>
            </a:r>
            <a: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)</a:t>
            </a:r>
          </a:p>
        </p:txBody>
      </p:sp>
      <p:sp>
        <p:nvSpPr>
          <p:cNvPr id="55326" name="Text Box 30">
            <a:extLst>
              <a:ext uri="{FF2B5EF4-FFF2-40B4-BE49-F238E27FC236}">
                <a16:creationId xmlns:a16="http://schemas.microsoft.com/office/drawing/2014/main" id="{2BAE6508-CA75-BBFA-871B-AF52486C0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6156325"/>
            <a:ext cx="685800" cy="461963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 pitchFamily="2" charset="2"/>
              <a:buNone/>
              <a:defRPr/>
            </a:pPr>
            <a:r>
              <a:rPr lang="en-US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rear</a:t>
            </a:r>
          </a:p>
        </p:txBody>
      </p:sp>
      <p:sp>
        <p:nvSpPr>
          <p:cNvPr id="55327" name="Text Box 31">
            <a:extLst>
              <a:ext uri="{FF2B5EF4-FFF2-40B4-BE49-F238E27FC236}">
                <a16:creationId xmlns:a16="http://schemas.microsoft.com/office/drawing/2014/main" id="{1A643028-CF1D-CA36-D5CD-C09161F2B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56325"/>
            <a:ext cx="990600" cy="461963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 pitchFamily="2" charset="2"/>
              <a:buNone/>
              <a:defRPr/>
            </a:pPr>
            <a:r>
              <a:rPr lang="en-US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front</a:t>
            </a:r>
          </a:p>
        </p:txBody>
      </p:sp>
      <p:sp>
        <p:nvSpPr>
          <p:cNvPr id="7185" name="Line 32">
            <a:extLst>
              <a:ext uri="{FF2B5EF4-FFF2-40B4-BE49-F238E27FC236}">
                <a16:creationId xmlns:a16="http://schemas.microsoft.com/office/drawing/2014/main" id="{CECCBAB7-716A-526F-872A-7FA6343311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5791200"/>
            <a:ext cx="0" cy="45720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86" name="Line 33">
            <a:extLst>
              <a:ext uri="{FF2B5EF4-FFF2-40B4-BE49-F238E27FC236}">
                <a16:creationId xmlns:a16="http://schemas.microsoft.com/office/drawing/2014/main" id="{C733ACDD-1EFC-E346-45EC-3A8CAB0144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5250" y="5791200"/>
            <a:ext cx="0" cy="45720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5F65F7-91B4-BBEF-72AF-A03698E10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131050" cy="3440113"/>
          </a:xfrm>
        </p:spPr>
        <p:txBody>
          <a:bodyPr/>
          <a:lstStyle/>
          <a:p>
            <a:r>
              <a:rPr lang="en-US" altLang="en-US"/>
              <a:t>Queue Implementation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55483BD-4AB1-1399-8801-5356DEB8E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736600"/>
            <a:ext cx="8139113" cy="337820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600" b="0" dirty="0"/>
              <a:t>Queues can be implemented in two ways:-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AutoNum type="alphaLcParenR"/>
              <a:defRPr/>
            </a:pPr>
            <a:r>
              <a:rPr lang="en-US" sz="1600" b="0" dirty="0"/>
              <a:t>Arrays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AutoNum type="alphaLcParenR"/>
              <a:defRPr/>
            </a:pPr>
            <a:r>
              <a:rPr lang="en-US" sz="1600" b="0" dirty="0"/>
              <a:t>Linked List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600" u="sng" dirty="0"/>
              <a:t>Way I</a:t>
            </a:r>
            <a:r>
              <a:rPr lang="en-US" sz="1600" b="0" dirty="0"/>
              <a:t>: Queues can be easily represented using linear arrays.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600" b="0" dirty="0"/>
              <a:t>In an array of size 6 , FRONT = 0 and REAR = 5.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600" dirty="0"/>
              <a:t>Suppose we want to add another element with value 45, then REAR would be incremented by 1 and the value would be stored at the position pointed by REAR.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600" b="0" dirty="0"/>
              <a:t>	FRONT = 0 and REAR = 6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600" b="0" dirty="0"/>
              <a:t>If we want to delete an element from the queue, then the value of FRONT will be incremented.</a:t>
            </a:r>
            <a:endParaRPr lang="en-US" sz="1600" dirty="0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Text Box 27">
            <a:extLst>
              <a:ext uri="{FF2B5EF4-FFF2-40B4-BE49-F238E27FC236}">
                <a16:creationId xmlns:a16="http://schemas.microsoft.com/office/drawing/2014/main" id="{C491A817-64C8-D0D7-A4C1-1C910DC40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493395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/>
              <a:buNone/>
            </a:pPr>
            <a:r>
              <a:rPr lang="en-US" altLang="en-US"/>
              <a:t>3</a:t>
            </a:r>
          </a:p>
        </p:txBody>
      </p:sp>
      <p:sp>
        <p:nvSpPr>
          <p:cNvPr id="8197" name="Text Box 28">
            <a:extLst>
              <a:ext uri="{FF2B5EF4-FFF2-40B4-BE49-F238E27FC236}">
                <a16:creationId xmlns:a16="http://schemas.microsoft.com/office/drawing/2014/main" id="{3EA14008-C820-D09A-DEED-C260EF8BA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5" y="49530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/>
              <a:buNone/>
            </a:pPr>
            <a:r>
              <a:rPr lang="en-US" altLang="en-US"/>
              <a:t>6</a:t>
            </a:r>
          </a:p>
        </p:txBody>
      </p:sp>
      <p:pic>
        <p:nvPicPr>
          <p:cNvPr id="8198" name="Picture 1">
            <a:extLst>
              <a:ext uri="{FF2B5EF4-FFF2-40B4-BE49-F238E27FC236}">
                <a16:creationId xmlns:a16="http://schemas.microsoft.com/office/drawing/2014/main" id="{B756C0B5-5CE0-8763-CEC9-E3CA06520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3" t="49901" r="56004" b="11671"/>
          <a:stretch>
            <a:fillRect/>
          </a:stretch>
        </p:blipFill>
        <p:spPr bwMode="auto">
          <a:xfrm>
            <a:off x="609600" y="3678238"/>
            <a:ext cx="713105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EE975-A28A-8E3A-D503-20C03B297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847013" cy="5094288"/>
          </a:xfrm>
        </p:spPr>
        <p:txBody>
          <a:bodyPr/>
          <a:lstStyle/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1600" dirty="0"/>
              <a:t>Insertion (</a:t>
            </a:r>
            <a:r>
              <a:rPr lang="en-US" sz="1600" dirty="0" err="1"/>
              <a:t>Enqueue</a:t>
            </a:r>
            <a:r>
              <a:rPr lang="en-US" sz="1600" dirty="0"/>
              <a:t>) in a Circular Queue</a:t>
            </a:r>
          </a:p>
          <a:p>
            <a:pPr>
              <a:defRPr/>
            </a:pPr>
            <a:r>
              <a:rPr lang="en-US" sz="1600" dirty="0"/>
              <a:t>Check if the queue is full: If (rear + 1) % size == front, the queue is full.</a:t>
            </a:r>
          </a:p>
          <a:p>
            <a:pPr>
              <a:defRPr/>
            </a:pPr>
            <a:r>
              <a:rPr lang="en-US" sz="1600" dirty="0"/>
              <a:t>If the queue is empty (front = -1), set front = 0.</a:t>
            </a:r>
          </a:p>
          <a:p>
            <a:pPr>
              <a:defRPr/>
            </a:pPr>
            <a:r>
              <a:rPr lang="en-US" sz="1600" dirty="0"/>
              <a:t>Move rear to the next position: rear = (rear + 1) % size.</a:t>
            </a:r>
          </a:p>
          <a:p>
            <a:pPr>
              <a:defRPr/>
            </a:pPr>
            <a:r>
              <a:rPr lang="en-US" sz="1600" dirty="0"/>
              <a:t>Insert the new element at rear.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D7734822-0A8D-844D-93AC-746114290A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7847013" cy="5094288"/>
          </a:xfrm>
        </p:spPr>
        <p:txBody>
          <a:bodyPr/>
          <a:lstStyle/>
          <a:p>
            <a:r>
              <a:rPr lang="en-US" altLang="en-US" sz="1600"/>
              <a:t>Deletion (Dequeue) in a Circular Queue</a:t>
            </a:r>
          </a:p>
          <a:p>
            <a:r>
              <a:rPr lang="en-US" altLang="en-US" sz="1600"/>
              <a:t>Check if the queue is empty: If front == -1, the queue is empty.</a:t>
            </a:r>
          </a:p>
          <a:p>
            <a:r>
              <a:rPr lang="en-US" altLang="en-US" sz="1600"/>
              <a:t>Retrieve the element at front and remove it.</a:t>
            </a:r>
          </a:p>
          <a:p>
            <a:r>
              <a:rPr lang="en-US" altLang="en-US" sz="1600"/>
              <a:t>If there was only one element left, reset front = -1 and rear = -1 (queue becomes empty).</a:t>
            </a:r>
          </a:p>
          <a:p>
            <a:r>
              <a:rPr lang="en-US" altLang="en-US" sz="1600"/>
              <a:t>Otherwise, move front to the next position: front = (front + 1) % size.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A4B44632-CBD4-24A2-FEC9-FA0B580627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950EB0-64BA-65BB-A1EB-6B5CA0DCCF16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u="sng" dirty="0"/>
                        <a:t>Queue Operations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#include&lt;iostream&gt;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#define MAX 10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using namespace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std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queue[MAX];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front = -1, rear =-1;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insert_element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delete_element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peek();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display();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main()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option,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char choice='Y';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while(choice=='Y')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 ***** MAIN MENU *****";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 1. Insert an element";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 "2. Delete an element";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 "3. Peek";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 4. Display the queue";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 Enter your option : 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&gt;&gt;option;</a:t>
                      </a:r>
                    </a:p>
                    <a:p>
                      <a:pPr>
                        <a:buNone/>
                      </a:pPr>
                      <a:endParaRPr lang="en-US" alt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switch(option)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case 1: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&lt;&lt;"enter the value to insert";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insert_element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case 2: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delete_element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if 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!=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The number deleted is :"&lt;&lt;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case 3: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peek();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if 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!=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The first value in queue is : "&lt;&lt;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case 4: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display();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&lt;&lt;"Enter choice";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&gt;&gt;choice;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return 0;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A522A8E4-897E-2BFE-48BF-1616440B8A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C3F9A1-2280-B8F2-23DF-6364E4CB824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u="sng" dirty="0"/>
                        <a:t>Queue Operations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insert_element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value) // </a:t>
                      </a:r>
                      <a:r>
                        <a:rPr lang="en-US" altLang="en-US" sz="20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Enqueue</a:t>
                      </a:r>
                      <a:endParaRPr lang="en-US" altLang="en-US" sz="1600" b="1" u="sng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if(rear == MAX-1)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OVERFLOW";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else if(front == -1 &amp;&amp; rear ==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front = rear = 0;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rear++;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queue[rear] = value;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delete_element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() //</a:t>
                      </a:r>
                      <a:r>
                        <a:rPr lang="en-US" altLang="en-US" sz="20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Dequeue</a:t>
                      </a:r>
                      <a:endParaRPr lang="en-US" altLang="en-US" sz="1600" b="1" u="sng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int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if(front ==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UNDERFLOW";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return -1;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queue[front];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front++;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return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}}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4B2618FE-18C3-DA77-6212-512C2511B7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9EB0A5-F591-52EA-24E5-85F7D0AF89D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 peek()  // </a:t>
                      </a:r>
                      <a:r>
                        <a:rPr lang="en-US" altLang="en-US" sz="18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 find the first element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if(front==-1 )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QUEUE IS EMPTY";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return -1;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return queue[front];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display() // </a:t>
                      </a:r>
                      <a:r>
                        <a:rPr lang="en-US" altLang="en-US" sz="18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 show the data of queue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int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if(front == -1 )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QUEUE IS EMPTY";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for(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front;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&lt;= rear;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++)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&lt;&lt;"\t "&lt;&lt; queue[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];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347" name="Rectangle 11">
            <a:extLst>
              <a:ext uri="{FF2B5EF4-FFF2-40B4-BE49-F238E27FC236}">
                <a16:creationId xmlns:a16="http://schemas.microsoft.com/office/drawing/2014/main" id="{AEFE1BA7-873E-05F6-9AF7-774CF588B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023938"/>
            <a:ext cx="4103688" cy="415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GB" altLang="en-US" b="1">
                <a:solidFill>
                  <a:schemeClr val="tx1"/>
                </a:solidFill>
              </a:rPr>
              <a:t>Applications of queue</a:t>
            </a:r>
          </a:p>
          <a:p>
            <a:endParaRPr lang="en-GB" altLang="en-US" b="1">
              <a:solidFill>
                <a:schemeClr val="tx1"/>
              </a:solidFill>
            </a:endParaRPr>
          </a:p>
          <a:p>
            <a:pPr>
              <a:buFontTx/>
              <a:buChar char="•"/>
            </a:pPr>
            <a:r>
              <a:rPr lang="en-GB" altLang="en-US" sz="1800" b="1">
                <a:solidFill>
                  <a:schemeClr val="tx1"/>
                </a:solidFill>
              </a:rPr>
              <a:t>CPU Scheduling (Operating Systems)</a:t>
            </a:r>
            <a:br>
              <a:rPr lang="en-GB" altLang="en-US" sz="1800">
                <a:solidFill>
                  <a:schemeClr val="tx1"/>
                </a:solidFill>
              </a:rPr>
            </a:br>
            <a:r>
              <a:rPr lang="en-GB" altLang="en-US" sz="1800">
                <a:solidFill>
                  <a:schemeClr val="tx1"/>
                </a:solidFill>
              </a:rPr>
              <a:t>Processes waiting for CPU time are stored in a queue. The process that arrives first gets executed first.</a:t>
            </a:r>
          </a:p>
          <a:p>
            <a:pPr>
              <a:buFontTx/>
              <a:buChar char="•"/>
            </a:pPr>
            <a:r>
              <a:rPr lang="en-GB" altLang="en-US" sz="1800" b="1">
                <a:solidFill>
                  <a:schemeClr val="tx1"/>
                </a:solidFill>
              </a:rPr>
              <a:t>Printer Queue (Spooling)</a:t>
            </a:r>
            <a:br>
              <a:rPr lang="en-GB" altLang="en-US" sz="1800">
                <a:solidFill>
                  <a:schemeClr val="tx1"/>
                </a:solidFill>
              </a:rPr>
            </a:br>
            <a:r>
              <a:rPr lang="en-GB" altLang="en-US" sz="1800">
                <a:solidFill>
                  <a:schemeClr val="tx1"/>
                </a:solidFill>
              </a:rPr>
              <a:t>Multiple print jobs are lined up in a queue. The first document sent to the printer is printed first.</a:t>
            </a:r>
          </a:p>
          <a:p>
            <a:pPr>
              <a:buFontTx/>
              <a:buChar char="•"/>
            </a:pPr>
            <a:r>
              <a:rPr lang="en-GB" altLang="en-US" sz="1800" b="1">
                <a:solidFill>
                  <a:schemeClr val="tx1"/>
                </a:solidFill>
              </a:rPr>
              <a:t>Breadth-First Search (BFS) in Graphs</a:t>
            </a:r>
            <a:br>
              <a:rPr lang="en-GB" altLang="en-US" sz="1800">
                <a:solidFill>
                  <a:schemeClr val="tx1"/>
                </a:solidFill>
              </a:rPr>
            </a:br>
            <a:r>
              <a:rPr lang="en-GB" altLang="en-US" sz="1800">
                <a:solidFill>
                  <a:schemeClr val="tx1"/>
                </a:solidFill>
              </a:rPr>
              <a:t>In graph traversal algorithms like BFS, a queue is used to explore nodes level by level.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DDCAB28-EEC9-950D-F7D1-8D5CB1AA0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7893050" cy="3440113"/>
          </a:xfrm>
        </p:spPr>
        <p:txBody>
          <a:bodyPr/>
          <a:lstStyle/>
          <a:p>
            <a:r>
              <a:rPr lang="en-US" altLang="en-US"/>
              <a:t>Queue Implementation with Linked List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B445812-4A65-CE81-14AB-7A578FA31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736600"/>
            <a:ext cx="8139113" cy="337820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600" u="sng" dirty="0"/>
              <a:t>Way II</a:t>
            </a:r>
            <a:r>
              <a:rPr lang="en-US" sz="1600" b="0" dirty="0"/>
              <a:t>: Queues can be easily represented using single linked list.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endParaRPr lang="en-US" sz="1600" dirty="0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4" name="Text Box 27">
            <a:extLst>
              <a:ext uri="{FF2B5EF4-FFF2-40B4-BE49-F238E27FC236}">
                <a16:creationId xmlns:a16="http://schemas.microsoft.com/office/drawing/2014/main" id="{25F55012-FA4B-0B16-7B0F-311B18654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493395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/>
              <a:buNone/>
            </a:pPr>
            <a:r>
              <a:rPr lang="en-US" altLang="en-US"/>
              <a:t>3</a:t>
            </a:r>
          </a:p>
        </p:txBody>
      </p:sp>
      <p:sp>
        <p:nvSpPr>
          <p:cNvPr id="15365" name="Text Box 28">
            <a:extLst>
              <a:ext uri="{FF2B5EF4-FFF2-40B4-BE49-F238E27FC236}">
                <a16:creationId xmlns:a16="http://schemas.microsoft.com/office/drawing/2014/main" id="{E8280A57-071C-FE1E-D28E-23DBAE384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5" y="49530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00"/>
              </a:buClr>
              <a:buSzPct val="100000"/>
              <a:buFont typeface="Monotype Sorts"/>
              <a:buNone/>
            </a:pPr>
            <a:r>
              <a:rPr lang="en-US" altLang="en-US"/>
              <a:t>6</a:t>
            </a:r>
          </a:p>
        </p:txBody>
      </p:sp>
      <p:pic>
        <p:nvPicPr>
          <p:cNvPr id="15366" name="Picture 1">
            <a:extLst>
              <a:ext uri="{FF2B5EF4-FFF2-40B4-BE49-F238E27FC236}">
                <a16:creationId xmlns:a16="http://schemas.microsoft.com/office/drawing/2014/main" id="{1393E587-E726-FF8D-48F0-7F372193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3" t="49901" r="56004" b="11671"/>
          <a:stretch>
            <a:fillRect/>
          </a:stretch>
        </p:blipFill>
        <p:spPr bwMode="auto">
          <a:xfrm>
            <a:off x="457200" y="2540000"/>
            <a:ext cx="713105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CC88DF43-7764-7F52-5A5D-9B17135AE7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0ED53B-7599-49C4-6390-D1522596D98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u="sng" dirty="0"/>
                        <a:t>Queue Operations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#include&lt;iostream&gt;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#include&lt;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stdlib.h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using namespace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std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endParaRPr lang="en-US" alt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struct queue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struct queue *next;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struct queue *temp,*front,*rear;</a:t>
                      </a:r>
                    </a:p>
                    <a:p>
                      <a:pPr>
                        <a:buNone/>
                      </a:pPr>
                      <a:endParaRPr lang="en-US" alt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enqueue(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dequeue();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display();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main()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option,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char choice='Y';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while(choice=='Y')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 ***** MAIN MENU *****";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 1. Insert an element";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 "2. Delete an element";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 Enter your option : 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&gt;&gt;option;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switch(option)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case 1: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&lt;&lt;"enter the value to insert";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enqueue(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case 2: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dequeue();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case 3: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display();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&lt;&lt;"Enter choice";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&gt;&gt;choice;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return 0;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8FCAE7FF-CA4B-1D53-0E04-5194A1491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B7CCA3-4C76-8FCB-B980-F99B8E34FA9E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enqueue(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temp=new queue();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temp-&gt;data =value;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if(front ==NULL &amp;&amp; rear ==NULL) // empty queue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{  front = rear = temp;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rear-&gt;next =temp;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2BCC4F7F-897B-E981-CF32-012BB10FF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1BB7B3-955C-4627-3024-8B343BEFD40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enqueue(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temp=new queue();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temp-&gt;data =value;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if(front ==NULL &amp;&amp; rear ==NULL) // empty queue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{  front = rear = temp;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rear-&gt;next =temp;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dequeue()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temp = front;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if(front == NULL)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&lt;&lt;“underflow”;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front= temp-&gt;next;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free(temp);}}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display</a:t>
                      </a:r>
                      <a:r>
                        <a:rPr lang="en-US" alt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() // </a:t>
                      </a:r>
                      <a:r>
                        <a:rPr lang="en-US" altLang="en-US" sz="16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 show the data of queue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temp =front;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if(front == NULL 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QUEUE IS EMPTY";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while(temp!=NULL)  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&lt;&lt;temp-&gt;data;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temp=temp-&gt;next;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 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5F9D118-D4A6-0F86-73D8-449AE7E9A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98438"/>
            <a:ext cx="6519863" cy="277812"/>
          </a:xfrm>
        </p:spPr>
        <p:txBody>
          <a:bodyPr/>
          <a:lstStyle/>
          <a:p>
            <a:r>
              <a:rPr lang="en-US" altLang="en-US"/>
              <a:t>Circular Queue</a:t>
            </a:r>
            <a:endParaRPr lang="en-IN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5E02803D-6E83-33A0-5A0D-26826F667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143000"/>
            <a:ext cx="8785225" cy="531018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800" b="0" dirty="0"/>
              <a:t>If you want to insert another value, it will not be possible because the queue is completely full. There is no empty space where the value can be inserted. Consider a scenario in which two successive deletions are made.</a:t>
            </a: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b="0" dirty="0"/>
              <a:t>												</a:t>
            </a:r>
            <a:r>
              <a:rPr lang="en-US" sz="1600" b="0" dirty="0"/>
              <a:t>front = 2 and REAR = 9.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Times New Roman" panose="02020603050405020304" pitchFamily="18" charset="0"/>
              <a:buAutoNum type="arabicParenR"/>
              <a:defRPr/>
            </a:pPr>
            <a:endParaRPr lang="en-IN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800" b="0" dirty="0"/>
              <a:t>Even though there is space available, the overflow condition still exists because the condition rear = MAX – 1 still holds true. This is a major drawback of a linear queue.</a:t>
            </a:r>
          </a:p>
          <a:p>
            <a:pPr>
              <a:defRPr/>
            </a:pPr>
            <a:r>
              <a:rPr lang="en-US" sz="1800" b="0" dirty="0"/>
              <a:t>The second option is to use a circular queue. In the circular queue, the first index comes right after the last index.</a:t>
            </a:r>
          </a:p>
          <a:p>
            <a:pPr>
              <a:defRPr/>
            </a:pP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Picture 1">
            <a:extLst>
              <a:ext uri="{FF2B5EF4-FFF2-40B4-BE49-F238E27FC236}">
                <a16:creationId xmlns:a16="http://schemas.microsoft.com/office/drawing/2014/main" id="{9CC2D3DD-437A-5961-B4D2-36B527850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0" t="50000" r="36613" b="38795"/>
          <a:stretch>
            <a:fillRect/>
          </a:stretch>
        </p:blipFill>
        <p:spPr bwMode="auto">
          <a:xfrm>
            <a:off x="971550" y="2133600"/>
            <a:ext cx="5105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11">
            <a:extLst>
              <a:ext uri="{FF2B5EF4-FFF2-40B4-BE49-F238E27FC236}">
                <a16:creationId xmlns:a16="http://schemas.microsoft.com/office/drawing/2014/main" id="{90513886-ACFB-2798-A87A-3AADCF992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47926" r="73625" b="23387"/>
          <a:stretch>
            <a:fillRect/>
          </a:stretch>
        </p:blipFill>
        <p:spPr bwMode="auto">
          <a:xfrm>
            <a:off x="4787900" y="4789488"/>
            <a:ext cx="3168650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9A933E-233A-B2C6-2FB5-1C3B6E6EF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7975"/>
            <a:ext cx="7886700" cy="3911600"/>
          </a:xfrm>
        </p:spPr>
        <p:txBody>
          <a:bodyPr/>
          <a:lstStyle/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1600" dirty="0"/>
              <a:t>Priority Queue (Definition)</a:t>
            </a:r>
          </a:p>
          <a:p>
            <a:pPr>
              <a:defRPr/>
            </a:pPr>
            <a:r>
              <a:rPr lang="en-US" sz="1600" dirty="0"/>
              <a:t>A Priority Queue is a special type of queue in which each element has a priority.</a:t>
            </a:r>
            <a:br>
              <a:rPr lang="en-US" sz="1600" dirty="0"/>
            </a:br>
            <a:r>
              <a:rPr lang="en-US" sz="1600" dirty="0"/>
              <a:t>The element with the highest priority is removed first, not the one that was inserted first.</a:t>
            </a:r>
          </a:p>
          <a:p>
            <a:pPr>
              <a:defRPr/>
            </a:pPr>
            <a:r>
              <a:rPr lang="en-US" sz="1600" dirty="0"/>
              <a:t>In array implementation, elements are stored in an array like: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1600" dirty="0"/>
              <a:t>[4, 1, 3, 2]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BB2E-6DBB-088A-A022-4DB654545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600"/>
              <a:t>During deletion, the highest priority element is found and removed first.</a:t>
            </a:r>
          </a:p>
          <a:p>
            <a:r>
              <a:rPr lang="en-US" altLang="en-US" sz="1600"/>
              <a:t>Example removal order: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IN" altLang="en-US" sz="1600"/>
              <a:t>4 → 3 → 2 →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15BE-1153-F43D-2841-D61B37FEF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3863"/>
            <a:ext cx="7886700" cy="3795712"/>
          </a:xfrm>
        </p:spPr>
        <p:txBody>
          <a:bodyPr/>
          <a:lstStyle/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 sz="1600"/>
              <a:t>CPU Scheduling 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 sz="1600"/>
              <a:t>In an operating system, processes are executed based on priority.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 sz="1600"/>
              <a:t>[Process1(2), Process2(5), Process3(1)]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 sz="1600"/>
              <a:t>Execution order: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 sz="1600"/>
              <a:t>Process2 → Process1 → Process3</a:t>
            </a:r>
          </a:p>
          <a:p>
            <a:pPr marL="0" indent="0"/>
            <a:endParaRPr lang="en-I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8A2C027B-2F6B-6D03-9200-6DBB1210D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77975"/>
            <a:ext cx="7886700" cy="3911600"/>
          </a:xfrm>
        </p:spPr>
        <p:txBody>
          <a:bodyPr/>
          <a:lstStyle/>
          <a:p>
            <a:r>
              <a:rPr lang="en-US" altLang="en-US" sz="1600"/>
              <a:t>Printer Queue</a:t>
            </a:r>
          </a:p>
          <a:p>
            <a:r>
              <a:rPr lang="en-IN" altLang="en-US" sz="1600"/>
              <a:t>Network Packet Routing</a:t>
            </a:r>
          </a:p>
          <a:p>
            <a:r>
              <a:rPr lang="en-IN" altLang="en-US" sz="1600"/>
              <a:t>Hospital Emergency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8AF13315-1DC6-850E-0105-A815BC5864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346200"/>
            <a:ext cx="7886700" cy="4143375"/>
          </a:xfrm>
        </p:spPr>
        <p:txBody>
          <a:bodyPr/>
          <a:lstStyle/>
          <a:p>
            <a:r>
              <a:rPr lang="fr-FR" altLang="en-US" sz="1600"/>
              <a:t>insert(30,3)</a:t>
            </a:r>
          </a:p>
          <a:p>
            <a:r>
              <a:rPr lang="fr-FR" altLang="en-US" sz="1600"/>
              <a:t>Queue: (30,3)</a:t>
            </a:r>
          </a:p>
          <a:p>
            <a:r>
              <a:rPr lang="fr-FR" altLang="en-US" sz="1600"/>
              <a:t>insert(10,1)</a:t>
            </a:r>
          </a:p>
          <a:p>
            <a:r>
              <a:rPr lang="fr-FR" altLang="en-US" sz="1600"/>
              <a:t>Queue: (10,1) (30,3)</a:t>
            </a:r>
          </a:p>
          <a:p>
            <a:r>
              <a:rPr lang="fr-FR" altLang="en-US" sz="1600"/>
              <a:t>insert(20,2)</a:t>
            </a:r>
          </a:p>
          <a:p>
            <a:r>
              <a:rPr lang="fr-FR" altLang="en-US" sz="1600"/>
              <a:t>Queue: (10,1) (20,2) (30,3)</a:t>
            </a:r>
          </a:p>
          <a:p>
            <a:r>
              <a:rPr lang="fr-FR" altLang="en-US" sz="1600"/>
              <a:t>insert(40,4)</a:t>
            </a:r>
          </a:p>
          <a:p>
            <a:r>
              <a:rPr lang="fr-FR" altLang="en-US" sz="1600"/>
              <a:t>Queue: (10,1) (20,2) (30,3) (40,4)</a:t>
            </a:r>
            <a:endParaRPr lang="en-IN" alt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05EBD6EF-D918-8B82-4113-FCA24F8689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43050"/>
            <a:ext cx="7886700" cy="3946525"/>
          </a:xfrm>
        </p:spPr>
        <p:txBody>
          <a:bodyPr/>
          <a:lstStyle/>
          <a:p>
            <a:r>
              <a:rPr lang="en-US" altLang="en-US" sz="1600"/>
              <a:t>front = 0 rear  = 3</a:t>
            </a:r>
          </a:p>
          <a:p>
            <a:r>
              <a:rPr lang="en-US" altLang="en-US" sz="1600"/>
              <a:t>Index: 0      1      2      3     </a:t>
            </a:r>
          </a:p>
          <a:p>
            <a:r>
              <a:rPr lang="en-US" altLang="en-US" sz="1600"/>
              <a:t> (10,1) (20,2) (30,3) (40,4)</a:t>
            </a:r>
          </a:p>
          <a:p>
            <a:r>
              <a:rPr lang="en-US" altLang="en-US" sz="1600"/>
              <a:t>front → always 0 (unless deletion happens)rear → increases by 1 after every insertion</a:t>
            </a:r>
          </a:p>
          <a:p>
            <a:r>
              <a:rPr lang="en-US" altLang="en-US" sz="1600"/>
              <a:t>Why do we not change front during insertion?</a:t>
            </a:r>
          </a:p>
          <a:p>
            <a:r>
              <a:rPr lang="en-US" altLang="en-US" sz="1600"/>
              <a:t>Answer:</a:t>
            </a:r>
            <a:br>
              <a:rPr lang="en-US" altLang="en-US" sz="1600"/>
            </a:br>
            <a:r>
              <a:rPr lang="en-US" altLang="en-US" sz="1600"/>
              <a:t>Because elements are shifted inside the array, so the first element always remains at index 0.</a:t>
            </a:r>
          </a:p>
          <a:p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Lucida Sans Unicode"/>
        <a:cs typeface="Lucida Sans Unicode"/>
      </a:majorFont>
      <a:minorFont>
        <a:latin typeface="Arial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7458</TotalTime>
  <Words>1930</Words>
  <Application>Microsoft Office PowerPoint</Application>
  <PresentationFormat>On-screen Show (4:3)</PresentationFormat>
  <Paragraphs>311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Lucida Sans Unicode</vt:lpstr>
      <vt:lpstr>Arial</vt:lpstr>
      <vt:lpstr>Monotype Sorts</vt:lpstr>
      <vt:lpstr>Arial Unicode MS</vt:lpstr>
      <vt:lpstr>Calibri</vt:lpstr>
      <vt:lpstr>Office Theme</vt:lpstr>
      <vt:lpstr>PowerPoint Presentation</vt:lpstr>
      <vt:lpstr>Queue</vt:lpstr>
      <vt:lpstr>The Queue Operations</vt:lpstr>
      <vt:lpstr>Enqueue and Dequeue</vt:lpstr>
      <vt:lpstr>Queue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Queue Implementation with Linked List</vt:lpstr>
      <vt:lpstr>PowerPoint Presentation</vt:lpstr>
      <vt:lpstr>PowerPoint Presentation</vt:lpstr>
      <vt:lpstr>PowerPoint Presentation</vt:lpstr>
      <vt:lpstr>Circular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CS61C - Lecture 13</dc:title>
  <dc:creator>Sanjay Sood</dc:creator>
  <cp:lastModifiedBy>Thind</cp:lastModifiedBy>
  <cp:revision>769</cp:revision>
  <cp:lastPrinted>2000-07-11T07:24:10Z</cp:lastPrinted>
  <dcterms:created xsi:type="dcterms:W3CDTF">1997-08-19T16:58:46Z</dcterms:created>
  <dcterms:modified xsi:type="dcterms:W3CDTF">2026-03-20T10:20:58Z</dcterms:modified>
</cp:coreProperties>
</file>