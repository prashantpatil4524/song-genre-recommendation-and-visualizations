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18"/>
  </p:notesMasterIdLst>
  <p:sldIdLst>
    <p:sldId id="331" r:id="rId2"/>
    <p:sldId id="257" r:id="rId3"/>
    <p:sldId id="332" r:id="rId4"/>
    <p:sldId id="311" r:id="rId5"/>
    <p:sldId id="278" r:id="rId6"/>
    <p:sldId id="337" r:id="rId7"/>
    <p:sldId id="338" r:id="rId8"/>
    <p:sldId id="339" r:id="rId9"/>
    <p:sldId id="340" r:id="rId10"/>
    <p:sldId id="312" r:id="rId11"/>
    <p:sldId id="333" r:id="rId12"/>
    <p:sldId id="334" r:id="rId13"/>
    <p:sldId id="327" r:id="rId14"/>
    <p:sldId id="330" r:id="rId15"/>
    <p:sldId id="342" r:id="rId16"/>
    <p:sldId id="343" r:id="rId17"/>
  </p:sldIdLst>
  <p:sldSz cx="9144000" cy="6858000" type="screen4x3"/>
  <p:notesSz cx="6858000" cy="9144000"/>
  <p:defaultTextStyle>
    <a:defPPr>
      <a:defRPr lang="en-US"/>
    </a:defPPr>
    <a:lvl1pPr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000" kern="1200">
        <a:solidFill>
          <a:schemeClr val="tx1"/>
        </a:solidFill>
        <a:latin typeface="Times New Roman" panose="02020603050405020304" pitchFamily="18" charset="0"/>
        <a:ea typeface="+mn-ea"/>
        <a:cs typeface="+mn-cs"/>
      </a:defRPr>
    </a:lvl5pPr>
    <a:lvl6pPr marL="2286000" algn="l" defTabSz="914400" rtl="0" eaLnBrk="1" latinLnBrk="0" hangingPunct="1">
      <a:defRPr sz="2000" kern="1200">
        <a:solidFill>
          <a:schemeClr val="tx1"/>
        </a:solidFill>
        <a:latin typeface="Times New Roman" panose="02020603050405020304" pitchFamily="18" charset="0"/>
        <a:ea typeface="+mn-ea"/>
        <a:cs typeface="+mn-cs"/>
      </a:defRPr>
    </a:lvl6pPr>
    <a:lvl7pPr marL="2743200" algn="l" defTabSz="914400" rtl="0" eaLnBrk="1" latinLnBrk="0" hangingPunct="1">
      <a:defRPr sz="2000" kern="1200">
        <a:solidFill>
          <a:schemeClr val="tx1"/>
        </a:solidFill>
        <a:latin typeface="Times New Roman" panose="02020603050405020304" pitchFamily="18" charset="0"/>
        <a:ea typeface="+mn-ea"/>
        <a:cs typeface="+mn-cs"/>
      </a:defRPr>
    </a:lvl7pPr>
    <a:lvl8pPr marL="3200400" algn="l" defTabSz="914400" rtl="0" eaLnBrk="1" latinLnBrk="0" hangingPunct="1">
      <a:defRPr sz="2000" kern="1200">
        <a:solidFill>
          <a:schemeClr val="tx1"/>
        </a:solidFill>
        <a:latin typeface="Times New Roman" panose="02020603050405020304" pitchFamily="18" charset="0"/>
        <a:ea typeface="+mn-ea"/>
        <a:cs typeface="+mn-cs"/>
      </a:defRPr>
    </a:lvl8pPr>
    <a:lvl9pPr marL="3657600" algn="l" defTabSz="914400" rtl="0" eaLnBrk="1" latinLnBrk="0" hangingPunct="1">
      <a:defRPr sz="20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99FF"/>
    <a:srgbClr val="969696"/>
    <a:srgbClr val="FF9999"/>
    <a:srgbClr val="99FF33"/>
    <a:srgbClr val="FFFF99"/>
    <a:srgbClr val="FFCCFF"/>
    <a:srgbClr val="CC66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542"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628515E-69D1-EF97-DC16-303A7C90F8A3}"/>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5123" name="Rectangle 3">
            <a:extLst>
              <a:ext uri="{FF2B5EF4-FFF2-40B4-BE49-F238E27FC236}">
                <a16:creationId xmlns:a16="http://schemas.microsoft.com/office/drawing/2014/main" id="{624F9302-8F57-CB08-BE6F-EAF325830292}"/>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2052" name="Rectangle 4">
            <a:extLst>
              <a:ext uri="{FF2B5EF4-FFF2-40B4-BE49-F238E27FC236}">
                <a16:creationId xmlns:a16="http://schemas.microsoft.com/office/drawing/2014/main" id="{652A5FCE-D727-8749-68F9-4468AEC7399D}"/>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125" name="Rectangle 5">
            <a:extLst>
              <a:ext uri="{FF2B5EF4-FFF2-40B4-BE49-F238E27FC236}">
                <a16:creationId xmlns:a16="http://schemas.microsoft.com/office/drawing/2014/main" id="{35017493-AAF8-BDF1-E284-0BCD058376CC}"/>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5126" name="Rectangle 6">
            <a:extLst>
              <a:ext uri="{FF2B5EF4-FFF2-40B4-BE49-F238E27FC236}">
                <a16:creationId xmlns:a16="http://schemas.microsoft.com/office/drawing/2014/main" id="{0884672D-9391-073A-697F-19EA83E34A14}"/>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5127" name="Rectangle 7">
            <a:extLst>
              <a:ext uri="{FF2B5EF4-FFF2-40B4-BE49-F238E27FC236}">
                <a16:creationId xmlns:a16="http://schemas.microsoft.com/office/drawing/2014/main" id="{E1CEF96D-5D00-2249-F8B7-155B8223AA84}"/>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141AEF6-8CDB-4B6B-A3D7-EEB8B7F0A67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4">
            <a:extLst>
              <a:ext uri="{FF2B5EF4-FFF2-40B4-BE49-F238E27FC236}">
                <a16:creationId xmlns:a16="http://schemas.microsoft.com/office/drawing/2014/main" id="{C537DBE4-0439-551C-783F-2E5AF8EB7CB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2F1D38AE-69BB-ED92-3660-178E6FBC8221}"/>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6" name="Rectangle 6">
            <a:extLst>
              <a:ext uri="{FF2B5EF4-FFF2-40B4-BE49-F238E27FC236}">
                <a16:creationId xmlns:a16="http://schemas.microsoft.com/office/drawing/2014/main" id="{042A302A-08C4-0BB7-524E-C8C40EF58122}"/>
              </a:ext>
            </a:extLst>
          </p:cNvPr>
          <p:cNvSpPr>
            <a:spLocks noGrp="1" noChangeArrowheads="1"/>
          </p:cNvSpPr>
          <p:nvPr>
            <p:ph type="sldNum" sz="quarter" idx="12"/>
          </p:nvPr>
        </p:nvSpPr>
        <p:spPr>
          <a:ln/>
        </p:spPr>
        <p:txBody>
          <a:bodyPr/>
          <a:lstStyle>
            <a:lvl1pPr>
              <a:defRPr/>
            </a:lvl1pPr>
          </a:lstStyle>
          <a:p>
            <a:pPr>
              <a:defRPr/>
            </a:pPr>
            <a:fld id="{D4DCFE19-A00D-4B67-9FB8-9BA1596008FC}" type="slidenum">
              <a:rPr lang="en-US" altLang="en-US"/>
              <a:pPr>
                <a:defRPr/>
              </a:pPr>
              <a:t>‹#›</a:t>
            </a:fld>
            <a:endParaRPr lang="en-US" altLang="en-US"/>
          </a:p>
        </p:txBody>
      </p:sp>
    </p:spTree>
    <p:extLst>
      <p:ext uri="{BB962C8B-B14F-4D97-AF65-F5344CB8AC3E}">
        <p14:creationId xmlns:p14="http://schemas.microsoft.com/office/powerpoint/2010/main" val="623434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24A0DADD-0BDB-8DE6-3383-2E64098C392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E2EA1487-45FB-BF00-7F9F-46ED5910316F}"/>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6" name="Rectangle 6">
            <a:extLst>
              <a:ext uri="{FF2B5EF4-FFF2-40B4-BE49-F238E27FC236}">
                <a16:creationId xmlns:a16="http://schemas.microsoft.com/office/drawing/2014/main" id="{DB57E194-94F0-9604-9B8D-9198D92FFBFE}"/>
              </a:ext>
            </a:extLst>
          </p:cNvPr>
          <p:cNvSpPr>
            <a:spLocks noGrp="1" noChangeArrowheads="1"/>
          </p:cNvSpPr>
          <p:nvPr>
            <p:ph type="sldNum" sz="quarter" idx="12"/>
          </p:nvPr>
        </p:nvSpPr>
        <p:spPr>
          <a:ln/>
        </p:spPr>
        <p:txBody>
          <a:bodyPr/>
          <a:lstStyle>
            <a:lvl1pPr>
              <a:defRPr/>
            </a:lvl1pPr>
          </a:lstStyle>
          <a:p>
            <a:pPr>
              <a:defRPr/>
            </a:pPr>
            <a:fld id="{4B15C0F7-6085-41AE-911E-AEE9741972D8}" type="slidenum">
              <a:rPr lang="en-US" altLang="en-US"/>
              <a:pPr>
                <a:defRPr/>
              </a:pPr>
              <a:t>‹#›</a:t>
            </a:fld>
            <a:endParaRPr lang="en-US" altLang="en-US"/>
          </a:p>
        </p:txBody>
      </p:sp>
    </p:spTree>
    <p:extLst>
      <p:ext uri="{BB962C8B-B14F-4D97-AF65-F5344CB8AC3E}">
        <p14:creationId xmlns:p14="http://schemas.microsoft.com/office/powerpoint/2010/main" val="32698331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a:extLst>
              <a:ext uri="{FF2B5EF4-FFF2-40B4-BE49-F238E27FC236}">
                <a16:creationId xmlns:a16="http://schemas.microsoft.com/office/drawing/2014/main" id="{28B8EC5B-BA47-0355-1429-CE0675C4910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C1A1C2D-FD62-A00C-3F5D-512C2DFBB49F}"/>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6" name="Rectangle 6">
            <a:extLst>
              <a:ext uri="{FF2B5EF4-FFF2-40B4-BE49-F238E27FC236}">
                <a16:creationId xmlns:a16="http://schemas.microsoft.com/office/drawing/2014/main" id="{6CE0079E-46DA-F323-29B1-65ED6C0742BE}"/>
              </a:ext>
            </a:extLst>
          </p:cNvPr>
          <p:cNvSpPr>
            <a:spLocks noGrp="1" noChangeArrowheads="1"/>
          </p:cNvSpPr>
          <p:nvPr>
            <p:ph type="sldNum" sz="quarter" idx="12"/>
          </p:nvPr>
        </p:nvSpPr>
        <p:spPr>
          <a:ln/>
        </p:spPr>
        <p:txBody>
          <a:bodyPr/>
          <a:lstStyle>
            <a:lvl1pPr>
              <a:defRPr/>
            </a:lvl1pPr>
          </a:lstStyle>
          <a:p>
            <a:pPr>
              <a:defRPr/>
            </a:pPr>
            <a:fld id="{05DACE9C-D16C-4FFA-A37C-05DD84729D06}" type="slidenum">
              <a:rPr lang="en-US" altLang="en-US"/>
              <a:pPr>
                <a:defRPr/>
              </a:pPr>
              <a:t>‹#›</a:t>
            </a:fld>
            <a:endParaRPr lang="en-US" altLang="en-US"/>
          </a:p>
        </p:txBody>
      </p:sp>
    </p:spTree>
    <p:extLst>
      <p:ext uri="{BB962C8B-B14F-4D97-AF65-F5344CB8AC3E}">
        <p14:creationId xmlns:p14="http://schemas.microsoft.com/office/powerpoint/2010/main" val="42189301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858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9812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4">
            <a:extLst>
              <a:ext uri="{FF2B5EF4-FFF2-40B4-BE49-F238E27FC236}">
                <a16:creationId xmlns:a16="http://schemas.microsoft.com/office/drawing/2014/main" id="{2110D5DB-5E33-3425-5420-8F20F3E98D6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B10A72B1-E081-33BA-BC73-2768B91B34FD}"/>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7" name="Rectangle 6">
            <a:extLst>
              <a:ext uri="{FF2B5EF4-FFF2-40B4-BE49-F238E27FC236}">
                <a16:creationId xmlns:a16="http://schemas.microsoft.com/office/drawing/2014/main" id="{4885B4E7-D207-E097-5683-7BD14916BB57}"/>
              </a:ext>
            </a:extLst>
          </p:cNvPr>
          <p:cNvSpPr>
            <a:spLocks noGrp="1" noChangeArrowheads="1"/>
          </p:cNvSpPr>
          <p:nvPr>
            <p:ph type="sldNum" sz="quarter" idx="12"/>
          </p:nvPr>
        </p:nvSpPr>
        <p:spPr>
          <a:ln/>
        </p:spPr>
        <p:txBody>
          <a:bodyPr/>
          <a:lstStyle>
            <a:lvl1pPr>
              <a:defRPr/>
            </a:lvl1pPr>
          </a:lstStyle>
          <a:p>
            <a:pPr>
              <a:defRPr/>
            </a:pPr>
            <a:fld id="{A46EDD8D-DC31-4B7C-95B9-8A9B426FD364}" type="slidenum">
              <a:rPr lang="en-US" altLang="en-US"/>
              <a:pPr>
                <a:defRPr/>
              </a:pPr>
              <a:t>‹#›</a:t>
            </a:fld>
            <a:endParaRPr lang="en-US" altLang="en-US"/>
          </a:p>
        </p:txBody>
      </p:sp>
    </p:spTree>
    <p:extLst>
      <p:ext uri="{BB962C8B-B14F-4D97-AF65-F5344CB8AC3E}">
        <p14:creationId xmlns:p14="http://schemas.microsoft.com/office/powerpoint/2010/main" val="3927443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4">
            <a:extLst>
              <a:ext uri="{FF2B5EF4-FFF2-40B4-BE49-F238E27FC236}">
                <a16:creationId xmlns:a16="http://schemas.microsoft.com/office/drawing/2014/main" id="{926F64E8-27F9-9521-D297-005EB83A4B7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46B15702-7953-321D-4FB7-E741332D49DC}"/>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9" name="Rectangle 6">
            <a:extLst>
              <a:ext uri="{FF2B5EF4-FFF2-40B4-BE49-F238E27FC236}">
                <a16:creationId xmlns:a16="http://schemas.microsoft.com/office/drawing/2014/main" id="{DF479FB1-D16D-B78A-915E-403A19ECD83B}"/>
              </a:ext>
            </a:extLst>
          </p:cNvPr>
          <p:cNvSpPr>
            <a:spLocks noGrp="1" noChangeArrowheads="1"/>
          </p:cNvSpPr>
          <p:nvPr>
            <p:ph type="sldNum" sz="quarter" idx="12"/>
          </p:nvPr>
        </p:nvSpPr>
        <p:spPr>
          <a:ln/>
        </p:spPr>
        <p:txBody>
          <a:bodyPr/>
          <a:lstStyle>
            <a:lvl1pPr>
              <a:defRPr/>
            </a:lvl1pPr>
          </a:lstStyle>
          <a:p>
            <a:pPr>
              <a:defRPr/>
            </a:pPr>
            <a:fld id="{2D594411-044B-4AF2-8F98-E36F4A98E4DE}" type="slidenum">
              <a:rPr lang="en-US" altLang="en-US"/>
              <a:pPr>
                <a:defRPr/>
              </a:pPr>
              <a:t>‹#›</a:t>
            </a:fld>
            <a:endParaRPr lang="en-US" altLang="en-US"/>
          </a:p>
        </p:txBody>
      </p:sp>
    </p:spTree>
    <p:extLst>
      <p:ext uri="{BB962C8B-B14F-4D97-AF65-F5344CB8AC3E}">
        <p14:creationId xmlns:p14="http://schemas.microsoft.com/office/powerpoint/2010/main" val="5500368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Rectangle 4">
            <a:extLst>
              <a:ext uri="{FF2B5EF4-FFF2-40B4-BE49-F238E27FC236}">
                <a16:creationId xmlns:a16="http://schemas.microsoft.com/office/drawing/2014/main" id="{41244063-7ADD-C8BE-6AB9-226A70510FD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031BDC8B-85B7-1EE9-6ECD-A7B45D00AFC1}"/>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5" name="Rectangle 6">
            <a:extLst>
              <a:ext uri="{FF2B5EF4-FFF2-40B4-BE49-F238E27FC236}">
                <a16:creationId xmlns:a16="http://schemas.microsoft.com/office/drawing/2014/main" id="{2EB749F1-0909-1273-A7B9-FE5BEF87FD9E}"/>
              </a:ext>
            </a:extLst>
          </p:cNvPr>
          <p:cNvSpPr>
            <a:spLocks noGrp="1" noChangeArrowheads="1"/>
          </p:cNvSpPr>
          <p:nvPr>
            <p:ph type="sldNum" sz="quarter" idx="12"/>
          </p:nvPr>
        </p:nvSpPr>
        <p:spPr>
          <a:ln/>
        </p:spPr>
        <p:txBody>
          <a:bodyPr/>
          <a:lstStyle>
            <a:lvl1pPr>
              <a:defRPr/>
            </a:lvl1pPr>
          </a:lstStyle>
          <a:p>
            <a:pPr>
              <a:defRPr/>
            </a:pPr>
            <a:fld id="{B56C4FC2-635C-40D3-BB7A-6D3DF9B43971}" type="slidenum">
              <a:rPr lang="en-US" altLang="en-US"/>
              <a:pPr>
                <a:defRPr/>
              </a:pPr>
              <a:t>‹#›</a:t>
            </a:fld>
            <a:endParaRPr lang="en-US" altLang="en-US"/>
          </a:p>
        </p:txBody>
      </p:sp>
    </p:spTree>
    <p:extLst>
      <p:ext uri="{BB962C8B-B14F-4D97-AF65-F5344CB8AC3E}">
        <p14:creationId xmlns:p14="http://schemas.microsoft.com/office/powerpoint/2010/main" val="694393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601AD4A-8876-8907-FA19-1744AF09374E}"/>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702BA78C-4086-C5F8-1B13-01A65B00A9A3}"/>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4" name="Rectangle 6">
            <a:extLst>
              <a:ext uri="{FF2B5EF4-FFF2-40B4-BE49-F238E27FC236}">
                <a16:creationId xmlns:a16="http://schemas.microsoft.com/office/drawing/2014/main" id="{299EECF4-099E-B730-C12C-9941BAB9F954}"/>
              </a:ext>
            </a:extLst>
          </p:cNvPr>
          <p:cNvSpPr>
            <a:spLocks noGrp="1" noChangeArrowheads="1"/>
          </p:cNvSpPr>
          <p:nvPr>
            <p:ph type="sldNum" sz="quarter" idx="12"/>
          </p:nvPr>
        </p:nvSpPr>
        <p:spPr>
          <a:ln/>
        </p:spPr>
        <p:txBody>
          <a:bodyPr/>
          <a:lstStyle>
            <a:lvl1pPr>
              <a:defRPr/>
            </a:lvl1pPr>
          </a:lstStyle>
          <a:p>
            <a:pPr>
              <a:defRPr/>
            </a:pPr>
            <a:fld id="{44F74E9A-BE4B-4C36-8962-83248B600B6A}" type="slidenum">
              <a:rPr lang="en-US" altLang="en-US"/>
              <a:pPr>
                <a:defRPr/>
              </a:pPr>
              <a:t>‹#›</a:t>
            </a:fld>
            <a:endParaRPr lang="en-US" altLang="en-US"/>
          </a:p>
        </p:txBody>
      </p:sp>
    </p:spTree>
    <p:extLst>
      <p:ext uri="{BB962C8B-B14F-4D97-AF65-F5344CB8AC3E}">
        <p14:creationId xmlns:p14="http://schemas.microsoft.com/office/powerpoint/2010/main" val="207710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BB5B7DB8-BBFD-9093-FDD7-726176B3DD8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9E5A4DD2-AE1E-3E69-B828-C1000F229087}"/>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7" name="Rectangle 6">
            <a:extLst>
              <a:ext uri="{FF2B5EF4-FFF2-40B4-BE49-F238E27FC236}">
                <a16:creationId xmlns:a16="http://schemas.microsoft.com/office/drawing/2014/main" id="{326FAC1A-AE27-DD6C-5930-B2FD58B4570A}"/>
              </a:ext>
            </a:extLst>
          </p:cNvPr>
          <p:cNvSpPr>
            <a:spLocks noGrp="1" noChangeArrowheads="1"/>
          </p:cNvSpPr>
          <p:nvPr>
            <p:ph type="sldNum" sz="quarter" idx="12"/>
          </p:nvPr>
        </p:nvSpPr>
        <p:spPr>
          <a:ln/>
        </p:spPr>
        <p:txBody>
          <a:bodyPr/>
          <a:lstStyle>
            <a:lvl1pPr>
              <a:defRPr/>
            </a:lvl1pPr>
          </a:lstStyle>
          <a:p>
            <a:pPr>
              <a:defRPr/>
            </a:pPr>
            <a:fld id="{BB78A319-4DF3-4FDE-B5E5-B66C5A85A656}" type="slidenum">
              <a:rPr lang="en-US" altLang="en-US"/>
              <a:pPr>
                <a:defRPr/>
              </a:pPr>
              <a:t>‹#›</a:t>
            </a:fld>
            <a:endParaRPr lang="en-US" altLang="en-US"/>
          </a:p>
        </p:txBody>
      </p:sp>
    </p:spTree>
    <p:extLst>
      <p:ext uri="{BB962C8B-B14F-4D97-AF65-F5344CB8AC3E}">
        <p14:creationId xmlns:p14="http://schemas.microsoft.com/office/powerpoint/2010/main" val="3041125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a:extLst>
              <a:ext uri="{FF2B5EF4-FFF2-40B4-BE49-F238E27FC236}">
                <a16:creationId xmlns:a16="http://schemas.microsoft.com/office/drawing/2014/main" id="{0BADBA02-BF08-B08E-C3C1-E43E1D462DD4}"/>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308E7913-C8A2-0835-3083-A5900F1DE137}"/>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7" name="Rectangle 6">
            <a:extLst>
              <a:ext uri="{FF2B5EF4-FFF2-40B4-BE49-F238E27FC236}">
                <a16:creationId xmlns:a16="http://schemas.microsoft.com/office/drawing/2014/main" id="{49F91B9C-9DFF-229A-061F-D2F0E5EEC952}"/>
              </a:ext>
            </a:extLst>
          </p:cNvPr>
          <p:cNvSpPr>
            <a:spLocks noGrp="1" noChangeArrowheads="1"/>
          </p:cNvSpPr>
          <p:nvPr>
            <p:ph type="sldNum" sz="quarter" idx="12"/>
          </p:nvPr>
        </p:nvSpPr>
        <p:spPr>
          <a:ln/>
        </p:spPr>
        <p:txBody>
          <a:bodyPr/>
          <a:lstStyle>
            <a:lvl1pPr>
              <a:defRPr/>
            </a:lvl1pPr>
          </a:lstStyle>
          <a:p>
            <a:pPr>
              <a:defRPr/>
            </a:pPr>
            <a:fld id="{3B579A5C-14D3-4CBA-A9E6-5120325045D0}" type="slidenum">
              <a:rPr lang="en-US" altLang="en-US"/>
              <a:pPr>
                <a:defRPr/>
              </a:pPr>
              <a:t>‹#›</a:t>
            </a:fld>
            <a:endParaRPr lang="en-US" altLang="en-US"/>
          </a:p>
        </p:txBody>
      </p:sp>
    </p:spTree>
    <p:extLst>
      <p:ext uri="{BB962C8B-B14F-4D97-AF65-F5344CB8AC3E}">
        <p14:creationId xmlns:p14="http://schemas.microsoft.com/office/powerpoint/2010/main" val="22276979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48DFF8C2-DFF2-668D-0261-69CCA2661147}"/>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0D83D0A-0575-282F-345A-A519A0D75B09}"/>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6" name="Rectangle 6">
            <a:extLst>
              <a:ext uri="{FF2B5EF4-FFF2-40B4-BE49-F238E27FC236}">
                <a16:creationId xmlns:a16="http://schemas.microsoft.com/office/drawing/2014/main" id="{14AE2611-11F7-6E04-4D7E-3FBA2834A60B}"/>
              </a:ext>
            </a:extLst>
          </p:cNvPr>
          <p:cNvSpPr>
            <a:spLocks noGrp="1" noChangeArrowheads="1"/>
          </p:cNvSpPr>
          <p:nvPr>
            <p:ph type="sldNum" sz="quarter" idx="12"/>
          </p:nvPr>
        </p:nvSpPr>
        <p:spPr>
          <a:ln/>
        </p:spPr>
        <p:txBody>
          <a:bodyPr/>
          <a:lstStyle>
            <a:lvl1pPr>
              <a:defRPr/>
            </a:lvl1pPr>
          </a:lstStyle>
          <a:p>
            <a:pPr>
              <a:defRPr/>
            </a:pPr>
            <a:fld id="{A9728A15-5D21-43D1-BD2C-F445D2E47A8E}" type="slidenum">
              <a:rPr lang="en-US" altLang="en-US"/>
              <a:pPr>
                <a:defRPr/>
              </a:pPr>
              <a:t>‹#›</a:t>
            </a:fld>
            <a:endParaRPr lang="en-US" altLang="en-US"/>
          </a:p>
        </p:txBody>
      </p:sp>
    </p:spTree>
    <p:extLst>
      <p:ext uri="{BB962C8B-B14F-4D97-AF65-F5344CB8AC3E}">
        <p14:creationId xmlns:p14="http://schemas.microsoft.com/office/powerpoint/2010/main" val="38137955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4">
            <a:extLst>
              <a:ext uri="{FF2B5EF4-FFF2-40B4-BE49-F238E27FC236}">
                <a16:creationId xmlns:a16="http://schemas.microsoft.com/office/drawing/2014/main" id="{8C74BFB4-AC26-6652-BD72-2862315FA3F8}"/>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801F98A7-4C7C-F734-D1EE-796031F22412}"/>
              </a:ext>
            </a:extLst>
          </p:cNvPr>
          <p:cNvSpPr>
            <a:spLocks noGrp="1" noChangeArrowheads="1"/>
          </p:cNvSpPr>
          <p:nvPr>
            <p:ph type="ftr" sz="quarter" idx="11"/>
          </p:nvPr>
        </p:nvSpPr>
        <p:spPr>
          <a:ln/>
        </p:spPr>
        <p:txBody>
          <a:bodyPr/>
          <a:lstStyle>
            <a:lvl1pPr>
              <a:defRPr/>
            </a:lvl1pPr>
          </a:lstStyle>
          <a:p>
            <a:pPr>
              <a:defRPr/>
            </a:pPr>
            <a:r>
              <a:rPr lang="en-US" altLang="en-US"/>
              <a:t>CSE 373   -- AU 2004 -- B-Trees</a:t>
            </a:r>
          </a:p>
        </p:txBody>
      </p:sp>
      <p:sp>
        <p:nvSpPr>
          <p:cNvPr id="6" name="Rectangle 6">
            <a:extLst>
              <a:ext uri="{FF2B5EF4-FFF2-40B4-BE49-F238E27FC236}">
                <a16:creationId xmlns:a16="http://schemas.microsoft.com/office/drawing/2014/main" id="{5274CCD2-4447-7BAA-19E7-C98B8363EF44}"/>
              </a:ext>
            </a:extLst>
          </p:cNvPr>
          <p:cNvSpPr>
            <a:spLocks noGrp="1" noChangeArrowheads="1"/>
          </p:cNvSpPr>
          <p:nvPr>
            <p:ph type="sldNum" sz="quarter" idx="12"/>
          </p:nvPr>
        </p:nvSpPr>
        <p:spPr>
          <a:ln/>
        </p:spPr>
        <p:txBody>
          <a:bodyPr/>
          <a:lstStyle>
            <a:lvl1pPr>
              <a:defRPr/>
            </a:lvl1pPr>
          </a:lstStyle>
          <a:p>
            <a:pPr>
              <a:defRPr/>
            </a:pPr>
            <a:fld id="{A6F48322-6CFE-433A-9EB4-B6D65C8FBFA6}" type="slidenum">
              <a:rPr lang="en-US" altLang="en-US"/>
              <a:pPr>
                <a:defRPr/>
              </a:pPr>
              <a:t>‹#›</a:t>
            </a:fld>
            <a:endParaRPr lang="en-US" altLang="en-US"/>
          </a:p>
        </p:txBody>
      </p:sp>
    </p:spTree>
    <p:extLst>
      <p:ext uri="{BB962C8B-B14F-4D97-AF65-F5344CB8AC3E}">
        <p14:creationId xmlns:p14="http://schemas.microsoft.com/office/powerpoint/2010/main" val="38908845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93868EB-6B11-20A5-A8B7-C20C3983AFB1}"/>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2D03F960-3A77-CD06-5A5B-5A960F2A6AB9}"/>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1157CA37-8E4A-2886-06DE-ED0FC580D19B}"/>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ltLang="en-US"/>
          </a:p>
        </p:txBody>
      </p:sp>
      <p:sp>
        <p:nvSpPr>
          <p:cNvPr id="1029" name="Rectangle 5">
            <a:extLst>
              <a:ext uri="{FF2B5EF4-FFF2-40B4-BE49-F238E27FC236}">
                <a16:creationId xmlns:a16="http://schemas.microsoft.com/office/drawing/2014/main" id="{4E88B0D8-8290-F74C-900B-7D2BF5EE60CD}"/>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400"/>
            </a:lvl1pPr>
          </a:lstStyle>
          <a:p>
            <a:pPr>
              <a:defRPr/>
            </a:pPr>
            <a:r>
              <a:rPr lang="en-US" altLang="en-US"/>
              <a:t>CSE 373   -- AU 2004 -- B-Trees</a:t>
            </a:r>
          </a:p>
        </p:txBody>
      </p:sp>
      <p:sp>
        <p:nvSpPr>
          <p:cNvPr id="1030" name="Rectangle 6">
            <a:extLst>
              <a:ext uri="{FF2B5EF4-FFF2-40B4-BE49-F238E27FC236}">
                <a16:creationId xmlns:a16="http://schemas.microsoft.com/office/drawing/2014/main" id="{5C06FB80-3CB2-E296-D49F-3B639232BB90}"/>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929AAE1E-4D41-40E3-B362-09FAAB4DA482}"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5">
            <a:extLst>
              <a:ext uri="{FF2B5EF4-FFF2-40B4-BE49-F238E27FC236}">
                <a16:creationId xmlns:a16="http://schemas.microsoft.com/office/drawing/2014/main" id="{25274EE8-2236-A80F-7A47-8331F854D7C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6EBFA1EA-E99B-4E7D-9D20-8E065C7A87CC}" type="slidenum">
              <a:rPr lang="en-US" altLang="en-US" sz="1400" smtClean="0"/>
              <a:pPr>
                <a:spcBef>
                  <a:spcPct val="0"/>
                </a:spcBef>
                <a:buFontTx/>
                <a:buNone/>
              </a:pPr>
              <a:t>1</a:t>
            </a:fld>
            <a:endParaRPr lang="en-US" altLang="en-US" sz="1400"/>
          </a:p>
        </p:txBody>
      </p:sp>
      <p:sp>
        <p:nvSpPr>
          <p:cNvPr id="3075" name="Rectangle 2">
            <a:extLst>
              <a:ext uri="{FF2B5EF4-FFF2-40B4-BE49-F238E27FC236}">
                <a16:creationId xmlns:a16="http://schemas.microsoft.com/office/drawing/2014/main" id="{4E259C13-2B12-D5EC-AEB5-399F20489DC1}"/>
              </a:ext>
            </a:extLst>
          </p:cNvPr>
          <p:cNvSpPr>
            <a:spLocks noGrp="1" noChangeArrowheads="1"/>
          </p:cNvSpPr>
          <p:nvPr>
            <p:ph type="ctrTitle"/>
          </p:nvPr>
        </p:nvSpPr>
        <p:spPr>
          <a:xfrm>
            <a:off x="685800" y="2286000"/>
            <a:ext cx="7772400" cy="1143000"/>
          </a:xfrm>
        </p:spPr>
        <p:txBody>
          <a:bodyPr anchor="ctr"/>
          <a:lstStyle/>
          <a:p>
            <a:r>
              <a:rPr lang="en-US" altLang="en-US" sz="4400">
                <a:solidFill>
                  <a:srgbClr val="FF0000"/>
                </a:solidFill>
              </a:rPr>
              <a:t>B-Trees</a:t>
            </a:r>
          </a:p>
        </p:txBody>
      </p:sp>
      <p:sp>
        <p:nvSpPr>
          <p:cNvPr id="3076" name="Subtitle 1">
            <a:extLst>
              <a:ext uri="{FF2B5EF4-FFF2-40B4-BE49-F238E27FC236}">
                <a16:creationId xmlns:a16="http://schemas.microsoft.com/office/drawing/2014/main" id="{34F85589-D473-7EB5-6672-51685C1FCEBC}"/>
              </a:ext>
            </a:extLst>
          </p:cNvPr>
          <p:cNvSpPr>
            <a:spLocks noGrp="1" noChangeArrowheads="1"/>
          </p:cNvSpPr>
          <p:nvPr>
            <p:ph type="subTitle" idx="1"/>
          </p:nvPr>
        </p:nvSpPr>
        <p:spPr/>
        <p:txBody>
          <a:bodyPr/>
          <a:lstStyle/>
          <a:p>
            <a:r>
              <a:rPr lang="en-US" altLang="en-US" dirty="0"/>
              <a:t>Properties and Operations</a:t>
            </a:r>
            <a:endParaRPr lang="en-I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4">
            <a:extLst>
              <a:ext uri="{FF2B5EF4-FFF2-40B4-BE49-F238E27FC236}">
                <a16:creationId xmlns:a16="http://schemas.microsoft.com/office/drawing/2014/main" id="{935359E9-9D03-8C95-C8E3-1A2C8D626A2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ED0532F8-9292-4F2A-A738-3DA5D62947E0}" type="slidenum">
              <a:rPr lang="en-US" altLang="en-US" sz="1400" smtClean="0"/>
              <a:pPr>
                <a:spcBef>
                  <a:spcPct val="0"/>
                </a:spcBef>
                <a:buFontTx/>
                <a:buNone/>
              </a:pPr>
              <a:t>2</a:t>
            </a:fld>
            <a:endParaRPr lang="en-US" altLang="en-US" sz="1400"/>
          </a:p>
        </p:txBody>
      </p:sp>
      <p:sp>
        <p:nvSpPr>
          <p:cNvPr id="4099" name="Rectangle 2">
            <a:extLst>
              <a:ext uri="{FF2B5EF4-FFF2-40B4-BE49-F238E27FC236}">
                <a16:creationId xmlns:a16="http://schemas.microsoft.com/office/drawing/2014/main" id="{D14D708C-A1A2-7AED-C8D8-2D314545C9C6}"/>
              </a:ext>
            </a:extLst>
          </p:cNvPr>
          <p:cNvSpPr>
            <a:spLocks noGrp="1" noChangeArrowheads="1"/>
          </p:cNvSpPr>
          <p:nvPr>
            <p:ph type="title"/>
          </p:nvPr>
        </p:nvSpPr>
        <p:spPr>
          <a:xfrm>
            <a:off x="685800" y="990600"/>
            <a:ext cx="7772400" cy="1143000"/>
          </a:xfrm>
        </p:spPr>
        <p:txBody>
          <a:bodyPr/>
          <a:lstStyle/>
          <a:p>
            <a:r>
              <a:rPr lang="en-US" altLang="en-US" sz="4800">
                <a:solidFill>
                  <a:srgbClr val="800000"/>
                </a:solidFill>
                <a:latin typeface="Arial" panose="020B0604020202020204" pitchFamily="34" charset="0"/>
              </a:rPr>
              <a:t>B-Trees</a:t>
            </a:r>
            <a:endParaRPr lang="en-US" altLang="en-US"/>
          </a:p>
        </p:txBody>
      </p:sp>
      <p:sp>
        <p:nvSpPr>
          <p:cNvPr id="4100" name="Text Box 3">
            <a:extLst>
              <a:ext uri="{FF2B5EF4-FFF2-40B4-BE49-F238E27FC236}">
                <a16:creationId xmlns:a16="http://schemas.microsoft.com/office/drawing/2014/main" id="{86AB4E49-058D-333E-A265-106AD8B48EBD}"/>
              </a:ext>
            </a:extLst>
          </p:cNvPr>
          <p:cNvSpPr txBox="1">
            <a:spLocks noChangeArrowheads="1"/>
          </p:cNvSpPr>
          <p:nvPr/>
        </p:nvSpPr>
        <p:spPr bwMode="auto">
          <a:xfrm>
            <a:off x="990600" y="2362200"/>
            <a:ext cx="7315200" cy="877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lnSpc>
                <a:spcPct val="85000"/>
              </a:lnSpc>
              <a:spcBef>
                <a:spcPct val="60000"/>
              </a:spcBef>
              <a:buFontTx/>
              <a:buNone/>
            </a:pPr>
            <a:r>
              <a:rPr lang="en-IN" altLang="en-US" sz="2000"/>
              <a:t>B-Tree is a self-balancing search tree. In most of the other self-balancing search trees (like AVL ) it is assumed that everything is in main memory. </a:t>
            </a:r>
            <a:endParaRPr lang="en-US" altLang="en-US">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76812A77-892A-887B-83E9-0E317B004AAF}"/>
              </a:ext>
            </a:extLst>
          </p:cNvPr>
          <p:cNvSpPr>
            <a:spLocks noGrp="1" noChangeArrowheads="1"/>
          </p:cNvSpPr>
          <p:nvPr>
            <p:ph type="title"/>
          </p:nvPr>
        </p:nvSpPr>
        <p:spPr>
          <a:xfrm>
            <a:off x="706438" y="381000"/>
            <a:ext cx="7772400" cy="1143000"/>
          </a:xfrm>
        </p:spPr>
        <p:txBody>
          <a:bodyPr/>
          <a:lstStyle/>
          <a:p>
            <a:r>
              <a:rPr lang="en-US" altLang="en-US" sz="4800">
                <a:solidFill>
                  <a:srgbClr val="800000"/>
                </a:solidFill>
                <a:latin typeface="Arial" panose="020B0604020202020204" pitchFamily="34" charset="0"/>
              </a:rPr>
              <a:t>Concept behind B-Tree</a:t>
            </a:r>
            <a:endParaRPr lang="en-IN" altLang="en-US" sz="4800">
              <a:solidFill>
                <a:srgbClr val="800000"/>
              </a:solidFill>
              <a:latin typeface="Arial" panose="020B0604020202020204" pitchFamily="34" charset="0"/>
            </a:endParaRPr>
          </a:p>
        </p:txBody>
      </p:sp>
      <p:sp>
        <p:nvSpPr>
          <p:cNvPr id="5123" name="Slide Number Placeholder 3">
            <a:extLst>
              <a:ext uri="{FF2B5EF4-FFF2-40B4-BE49-F238E27FC236}">
                <a16:creationId xmlns:a16="http://schemas.microsoft.com/office/drawing/2014/main" id="{5CEFBEC4-92C9-F9AB-6ED5-E13A6C64B70B}"/>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CEC7901-223F-4333-AB2F-ABB289CB1E3C}" type="slidenum">
              <a:rPr lang="en-US" altLang="en-US" sz="1400" smtClean="0"/>
              <a:pPr>
                <a:spcBef>
                  <a:spcPct val="0"/>
                </a:spcBef>
                <a:buFontTx/>
                <a:buNone/>
              </a:pPr>
              <a:t>3</a:t>
            </a:fld>
            <a:endParaRPr lang="en-US" altLang="en-US" sz="1400"/>
          </a:p>
        </p:txBody>
      </p:sp>
      <p:sp>
        <p:nvSpPr>
          <p:cNvPr id="5124" name="TextBox 4">
            <a:extLst>
              <a:ext uri="{FF2B5EF4-FFF2-40B4-BE49-F238E27FC236}">
                <a16:creationId xmlns:a16="http://schemas.microsoft.com/office/drawing/2014/main" id="{F8DD5E41-47F5-35F1-98D3-18137561147E}"/>
              </a:ext>
            </a:extLst>
          </p:cNvPr>
          <p:cNvSpPr txBox="1">
            <a:spLocks noChangeArrowheads="1"/>
          </p:cNvSpPr>
          <p:nvPr/>
        </p:nvSpPr>
        <p:spPr bwMode="auto">
          <a:xfrm>
            <a:off x="381000" y="1981200"/>
            <a:ext cx="8077200"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buFontTx/>
              <a:buNone/>
            </a:pPr>
            <a:r>
              <a:rPr lang="en-IN" altLang="en-US" sz="2000"/>
              <a:t>To understand the use of B-Trees, we must think of the huge amount of data that cannot fit in main memory. When the number of keys is high, the data is read from disk in the form of blocks. Disk access time is very high compared to the main memory access time. The main idea of using B-Trees is to reduce the number of disk accesses.</a:t>
            </a:r>
          </a:p>
        </p:txBody>
      </p:sp>
      <p:sp>
        <p:nvSpPr>
          <p:cNvPr id="5125" name="Oval 5">
            <a:extLst>
              <a:ext uri="{FF2B5EF4-FFF2-40B4-BE49-F238E27FC236}">
                <a16:creationId xmlns:a16="http://schemas.microsoft.com/office/drawing/2014/main" id="{29991BDB-C648-B395-0A12-B5436760896B}"/>
              </a:ext>
            </a:extLst>
          </p:cNvPr>
          <p:cNvSpPr>
            <a:spLocks noChangeArrowheads="1"/>
          </p:cNvSpPr>
          <p:nvPr/>
        </p:nvSpPr>
        <p:spPr bwMode="auto">
          <a:xfrm>
            <a:off x="3162300" y="3778250"/>
            <a:ext cx="2819400" cy="2819400"/>
          </a:xfrm>
          <a:prstGeom prst="ellipse">
            <a:avLst/>
          </a:prstGeom>
          <a:solidFill>
            <a:srgbClr val="F6A166"/>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000"/>
          </a:p>
        </p:txBody>
      </p:sp>
      <p:sp>
        <p:nvSpPr>
          <p:cNvPr id="5126" name="Oval 6">
            <a:extLst>
              <a:ext uri="{FF2B5EF4-FFF2-40B4-BE49-F238E27FC236}">
                <a16:creationId xmlns:a16="http://schemas.microsoft.com/office/drawing/2014/main" id="{9B840AA8-7EB1-46BB-ADDE-911AA2046B2B}"/>
              </a:ext>
            </a:extLst>
          </p:cNvPr>
          <p:cNvSpPr>
            <a:spLocks noChangeArrowheads="1"/>
          </p:cNvSpPr>
          <p:nvPr/>
        </p:nvSpPr>
        <p:spPr bwMode="auto">
          <a:xfrm>
            <a:off x="3390900" y="4006850"/>
            <a:ext cx="2362200" cy="23622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000"/>
          </a:p>
        </p:txBody>
      </p:sp>
      <p:sp>
        <p:nvSpPr>
          <p:cNvPr id="5127" name="Oval 7">
            <a:extLst>
              <a:ext uri="{FF2B5EF4-FFF2-40B4-BE49-F238E27FC236}">
                <a16:creationId xmlns:a16="http://schemas.microsoft.com/office/drawing/2014/main" id="{9D58DE1D-4D55-060C-E6C1-AC6491164498}"/>
              </a:ext>
            </a:extLst>
          </p:cNvPr>
          <p:cNvSpPr>
            <a:spLocks noChangeArrowheads="1"/>
          </p:cNvSpPr>
          <p:nvPr/>
        </p:nvSpPr>
        <p:spPr bwMode="auto">
          <a:xfrm>
            <a:off x="3543300" y="4159250"/>
            <a:ext cx="2057400" cy="20574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000"/>
          </a:p>
        </p:txBody>
      </p:sp>
      <p:sp>
        <p:nvSpPr>
          <p:cNvPr id="5128" name="Oval 8">
            <a:extLst>
              <a:ext uri="{FF2B5EF4-FFF2-40B4-BE49-F238E27FC236}">
                <a16:creationId xmlns:a16="http://schemas.microsoft.com/office/drawing/2014/main" id="{A5324A09-AC39-8597-043A-BAAE00BEB09A}"/>
              </a:ext>
            </a:extLst>
          </p:cNvPr>
          <p:cNvSpPr>
            <a:spLocks noChangeArrowheads="1"/>
          </p:cNvSpPr>
          <p:nvPr/>
        </p:nvSpPr>
        <p:spPr bwMode="auto">
          <a:xfrm>
            <a:off x="3695700" y="4311650"/>
            <a:ext cx="1752600" cy="1752600"/>
          </a:xfrm>
          <a:prstGeom prst="ellipse">
            <a:avLst/>
          </a:prstGeom>
          <a:noFill/>
          <a:ln w="762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000"/>
          </a:p>
        </p:txBody>
      </p:sp>
      <p:sp>
        <p:nvSpPr>
          <p:cNvPr id="5129" name="Oval 9">
            <a:extLst>
              <a:ext uri="{FF2B5EF4-FFF2-40B4-BE49-F238E27FC236}">
                <a16:creationId xmlns:a16="http://schemas.microsoft.com/office/drawing/2014/main" id="{035412EA-1BC4-5210-DE3C-6D122D4E46A5}"/>
              </a:ext>
            </a:extLst>
          </p:cNvPr>
          <p:cNvSpPr>
            <a:spLocks noChangeArrowheads="1"/>
          </p:cNvSpPr>
          <p:nvPr/>
        </p:nvSpPr>
        <p:spPr bwMode="auto">
          <a:xfrm>
            <a:off x="3848100" y="4464050"/>
            <a:ext cx="1447800" cy="14478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000"/>
          </a:p>
        </p:txBody>
      </p:sp>
      <p:sp>
        <p:nvSpPr>
          <p:cNvPr id="5130" name="Line 10">
            <a:extLst>
              <a:ext uri="{FF2B5EF4-FFF2-40B4-BE49-F238E27FC236}">
                <a16:creationId xmlns:a16="http://schemas.microsoft.com/office/drawing/2014/main" id="{F85EB4DB-AFB1-057D-22E5-E9EADB3525BE}"/>
              </a:ext>
            </a:extLst>
          </p:cNvPr>
          <p:cNvSpPr>
            <a:spLocks noChangeShapeType="1"/>
          </p:cNvSpPr>
          <p:nvPr/>
        </p:nvSpPr>
        <p:spPr bwMode="auto">
          <a:xfrm>
            <a:off x="3162300" y="5149850"/>
            <a:ext cx="2819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1" name="Line 11">
            <a:extLst>
              <a:ext uri="{FF2B5EF4-FFF2-40B4-BE49-F238E27FC236}">
                <a16:creationId xmlns:a16="http://schemas.microsoft.com/office/drawing/2014/main" id="{CFF801AC-62DE-51FB-686A-CE1D9217F00A}"/>
              </a:ext>
            </a:extLst>
          </p:cNvPr>
          <p:cNvSpPr>
            <a:spLocks noChangeShapeType="1"/>
          </p:cNvSpPr>
          <p:nvPr/>
        </p:nvSpPr>
        <p:spPr bwMode="auto">
          <a:xfrm>
            <a:off x="4610100" y="3778250"/>
            <a:ext cx="0" cy="2819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2" name="Line 12">
            <a:extLst>
              <a:ext uri="{FF2B5EF4-FFF2-40B4-BE49-F238E27FC236}">
                <a16:creationId xmlns:a16="http://schemas.microsoft.com/office/drawing/2014/main" id="{0F1B0660-65D1-AE3D-31A4-0F8A9AEA78BB}"/>
              </a:ext>
            </a:extLst>
          </p:cNvPr>
          <p:cNvSpPr>
            <a:spLocks noChangeShapeType="1"/>
          </p:cNvSpPr>
          <p:nvPr/>
        </p:nvSpPr>
        <p:spPr bwMode="auto">
          <a:xfrm>
            <a:off x="3543300" y="4235450"/>
            <a:ext cx="2133600" cy="1828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3" name="Line 13">
            <a:extLst>
              <a:ext uri="{FF2B5EF4-FFF2-40B4-BE49-F238E27FC236}">
                <a16:creationId xmlns:a16="http://schemas.microsoft.com/office/drawing/2014/main" id="{B0B79962-C4C7-BCF5-7325-CEDECB070EA7}"/>
              </a:ext>
            </a:extLst>
          </p:cNvPr>
          <p:cNvSpPr>
            <a:spLocks noChangeShapeType="1"/>
          </p:cNvSpPr>
          <p:nvPr/>
        </p:nvSpPr>
        <p:spPr bwMode="auto">
          <a:xfrm flipH="1">
            <a:off x="3543300" y="4159250"/>
            <a:ext cx="2057400" cy="2057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4" name="AutoShape 14">
            <a:extLst>
              <a:ext uri="{FF2B5EF4-FFF2-40B4-BE49-F238E27FC236}">
                <a16:creationId xmlns:a16="http://schemas.microsoft.com/office/drawing/2014/main" id="{9DF494A1-67A2-51AC-B0D7-7ED81588607C}"/>
              </a:ext>
            </a:extLst>
          </p:cNvPr>
          <p:cNvSpPr>
            <a:spLocks noChangeArrowheads="1"/>
          </p:cNvSpPr>
          <p:nvPr/>
        </p:nvSpPr>
        <p:spPr bwMode="auto">
          <a:xfrm flipV="1">
            <a:off x="6515100" y="3930650"/>
            <a:ext cx="1676400" cy="1752600"/>
          </a:xfrm>
          <a:custGeom>
            <a:avLst/>
            <a:gdLst>
              <a:gd name="T0" fmla="*/ 2147483646 w 21600"/>
              <a:gd name="T1" fmla="*/ 0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 name="T12" fmla="*/ 0 w 21600"/>
              <a:gd name="T13" fmla="*/ 0 h 21600"/>
              <a:gd name="T14" fmla="*/ 21600 w 21600"/>
              <a:gd name="T15" fmla="*/ 7713 h 21600"/>
            </a:gdLst>
            <a:ahLst/>
            <a:cxnLst>
              <a:cxn ang="T8">
                <a:pos x="T0" y="T1"/>
              </a:cxn>
              <a:cxn ang="T9">
                <a:pos x="T2" y="T3"/>
              </a:cxn>
              <a:cxn ang="T10">
                <a:pos x="T4" y="T5"/>
              </a:cxn>
              <a:cxn ang="T11">
                <a:pos x="T6" y="T7"/>
              </a:cxn>
            </a:cxnLst>
            <a:rect l="T12" t="T13" r="T14" b="T15"/>
            <a:pathLst>
              <a:path w="21600" h="21600">
                <a:moveTo>
                  <a:pt x="5400" y="10800"/>
                </a:moveTo>
                <a:cubicBezTo>
                  <a:pt x="5400" y="7817"/>
                  <a:pt x="7817" y="5400"/>
                  <a:pt x="10800" y="5400"/>
                </a:cubicBezTo>
                <a:cubicBezTo>
                  <a:pt x="13782" y="5400"/>
                  <a:pt x="16200" y="7817"/>
                  <a:pt x="16200" y="10799"/>
                </a:cubicBezTo>
                <a:lnTo>
                  <a:pt x="21600" y="10800"/>
                </a:lnTo>
                <a:cubicBezTo>
                  <a:pt x="21600" y="4835"/>
                  <a:pt x="16764" y="0"/>
                  <a:pt x="10800" y="0"/>
                </a:cubicBezTo>
                <a:cubicBezTo>
                  <a:pt x="4835" y="0"/>
                  <a:pt x="0" y="4835"/>
                  <a:pt x="0" y="10799"/>
                </a:cubicBezTo>
                <a:lnTo>
                  <a:pt x="5400" y="10800"/>
                </a:lnTo>
                <a:close/>
              </a:path>
            </a:pathLst>
          </a:custGeom>
          <a:solidFill>
            <a:srgbClr val="F6A1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5135" name="AutoShape 15">
            <a:extLst>
              <a:ext uri="{FF2B5EF4-FFF2-40B4-BE49-F238E27FC236}">
                <a16:creationId xmlns:a16="http://schemas.microsoft.com/office/drawing/2014/main" id="{45895409-9C16-56A6-21C9-82E586503FEB}"/>
              </a:ext>
            </a:extLst>
          </p:cNvPr>
          <p:cNvSpPr>
            <a:spLocks noChangeArrowheads="1"/>
          </p:cNvSpPr>
          <p:nvPr/>
        </p:nvSpPr>
        <p:spPr bwMode="auto">
          <a:xfrm>
            <a:off x="6438900" y="4006850"/>
            <a:ext cx="1828800" cy="1828800"/>
          </a:xfrm>
          <a:prstGeom prst="rtTriangle">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endParaRPr lang="en-IN" altLang="en-US" sz="2000"/>
          </a:p>
        </p:txBody>
      </p:sp>
      <p:sp>
        <p:nvSpPr>
          <p:cNvPr id="5136" name="Line 16">
            <a:extLst>
              <a:ext uri="{FF2B5EF4-FFF2-40B4-BE49-F238E27FC236}">
                <a16:creationId xmlns:a16="http://schemas.microsoft.com/office/drawing/2014/main" id="{42D64B07-E5A8-8989-59DE-506388615F51}"/>
              </a:ext>
            </a:extLst>
          </p:cNvPr>
          <p:cNvSpPr>
            <a:spLocks noChangeShapeType="1"/>
          </p:cNvSpPr>
          <p:nvPr/>
        </p:nvSpPr>
        <p:spPr bwMode="auto">
          <a:xfrm>
            <a:off x="7581900" y="5149850"/>
            <a:ext cx="3048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4">
            <a:extLst>
              <a:ext uri="{FF2B5EF4-FFF2-40B4-BE49-F238E27FC236}">
                <a16:creationId xmlns:a16="http://schemas.microsoft.com/office/drawing/2014/main" id="{AB0F0D27-7804-E7D3-C88D-3A9B72460E1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A830DE9-2CC5-48EF-946F-F6829D9A2386}" type="slidenum">
              <a:rPr lang="en-US" altLang="en-US" sz="1400" smtClean="0"/>
              <a:pPr>
                <a:spcBef>
                  <a:spcPct val="0"/>
                </a:spcBef>
                <a:buFontTx/>
                <a:buNone/>
              </a:pPr>
              <a:t>4</a:t>
            </a:fld>
            <a:endParaRPr lang="en-US" altLang="en-US" sz="1400"/>
          </a:p>
        </p:txBody>
      </p:sp>
      <p:sp>
        <p:nvSpPr>
          <p:cNvPr id="6147" name="Rectangle 2">
            <a:extLst>
              <a:ext uri="{FF2B5EF4-FFF2-40B4-BE49-F238E27FC236}">
                <a16:creationId xmlns:a16="http://schemas.microsoft.com/office/drawing/2014/main" id="{CCFA304E-FCA1-FCF5-C2FD-7AD07C99BB0E}"/>
              </a:ext>
            </a:extLst>
          </p:cNvPr>
          <p:cNvSpPr>
            <a:spLocks noGrp="1" noChangeArrowheads="1"/>
          </p:cNvSpPr>
          <p:nvPr>
            <p:ph type="title"/>
          </p:nvPr>
        </p:nvSpPr>
        <p:spPr>
          <a:xfrm>
            <a:off x="685800" y="381000"/>
            <a:ext cx="7772400" cy="914400"/>
          </a:xfrm>
        </p:spPr>
        <p:txBody>
          <a:bodyPr/>
          <a:lstStyle/>
          <a:p>
            <a:r>
              <a:rPr lang="en-US" altLang="en-US" sz="4000">
                <a:solidFill>
                  <a:srgbClr val="800000"/>
                </a:solidFill>
                <a:latin typeface="Arial" panose="020B0604020202020204" pitchFamily="34" charset="0"/>
              </a:rPr>
              <a:t>B-Trees : Concept </a:t>
            </a:r>
          </a:p>
        </p:txBody>
      </p:sp>
      <p:sp>
        <p:nvSpPr>
          <p:cNvPr id="6148" name="Text Box 3">
            <a:extLst>
              <a:ext uri="{FF2B5EF4-FFF2-40B4-BE49-F238E27FC236}">
                <a16:creationId xmlns:a16="http://schemas.microsoft.com/office/drawing/2014/main" id="{77EB45F3-9A50-577A-F017-264A12C9C07C}"/>
              </a:ext>
            </a:extLst>
          </p:cNvPr>
          <p:cNvSpPr txBox="1">
            <a:spLocks noChangeArrowheads="1"/>
          </p:cNvSpPr>
          <p:nvPr/>
        </p:nvSpPr>
        <p:spPr bwMode="auto">
          <a:xfrm>
            <a:off x="342900" y="1752600"/>
            <a:ext cx="8458200" cy="3786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just">
              <a:spcBef>
                <a:spcPct val="0"/>
              </a:spcBef>
            </a:pPr>
            <a:r>
              <a:rPr lang="en-IN" altLang="en-US" sz="2400"/>
              <a:t>Most of the tree operations (search, insert, delete, max, min, etc ) require O(h) disk accesses where h is the height of the tree. </a:t>
            </a:r>
          </a:p>
          <a:p>
            <a:pPr algn="just">
              <a:spcBef>
                <a:spcPct val="0"/>
              </a:spcBef>
            </a:pPr>
            <a:endParaRPr lang="en-IN" altLang="en-US" sz="2400"/>
          </a:p>
          <a:p>
            <a:pPr algn="just">
              <a:spcBef>
                <a:spcPct val="0"/>
              </a:spcBef>
            </a:pPr>
            <a:r>
              <a:rPr lang="en-IN" altLang="en-US" sz="2400"/>
              <a:t>B-tree is a fat tree. The height of B-Trees is kept low by putting maximum possible keys in a B-Tree node.</a:t>
            </a:r>
          </a:p>
          <a:p>
            <a:pPr algn="just">
              <a:spcBef>
                <a:spcPct val="0"/>
              </a:spcBef>
            </a:pPr>
            <a:endParaRPr lang="en-IN" altLang="en-US" sz="2400"/>
          </a:p>
          <a:p>
            <a:pPr algn="just">
              <a:spcBef>
                <a:spcPct val="0"/>
              </a:spcBef>
            </a:pPr>
            <a:r>
              <a:rPr lang="en-IN" altLang="en-US" sz="2400"/>
              <a:t>Since the height of the B-tree is low so total disk accesses for most of the operations are reduced significantly compared to balanced Binary Search Trees like AVL Tree, Red-Black Tree, etc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4">
            <a:extLst>
              <a:ext uri="{FF2B5EF4-FFF2-40B4-BE49-F238E27FC236}">
                <a16:creationId xmlns:a16="http://schemas.microsoft.com/office/drawing/2014/main" id="{F2B539DD-F20A-6BF8-0DDD-0B82ED252AC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98E1852-A06A-4356-B282-7DCBD03FA68C}" type="slidenum">
              <a:rPr lang="en-US" altLang="en-US" sz="1400" smtClean="0"/>
              <a:pPr>
                <a:spcBef>
                  <a:spcPct val="0"/>
                </a:spcBef>
                <a:buFontTx/>
                <a:buNone/>
              </a:pPr>
              <a:t>5</a:t>
            </a:fld>
            <a:endParaRPr lang="en-US" altLang="en-US" sz="1400"/>
          </a:p>
        </p:txBody>
      </p:sp>
      <p:sp>
        <p:nvSpPr>
          <p:cNvPr id="7171" name="Rectangle 2">
            <a:extLst>
              <a:ext uri="{FF2B5EF4-FFF2-40B4-BE49-F238E27FC236}">
                <a16:creationId xmlns:a16="http://schemas.microsoft.com/office/drawing/2014/main" id="{9068D5D8-3A00-E840-FC62-22CA5F6A7DAD}"/>
              </a:ext>
            </a:extLst>
          </p:cNvPr>
          <p:cNvSpPr>
            <a:spLocks noGrp="1" noChangeArrowheads="1"/>
          </p:cNvSpPr>
          <p:nvPr>
            <p:ph type="title"/>
          </p:nvPr>
        </p:nvSpPr>
        <p:spPr>
          <a:xfrm>
            <a:off x="609600" y="152400"/>
            <a:ext cx="7772400" cy="838200"/>
          </a:xfrm>
        </p:spPr>
        <p:txBody>
          <a:bodyPr/>
          <a:lstStyle/>
          <a:p>
            <a:r>
              <a:rPr lang="en-US" altLang="en-US" sz="4000">
                <a:solidFill>
                  <a:srgbClr val="800000"/>
                </a:solidFill>
                <a:latin typeface="Arial" panose="020B0604020202020204" pitchFamily="34" charset="0"/>
              </a:rPr>
              <a:t>Properties of B-Tree</a:t>
            </a:r>
          </a:p>
        </p:txBody>
      </p:sp>
      <p:sp>
        <p:nvSpPr>
          <p:cNvPr id="7172" name="Text Box 122">
            <a:extLst>
              <a:ext uri="{FF2B5EF4-FFF2-40B4-BE49-F238E27FC236}">
                <a16:creationId xmlns:a16="http://schemas.microsoft.com/office/drawing/2014/main" id="{3F208BCE-E24B-A320-6238-7831BE23CD61}"/>
              </a:ext>
            </a:extLst>
          </p:cNvPr>
          <p:cNvSpPr txBox="1">
            <a:spLocks noChangeArrowheads="1"/>
          </p:cNvSpPr>
          <p:nvPr/>
        </p:nvSpPr>
        <p:spPr bwMode="auto">
          <a:xfrm>
            <a:off x="685800" y="1752600"/>
            <a:ext cx="8077200" cy="409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r>
              <a:rPr lang="en-IN" altLang="en-US" sz="2000"/>
              <a:t>For balancing the tree each node should contain n/2 keys. So the B tree of order n can be defined as:</a:t>
            </a:r>
          </a:p>
          <a:p>
            <a:pPr>
              <a:spcBef>
                <a:spcPct val="0"/>
              </a:spcBef>
              <a:buFontTx/>
              <a:buNone/>
            </a:pPr>
            <a:endParaRPr lang="en-IN" altLang="en-US" sz="2000"/>
          </a:p>
          <a:p>
            <a:pPr>
              <a:spcBef>
                <a:spcPct val="0"/>
              </a:spcBef>
              <a:buFont typeface="Times New Roman" panose="02020603050405020304" pitchFamily="18" charset="0"/>
              <a:buAutoNum type="arabicPeriod"/>
            </a:pPr>
            <a:r>
              <a:rPr lang="en-IN" altLang="en-US" sz="2000"/>
              <a:t>All leaf nodes should be at same level.</a:t>
            </a:r>
          </a:p>
          <a:p>
            <a:pPr>
              <a:spcBef>
                <a:spcPct val="0"/>
              </a:spcBef>
              <a:buFont typeface="Times New Roman" panose="02020603050405020304" pitchFamily="18" charset="0"/>
              <a:buAutoNum type="arabicPeriod"/>
            </a:pPr>
            <a:r>
              <a:rPr lang="en-IN" altLang="en-US" sz="2000"/>
              <a:t>All leaf nodes can contain maximum n-1 keys.</a:t>
            </a:r>
          </a:p>
          <a:p>
            <a:pPr>
              <a:spcBef>
                <a:spcPct val="0"/>
              </a:spcBef>
              <a:buFont typeface="Times New Roman" panose="02020603050405020304" pitchFamily="18" charset="0"/>
              <a:buAutoNum type="arabicPeriod"/>
            </a:pPr>
            <a:r>
              <a:rPr lang="en-IN" altLang="en-US" sz="2000"/>
              <a:t>The root has at least two children.</a:t>
            </a:r>
          </a:p>
          <a:p>
            <a:pPr>
              <a:spcBef>
                <a:spcPct val="0"/>
              </a:spcBef>
              <a:buFont typeface="Times New Roman" panose="02020603050405020304" pitchFamily="18" charset="0"/>
              <a:buAutoNum type="arabicPeriod"/>
            </a:pPr>
            <a:r>
              <a:rPr lang="en-IN" altLang="en-US" sz="2000"/>
              <a:t>The maximum number of children should be n and each node can contain k keys. Where, k&lt;=n-1.</a:t>
            </a:r>
          </a:p>
          <a:p>
            <a:pPr>
              <a:spcBef>
                <a:spcPct val="0"/>
              </a:spcBef>
              <a:buFont typeface="Times New Roman" panose="02020603050405020304" pitchFamily="18" charset="0"/>
              <a:buAutoNum type="arabicPeriod"/>
            </a:pPr>
            <a:r>
              <a:rPr lang="en-IN" altLang="en-US" sz="2000"/>
              <a:t>Each node has at least n/2 and maximum n nonempty children.</a:t>
            </a:r>
          </a:p>
          <a:p>
            <a:pPr>
              <a:spcBef>
                <a:spcPct val="0"/>
              </a:spcBef>
              <a:buFont typeface="Times New Roman" panose="02020603050405020304" pitchFamily="18" charset="0"/>
              <a:buAutoNum type="arabicPeriod"/>
            </a:pPr>
            <a:r>
              <a:rPr lang="en-IN" altLang="en-US" sz="2000"/>
              <a:t>Keys in the non-leaf node will divide the left and right sub-tree where the value of left subtree keys will be less and value of right subtree keys will be more than that particular key.</a:t>
            </a:r>
          </a:p>
          <a:p>
            <a:pPr>
              <a:spcBef>
                <a:spcPct val="0"/>
              </a:spcBef>
            </a:pPr>
            <a:endParaRPr lang="en-IN" alt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Content Placeholder 6">
            <a:extLst>
              <a:ext uri="{FF2B5EF4-FFF2-40B4-BE49-F238E27FC236}">
                <a16:creationId xmlns:a16="http://schemas.microsoft.com/office/drawing/2014/main" id="{3F8F1AEE-29D8-438C-AD00-7995744600D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3400" y="457200"/>
            <a:ext cx="5713413" cy="5638800"/>
          </a:xfrm>
        </p:spPr>
      </p:pic>
      <p:sp>
        <p:nvSpPr>
          <p:cNvPr id="8195" name="Slide Number Placeholder 3">
            <a:extLst>
              <a:ext uri="{FF2B5EF4-FFF2-40B4-BE49-F238E27FC236}">
                <a16:creationId xmlns:a16="http://schemas.microsoft.com/office/drawing/2014/main" id="{81E11466-FB48-18D2-E9E9-CE466CBFCB30}"/>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93B5BA01-DBB7-4387-AD54-B3439B7C2221}" type="slidenum">
              <a:rPr lang="en-US" altLang="en-US" sz="1400" smtClean="0"/>
              <a:pPr>
                <a:spcBef>
                  <a:spcPct val="0"/>
                </a:spcBef>
                <a:buFontTx/>
                <a:buNone/>
              </a:pPr>
              <a:t>6</a:t>
            </a:fld>
            <a:endParaRPr lang="en-US"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Content Placeholder 2">
            <a:extLst>
              <a:ext uri="{FF2B5EF4-FFF2-40B4-BE49-F238E27FC236}">
                <a16:creationId xmlns:a16="http://schemas.microsoft.com/office/drawing/2014/main" id="{DEDF46EF-AB84-22F7-6A3B-B3B3E0667019}"/>
              </a:ext>
            </a:extLst>
          </p:cNvPr>
          <p:cNvSpPr>
            <a:spLocks noGrp="1" noChangeArrowheads="1"/>
          </p:cNvSpPr>
          <p:nvPr>
            <p:ph idx="1"/>
          </p:nvPr>
        </p:nvSpPr>
        <p:spPr>
          <a:xfrm>
            <a:off x="685800" y="304800"/>
            <a:ext cx="7772400" cy="5791200"/>
          </a:xfrm>
        </p:spPr>
        <p:txBody>
          <a:bodyPr/>
          <a:lstStyle/>
          <a:p>
            <a:r>
              <a:rPr lang="en-US" altLang="en-US"/>
              <a:t>B-Tree Properties (Balanced Tree)</a:t>
            </a:r>
          </a:p>
          <a:p>
            <a:r>
              <a:rPr lang="en-US" altLang="en-US"/>
              <a:t> 👉 All leaf nodes are at the same level. No leaf is deeper than another. </a:t>
            </a:r>
          </a:p>
          <a:p>
            <a:r>
              <a:rPr lang="en-US" altLang="en-US"/>
              <a:t>👉 Each node can store more than one key, not just one like in binary trees. </a:t>
            </a:r>
          </a:p>
          <a:p>
            <a:r>
              <a:rPr lang="en-US" altLang="en-US"/>
              <a:t>👉 Keys in every node are stored in sorted order for fast searching. </a:t>
            </a:r>
          </a:p>
          <a:p>
            <a:r>
              <a:rPr lang="en-US" altLang="en-US"/>
              <a:t>👉 Each key in a node splits the range for its child nodes: Left child &lt; key</a:t>
            </a:r>
          </a:p>
          <a:p>
            <a:r>
              <a:rPr lang="en-US" altLang="en-US"/>
              <a:t> Right child &gt; key </a:t>
            </a:r>
          </a:p>
        </p:txBody>
      </p:sp>
      <p:sp>
        <p:nvSpPr>
          <p:cNvPr id="9220" name="Slide Number Placeholder 4">
            <a:extLst>
              <a:ext uri="{FF2B5EF4-FFF2-40B4-BE49-F238E27FC236}">
                <a16:creationId xmlns:a16="http://schemas.microsoft.com/office/drawing/2014/main" id="{E6065FBD-6401-320A-CC7C-B3D233F474CF}"/>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2B402C61-618B-4467-A654-751973B6CD16}" type="slidenum">
              <a:rPr lang="en-US" altLang="en-US" sz="1400" smtClean="0"/>
              <a:pPr>
                <a:spcBef>
                  <a:spcPct val="0"/>
                </a:spcBef>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26B39F-F4E9-881D-2B7C-4922DD1DCDB0}"/>
              </a:ext>
            </a:extLst>
          </p:cNvPr>
          <p:cNvSpPr>
            <a:spLocks noGrp="1"/>
          </p:cNvSpPr>
          <p:nvPr>
            <p:ph idx="1"/>
          </p:nvPr>
        </p:nvSpPr>
        <p:spPr>
          <a:xfrm>
            <a:off x="685800" y="152400"/>
            <a:ext cx="7772400" cy="5562600"/>
          </a:xfrm>
        </p:spPr>
        <p:txBody>
          <a:bodyPr/>
          <a:lstStyle/>
          <a:p>
            <a:pPr marL="0" indent="0">
              <a:buFontTx/>
              <a:buNone/>
              <a:defRPr/>
            </a:pPr>
            <a:r>
              <a:rPr lang="en-US" dirty="0"/>
              <a:t>👉 Each node (except root) must have: At least ⌈m/2⌉ children (if order is m) At most m children </a:t>
            </a:r>
          </a:p>
          <a:p>
            <a:pPr>
              <a:defRPr/>
            </a:pPr>
            <a:r>
              <a:rPr lang="en-US" dirty="0"/>
              <a:t>Efficient Searching 👉 You search in a node like in an array, then move to a child if needed. </a:t>
            </a:r>
          </a:p>
          <a:p>
            <a:pPr>
              <a:defRPr/>
            </a:pPr>
            <a:r>
              <a:rPr lang="en-US" dirty="0"/>
              <a:t>Used in Disk Storage 👉 B-trees are good for large data stored on disks like databases and file systems. </a:t>
            </a:r>
          </a:p>
        </p:txBody>
      </p:sp>
      <p:sp>
        <p:nvSpPr>
          <p:cNvPr id="10244" name="Slide Number Placeholder 4">
            <a:extLst>
              <a:ext uri="{FF2B5EF4-FFF2-40B4-BE49-F238E27FC236}">
                <a16:creationId xmlns:a16="http://schemas.microsoft.com/office/drawing/2014/main" id="{C0103DD5-F973-F0F0-C7AE-BF5FE9DA191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5B396527-A152-4956-98BF-F12115C416A6}" type="slidenum">
              <a:rPr lang="en-US" altLang="en-US" sz="1400" smtClean="0"/>
              <a:pPr>
                <a:spcBef>
                  <a:spcPct val="0"/>
                </a:spcBef>
                <a:buFontTx/>
                <a:buNone/>
              </a:pPr>
              <a:t>8</a:t>
            </a:fld>
            <a:endParaRPr lang="en-US" altLang="en-US" sz="14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190E45-4561-8F58-D133-E8B65C6B8CF5}"/>
              </a:ext>
            </a:extLst>
          </p:cNvPr>
          <p:cNvSpPr>
            <a:spLocks noGrp="1"/>
          </p:cNvSpPr>
          <p:nvPr>
            <p:ph idx="1"/>
          </p:nvPr>
        </p:nvSpPr>
        <p:spPr>
          <a:xfrm>
            <a:off x="685800" y="457200"/>
            <a:ext cx="7772400" cy="5638800"/>
          </a:xfrm>
        </p:spPr>
        <p:txBody>
          <a:bodyPr/>
          <a:lstStyle/>
          <a:p>
            <a:pPr>
              <a:defRPr/>
            </a:pPr>
            <a:r>
              <a:rPr lang="en-US" b="1" dirty="0"/>
              <a:t>B-tree of Order 5 (m = 5)</a:t>
            </a:r>
          </a:p>
          <a:p>
            <a:pPr>
              <a:defRPr/>
            </a:pPr>
            <a:r>
              <a:rPr lang="en-US" b="1" dirty="0"/>
              <a:t>Max Children per node = m = 5</a:t>
            </a:r>
            <a:endParaRPr lang="en-US" dirty="0"/>
          </a:p>
          <a:p>
            <a:pPr>
              <a:defRPr/>
            </a:pPr>
            <a:r>
              <a:rPr lang="en-US" b="1" dirty="0"/>
              <a:t>Max Keys per node = m - 1 = 4</a:t>
            </a:r>
            <a:endParaRPr lang="en-US" dirty="0"/>
          </a:p>
          <a:p>
            <a:pPr>
              <a:defRPr/>
            </a:pPr>
            <a:r>
              <a:rPr lang="en-US" b="1" dirty="0"/>
              <a:t>Min Children per node = ⌈m/2⌉ = ⌈5/2⌉ = 3</a:t>
            </a:r>
            <a:endParaRPr lang="en-US" dirty="0"/>
          </a:p>
          <a:p>
            <a:pPr>
              <a:defRPr/>
            </a:pPr>
            <a:r>
              <a:rPr lang="en-US" b="1"/>
              <a:t>Min Keys per node = Min Children - 1 = 3 - 1 = 2</a:t>
            </a:r>
            <a:endParaRPr lang="en-US"/>
          </a:p>
          <a:p>
            <a:pPr marL="0" indent="0">
              <a:buFontTx/>
              <a:buNone/>
              <a:defRPr/>
            </a:pPr>
            <a:endParaRPr lang="en-US" dirty="0"/>
          </a:p>
        </p:txBody>
      </p:sp>
      <p:sp>
        <p:nvSpPr>
          <p:cNvPr id="11268" name="Slide Number Placeholder 4">
            <a:extLst>
              <a:ext uri="{FF2B5EF4-FFF2-40B4-BE49-F238E27FC236}">
                <a16:creationId xmlns:a16="http://schemas.microsoft.com/office/drawing/2014/main" id="{074333BE-02F5-2501-1F5D-DEB6173D18BB}"/>
              </a:ext>
            </a:extLst>
          </p:cNvPr>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4D5D460B-A3A7-41C4-A226-B56B0B8AC62E}" type="slidenum">
              <a:rPr lang="en-US" altLang="en-US" sz="1400" smtClean="0"/>
              <a:pPr>
                <a:spcBef>
                  <a:spcPct val="0"/>
                </a:spcBef>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E40886F-2B02-7024-02BF-357B4508234C}"/>
              </a:ext>
            </a:extLst>
          </p:cNvPr>
          <p:cNvSpPr>
            <a:spLocks noGrp="1" noChangeArrowheads="1"/>
          </p:cNvSpPr>
          <p:nvPr>
            <p:ph type="title"/>
          </p:nvPr>
        </p:nvSpPr>
        <p:spPr>
          <a:xfrm>
            <a:off x="609600" y="133350"/>
            <a:ext cx="7772400" cy="838200"/>
          </a:xfrm>
        </p:spPr>
        <p:txBody>
          <a:bodyPr/>
          <a:lstStyle/>
          <a:p>
            <a:r>
              <a:rPr lang="en-US" altLang="en-US" sz="4000">
                <a:solidFill>
                  <a:srgbClr val="800000"/>
                </a:solidFill>
                <a:latin typeface="Arial" panose="020B0604020202020204" pitchFamily="34" charset="0"/>
              </a:rPr>
              <a:t>Example</a:t>
            </a:r>
          </a:p>
        </p:txBody>
      </p:sp>
      <p:pic>
        <p:nvPicPr>
          <p:cNvPr id="12291" name="Picture 66">
            <a:extLst>
              <a:ext uri="{FF2B5EF4-FFF2-40B4-BE49-F238E27FC236}">
                <a16:creationId xmlns:a16="http://schemas.microsoft.com/office/drawing/2014/main" id="{C4D33AD5-E99B-5656-0246-C1940CCA9A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905000"/>
            <a:ext cx="65532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365CBAE-D370-F97F-CCA6-3E276B9BACD1}"/>
              </a:ext>
            </a:extLst>
          </p:cNvPr>
          <p:cNvSpPr>
            <a:spLocks noGrp="1" noChangeArrowheads="1"/>
          </p:cNvSpPr>
          <p:nvPr>
            <p:ph type="title"/>
          </p:nvPr>
        </p:nvSpPr>
        <p:spPr/>
        <p:txBody>
          <a:bodyPr/>
          <a:lstStyle/>
          <a:p>
            <a:r>
              <a:rPr lang="en-IN" altLang="en-US" sz="4000">
                <a:solidFill>
                  <a:srgbClr val="800000"/>
                </a:solidFill>
                <a:latin typeface="Arial" panose="020B0604020202020204" pitchFamily="34" charset="0"/>
              </a:rPr>
              <a:t>Example: Searching 120 in the given B-Tree</a:t>
            </a:r>
            <a:endParaRPr lang="en-IN" altLang="en-US"/>
          </a:p>
        </p:txBody>
      </p:sp>
      <p:sp>
        <p:nvSpPr>
          <p:cNvPr id="13315" name="Slide Number Placeholder 3">
            <a:extLst>
              <a:ext uri="{FF2B5EF4-FFF2-40B4-BE49-F238E27FC236}">
                <a16:creationId xmlns:a16="http://schemas.microsoft.com/office/drawing/2014/main" id="{046613B5-301E-EDEC-427B-7D95F9F9A3BB}"/>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9C8E1ED-7E9E-4438-BC62-AB464D4A7E08}" type="slidenum">
              <a:rPr lang="en-US" altLang="en-US" sz="1400" smtClean="0"/>
              <a:pPr>
                <a:spcBef>
                  <a:spcPct val="0"/>
                </a:spcBef>
                <a:buFontTx/>
                <a:buNone/>
              </a:pPr>
              <a:t>11</a:t>
            </a:fld>
            <a:endParaRPr lang="en-US" altLang="en-US" sz="1400"/>
          </a:p>
        </p:txBody>
      </p:sp>
      <p:pic>
        <p:nvPicPr>
          <p:cNvPr id="13316" name="Picture 4">
            <a:extLst>
              <a:ext uri="{FF2B5EF4-FFF2-40B4-BE49-F238E27FC236}">
                <a16:creationId xmlns:a16="http://schemas.microsoft.com/office/drawing/2014/main" id="{0D39F624-CE50-FF65-10C8-7B0C906A7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2688" y="2238375"/>
            <a:ext cx="4238625"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7A37C91A-1E55-4CDE-96A8-736B8C8CB422}"/>
              </a:ext>
            </a:extLst>
          </p:cNvPr>
          <p:cNvSpPr>
            <a:spLocks noGrp="1" noChangeArrowheads="1"/>
          </p:cNvSpPr>
          <p:nvPr>
            <p:ph type="title"/>
          </p:nvPr>
        </p:nvSpPr>
        <p:spPr>
          <a:xfrm>
            <a:off x="685800" y="609600"/>
            <a:ext cx="7772400" cy="304800"/>
          </a:xfrm>
        </p:spPr>
        <p:txBody>
          <a:bodyPr/>
          <a:lstStyle/>
          <a:p>
            <a:r>
              <a:rPr lang="en-IN" altLang="en-US" b="1"/>
              <a:t>Solution:</a:t>
            </a:r>
            <a:br>
              <a:rPr lang="en-IN" altLang="en-US"/>
            </a:br>
            <a:endParaRPr lang="en-IN" altLang="en-US"/>
          </a:p>
        </p:txBody>
      </p:sp>
      <p:sp>
        <p:nvSpPr>
          <p:cNvPr id="14339" name="Slide Number Placeholder 3">
            <a:extLst>
              <a:ext uri="{FF2B5EF4-FFF2-40B4-BE49-F238E27FC236}">
                <a16:creationId xmlns:a16="http://schemas.microsoft.com/office/drawing/2014/main" id="{341628A4-2262-6EB0-D16F-8DC1E6C4B00B}"/>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844AD95-FFBD-42C1-950E-A9358CAB4829}" type="slidenum">
              <a:rPr lang="en-US" altLang="en-US" sz="1400" smtClean="0"/>
              <a:pPr>
                <a:spcBef>
                  <a:spcPct val="0"/>
                </a:spcBef>
                <a:buFontTx/>
                <a:buNone/>
              </a:pPr>
              <a:t>12</a:t>
            </a:fld>
            <a:endParaRPr lang="en-US" altLang="en-US" sz="1400"/>
          </a:p>
        </p:txBody>
      </p:sp>
      <p:pic>
        <p:nvPicPr>
          <p:cNvPr id="14340" name="Picture 4">
            <a:extLst>
              <a:ext uri="{FF2B5EF4-FFF2-40B4-BE49-F238E27FC236}">
                <a16:creationId xmlns:a16="http://schemas.microsoft.com/office/drawing/2014/main" id="{81CE937A-18FD-048E-7EEA-79F3C8D5F8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038" y="838200"/>
            <a:ext cx="4238625" cy="29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Picture 5">
            <a:extLst>
              <a:ext uri="{FF2B5EF4-FFF2-40B4-BE49-F238E27FC236}">
                <a16:creationId xmlns:a16="http://schemas.microsoft.com/office/drawing/2014/main" id="{8B542714-B4AF-5C36-5DF9-C7E487DBF8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882650"/>
            <a:ext cx="4114800" cy="313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6">
            <a:extLst>
              <a:ext uri="{FF2B5EF4-FFF2-40B4-BE49-F238E27FC236}">
                <a16:creationId xmlns:a16="http://schemas.microsoft.com/office/drawing/2014/main" id="{0ADF9BDB-6810-9EFA-0D4E-49BAD7254E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4638" y="4095750"/>
            <a:ext cx="6151562"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4">
            <a:extLst>
              <a:ext uri="{FF2B5EF4-FFF2-40B4-BE49-F238E27FC236}">
                <a16:creationId xmlns:a16="http://schemas.microsoft.com/office/drawing/2014/main" id="{28874E72-D8C6-295B-0280-9EBB18B48E4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D56100D-C551-49FC-9355-6687952C09A0}" type="slidenum">
              <a:rPr lang="en-US" altLang="en-US" sz="1400" smtClean="0"/>
              <a:pPr>
                <a:spcBef>
                  <a:spcPct val="0"/>
                </a:spcBef>
                <a:buFontTx/>
                <a:buNone/>
              </a:pPr>
              <a:t>13</a:t>
            </a:fld>
            <a:endParaRPr lang="en-US" altLang="en-US" sz="1400"/>
          </a:p>
        </p:txBody>
      </p:sp>
      <p:sp>
        <p:nvSpPr>
          <p:cNvPr id="15363" name="Rectangle 2">
            <a:extLst>
              <a:ext uri="{FF2B5EF4-FFF2-40B4-BE49-F238E27FC236}">
                <a16:creationId xmlns:a16="http://schemas.microsoft.com/office/drawing/2014/main" id="{D7F57228-60C6-2BAA-1699-E16881222CC9}"/>
              </a:ext>
            </a:extLst>
          </p:cNvPr>
          <p:cNvSpPr>
            <a:spLocks noGrp="1" noChangeArrowheads="1"/>
          </p:cNvSpPr>
          <p:nvPr>
            <p:ph type="title"/>
          </p:nvPr>
        </p:nvSpPr>
        <p:spPr>
          <a:xfrm>
            <a:off x="609600" y="152400"/>
            <a:ext cx="7772400" cy="838200"/>
          </a:xfrm>
        </p:spPr>
        <p:txBody>
          <a:bodyPr/>
          <a:lstStyle/>
          <a:p>
            <a:r>
              <a:rPr lang="en-US" altLang="en-US" sz="4000">
                <a:solidFill>
                  <a:srgbClr val="800000"/>
                </a:solidFill>
                <a:latin typeface="Arial" panose="020B0604020202020204" pitchFamily="34" charset="0"/>
              </a:rPr>
              <a:t>B-Tree performance</a:t>
            </a:r>
          </a:p>
        </p:txBody>
      </p:sp>
      <p:sp>
        <p:nvSpPr>
          <p:cNvPr id="15364" name="Text Box 23">
            <a:extLst>
              <a:ext uri="{FF2B5EF4-FFF2-40B4-BE49-F238E27FC236}">
                <a16:creationId xmlns:a16="http://schemas.microsoft.com/office/drawing/2014/main" id="{99E5E2E8-44F5-6F9F-8445-FB5DD5CDFA86}"/>
              </a:ext>
            </a:extLst>
          </p:cNvPr>
          <p:cNvSpPr txBox="1">
            <a:spLocks noChangeArrowheads="1"/>
          </p:cNvSpPr>
          <p:nvPr/>
        </p:nvSpPr>
        <p:spPr bwMode="auto">
          <a:xfrm>
            <a:off x="990600" y="1676400"/>
            <a:ext cx="746760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000">
                <a:latin typeface="Arial" panose="020B0604020202020204" pitchFamily="34" charset="0"/>
              </a:rPr>
              <a:t>Let </a:t>
            </a:r>
            <a:r>
              <a:rPr lang="en-US" altLang="en-US" sz="2000" i="1">
                <a:latin typeface="Arial" panose="020B0604020202020204" pitchFamily="34" charset="0"/>
              </a:rPr>
              <a:t>h</a:t>
            </a:r>
            <a:r>
              <a:rPr lang="en-US" altLang="en-US" sz="2000">
                <a:latin typeface="Arial" panose="020B0604020202020204" pitchFamily="34" charset="0"/>
              </a:rPr>
              <a:t> = height of the B-tree.</a:t>
            </a:r>
          </a:p>
          <a:p>
            <a:pPr>
              <a:spcBef>
                <a:spcPct val="50000"/>
              </a:spcBef>
              <a:buFontTx/>
              <a:buNone/>
            </a:pPr>
            <a:r>
              <a:rPr lang="en-US" altLang="en-US" sz="2000">
                <a:latin typeface="Arial" panose="020B0604020202020204" pitchFamily="34" charset="0"/>
              </a:rPr>
              <a:t>get(k): at most </a:t>
            </a:r>
            <a:r>
              <a:rPr lang="en-US" altLang="en-US" sz="2000" i="1">
                <a:latin typeface="Arial" panose="020B0604020202020204" pitchFamily="34" charset="0"/>
              </a:rPr>
              <a:t>h</a:t>
            </a:r>
            <a:r>
              <a:rPr lang="en-US" altLang="en-US" sz="2000">
                <a:latin typeface="Arial" panose="020B0604020202020204" pitchFamily="34" charset="0"/>
              </a:rPr>
              <a:t>  disk accesses.              O(</a:t>
            </a:r>
            <a:r>
              <a:rPr lang="en-US" altLang="en-US" sz="2000" i="1">
                <a:latin typeface="Arial" panose="020B0604020202020204" pitchFamily="34" charset="0"/>
              </a:rPr>
              <a:t>h</a:t>
            </a:r>
            <a:r>
              <a:rPr lang="en-US" altLang="en-US" sz="2000">
                <a:latin typeface="Arial" panose="020B0604020202020204" pitchFamily="34" charset="0"/>
              </a:rPr>
              <a:t>)</a:t>
            </a:r>
          </a:p>
          <a:p>
            <a:pPr>
              <a:spcBef>
                <a:spcPct val="50000"/>
              </a:spcBef>
              <a:buFontTx/>
              <a:buNone/>
            </a:pPr>
            <a:r>
              <a:rPr lang="en-US" altLang="en-US" sz="2000">
                <a:latin typeface="Arial" panose="020B0604020202020204" pitchFamily="34" charset="0"/>
              </a:rPr>
              <a:t>put(k):  at most 3</a:t>
            </a:r>
            <a:r>
              <a:rPr lang="en-US" altLang="en-US" sz="2000" i="1">
                <a:latin typeface="Arial" panose="020B0604020202020204" pitchFamily="34" charset="0"/>
              </a:rPr>
              <a:t>h</a:t>
            </a:r>
            <a:r>
              <a:rPr lang="en-US" altLang="en-US" sz="2000">
                <a:latin typeface="Arial" panose="020B0604020202020204" pitchFamily="34" charset="0"/>
              </a:rPr>
              <a:t> + 1  disk accesses.     O(</a:t>
            </a:r>
            <a:r>
              <a:rPr lang="en-US" altLang="en-US" sz="2000" i="1">
                <a:latin typeface="Arial" panose="020B0604020202020204" pitchFamily="34" charset="0"/>
              </a:rPr>
              <a:t>h</a:t>
            </a:r>
            <a:r>
              <a:rPr lang="en-US" altLang="en-US" sz="2000">
                <a:latin typeface="Arial" panose="020B0604020202020204" pitchFamily="34" charset="0"/>
              </a:rPr>
              <a:t>)</a:t>
            </a:r>
          </a:p>
          <a:p>
            <a:pPr>
              <a:spcBef>
                <a:spcPct val="50000"/>
              </a:spcBef>
              <a:buFontTx/>
              <a:buNone/>
            </a:pPr>
            <a:r>
              <a:rPr lang="en-US" altLang="en-US" sz="2000">
                <a:latin typeface="Arial" panose="020B0604020202020204" pitchFamily="34" charset="0"/>
              </a:rPr>
              <a:t>remove(k): at most 3</a:t>
            </a:r>
            <a:r>
              <a:rPr lang="en-US" altLang="en-US" sz="2000" i="1">
                <a:latin typeface="Arial" panose="020B0604020202020204" pitchFamily="34" charset="0"/>
              </a:rPr>
              <a:t>h</a:t>
            </a:r>
            <a:r>
              <a:rPr lang="en-US" altLang="en-US" sz="2000">
                <a:latin typeface="Arial" panose="020B0604020202020204" pitchFamily="34" charset="0"/>
              </a:rPr>
              <a:t> disk accesses.      O(</a:t>
            </a:r>
            <a:r>
              <a:rPr lang="en-US" altLang="en-US" sz="2000" i="1">
                <a:latin typeface="Arial" panose="020B0604020202020204" pitchFamily="34" charset="0"/>
              </a:rPr>
              <a:t>h</a:t>
            </a:r>
            <a:r>
              <a:rPr lang="en-US" altLang="en-US" sz="2000">
                <a:latin typeface="Arial" panose="020B0604020202020204" pitchFamily="34" charset="0"/>
              </a:rPr>
              <a:t>)</a:t>
            </a:r>
          </a:p>
          <a:p>
            <a:pPr>
              <a:spcBef>
                <a:spcPct val="50000"/>
              </a:spcBef>
              <a:buFontTx/>
              <a:buNone/>
            </a:pPr>
            <a:endParaRPr lang="en-US" altLang="en-US" sz="2000">
              <a:latin typeface="Arial" panose="020B0604020202020204" pitchFamily="34" charset="0"/>
            </a:endParaRPr>
          </a:p>
          <a:p>
            <a:pPr>
              <a:spcBef>
                <a:spcPct val="50000"/>
              </a:spcBef>
              <a:buFontTx/>
              <a:buNone/>
            </a:pPr>
            <a:r>
              <a:rPr lang="en-US" altLang="en-US" sz="2000" i="1">
                <a:latin typeface="Arial" panose="020B0604020202020204" pitchFamily="34" charset="0"/>
              </a:rPr>
              <a:t>h</a:t>
            </a:r>
            <a:r>
              <a:rPr lang="en-US" altLang="en-US" sz="2000">
                <a:latin typeface="Arial" panose="020B0604020202020204" pitchFamily="34" charset="0"/>
              </a:rPr>
              <a:t>  &lt;  log </a:t>
            </a:r>
            <a:r>
              <a:rPr lang="en-US" altLang="en-US" sz="2000" baseline="-25000">
                <a:latin typeface="Arial" panose="020B0604020202020204" pitchFamily="34" charset="0"/>
              </a:rPr>
              <a:t>d</a:t>
            </a:r>
            <a:r>
              <a:rPr lang="en-US" altLang="en-US" sz="2000">
                <a:latin typeface="Arial" panose="020B0604020202020204" pitchFamily="34" charset="0"/>
              </a:rPr>
              <a:t> (</a:t>
            </a:r>
            <a:r>
              <a:rPr lang="en-US" altLang="en-US" sz="2000" i="1">
                <a:latin typeface="Arial" panose="020B0604020202020204" pitchFamily="34" charset="0"/>
              </a:rPr>
              <a:t>n</a:t>
            </a:r>
            <a:r>
              <a:rPr lang="en-US" altLang="en-US" sz="2000">
                <a:latin typeface="Arial" panose="020B0604020202020204" pitchFamily="34" charset="0"/>
              </a:rPr>
              <a:t> + 1)/2 + 1    where </a:t>
            </a:r>
            <a:r>
              <a:rPr lang="en-US" altLang="en-US" sz="2000" i="1">
                <a:latin typeface="Arial" panose="020B0604020202020204" pitchFamily="34" charset="0"/>
              </a:rPr>
              <a:t>d</a:t>
            </a:r>
            <a:r>
              <a:rPr lang="en-US" altLang="en-US" sz="2000">
                <a:latin typeface="Arial" panose="020B0604020202020204" pitchFamily="34" charset="0"/>
              </a:rPr>
              <a:t> = </a:t>
            </a:r>
            <a:r>
              <a:rPr lang="en-US" altLang="en-US" sz="2000">
                <a:latin typeface="Arial" panose="020B0604020202020204" pitchFamily="34" charset="0"/>
                <a:sym typeface="Symbol" panose="05050102010706020507" pitchFamily="18" charset="2"/>
              </a:rPr>
              <a:t></a:t>
            </a:r>
            <a:r>
              <a:rPr lang="en-US" altLang="en-US" sz="2000" i="1">
                <a:latin typeface="Arial" panose="020B0604020202020204" pitchFamily="34" charset="0"/>
              </a:rPr>
              <a:t>m</a:t>
            </a:r>
            <a:r>
              <a:rPr lang="en-US" altLang="en-US" sz="2000">
                <a:latin typeface="Arial" panose="020B0604020202020204" pitchFamily="34" charset="0"/>
              </a:rPr>
              <a:t>/2</a:t>
            </a:r>
            <a:r>
              <a:rPr lang="en-US" altLang="en-US" sz="2000">
                <a:latin typeface="Arial" panose="020B0604020202020204" pitchFamily="34" charset="0"/>
                <a:sym typeface="Symbol" panose="05050102010706020507" pitchFamily="18" charset="2"/>
              </a:rPr>
              <a:t></a:t>
            </a:r>
            <a:r>
              <a:rPr lang="en-US" altLang="en-US" sz="2000">
                <a:latin typeface="Arial" panose="020B0604020202020204" pitchFamily="34" charset="0"/>
              </a:rPr>
              <a:t>    (Sahni, p.641).</a:t>
            </a:r>
          </a:p>
          <a:p>
            <a:pPr>
              <a:spcBef>
                <a:spcPct val="50000"/>
              </a:spcBef>
              <a:buFontTx/>
              <a:buNone/>
            </a:pPr>
            <a:r>
              <a:rPr lang="en-US" altLang="en-US" sz="2000">
                <a:latin typeface="Arial" panose="020B0604020202020204" pitchFamily="34" charset="0"/>
              </a:rPr>
              <a:t>An important point is that the constant factors are relatively low.</a:t>
            </a:r>
          </a:p>
          <a:p>
            <a:pPr>
              <a:spcBef>
                <a:spcPct val="50000"/>
              </a:spcBef>
              <a:buFontTx/>
              <a:buNone/>
            </a:pPr>
            <a:r>
              <a:rPr lang="en-US" altLang="en-US" sz="2000" i="1">
                <a:latin typeface="Arial" panose="020B0604020202020204" pitchFamily="34" charset="0"/>
              </a:rPr>
              <a:t>m</a:t>
            </a:r>
            <a:r>
              <a:rPr lang="en-US" altLang="en-US" sz="2000">
                <a:latin typeface="Arial" panose="020B0604020202020204" pitchFamily="34" charset="0"/>
              </a:rPr>
              <a:t> should be chosen so as to match the maximum node size to the block size on the disk.</a:t>
            </a:r>
          </a:p>
          <a:p>
            <a:pPr>
              <a:spcBef>
                <a:spcPct val="50000"/>
              </a:spcBef>
              <a:buFontTx/>
              <a:buNone/>
            </a:pPr>
            <a:r>
              <a:rPr lang="en-US" altLang="en-US" sz="2000">
                <a:latin typeface="Arial" panose="020B0604020202020204" pitchFamily="34" charset="0"/>
              </a:rPr>
              <a:t>Example: </a:t>
            </a:r>
            <a:r>
              <a:rPr lang="en-US" altLang="en-US" sz="2000" i="1">
                <a:latin typeface="Arial" panose="020B0604020202020204" pitchFamily="34" charset="0"/>
              </a:rPr>
              <a:t>m</a:t>
            </a:r>
            <a:r>
              <a:rPr lang="en-US" altLang="en-US" sz="2000">
                <a:latin typeface="Arial" panose="020B0604020202020204" pitchFamily="34" charset="0"/>
              </a:rPr>
              <a:t> = 128, </a:t>
            </a:r>
            <a:r>
              <a:rPr lang="en-US" altLang="en-US" sz="2000" i="1">
                <a:latin typeface="Arial" panose="020B0604020202020204" pitchFamily="34" charset="0"/>
              </a:rPr>
              <a:t>d</a:t>
            </a:r>
            <a:r>
              <a:rPr lang="en-US" altLang="en-US" sz="2000">
                <a:latin typeface="Arial" panose="020B0604020202020204" pitchFamily="34" charset="0"/>
              </a:rPr>
              <a:t> = 64, n </a:t>
            </a:r>
            <a:r>
              <a:rPr lang="en-US" altLang="en-US" sz="2000">
                <a:latin typeface="Arial" panose="020B0604020202020204" pitchFamily="34" charset="0"/>
                <a:sym typeface="Symbol" panose="05050102010706020507" pitchFamily="18" charset="2"/>
              </a:rPr>
              <a:t></a:t>
            </a:r>
            <a:r>
              <a:rPr lang="en-US" altLang="en-US" sz="2000">
                <a:latin typeface="Arial" panose="020B0604020202020204" pitchFamily="34" charset="0"/>
              </a:rPr>
              <a:t> 64</a:t>
            </a:r>
            <a:r>
              <a:rPr lang="en-US" altLang="en-US" sz="2000" baseline="30000">
                <a:latin typeface="Arial" panose="020B0604020202020204" pitchFamily="34" charset="0"/>
              </a:rPr>
              <a:t>3 </a:t>
            </a:r>
            <a:r>
              <a:rPr lang="en-US" altLang="en-US" sz="2000">
                <a:latin typeface="Arial" panose="020B0604020202020204" pitchFamily="34" charset="0"/>
              </a:rPr>
              <a:t>= 262144</a:t>
            </a:r>
            <a:r>
              <a:rPr lang="en-US" altLang="en-US" sz="2000" baseline="30000">
                <a:latin typeface="Arial" panose="020B0604020202020204" pitchFamily="34" charset="0"/>
              </a:rPr>
              <a:t> </a:t>
            </a:r>
            <a:r>
              <a:rPr lang="en-US" altLang="en-US" sz="2000">
                <a:latin typeface="Arial" panose="020B0604020202020204" pitchFamily="34" charset="0"/>
              </a:rPr>
              <a:t>, </a:t>
            </a:r>
            <a:r>
              <a:rPr lang="en-US" altLang="en-US" sz="2000" i="1">
                <a:latin typeface="Arial" panose="020B0604020202020204" pitchFamily="34" charset="0"/>
              </a:rPr>
              <a:t>h</a:t>
            </a:r>
            <a:r>
              <a:rPr lang="en-US" altLang="en-US" sz="2000">
                <a:latin typeface="Arial" panose="020B0604020202020204" pitchFamily="34" charset="0"/>
              </a:rPr>
              <a:t> = 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4">
            <a:extLst>
              <a:ext uri="{FF2B5EF4-FFF2-40B4-BE49-F238E27FC236}">
                <a16:creationId xmlns:a16="http://schemas.microsoft.com/office/drawing/2014/main" id="{E4AB73E7-4F87-4B7E-C327-A147F03127B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056141A8-A2C8-4264-A4EF-39E328E99D6B}" type="slidenum">
              <a:rPr lang="en-US" altLang="en-US" sz="1400" smtClean="0"/>
              <a:pPr>
                <a:spcBef>
                  <a:spcPct val="0"/>
                </a:spcBef>
                <a:buFontTx/>
                <a:buNone/>
              </a:pPr>
              <a:t>14</a:t>
            </a:fld>
            <a:endParaRPr lang="en-US" altLang="en-US" sz="1400"/>
          </a:p>
        </p:txBody>
      </p:sp>
      <p:sp>
        <p:nvSpPr>
          <p:cNvPr id="16387" name="Rectangle 2">
            <a:extLst>
              <a:ext uri="{FF2B5EF4-FFF2-40B4-BE49-F238E27FC236}">
                <a16:creationId xmlns:a16="http://schemas.microsoft.com/office/drawing/2014/main" id="{2C089D86-2B2E-BFD2-0E2A-3B3DC9C74393}"/>
              </a:ext>
            </a:extLst>
          </p:cNvPr>
          <p:cNvSpPr>
            <a:spLocks noGrp="1" noChangeArrowheads="1"/>
          </p:cNvSpPr>
          <p:nvPr>
            <p:ph type="title"/>
          </p:nvPr>
        </p:nvSpPr>
        <p:spPr>
          <a:xfrm>
            <a:off x="609600" y="609600"/>
            <a:ext cx="7848600" cy="1219200"/>
          </a:xfrm>
        </p:spPr>
        <p:txBody>
          <a:bodyPr/>
          <a:lstStyle/>
          <a:p>
            <a:r>
              <a:rPr lang="en-US" altLang="en-US" sz="4000" dirty="0">
                <a:solidFill>
                  <a:srgbClr val="800000"/>
                </a:solidFill>
                <a:latin typeface="Arial" panose="020B0604020202020204" pitchFamily="34" charset="0"/>
              </a:rPr>
              <a:t>2-3 Trees</a:t>
            </a:r>
            <a:br>
              <a:rPr lang="en-US" altLang="en-US" sz="4000" dirty="0">
                <a:solidFill>
                  <a:srgbClr val="800000"/>
                </a:solidFill>
                <a:latin typeface="Arial" panose="020B0604020202020204" pitchFamily="34" charset="0"/>
              </a:rPr>
            </a:br>
            <a:r>
              <a:rPr lang="en-US" altLang="en-US" sz="4000" dirty="0">
                <a:solidFill>
                  <a:srgbClr val="800000"/>
                </a:solidFill>
                <a:latin typeface="Arial" panose="020B0604020202020204" pitchFamily="34" charset="0"/>
              </a:rPr>
              <a:t>Properties and Operations</a:t>
            </a:r>
          </a:p>
        </p:txBody>
      </p:sp>
      <p:sp>
        <p:nvSpPr>
          <p:cNvPr id="16388" name="Text Box 3">
            <a:extLst>
              <a:ext uri="{FF2B5EF4-FFF2-40B4-BE49-F238E27FC236}">
                <a16:creationId xmlns:a16="http://schemas.microsoft.com/office/drawing/2014/main" id="{E338068D-B05C-66AE-A89D-F745B99379BF}"/>
              </a:ext>
            </a:extLst>
          </p:cNvPr>
          <p:cNvSpPr txBox="1">
            <a:spLocks noChangeArrowheads="1"/>
          </p:cNvSpPr>
          <p:nvPr/>
        </p:nvSpPr>
        <p:spPr bwMode="auto">
          <a:xfrm>
            <a:off x="838200" y="2503487"/>
            <a:ext cx="7467600" cy="2678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50000"/>
              </a:spcBef>
              <a:buFontTx/>
              <a:buNone/>
            </a:pPr>
            <a:r>
              <a:rPr lang="en-US" altLang="en-US" sz="2800" dirty="0">
                <a:latin typeface="Arial" panose="020B0604020202020204" pitchFamily="34" charset="0"/>
              </a:rPr>
              <a:t>A  B-tree of order </a:t>
            </a:r>
            <a:r>
              <a:rPr lang="en-US" altLang="en-US" sz="2800" i="1" dirty="0">
                <a:latin typeface="Arial" panose="020B0604020202020204" pitchFamily="34" charset="0"/>
              </a:rPr>
              <a:t>m</a:t>
            </a:r>
            <a:r>
              <a:rPr lang="en-US" altLang="en-US" sz="2800" dirty="0">
                <a:latin typeface="Arial" panose="020B0604020202020204" pitchFamily="34" charset="0"/>
              </a:rPr>
              <a:t> is a kind of </a:t>
            </a:r>
            <a:r>
              <a:rPr lang="en-US" altLang="en-US" sz="2800" i="1" dirty="0">
                <a:latin typeface="Arial" panose="020B0604020202020204" pitchFamily="34" charset="0"/>
              </a:rPr>
              <a:t>m</a:t>
            </a:r>
            <a:r>
              <a:rPr lang="en-US" altLang="en-US" sz="2800" dirty="0">
                <a:latin typeface="Arial" panose="020B0604020202020204" pitchFamily="34" charset="0"/>
              </a:rPr>
              <a:t>-way search tree.</a:t>
            </a:r>
          </a:p>
          <a:p>
            <a:pPr>
              <a:spcBef>
                <a:spcPct val="50000"/>
              </a:spcBef>
              <a:buFontTx/>
              <a:buNone/>
            </a:pPr>
            <a:r>
              <a:rPr lang="en-US" altLang="en-US" sz="2800" dirty="0">
                <a:latin typeface="Arial" panose="020B0604020202020204" pitchFamily="34" charset="0"/>
              </a:rPr>
              <a:t>A  B-Tree of order 3 is called a </a:t>
            </a:r>
            <a:r>
              <a:rPr lang="en-US" altLang="en-US" sz="2800" dirty="0">
                <a:solidFill>
                  <a:srgbClr val="CC6600"/>
                </a:solidFill>
                <a:latin typeface="Arial" panose="020B0604020202020204" pitchFamily="34" charset="0"/>
              </a:rPr>
              <a:t>2-3 Tree</a:t>
            </a:r>
            <a:r>
              <a:rPr lang="en-US" altLang="en-US" sz="2800" dirty="0">
                <a:latin typeface="Arial" panose="020B0604020202020204" pitchFamily="34" charset="0"/>
              </a:rPr>
              <a:t>.</a:t>
            </a:r>
          </a:p>
          <a:p>
            <a:pPr>
              <a:spcBef>
                <a:spcPct val="50000"/>
              </a:spcBef>
              <a:buFontTx/>
              <a:buNone/>
            </a:pPr>
            <a:r>
              <a:rPr lang="en-US" altLang="en-US" sz="2800" dirty="0">
                <a:latin typeface="Arial" panose="020B0604020202020204" pitchFamily="34" charset="0"/>
              </a:rPr>
              <a:t>In a 2-3 tree, each internal node has either 2 or 3 children.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9F753DCA-5CEF-B356-E9BA-9B88F2CBAC74}"/>
              </a:ext>
            </a:extLst>
          </p:cNvPr>
          <p:cNvSpPr>
            <a:spLocks noGrp="1" noChangeArrowheads="1"/>
          </p:cNvSpPr>
          <p:nvPr>
            <p:ph type="title"/>
          </p:nvPr>
        </p:nvSpPr>
        <p:spPr>
          <a:xfrm>
            <a:off x="685800" y="609600"/>
            <a:ext cx="7772400" cy="5181600"/>
          </a:xfrm>
        </p:spPr>
        <p:txBody>
          <a:bodyPr/>
          <a:lstStyle/>
          <a:p>
            <a:pPr algn="l"/>
            <a:r>
              <a:rPr lang="en-US" sz="2800" b="1" dirty="0"/>
              <a:t>Insertion in 2–3 Trees</a:t>
            </a:r>
            <a:br>
              <a:rPr lang="en-US" sz="2800" b="1" dirty="0"/>
            </a:br>
            <a:br>
              <a:rPr lang="en-US" sz="1800" b="1" dirty="0"/>
            </a:br>
            <a:r>
              <a:rPr lang="en-US" sz="1800" b="1" dirty="0"/>
              <a:t>Key Idea:</a:t>
            </a:r>
            <a:r>
              <a:rPr lang="en-US" sz="1800" dirty="0"/>
              <a:t> Maintain balance by splitting nodes</a:t>
            </a:r>
            <a:br>
              <a:rPr lang="en-US" sz="1800" dirty="0"/>
            </a:br>
            <a:r>
              <a:rPr lang="en-US" sz="1800" b="1" dirty="0"/>
              <a:t>Steps:</a:t>
            </a:r>
            <a:br>
              <a:rPr lang="en-US" sz="1800" dirty="0"/>
            </a:br>
            <a:r>
              <a:rPr lang="en-US" sz="1800" dirty="0"/>
              <a:t>Insert key into appropriate </a:t>
            </a:r>
            <a:r>
              <a:rPr lang="en-US" sz="1800" b="1" dirty="0"/>
              <a:t>leaf node</a:t>
            </a:r>
            <a:r>
              <a:rPr lang="en-US" sz="1800" dirty="0"/>
              <a:t> </a:t>
            </a:r>
            <a:br>
              <a:rPr lang="en-US" sz="1800" dirty="0"/>
            </a:br>
            <a:r>
              <a:rPr lang="en-US" sz="1800" dirty="0"/>
              <a:t>If node has space (1 key → becomes 2 keys), insert directly </a:t>
            </a:r>
            <a:br>
              <a:rPr lang="en-US" sz="1800" dirty="0"/>
            </a:br>
            <a:r>
              <a:rPr lang="en-US" sz="1800" dirty="0"/>
              <a:t>If node is full (already 2 keys): </a:t>
            </a:r>
            <a:br>
              <a:rPr lang="en-US" sz="1800" dirty="0"/>
            </a:br>
            <a:r>
              <a:rPr lang="en-US" sz="1800" b="1" dirty="0"/>
              <a:t>Split node into two nodes</a:t>
            </a:r>
            <a:r>
              <a:rPr lang="en-US" sz="1800" dirty="0"/>
              <a:t> </a:t>
            </a:r>
            <a:br>
              <a:rPr lang="en-US" sz="1800" dirty="0"/>
            </a:br>
            <a:r>
              <a:rPr lang="en-US" sz="1800" b="1" dirty="0"/>
              <a:t>Promote middle key</a:t>
            </a:r>
            <a:r>
              <a:rPr lang="en-US" sz="1800" dirty="0"/>
              <a:t> to parent </a:t>
            </a:r>
            <a:br>
              <a:rPr lang="en-US" sz="1800" dirty="0"/>
            </a:br>
            <a:r>
              <a:rPr lang="en-US" sz="1800" dirty="0"/>
              <a:t>If parent is full → repeat split upward </a:t>
            </a:r>
            <a:br>
              <a:rPr lang="en-US" sz="1800" dirty="0"/>
            </a:br>
            <a:r>
              <a:rPr lang="en-US" sz="1800" dirty="0"/>
              <a:t>If root splits → </a:t>
            </a:r>
            <a:r>
              <a:rPr lang="en-US" sz="1800" b="1" dirty="0"/>
              <a:t>new root is created</a:t>
            </a:r>
            <a:r>
              <a:rPr lang="en-US" sz="1800" dirty="0"/>
              <a:t> </a:t>
            </a:r>
            <a:br>
              <a:rPr lang="en-US" sz="1800" dirty="0"/>
            </a:br>
            <a:r>
              <a:rPr lang="en-US" sz="1800" b="1" dirty="0"/>
              <a:t>Result:</a:t>
            </a:r>
            <a:r>
              <a:rPr lang="en-US" sz="1800" dirty="0"/>
              <a:t> Tree remains </a:t>
            </a:r>
            <a:r>
              <a:rPr lang="en-US" sz="1800" b="1" dirty="0"/>
              <a:t>balanced</a:t>
            </a:r>
            <a:r>
              <a:rPr lang="en-US" sz="1800" dirty="0"/>
              <a:t> with all leaves at same level</a:t>
            </a:r>
            <a:br>
              <a:rPr lang="en-US" sz="1800" dirty="0"/>
            </a:br>
            <a:endParaRPr lang="en-IN" altLang="en-US" sz="1800" dirty="0"/>
          </a:p>
        </p:txBody>
      </p:sp>
      <p:sp>
        <p:nvSpPr>
          <p:cNvPr id="20484" name="Slide Number Placeholder 3">
            <a:extLst>
              <a:ext uri="{FF2B5EF4-FFF2-40B4-BE49-F238E27FC236}">
                <a16:creationId xmlns:a16="http://schemas.microsoft.com/office/drawing/2014/main" id="{463EC732-FF08-ABCA-E6DD-AD84881704C8}"/>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C418DEE-7E99-45C9-8983-64C540F4BE5D}" type="slidenum">
              <a:rPr lang="en-US" altLang="en-US" sz="1400" smtClean="0"/>
              <a:pPr>
                <a:spcBef>
                  <a:spcPct val="0"/>
                </a:spcBef>
                <a:buFontTx/>
                <a:buNone/>
              </a:pPr>
              <a:t>15</a:t>
            </a:fld>
            <a:endParaRPr lang="en-US" altLang="en-US" sz="1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6B8BB-EE9A-0DA6-2757-13C26D4025E8}"/>
            </a:ext>
          </a:extLst>
        </p:cNvPr>
        <p:cNvGrpSpPr/>
        <p:nvPr/>
      </p:nvGrpSpPr>
      <p:grpSpPr>
        <a:xfrm>
          <a:off x="0" y="0"/>
          <a:ext cx="0" cy="0"/>
          <a:chOff x="0" y="0"/>
          <a:chExt cx="0" cy="0"/>
        </a:xfrm>
      </p:grpSpPr>
      <p:sp>
        <p:nvSpPr>
          <p:cNvPr id="20482" name="Title 1">
            <a:extLst>
              <a:ext uri="{FF2B5EF4-FFF2-40B4-BE49-F238E27FC236}">
                <a16:creationId xmlns:a16="http://schemas.microsoft.com/office/drawing/2014/main" id="{476E90B8-53B1-5D18-089E-BB9342795AB6}"/>
              </a:ext>
            </a:extLst>
          </p:cNvPr>
          <p:cNvSpPr>
            <a:spLocks noGrp="1" noChangeArrowheads="1"/>
          </p:cNvSpPr>
          <p:nvPr>
            <p:ph type="title"/>
          </p:nvPr>
        </p:nvSpPr>
        <p:spPr>
          <a:xfrm>
            <a:off x="685800" y="609600"/>
            <a:ext cx="7772400" cy="5181600"/>
          </a:xfrm>
        </p:spPr>
        <p:txBody>
          <a:bodyPr/>
          <a:lstStyle/>
          <a:p>
            <a:pPr algn="l"/>
            <a:r>
              <a:rPr lang="en-US" sz="2800" b="1" dirty="0"/>
              <a:t>Deletion in 2–3 Trees</a:t>
            </a:r>
            <a:br>
              <a:rPr lang="en-US" sz="2800" b="1" dirty="0"/>
            </a:br>
            <a:r>
              <a:rPr lang="en-US" sz="1800" dirty="0"/>
              <a:t>Key Idea: Maintain minimum keys using redistribution or merging</a:t>
            </a:r>
            <a:br>
              <a:rPr lang="en-US" sz="1800" dirty="0"/>
            </a:br>
            <a:r>
              <a:rPr lang="en-US" sz="1800" dirty="0"/>
              <a:t>Steps:</a:t>
            </a:r>
            <a:br>
              <a:rPr lang="en-US" sz="1800" dirty="0"/>
            </a:br>
            <a:r>
              <a:rPr lang="en-US" sz="1800" dirty="0"/>
              <a:t>Delete key from leaf node </a:t>
            </a:r>
            <a:br>
              <a:rPr lang="en-US" sz="1800" dirty="0"/>
            </a:br>
            <a:r>
              <a:rPr lang="en-US" sz="1800" dirty="0"/>
              <a:t>If node still has ≥1 key → done </a:t>
            </a:r>
            <a:br>
              <a:rPr lang="en-US" sz="1800" dirty="0"/>
            </a:br>
            <a:r>
              <a:rPr lang="en-US" sz="1800" dirty="0"/>
              <a:t>If node becomes empty: </a:t>
            </a:r>
            <a:br>
              <a:rPr lang="en-US" sz="1800" dirty="0"/>
            </a:br>
            <a:r>
              <a:rPr lang="en-US" sz="1800" dirty="0"/>
              <a:t>Borrow (redistribute) from sibling if possible </a:t>
            </a:r>
            <a:br>
              <a:rPr lang="en-US" sz="1800" dirty="0"/>
            </a:br>
            <a:r>
              <a:rPr lang="en-US" sz="1800" dirty="0"/>
              <a:t>Otherwise merge with sibling and pull key from parent </a:t>
            </a:r>
            <a:br>
              <a:rPr lang="en-US" sz="1800" dirty="0"/>
            </a:br>
            <a:r>
              <a:rPr lang="en-US" sz="1800" dirty="0"/>
              <a:t>If parent underflows → repeat upward </a:t>
            </a:r>
            <a:br>
              <a:rPr lang="en-US" sz="1800" dirty="0"/>
            </a:br>
            <a:r>
              <a:rPr lang="en-US" sz="1800" dirty="0"/>
              <a:t>If root becomes empty → reduce tree height </a:t>
            </a:r>
            <a:br>
              <a:rPr lang="en-US" sz="1800" dirty="0"/>
            </a:br>
            <a:r>
              <a:rPr lang="en-US" sz="1800" dirty="0"/>
              <a:t>Result: Tree stays balanced and ordered</a:t>
            </a:r>
          </a:p>
        </p:txBody>
      </p:sp>
      <p:sp>
        <p:nvSpPr>
          <p:cNvPr id="20484" name="Slide Number Placeholder 3">
            <a:extLst>
              <a:ext uri="{FF2B5EF4-FFF2-40B4-BE49-F238E27FC236}">
                <a16:creationId xmlns:a16="http://schemas.microsoft.com/office/drawing/2014/main" id="{CB30CB3D-0926-0DD7-6B58-75F5C3C10212}"/>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FontTx/>
              <a:buNone/>
            </a:pPr>
            <a:fld id="{FC418DEE-7E99-45C9-8983-64C540F4BE5D}" type="slidenum">
              <a:rPr lang="en-US" altLang="en-US" sz="1400" smtClean="0"/>
              <a:pPr>
                <a:spcBef>
                  <a:spcPct val="0"/>
                </a:spcBef>
                <a:buFontTx/>
                <a:buNone/>
              </a:pPr>
              <a:t>16</a:t>
            </a:fld>
            <a:endParaRPr lang="en-US" altLang="en-US" sz="1400"/>
          </a:p>
        </p:txBody>
      </p:sp>
    </p:spTree>
    <p:extLst>
      <p:ext uri="{BB962C8B-B14F-4D97-AF65-F5344CB8AC3E}">
        <p14:creationId xmlns:p14="http://schemas.microsoft.com/office/powerpoint/2010/main" val="2013849030"/>
      </p:ext>
    </p:extLst>
  </p:cSld>
  <p:clrMapOvr>
    <a:masterClrMapping/>
  </p:clrMapOvr>
</p:sld>
</file>

<file path=ppt/theme/theme1.xml><?xml version="1.0" encoding="utf-8"?>
<a:theme xmlns:a="http://schemas.openxmlformats.org/drawingml/2006/main" name="Blank Presentation">
  <a:themeElements>
    <a:clrScheme name="">
      <a:dk1>
        <a:srgbClr val="000000"/>
      </a:dk1>
      <a:lt1>
        <a:srgbClr val="99CCFF"/>
      </a:lt1>
      <a:dk2>
        <a:srgbClr val="000000"/>
      </a:dk2>
      <a:lt2>
        <a:srgbClr val="808080"/>
      </a:lt2>
      <a:accent1>
        <a:srgbClr val="00CC99"/>
      </a:accent1>
      <a:accent2>
        <a:srgbClr val="3333CC"/>
      </a:accent2>
      <a:accent3>
        <a:srgbClr val="CAE2FF"/>
      </a:accent3>
      <a:accent4>
        <a:srgbClr val="000000"/>
      </a:accent4>
      <a:accent5>
        <a:srgbClr val="AAE2CA"/>
      </a:accent5>
      <a:accent6>
        <a:srgbClr val="2D2DB9"/>
      </a:accent6>
      <a:hlink>
        <a:srgbClr val="CCCCFF"/>
      </a:hlink>
      <a:folHlink>
        <a:srgbClr val="B2B2B2"/>
      </a:folHlink>
    </a:clrScheme>
    <a:fontScheme name="Blank Presentation.pot">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0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20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2182</TotalTime>
  <Words>915</Words>
  <Application>Microsoft Office PowerPoint</Application>
  <PresentationFormat>On-screen Show (4:3)</PresentationFormat>
  <Paragraphs>69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Times New Roman</vt:lpstr>
      <vt:lpstr>Arial</vt:lpstr>
      <vt:lpstr>Symbol</vt:lpstr>
      <vt:lpstr>Open Sans</vt:lpstr>
      <vt:lpstr>Blank Presentation</vt:lpstr>
      <vt:lpstr>B-Trees</vt:lpstr>
      <vt:lpstr>B-Trees</vt:lpstr>
      <vt:lpstr>Concept behind B-Tree</vt:lpstr>
      <vt:lpstr>B-Trees : Concept </vt:lpstr>
      <vt:lpstr>Properties of B-Tree</vt:lpstr>
      <vt:lpstr>PowerPoint Presentation</vt:lpstr>
      <vt:lpstr>PowerPoint Presentation</vt:lpstr>
      <vt:lpstr>PowerPoint Presentation</vt:lpstr>
      <vt:lpstr>PowerPoint Presentation</vt:lpstr>
      <vt:lpstr>Example</vt:lpstr>
      <vt:lpstr>Example: Searching 120 in the given B-Tree</vt:lpstr>
      <vt:lpstr>Solution: </vt:lpstr>
      <vt:lpstr>B-Tree performance</vt:lpstr>
      <vt:lpstr>2-3 Trees Properties and Operations</vt:lpstr>
      <vt:lpstr>Insertion in 2–3 Trees  Key Idea: Maintain balance by splitting nodes Steps: Insert key into appropriate leaf node  If node has space (1 key → becomes 2 keys), insert directly  If node is full (already 2 keys):  Split node into two nodes  Promote middle key to parent  If parent is full → repeat split upward  If root splits → new root is created  Result: Tree remains balanced with all leaves at same level </vt:lpstr>
      <vt:lpstr>Deletion in 2–3 Trees Key Idea: Maintain minimum keys using redistribution or merging Steps: Delete key from leaf node  If node still has ≥1 key → done  If node becomes empty:  Borrow (redistribute) from sibling if possible  Otherwise merge with sibling and pull key from parent  If parent underflows → repeat upward  If root becomes empty → reduce tree height  Result: Tree stays balanced and ordered</vt:lpstr>
    </vt:vector>
  </TitlesOfParts>
  <Company>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B-Trees</dc:title>
  <dc:creator>Steven L. Tanimoto</dc:creator>
  <cp:lastModifiedBy>Thind</cp:lastModifiedBy>
  <cp:revision>94</cp:revision>
  <dcterms:created xsi:type="dcterms:W3CDTF">1999-04-11T18:00:24Z</dcterms:created>
  <dcterms:modified xsi:type="dcterms:W3CDTF">2026-03-23T09:00:12Z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1</vt:i4>
  </property>
  <property fmtid="{D5CDD505-2E9C-101B-9397-08002B2CF9AE}" pid="7" name="MailAddress">
    <vt:lpwstr>tanimoto@cs.washington.edu</vt:lpwstr>
  </property>
  <property fmtid="{D5CDD505-2E9C-101B-9397-08002B2CF9AE}" pid="8" name="HomePage">
    <vt:lpwstr>www.cs.washington.edu/people/faculty/tanimoto.html</vt:lpwstr>
  </property>
  <property fmtid="{D5CDD505-2E9C-101B-9397-08002B2CF9AE}" pid="9" name="Other">
    <vt:lpwstr/>
  </property>
  <property fmtid="{D5CDD505-2E9C-101B-9397-08002B2CF9AE}" pid="10" name="DownloadOriginal">
    <vt:bool>true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3</vt:i4>
  </property>
  <property fmtid="{D5CDD505-2E9C-101B-9397-08002B2CF9AE}" pid="19" name="ShowNotes">
    <vt:bool>false</vt:bool>
  </property>
  <property fmtid="{D5CDD505-2E9C-101B-9397-08002B2CF9AE}" pid="20" name="NavBtnPos">
    <vt:i4>1</vt:i4>
  </property>
  <property fmtid="{D5CDD505-2E9C-101B-9397-08002B2CF9AE}" pid="21" name="OutputDir">
    <vt:lpwstr>I:\c373</vt:lpwstr>
  </property>
</Properties>
</file>