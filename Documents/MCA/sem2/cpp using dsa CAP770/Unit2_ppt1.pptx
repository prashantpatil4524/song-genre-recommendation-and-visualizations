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</p:sldMasterIdLst>
  <p:notesMasterIdLst>
    <p:notesMasterId r:id="rId30"/>
  </p:notesMasterIdLst>
  <p:sldIdLst>
    <p:sldId id="295" r:id="rId2"/>
    <p:sldId id="297" r:id="rId3"/>
    <p:sldId id="303" r:id="rId4"/>
    <p:sldId id="302" r:id="rId5"/>
    <p:sldId id="323" r:id="rId6"/>
    <p:sldId id="326" r:id="rId7"/>
    <p:sldId id="327" r:id="rId8"/>
    <p:sldId id="325" r:id="rId9"/>
    <p:sldId id="324" r:id="rId10"/>
    <p:sldId id="305" r:id="rId11"/>
    <p:sldId id="319" r:id="rId12"/>
    <p:sldId id="318" r:id="rId13"/>
    <p:sldId id="314" r:id="rId14"/>
    <p:sldId id="328" r:id="rId15"/>
    <p:sldId id="329" r:id="rId16"/>
    <p:sldId id="312" r:id="rId17"/>
    <p:sldId id="330" r:id="rId18"/>
    <p:sldId id="321" r:id="rId19"/>
    <p:sldId id="315" r:id="rId20"/>
    <p:sldId id="316" r:id="rId21"/>
    <p:sldId id="331" r:id="rId22"/>
    <p:sldId id="332" r:id="rId23"/>
    <p:sldId id="317" r:id="rId24"/>
    <p:sldId id="333" r:id="rId25"/>
    <p:sldId id="334" r:id="rId26"/>
    <p:sldId id="256" r:id="rId27"/>
    <p:sldId id="257" r:id="rId28"/>
    <p:sldId id="258" r:id="rId29"/>
  </p:sldIdLst>
  <p:sldSz cx="9144000" cy="6858000" type="screen4x3"/>
  <p:notesSz cx="7034213" cy="9294813"/>
  <p:defaultTextStyle>
    <a:defPPr>
      <a:defRPr lang="en-GB"/>
    </a:defPPr>
    <a:lvl1pPr algn="l" defTabSz="457200" rtl="0" eaLnBrk="0" fontAlgn="base" hangingPunct="0">
      <a:spcBef>
        <a:spcPct val="0"/>
      </a:spcBef>
      <a:spcAft>
        <a:spcPct val="0"/>
      </a:spcAft>
      <a:defRPr sz="2400" kern="1200">
        <a:solidFill>
          <a:schemeClr val="bg1"/>
        </a:solidFill>
        <a:latin typeface="Times New Roman" panose="02020603050405020304" pitchFamily="18" charset="0"/>
        <a:ea typeface="+mn-ea"/>
        <a:cs typeface="Lucida Sans Unicode" panose="020B0602030504020204" pitchFamily="34" charset="0"/>
      </a:defRPr>
    </a:lvl1pPr>
    <a:lvl2pPr marL="742950" indent="-285750" algn="l" defTabSz="457200" rtl="0" eaLnBrk="0" fontAlgn="base" hangingPunct="0">
      <a:spcBef>
        <a:spcPct val="0"/>
      </a:spcBef>
      <a:spcAft>
        <a:spcPct val="0"/>
      </a:spcAft>
      <a:defRPr sz="2400" kern="1200">
        <a:solidFill>
          <a:schemeClr val="bg1"/>
        </a:solidFill>
        <a:latin typeface="Times New Roman" panose="02020603050405020304" pitchFamily="18" charset="0"/>
        <a:ea typeface="+mn-ea"/>
        <a:cs typeface="Lucida Sans Unicode" panose="020B0602030504020204" pitchFamily="34" charset="0"/>
      </a:defRPr>
    </a:lvl2pPr>
    <a:lvl3pPr marL="1143000" indent="-228600" algn="l" defTabSz="457200" rtl="0" eaLnBrk="0" fontAlgn="base" hangingPunct="0">
      <a:spcBef>
        <a:spcPct val="0"/>
      </a:spcBef>
      <a:spcAft>
        <a:spcPct val="0"/>
      </a:spcAft>
      <a:defRPr sz="2400" kern="1200">
        <a:solidFill>
          <a:schemeClr val="bg1"/>
        </a:solidFill>
        <a:latin typeface="Times New Roman" panose="02020603050405020304" pitchFamily="18" charset="0"/>
        <a:ea typeface="+mn-ea"/>
        <a:cs typeface="Lucida Sans Unicode" panose="020B0602030504020204" pitchFamily="34" charset="0"/>
      </a:defRPr>
    </a:lvl3pPr>
    <a:lvl4pPr marL="1600200" indent="-228600" algn="l" defTabSz="457200" rtl="0" eaLnBrk="0" fontAlgn="base" hangingPunct="0">
      <a:spcBef>
        <a:spcPct val="0"/>
      </a:spcBef>
      <a:spcAft>
        <a:spcPct val="0"/>
      </a:spcAft>
      <a:defRPr sz="2400" kern="1200">
        <a:solidFill>
          <a:schemeClr val="bg1"/>
        </a:solidFill>
        <a:latin typeface="Times New Roman" panose="02020603050405020304" pitchFamily="18" charset="0"/>
        <a:ea typeface="+mn-ea"/>
        <a:cs typeface="Lucida Sans Unicode" panose="020B0602030504020204" pitchFamily="34" charset="0"/>
      </a:defRPr>
    </a:lvl4pPr>
    <a:lvl5pPr marL="2057400" indent="-228600" algn="l" defTabSz="457200" rtl="0" eaLnBrk="0" fontAlgn="base" hangingPunct="0">
      <a:spcBef>
        <a:spcPct val="0"/>
      </a:spcBef>
      <a:spcAft>
        <a:spcPct val="0"/>
      </a:spcAft>
      <a:defRPr sz="2400" kern="1200">
        <a:solidFill>
          <a:schemeClr val="bg1"/>
        </a:solidFill>
        <a:latin typeface="Times New Roman" panose="02020603050405020304" pitchFamily="18" charset="0"/>
        <a:ea typeface="+mn-ea"/>
        <a:cs typeface="Lucida Sans Unicode" panose="020B0602030504020204" pitchFamily="34" charset="0"/>
      </a:defRPr>
    </a:lvl5pPr>
    <a:lvl6pPr marL="2286000" algn="l" defTabSz="914400" rtl="0" eaLnBrk="1" latinLnBrk="0" hangingPunct="1">
      <a:defRPr sz="2400" kern="1200">
        <a:solidFill>
          <a:schemeClr val="bg1"/>
        </a:solidFill>
        <a:latin typeface="Times New Roman" panose="02020603050405020304" pitchFamily="18" charset="0"/>
        <a:ea typeface="+mn-ea"/>
        <a:cs typeface="Lucida Sans Unicode" panose="020B0602030504020204" pitchFamily="34" charset="0"/>
      </a:defRPr>
    </a:lvl6pPr>
    <a:lvl7pPr marL="2743200" algn="l" defTabSz="914400" rtl="0" eaLnBrk="1" latinLnBrk="0" hangingPunct="1">
      <a:defRPr sz="2400" kern="1200">
        <a:solidFill>
          <a:schemeClr val="bg1"/>
        </a:solidFill>
        <a:latin typeface="Times New Roman" panose="02020603050405020304" pitchFamily="18" charset="0"/>
        <a:ea typeface="+mn-ea"/>
        <a:cs typeface="Lucida Sans Unicode" panose="020B0602030504020204" pitchFamily="34" charset="0"/>
      </a:defRPr>
    </a:lvl7pPr>
    <a:lvl8pPr marL="3200400" algn="l" defTabSz="914400" rtl="0" eaLnBrk="1" latinLnBrk="0" hangingPunct="1">
      <a:defRPr sz="2400" kern="1200">
        <a:solidFill>
          <a:schemeClr val="bg1"/>
        </a:solidFill>
        <a:latin typeface="Times New Roman" panose="02020603050405020304" pitchFamily="18" charset="0"/>
        <a:ea typeface="+mn-ea"/>
        <a:cs typeface="Lucida Sans Unicode" panose="020B0602030504020204" pitchFamily="34" charset="0"/>
      </a:defRPr>
    </a:lvl8pPr>
    <a:lvl9pPr marL="3657600" algn="l" defTabSz="914400" rtl="0" eaLnBrk="1" latinLnBrk="0" hangingPunct="1">
      <a:defRPr sz="2400" kern="1200">
        <a:solidFill>
          <a:schemeClr val="bg1"/>
        </a:solidFill>
        <a:latin typeface="Times New Roman" panose="02020603050405020304" pitchFamily="18" charset="0"/>
        <a:ea typeface="+mn-ea"/>
        <a:cs typeface="Lucida Sans Unicode" panose="020B0602030504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15" autoAdjust="0"/>
    <p:restoredTop sz="94660"/>
  </p:normalViewPr>
  <p:slideViewPr>
    <p:cSldViewPr>
      <p:cViewPr varScale="1">
        <p:scale>
          <a:sx n="66" d="100"/>
          <a:sy n="66" d="100"/>
        </p:scale>
        <p:origin x="1326" y="66"/>
      </p:cViewPr>
      <p:guideLst>
        <p:guide orient="horz" pos="2160"/>
        <p:guide pos="2880"/>
      </p:guideLst>
    </p:cSldViewPr>
  </p:slideViewPr>
  <p:outlineViewPr>
    <p:cViewPr varScale="1">
      <p:scale>
        <a:sx n="170" d="200"/>
        <a:sy n="170" d="200"/>
      </p:scale>
      <p:origin x="-780" y="-84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59" d="100"/>
          <a:sy n="59" d="100"/>
        </p:scale>
        <p:origin x="-1752" y="-72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AutoShape 1">
            <a:extLst>
              <a:ext uri="{FF2B5EF4-FFF2-40B4-BE49-F238E27FC236}">
                <a16:creationId xmlns:a16="http://schemas.microsoft.com/office/drawing/2014/main" id="{60D22855-4176-1E70-1F0B-EE5D99A4A7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7034213" cy="9294813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IN" altLang="en-US"/>
          </a:p>
        </p:txBody>
      </p:sp>
      <p:sp>
        <p:nvSpPr>
          <p:cNvPr id="2051" name="Rectangle 2">
            <a:extLst>
              <a:ext uri="{FF2B5EF4-FFF2-40B4-BE49-F238E27FC236}">
                <a16:creationId xmlns:a16="http://schemas.microsoft.com/office/drawing/2014/main" id="{7654BE91-79C5-1997-F5FF-C77D0C7B9EA8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208088" y="596900"/>
            <a:ext cx="4630737" cy="3471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64F8D68B-97F2-44B7-3829-438D43A709A4}"/>
              </a:ext>
            </a:extLst>
          </p:cNvPr>
          <p:cNvSpPr>
            <a:spLocks noGrp="1" noChangeArrowheads="1"/>
          </p:cNvSpPr>
          <p:nvPr>
            <p:ph type="body"/>
          </p:nvPr>
        </p:nvSpPr>
        <p:spPr bwMode="auto">
          <a:xfrm>
            <a:off x="528638" y="4416425"/>
            <a:ext cx="6061075" cy="418147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92520" tIns="45360" rIns="92520" bIns="4536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noProof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itchFamily="16" charset="0"/>
        <a:ea typeface="+mn-ea"/>
        <a:cs typeface="+mn-cs"/>
      </a:defRPr>
    </a:lvl1pPr>
    <a:lvl2pPr marL="742950" indent="-285750" algn="l" defTabSz="457200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itchFamily="16" charset="0"/>
        <a:ea typeface="+mn-ea"/>
        <a:cs typeface="+mn-cs"/>
      </a:defRPr>
    </a:lvl2pPr>
    <a:lvl3pPr marL="1143000" indent="-228600" algn="l" defTabSz="457200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itchFamily="16" charset="0"/>
        <a:ea typeface="+mn-ea"/>
        <a:cs typeface="+mn-cs"/>
      </a:defRPr>
    </a:lvl3pPr>
    <a:lvl4pPr marL="1600200" indent="-228600" algn="l" defTabSz="457200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itchFamily="16" charset="0"/>
        <a:ea typeface="+mn-ea"/>
        <a:cs typeface="+mn-cs"/>
      </a:defRPr>
    </a:lvl4pPr>
    <a:lvl5pPr marL="2057400" indent="-228600" algn="l" defTabSz="457200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itchFamily="16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745430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38094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714543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143000"/>
            <a:ext cx="3846513" cy="36274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84713" y="1143000"/>
            <a:ext cx="3848100" cy="36274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18729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75233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74986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558638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466942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IN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35847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76604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72250" y="152400"/>
            <a:ext cx="1960563" cy="46180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152400"/>
            <a:ext cx="5734050" cy="46180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7317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152400"/>
            <a:ext cx="958850" cy="344011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8161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1">
            <a:extLst>
              <a:ext uri="{FF2B5EF4-FFF2-40B4-BE49-F238E27FC236}">
                <a16:creationId xmlns:a16="http://schemas.microsoft.com/office/drawing/2014/main" id="{8398A5C4-6DEC-5FB9-578A-D1D2CF8D99A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762000" y="152400"/>
            <a:ext cx="958850" cy="3440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3360" tIns="25560" rIns="63360" bIns="2556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Click to edit the title text format</a:t>
            </a:r>
          </a:p>
        </p:txBody>
      </p:sp>
      <p:sp>
        <p:nvSpPr>
          <p:cNvPr id="1027" name="Rectangle 2">
            <a:extLst>
              <a:ext uri="{FF2B5EF4-FFF2-40B4-BE49-F238E27FC236}">
                <a16:creationId xmlns:a16="http://schemas.microsoft.com/office/drawing/2014/main" id="{B080C29E-E0E9-CCD6-84F2-E11F9959CED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143000"/>
            <a:ext cx="7847013" cy="3627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3360" tIns="25560" rIns="63360" bIns="2556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Click to edit the outline text format</a:t>
            </a:r>
          </a:p>
          <a:p>
            <a:pPr lvl="1"/>
            <a:r>
              <a:rPr lang="en-GB" altLang="en-US"/>
              <a:t>Second Outline Level</a:t>
            </a:r>
          </a:p>
          <a:p>
            <a:pPr lvl="2"/>
            <a:r>
              <a:rPr lang="en-GB" altLang="en-US"/>
              <a:t>Third Outline Level</a:t>
            </a:r>
          </a:p>
          <a:p>
            <a:pPr lvl="3"/>
            <a:r>
              <a:rPr lang="en-GB" altLang="en-US"/>
              <a:t>Fourth Outline Level</a:t>
            </a:r>
          </a:p>
          <a:p>
            <a:pPr lvl="4"/>
            <a:r>
              <a:rPr lang="en-GB" altLang="en-US"/>
              <a:t>Fifth Outline Level</a:t>
            </a:r>
          </a:p>
          <a:p>
            <a:pPr lvl="4"/>
            <a:r>
              <a:rPr lang="en-GB" altLang="en-US"/>
              <a:t>Sixth Outline Level</a:t>
            </a:r>
          </a:p>
          <a:p>
            <a:pPr lvl="4"/>
            <a:r>
              <a:rPr lang="en-GB" altLang="en-US"/>
              <a:t>Seventh Outline Level</a:t>
            </a:r>
          </a:p>
          <a:p>
            <a:pPr lvl="4"/>
            <a:r>
              <a:rPr lang="en-GB" altLang="en-US"/>
              <a:t>Eighth Outline Level</a:t>
            </a:r>
          </a:p>
          <a:p>
            <a:pPr lvl="4"/>
            <a:r>
              <a:rPr lang="en-GB" altLang="en-US"/>
              <a:t>Ninth Outline Level</a:t>
            </a:r>
          </a:p>
        </p:txBody>
      </p:sp>
      <p:sp>
        <p:nvSpPr>
          <p:cNvPr id="1028" name="Rectangle 3">
            <a:extLst>
              <a:ext uri="{FF2B5EF4-FFF2-40B4-BE49-F238E27FC236}">
                <a16:creationId xmlns:a16="http://schemas.microsoft.com/office/drawing/2014/main" id="{A578CDCC-F248-29B2-1918-9B290E537F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1463" y="6515100"/>
            <a:ext cx="1044575" cy="265113"/>
          </a:xfrm>
          <a:prstGeom prst="rect">
            <a:avLst/>
          </a:prstGeom>
          <a:noFill/>
          <a:ln>
            <a:noFill/>
          </a:ln>
        </p:spPr>
        <p:txBody>
          <a:bodyPr wrap="none" lIns="63360" tIns="25560" rIns="63360" bIns="25560">
            <a:spAutoFit/>
          </a:bodyPr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pPr>
              <a:defRPr/>
            </a:pPr>
            <a:endParaRPr lang="en-US" sz="1400" b="1">
              <a:solidFill>
                <a:srgbClr val="FFCC00"/>
              </a:solidFill>
            </a:endParaRPr>
          </a:p>
        </p:txBody>
      </p:sp>
      <p:sp>
        <p:nvSpPr>
          <p:cNvPr id="2" name="Rectangle 4">
            <a:extLst>
              <a:ext uri="{FF2B5EF4-FFF2-40B4-BE49-F238E27FC236}">
                <a16:creationId xmlns:a16="http://schemas.microsoft.com/office/drawing/2014/main" id="{FF0CCB56-2666-2B03-1163-218519DD29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10563" y="6477000"/>
            <a:ext cx="933450" cy="26511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63360" tIns="25560" rIns="63360" bIns="25560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Lucida Sans Unicode" panose="020B0602030504020204" pitchFamily="34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Lucida Sans Unicode" panose="020B0602030504020204" pitchFamily="34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Lucida Sans Unicode" panose="020B0602030504020204" pitchFamily="34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Lucida Sans Unicode" panose="020B0602030504020204" pitchFamily="34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Lucida Sans Unicode" panose="020B0602030504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Lucida Sans Unicode" panose="020B0602030504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Lucida Sans Unicode" panose="020B0602030504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Lucida Sans Unicode" panose="020B0602030504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Lucida Sans Unicode" panose="020B0602030504020204" pitchFamily="34" charset="0"/>
              </a:defRPr>
            </a:lvl9pPr>
          </a:lstStyle>
          <a:p>
            <a:pPr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/>
            </a:pPr>
            <a:fld id="{1D0B588B-C84B-4C14-8106-D0A4F72F7453}" type="slidenum">
              <a:rPr lang="en-US" altLang="en-US" sz="1400" b="1" smtClean="0">
                <a:solidFill>
                  <a:srgbClr val="0332B7"/>
                </a:solidFill>
              </a:rPr>
              <a:pPr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  <a:defRPr/>
              </a:pPr>
              <a:t>‹#›</a:t>
            </a:fld>
            <a:endParaRPr lang="en-US" altLang="en-US" sz="1400" b="1">
              <a:solidFill>
                <a:srgbClr val="0332B7"/>
              </a:solidFill>
            </a:endParaRPr>
          </a:p>
        </p:txBody>
      </p:sp>
      <p:sp>
        <p:nvSpPr>
          <p:cNvPr id="1030" name="Line 5">
            <a:extLst>
              <a:ext uri="{FF2B5EF4-FFF2-40B4-BE49-F238E27FC236}">
                <a16:creationId xmlns:a16="http://schemas.microsoft.com/office/drawing/2014/main" id="{51A2F977-CC28-27DC-37E2-0AC82F7ED6A7}"/>
              </a:ext>
            </a:extLst>
          </p:cNvPr>
          <p:cNvSpPr>
            <a:spLocks noChangeShapeType="1"/>
          </p:cNvSpPr>
          <p:nvPr/>
        </p:nvSpPr>
        <p:spPr bwMode="auto">
          <a:xfrm>
            <a:off x="685800" y="685800"/>
            <a:ext cx="7943850" cy="1588"/>
          </a:xfrm>
          <a:prstGeom prst="line">
            <a:avLst/>
          </a:prstGeom>
          <a:noFill/>
          <a:ln w="57240">
            <a:solidFill>
              <a:srgbClr val="FFCC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457200" rtl="0" eaLnBrk="0" fontAlgn="base" hangingPunct="0">
        <a:lnSpc>
          <a:spcPct val="87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3200" b="1">
          <a:solidFill>
            <a:srgbClr val="063DE8"/>
          </a:solidFill>
          <a:latin typeface="+mj-lt"/>
          <a:ea typeface="+mj-ea"/>
          <a:cs typeface="+mj-cs"/>
        </a:defRPr>
      </a:lvl1pPr>
      <a:lvl2pPr algn="l" defTabSz="457200" rtl="0" eaLnBrk="0" fontAlgn="base" hangingPunct="0">
        <a:lnSpc>
          <a:spcPct val="87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3200" b="1">
          <a:solidFill>
            <a:srgbClr val="063DE8"/>
          </a:solidFill>
          <a:latin typeface="Arial" charset="0"/>
          <a:ea typeface="Lucida Sans Unicode" charset="0"/>
          <a:cs typeface="Lucida Sans Unicode" charset="0"/>
        </a:defRPr>
      </a:lvl2pPr>
      <a:lvl3pPr algn="l" defTabSz="457200" rtl="0" eaLnBrk="0" fontAlgn="base" hangingPunct="0">
        <a:lnSpc>
          <a:spcPct val="87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3200" b="1">
          <a:solidFill>
            <a:srgbClr val="063DE8"/>
          </a:solidFill>
          <a:latin typeface="Arial" charset="0"/>
          <a:ea typeface="Lucida Sans Unicode" charset="0"/>
          <a:cs typeface="Lucida Sans Unicode" charset="0"/>
        </a:defRPr>
      </a:lvl3pPr>
      <a:lvl4pPr algn="l" defTabSz="457200" rtl="0" eaLnBrk="0" fontAlgn="base" hangingPunct="0">
        <a:lnSpc>
          <a:spcPct val="87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3200" b="1">
          <a:solidFill>
            <a:srgbClr val="063DE8"/>
          </a:solidFill>
          <a:latin typeface="Arial" charset="0"/>
          <a:ea typeface="Lucida Sans Unicode" charset="0"/>
          <a:cs typeface="Lucida Sans Unicode" charset="0"/>
        </a:defRPr>
      </a:lvl4pPr>
      <a:lvl5pPr algn="l" defTabSz="457200" rtl="0" eaLnBrk="0" fontAlgn="base" hangingPunct="0">
        <a:lnSpc>
          <a:spcPct val="87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3200" b="1">
          <a:solidFill>
            <a:srgbClr val="063DE8"/>
          </a:solidFill>
          <a:latin typeface="Arial" charset="0"/>
          <a:ea typeface="Lucida Sans Unicode" charset="0"/>
          <a:cs typeface="Lucida Sans Unicode" charset="0"/>
        </a:defRPr>
      </a:lvl5pPr>
      <a:lvl6pPr marL="2514600" indent="-228600" algn="l" defTabSz="457200" rtl="0" eaLnBrk="0" fontAlgn="base" hangingPunct="0">
        <a:lnSpc>
          <a:spcPct val="87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200" b="1">
          <a:solidFill>
            <a:srgbClr val="063DE8"/>
          </a:solidFill>
          <a:latin typeface="Arial" charset="0"/>
          <a:ea typeface="Lucida Sans Unicode" charset="0"/>
          <a:cs typeface="Lucida Sans Unicode" charset="0"/>
        </a:defRPr>
      </a:lvl6pPr>
      <a:lvl7pPr marL="2971800" indent="-228600" algn="l" defTabSz="457200" rtl="0" eaLnBrk="0" fontAlgn="base" hangingPunct="0">
        <a:lnSpc>
          <a:spcPct val="87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200" b="1">
          <a:solidFill>
            <a:srgbClr val="063DE8"/>
          </a:solidFill>
          <a:latin typeface="Arial" charset="0"/>
          <a:ea typeface="Lucida Sans Unicode" charset="0"/>
          <a:cs typeface="Lucida Sans Unicode" charset="0"/>
        </a:defRPr>
      </a:lvl7pPr>
      <a:lvl8pPr marL="3429000" indent="-228600" algn="l" defTabSz="457200" rtl="0" eaLnBrk="0" fontAlgn="base" hangingPunct="0">
        <a:lnSpc>
          <a:spcPct val="87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200" b="1">
          <a:solidFill>
            <a:srgbClr val="063DE8"/>
          </a:solidFill>
          <a:latin typeface="Arial" charset="0"/>
          <a:ea typeface="Lucida Sans Unicode" charset="0"/>
          <a:cs typeface="Lucida Sans Unicode" charset="0"/>
        </a:defRPr>
      </a:lvl8pPr>
      <a:lvl9pPr marL="3886200" indent="-228600" algn="l" defTabSz="457200" rtl="0" eaLnBrk="0" fontAlgn="base" hangingPunct="0">
        <a:lnSpc>
          <a:spcPct val="87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200" b="1">
          <a:solidFill>
            <a:srgbClr val="063DE8"/>
          </a:solidFill>
          <a:latin typeface="Arial" charset="0"/>
          <a:ea typeface="Lucida Sans Unicode" charset="0"/>
          <a:cs typeface="Lucida Sans Unicode" charset="0"/>
        </a:defRPr>
      </a:lvl9pPr>
    </p:titleStyle>
    <p:bodyStyle>
      <a:lvl1pPr marL="342900" indent="-342900" algn="l" defTabSz="457200" rtl="0" eaLnBrk="0" fontAlgn="base" hangingPunct="0">
        <a:lnSpc>
          <a:spcPct val="75000"/>
        </a:lnSpc>
        <a:spcBef>
          <a:spcPts val="26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buChar char="•"/>
        <a:defRPr sz="3200" b="1">
          <a:solidFill>
            <a:srgbClr val="000000"/>
          </a:solidFill>
          <a:latin typeface="+mn-lt"/>
          <a:ea typeface="+mn-ea"/>
          <a:cs typeface="+mn-cs"/>
        </a:defRPr>
      </a:lvl1pPr>
      <a:lvl2pPr marL="742950" indent="-285750" algn="l" defTabSz="457200" rtl="0" eaLnBrk="0" fontAlgn="base" hangingPunct="0">
        <a:lnSpc>
          <a:spcPct val="85000"/>
        </a:lnSpc>
        <a:spcBef>
          <a:spcPts val="14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buChar char="–"/>
        <a:defRPr sz="2800" b="1">
          <a:solidFill>
            <a:srgbClr val="000000"/>
          </a:solidFill>
          <a:latin typeface="+mn-lt"/>
          <a:ea typeface="+mn-ea"/>
          <a:cs typeface="+mn-cs"/>
        </a:defRPr>
      </a:lvl2pPr>
      <a:lvl3pPr marL="1143000" indent="-228600" algn="l" defTabSz="457200" rtl="0" eaLnBrk="0" fontAlgn="base" hangingPunct="0">
        <a:lnSpc>
          <a:spcPct val="85000"/>
        </a:lnSpc>
        <a:spcBef>
          <a:spcPts val="12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buChar char="•"/>
        <a:defRPr sz="2400" b="1">
          <a:solidFill>
            <a:srgbClr val="000000"/>
          </a:solidFill>
          <a:latin typeface="+mn-lt"/>
          <a:ea typeface="+mn-ea"/>
          <a:cs typeface="+mn-cs"/>
        </a:defRPr>
      </a:lvl3pPr>
      <a:lvl4pPr marL="1600200" indent="-228600" algn="l" defTabSz="457200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buChar char="–"/>
        <a:defRPr sz="2000">
          <a:solidFill>
            <a:srgbClr val="000000"/>
          </a:solidFill>
          <a:latin typeface="Times New Roman" pitchFamily="16" charset="0"/>
          <a:ea typeface="+mn-ea"/>
          <a:cs typeface="+mn-cs"/>
        </a:defRPr>
      </a:lvl4pPr>
      <a:lvl5pPr marL="2057400" indent="-228600" algn="l" defTabSz="457200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buChar char="»"/>
        <a:defRPr sz="2000">
          <a:solidFill>
            <a:srgbClr val="000000"/>
          </a:solidFill>
          <a:latin typeface="Times New Roman" pitchFamily="16" charset="0"/>
          <a:ea typeface="+mn-ea"/>
          <a:cs typeface="+mn-cs"/>
        </a:defRPr>
      </a:lvl5pPr>
      <a:lvl6pPr marL="2514600" indent="-228600" algn="l" defTabSz="457200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000000"/>
          </a:solidFill>
          <a:latin typeface="Times New Roman" pitchFamily="16" charset="0"/>
          <a:ea typeface="+mn-ea"/>
          <a:cs typeface="+mn-cs"/>
        </a:defRPr>
      </a:lvl6pPr>
      <a:lvl7pPr marL="2971800" indent="-228600" algn="l" defTabSz="457200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000000"/>
          </a:solidFill>
          <a:latin typeface="Times New Roman" pitchFamily="16" charset="0"/>
          <a:ea typeface="+mn-ea"/>
          <a:cs typeface="+mn-cs"/>
        </a:defRPr>
      </a:lvl7pPr>
      <a:lvl8pPr marL="3429000" indent="-228600" algn="l" defTabSz="457200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000000"/>
          </a:solidFill>
          <a:latin typeface="Times New Roman" pitchFamily="16" charset="0"/>
          <a:ea typeface="+mn-ea"/>
          <a:cs typeface="+mn-cs"/>
        </a:defRPr>
      </a:lvl8pPr>
      <a:lvl9pPr marL="3886200" indent="-228600" algn="l" defTabSz="457200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000000"/>
          </a:solidFill>
          <a:latin typeface="Times New Roman" pitchFamily="16" charset="0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Content Placeholder 2">
            <a:extLst>
              <a:ext uri="{FF2B5EF4-FFF2-40B4-BE49-F238E27FC236}">
                <a16:creationId xmlns:a16="http://schemas.microsoft.com/office/drawing/2014/main" id="{7334F18C-1D41-9D18-E07C-ABE729532A0E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algn="ctr">
              <a:buFont typeface="Times New Roman" panose="02020603050405020304" pitchFamily="18" charset="0"/>
              <a:buNone/>
            </a:pPr>
            <a:endParaRPr lang="en-US" altLang="en-US"/>
          </a:p>
          <a:p>
            <a:pPr algn="ctr">
              <a:buFont typeface="Times New Roman" panose="02020603050405020304" pitchFamily="18" charset="0"/>
              <a:buNone/>
            </a:pPr>
            <a:endParaRPr lang="en-US" altLang="en-US"/>
          </a:p>
          <a:p>
            <a:pPr algn="ctr">
              <a:buFont typeface="Times New Roman" panose="02020603050405020304" pitchFamily="18" charset="0"/>
              <a:buNone/>
            </a:pPr>
            <a:r>
              <a:rPr lang="en-US" altLang="en-US"/>
              <a:t>Stacks</a:t>
            </a:r>
          </a:p>
          <a:p>
            <a:pPr>
              <a:buFont typeface="Times New Roman" panose="02020603050405020304" pitchFamily="18" charset="0"/>
              <a:buNone/>
            </a:pPr>
            <a:endParaRPr lang="en-I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90147B5D-09E3-3C39-FC0D-0C9780EE435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2000" y="152400"/>
            <a:ext cx="4953000" cy="3440113"/>
          </a:xfrm>
        </p:spPr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Stack</a:t>
            </a:r>
            <a:r>
              <a:rPr lang="en-US" altLang="en-US"/>
              <a:t> Overview</a:t>
            </a:r>
          </a:p>
        </p:txBody>
      </p:sp>
      <p:sp>
        <p:nvSpPr>
          <p:cNvPr id="34819" name="Rectangle 3">
            <a:extLst>
              <a:ext uri="{FF2B5EF4-FFF2-40B4-BE49-F238E27FC236}">
                <a16:creationId xmlns:a16="http://schemas.microsoft.com/office/drawing/2014/main" id="{180D37F1-06BE-946D-8B36-CF16BD8C2C2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1143000"/>
            <a:ext cx="7847013" cy="4500563"/>
          </a:xfrm>
        </p:spPr>
        <p:txBody>
          <a:bodyPr/>
          <a:lstStyle/>
          <a:p>
            <a:pPr>
              <a:buFont typeface="Times New Roman" pitchFamily="16" charset="0"/>
              <a:buChar char="•"/>
              <a:defRPr/>
            </a:pPr>
            <a:r>
              <a:rPr lang="en-US" sz="1800" b="0" dirty="0">
                <a:latin typeface="Times New Roman" pitchFamily="18" charset="0"/>
                <a:cs typeface="Times New Roman" pitchFamily="18" charset="0"/>
              </a:rPr>
              <a:t>Stack: A Stack is a list of elements in which an element may be inserted or deleted only at one end called the top of the stack Lists( </a:t>
            </a:r>
            <a:r>
              <a:rPr lang="en-US" sz="1800" b="0" dirty="0">
                <a:solidFill>
                  <a:schemeClr val="accent4">
                    <a:lumMod val="95000"/>
                    <a:lumOff val="5000"/>
                  </a:schemeClr>
                </a:solidFill>
                <a:latin typeface="Times New Roman" pitchFamily="18" charset="0"/>
                <a:cs typeface="Times New Roman" pitchFamily="18" charset="0"/>
              </a:rPr>
              <a:t>LIFO</a:t>
            </a:r>
            <a:r>
              <a:rPr lang="en-US" sz="1800" b="0" dirty="0">
                <a:latin typeface="Times New Roman" pitchFamily="18" charset="0"/>
                <a:cs typeface="Times New Roman" pitchFamily="18" charset="0"/>
              </a:rPr>
              <a:t> (Last In, First Out) )</a:t>
            </a:r>
          </a:p>
          <a:p>
            <a:pPr>
              <a:buFont typeface="Times New Roman" pitchFamily="16" charset="0"/>
              <a:buChar char="•"/>
              <a:defRPr/>
            </a:pPr>
            <a:endParaRPr lang="en-US" sz="1800" b="0" dirty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Times New Roman" pitchFamily="16" charset="0"/>
              <a:buChar char="•"/>
              <a:defRPr/>
            </a:pPr>
            <a:endParaRPr lang="en-US" sz="1800" b="0" dirty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Times New Roman" pitchFamily="16" charset="0"/>
              <a:buChar char="•"/>
              <a:defRPr/>
            </a:pPr>
            <a:r>
              <a:rPr lang="en-US" sz="1800" b="0" dirty="0">
                <a:latin typeface="Times New Roman" pitchFamily="18" charset="0"/>
                <a:cs typeface="Times New Roman" pitchFamily="18" charset="0"/>
              </a:rPr>
              <a:t>Basic operations of stack</a:t>
            </a:r>
          </a:p>
          <a:p>
            <a:pPr lvl="1">
              <a:buFont typeface="Times New Roman" pitchFamily="16" charset="0"/>
              <a:buChar char="–"/>
              <a:defRPr/>
            </a:pPr>
            <a:r>
              <a:rPr lang="en-US" sz="1800" b="0" dirty="0">
                <a:latin typeface="Times New Roman" pitchFamily="18" charset="0"/>
                <a:cs typeface="Times New Roman" pitchFamily="18" charset="0"/>
              </a:rPr>
              <a:t>“Push” is the term used to insert an element into a stack.</a:t>
            </a:r>
          </a:p>
          <a:p>
            <a:pPr lvl="1">
              <a:buFont typeface="Times New Roman" pitchFamily="16" charset="0"/>
              <a:buChar char="–"/>
              <a:defRPr/>
            </a:pPr>
            <a:r>
              <a:rPr lang="en-US" sz="1800" b="0" dirty="0">
                <a:latin typeface="Times New Roman" pitchFamily="18" charset="0"/>
                <a:cs typeface="Times New Roman" pitchFamily="18" charset="0"/>
              </a:rPr>
              <a:t>“Pop” is the term used to delete an element from stack. etc. </a:t>
            </a:r>
          </a:p>
          <a:p>
            <a:pPr>
              <a:buFont typeface="Times New Roman" pitchFamily="16" charset="0"/>
              <a:buChar char="•"/>
              <a:defRPr/>
            </a:pPr>
            <a:endParaRPr lang="en-US" sz="1800" b="0" dirty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Times New Roman" pitchFamily="16" charset="0"/>
              <a:buChar char="•"/>
              <a:defRPr/>
            </a:pPr>
            <a:endParaRPr lang="en-US" sz="1800" b="0" dirty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Times New Roman" pitchFamily="16" charset="0"/>
              <a:buChar char="•"/>
              <a:defRPr/>
            </a:pPr>
            <a:endParaRPr lang="en-US" sz="1800" b="0" dirty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Times New Roman" pitchFamily="16" charset="0"/>
              <a:buChar char="•"/>
              <a:defRPr/>
            </a:pPr>
            <a:endParaRPr lang="en-US" sz="1800" b="0" dirty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Times New Roman" pitchFamily="16" charset="0"/>
              <a:buChar char="•"/>
              <a:defRPr/>
            </a:pPr>
            <a:endParaRPr lang="en-US" sz="1800" b="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100" name="Picture 4" descr="fig3_40">
            <a:extLst>
              <a:ext uri="{FF2B5EF4-FFF2-40B4-BE49-F238E27FC236}">
                <a16:creationId xmlns:a16="http://schemas.microsoft.com/office/drawing/2014/main" id="{139FF771-376B-B651-0424-2CECCF019A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lum contras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177" b="16202"/>
          <a:stretch>
            <a:fillRect/>
          </a:stretch>
        </p:blipFill>
        <p:spPr bwMode="auto">
          <a:xfrm>
            <a:off x="2357438" y="1714500"/>
            <a:ext cx="3722687" cy="1428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101" name="Group 4">
            <a:extLst>
              <a:ext uri="{FF2B5EF4-FFF2-40B4-BE49-F238E27FC236}">
                <a16:creationId xmlns:a16="http://schemas.microsoft.com/office/drawing/2014/main" id="{BBFD1193-E2EA-0D66-11D4-447C306CCFCB}"/>
              </a:ext>
            </a:extLst>
          </p:cNvPr>
          <p:cNvGrpSpPr>
            <a:grpSpLocks/>
          </p:cNvGrpSpPr>
          <p:nvPr/>
        </p:nvGrpSpPr>
        <p:grpSpPr bwMode="auto">
          <a:xfrm>
            <a:off x="3124200" y="5953125"/>
            <a:ext cx="914400" cy="336550"/>
            <a:chOff x="3648" y="3388"/>
            <a:chExt cx="576" cy="212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7AC2F807-7DD0-27AB-A741-7EFCF8ED79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48" y="3408"/>
              <a:ext cx="576" cy="192"/>
            </a:xfrm>
            <a:prstGeom prst="rect">
              <a:avLst/>
            </a:prstGeom>
            <a:solidFill>
              <a:schemeClr val="folHlink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buClr>
                  <a:srgbClr val="000000"/>
                </a:buClr>
                <a:buSzPct val="100000"/>
                <a:buFont typeface="Times New Roman" pitchFamily="16" charset="0"/>
                <a:buNone/>
                <a:defRPr/>
              </a:pPr>
              <a:endParaRPr lang="en-IN">
                <a:solidFill>
                  <a:schemeClr val="accent4">
                    <a:lumMod val="95000"/>
                    <a:lumOff val="5000"/>
                  </a:schemeClr>
                </a:solidFill>
                <a:latin typeface="Times New Roman" pitchFamily="16" charset="0"/>
                <a:cs typeface="+mn-cs"/>
              </a:endParaRPr>
            </a:p>
          </p:txBody>
        </p:sp>
        <p:sp>
          <p:nvSpPr>
            <p:cNvPr id="7" name="Text Box 6">
              <a:extLst>
                <a:ext uri="{FF2B5EF4-FFF2-40B4-BE49-F238E27FC236}">
                  <a16:creationId xmlns:a16="http://schemas.microsoft.com/office/drawing/2014/main" id="{B9077F9A-09AA-4140-8ED1-183BEC02D6E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22" y="3388"/>
              <a:ext cx="210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 eaLnBrk="1" hangingPunct="1">
                <a:defRPr/>
              </a:pPr>
              <a:r>
                <a:rPr lang="en-US" altLang="zh-CN" sz="1600">
                  <a:solidFill>
                    <a:schemeClr val="accent4">
                      <a:lumMod val="95000"/>
                      <a:lumOff val="5000"/>
                    </a:schemeClr>
                  </a:solidFill>
                  <a:latin typeface="Tahoma" pitchFamily="34" charset="0"/>
                  <a:ea typeface="宋体" pitchFamily="2" charset="-122"/>
                  <a:cs typeface="+mn-cs"/>
                </a:rPr>
                <a:t>A</a:t>
              </a:r>
            </a:p>
          </p:txBody>
        </p:sp>
      </p:grpSp>
      <p:sp>
        <p:nvSpPr>
          <p:cNvPr id="4102" name="Line 7">
            <a:extLst>
              <a:ext uri="{FF2B5EF4-FFF2-40B4-BE49-F238E27FC236}">
                <a16:creationId xmlns:a16="http://schemas.microsoft.com/office/drawing/2014/main" id="{7AF1031C-8217-D4C4-FD58-DDEB5BEDA02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6200" y="6121400"/>
            <a:ext cx="609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IN"/>
          </a:p>
        </p:txBody>
      </p:sp>
      <p:sp>
        <p:nvSpPr>
          <p:cNvPr id="9" name="Text Box 8">
            <a:extLst>
              <a:ext uri="{FF2B5EF4-FFF2-40B4-BE49-F238E27FC236}">
                <a16:creationId xmlns:a16="http://schemas.microsoft.com/office/drawing/2014/main" id="{28AFFF0D-5931-EF5C-1071-E28B13F8AB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6029325"/>
            <a:ext cx="623888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 eaLnBrk="1" hangingPunct="1">
              <a:defRPr/>
            </a:pPr>
            <a:r>
              <a:rPr lang="en-US">
                <a:solidFill>
                  <a:schemeClr val="accent4">
                    <a:lumMod val="95000"/>
                    <a:lumOff val="5000"/>
                  </a:schemeClr>
                </a:solidFill>
                <a:latin typeface="Tahoma" pitchFamily="34" charset="0"/>
                <a:cs typeface="+mn-cs"/>
              </a:rPr>
              <a:t>top</a:t>
            </a:r>
          </a:p>
        </p:txBody>
      </p:sp>
      <p:sp>
        <p:nvSpPr>
          <p:cNvPr id="10" name="Text Box 9">
            <a:extLst>
              <a:ext uri="{FF2B5EF4-FFF2-40B4-BE49-F238E27FC236}">
                <a16:creationId xmlns:a16="http://schemas.microsoft.com/office/drawing/2014/main" id="{C0D8FFBB-8C80-AC98-D6C9-EC79553548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1513" y="4429125"/>
            <a:ext cx="182245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 eaLnBrk="1" hangingPunct="1">
              <a:defRPr/>
            </a:pPr>
            <a:r>
              <a:rPr lang="en-US" dirty="0">
                <a:solidFill>
                  <a:schemeClr val="accent4">
                    <a:lumMod val="95000"/>
                    <a:lumOff val="5000"/>
                  </a:schemeClr>
                </a:solidFill>
                <a:latin typeface="Tahoma" pitchFamily="34" charset="0"/>
                <a:cs typeface="+mn-cs"/>
              </a:rPr>
              <a:t>empty stack</a:t>
            </a:r>
          </a:p>
        </p:txBody>
      </p:sp>
      <p:grpSp>
        <p:nvGrpSpPr>
          <p:cNvPr id="4105" name="Group 10">
            <a:extLst>
              <a:ext uri="{FF2B5EF4-FFF2-40B4-BE49-F238E27FC236}">
                <a16:creationId xmlns:a16="http://schemas.microsoft.com/office/drawing/2014/main" id="{F78055D7-39B8-1107-C443-C62DB7844062}"/>
              </a:ext>
            </a:extLst>
          </p:cNvPr>
          <p:cNvGrpSpPr>
            <a:grpSpLocks/>
          </p:cNvGrpSpPr>
          <p:nvPr/>
        </p:nvGrpSpPr>
        <p:grpSpPr bwMode="auto">
          <a:xfrm>
            <a:off x="457200" y="4962525"/>
            <a:ext cx="1905000" cy="1447800"/>
            <a:chOff x="672" y="3216"/>
            <a:chExt cx="1200" cy="912"/>
          </a:xfrm>
        </p:grpSpPr>
        <p:sp>
          <p:nvSpPr>
            <p:cNvPr id="4145" name="Line 11">
              <a:extLst>
                <a:ext uri="{FF2B5EF4-FFF2-40B4-BE49-F238E27FC236}">
                  <a16:creationId xmlns:a16="http://schemas.microsoft.com/office/drawing/2014/main" id="{A6D8771D-1DCC-F4AE-276C-424E318D789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2" y="3216"/>
              <a:ext cx="192" cy="0"/>
            </a:xfrm>
            <a:prstGeom prst="line">
              <a:avLst/>
            </a:prstGeom>
            <a:noFill/>
            <a:ln w="31750">
              <a:solidFill>
                <a:schemeClr val="accent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146" name="Line 12">
              <a:extLst>
                <a:ext uri="{FF2B5EF4-FFF2-40B4-BE49-F238E27FC236}">
                  <a16:creationId xmlns:a16="http://schemas.microsoft.com/office/drawing/2014/main" id="{E0355BC0-4CDB-CEEC-AE70-CAF515E6714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64" y="3216"/>
              <a:ext cx="0" cy="912"/>
            </a:xfrm>
            <a:prstGeom prst="line">
              <a:avLst/>
            </a:prstGeom>
            <a:noFill/>
            <a:ln w="31750">
              <a:solidFill>
                <a:schemeClr val="accent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147" name="Line 13">
              <a:extLst>
                <a:ext uri="{FF2B5EF4-FFF2-40B4-BE49-F238E27FC236}">
                  <a16:creationId xmlns:a16="http://schemas.microsoft.com/office/drawing/2014/main" id="{DFB11958-605F-2622-539A-39B5D88A298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64" y="4128"/>
              <a:ext cx="816" cy="0"/>
            </a:xfrm>
            <a:prstGeom prst="line">
              <a:avLst/>
            </a:prstGeom>
            <a:noFill/>
            <a:ln w="31750">
              <a:solidFill>
                <a:schemeClr val="accent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148" name="Line 14">
              <a:extLst>
                <a:ext uri="{FF2B5EF4-FFF2-40B4-BE49-F238E27FC236}">
                  <a16:creationId xmlns:a16="http://schemas.microsoft.com/office/drawing/2014/main" id="{2C50BF99-F896-E539-74DC-17FAC1DA177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680" y="3216"/>
              <a:ext cx="0" cy="912"/>
            </a:xfrm>
            <a:prstGeom prst="line">
              <a:avLst/>
            </a:prstGeom>
            <a:noFill/>
            <a:ln w="31750">
              <a:solidFill>
                <a:schemeClr val="accent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149" name="Line 15">
              <a:extLst>
                <a:ext uri="{FF2B5EF4-FFF2-40B4-BE49-F238E27FC236}">
                  <a16:creationId xmlns:a16="http://schemas.microsoft.com/office/drawing/2014/main" id="{FA918EAB-15EE-93F3-3D31-5A23D454BC7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80" y="3216"/>
              <a:ext cx="192" cy="0"/>
            </a:xfrm>
            <a:prstGeom prst="line">
              <a:avLst/>
            </a:prstGeom>
            <a:noFill/>
            <a:ln w="31750">
              <a:solidFill>
                <a:schemeClr val="accent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106" name="Group 16">
            <a:extLst>
              <a:ext uri="{FF2B5EF4-FFF2-40B4-BE49-F238E27FC236}">
                <a16:creationId xmlns:a16="http://schemas.microsoft.com/office/drawing/2014/main" id="{8DAA15B3-8CA9-F3FE-1B7E-A2F5CD6C9AE2}"/>
              </a:ext>
            </a:extLst>
          </p:cNvPr>
          <p:cNvGrpSpPr>
            <a:grpSpLocks/>
          </p:cNvGrpSpPr>
          <p:nvPr/>
        </p:nvGrpSpPr>
        <p:grpSpPr bwMode="auto">
          <a:xfrm>
            <a:off x="2133600" y="5724525"/>
            <a:ext cx="685800" cy="461963"/>
            <a:chOff x="1440" y="3888"/>
            <a:chExt cx="432" cy="291"/>
          </a:xfrm>
        </p:grpSpPr>
        <p:sp>
          <p:nvSpPr>
            <p:cNvPr id="18" name="Line 17">
              <a:extLst>
                <a:ext uri="{FF2B5EF4-FFF2-40B4-BE49-F238E27FC236}">
                  <a16:creationId xmlns:a16="http://schemas.microsoft.com/office/drawing/2014/main" id="{838648B0-4142-BCF7-0D21-0F5A8CA85C5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488" y="4128"/>
              <a:ext cx="38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/>
            <a:lstStyle/>
            <a:p>
              <a:pPr>
                <a:buClr>
                  <a:srgbClr val="000000"/>
                </a:buClr>
                <a:buSzPct val="100000"/>
                <a:buFont typeface="Times New Roman" pitchFamily="16" charset="0"/>
                <a:buNone/>
                <a:defRPr/>
              </a:pPr>
              <a:endParaRPr lang="en-IN">
                <a:solidFill>
                  <a:schemeClr val="accent4">
                    <a:lumMod val="95000"/>
                    <a:lumOff val="5000"/>
                  </a:schemeClr>
                </a:solidFill>
                <a:latin typeface="Times New Roman" pitchFamily="16" charset="0"/>
                <a:cs typeface="+mn-cs"/>
              </a:endParaRPr>
            </a:p>
          </p:txBody>
        </p:sp>
        <p:sp>
          <p:nvSpPr>
            <p:cNvPr id="19" name="Text Box 18">
              <a:extLst>
                <a:ext uri="{FF2B5EF4-FFF2-40B4-BE49-F238E27FC236}">
                  <a16:creationId xmlns:a16="http://schemas.microsoft.com/office/drawing/2014/main" id="{FF2D3E58-81D4-FDD0-8F86-A7B14A1CED6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40" y="3888"/>
              <a:ext cx="393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ctr" eaLnBrk="1" hangingPunct="1">
                <a:defRPr/>
              </a:pPr>
              <a:r>
                <a:rPr lang="en-US">
                  <a:solidFill>
                    <a:schemeClr val="accent4">
                      <a:lumMod val="95000"/>
                      <a:lumOff val="5000"/>
                    </a:schemeClr>
                  </a:solidFill>
                  <a:latin typeface="Tahoma" pitchFamily="34" charset="0"/>
                  <a:cs typeface="+mn-cs"/>
                </a:rPr>
                <a:t>top</a:t>
              </a:r>
            </a:p>
          </p:txBody>
        </p:sp>
      </p:grpSp>
      <p:grpSp>
        <p:nvGrpSpPr>
          <p:cNvPr id="4107" name="Group 19">
            <a:extLst>
              <a:ext uri="{FF2B5EF4-FFF2-40B4-BE49-F238E27FC236}">
                <a16:creationId xmlns:a16="http://schemas.microsoft.com/office/drawing/2014/main" id="{30EB7391-17B7-EB51-1FA0-AFEB2B5E3B36}"/>
              </a:ext>
            </a:extLst>
          </p:cNvPr>
          <p:cNvGrpSpPr>
            <a:grpSpLocks/>
          </p:cNvGrpSpPr>
          <p:nvPr/>
        </p:nvGrpSpPr>
        <p:grpSpPr bwMode="auto">
          <a:xfrm>
            <a:off x="2590800" y="4962525"/>
            <a:ext cx="1905000" cy="1447800"/>
            <a:chOff x="672" y="3216"/>
            <a:chExt cx="1200" cy="912"/>
          </a:xfrm>
        </p:grpSpPr>
        <p:sp>
          <p:nvSpPr>
            <p:cNvPr id="4138" name="Line 20">
              <a:extLst>
                <a:ext uri="{FF2B5EF4-FFF2-40B4-BE49-F238E27FC236}">
                  <a16:creationId xmlns:a16="http://schemas.microsoft.com/office/drawing/2014/main" id="{04C47C9F-AE4A-82FF-472C-A62E81332CF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2" y="3216"/>
              <a:ext cx="192" cy="0"/>
            </a:xfrm>
            <a:prstGeom prst="line">
              <a:avLst/>
            </a:prstGeom>
            <a:noFill/>
            <a:ln w="31750">
              <a:solidFill>
                <a:schemeClr val="accent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139" name="Line 21">
              <a:extLst>
                <a:ext uri="{FF2B5EF4-FFF2-40B4-BE49-F238E27FC236}">
                  <a16:creationId xmlns:a16="http://schemas.microsoft.com/office/drawing/2014/main" id="{11C46B3E-2AD2-947A-4E73-8A7C21F8AEF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64" y="3216"/>
              <a:ext cx="0" cy="912"/>
            </a:xfrm>
            <a:prstGeom prst="line">
              <a:avLst/>
            </a:prstGeom>
            <a:noFill/>
            <a:ln w="31750">
              <a:solidFill>
                <a:schemeClr val="accent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140" name="Line 22">
              <a:extLst>
                <a:ext uri="{FF2B5EF4-FFF2-40B4-BE49-F238E27FC236}">
                  <a16:creationId xmlns:a16="http://schemas.microsoft.com/office/drawing/2014/main" id="{16F5D706-912E-9DD9-881D-AF44606BE1E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64" y="4128"/>
              <a:ext cx="816" cy="0"/>
            </a:xfrm>
            <a:prstGeom prst="line">
              <a:avLst/>
            </a:prstGeom>
            <a:noFill/>
            <a:ln w="31750">
              <a:solidFill>
                <a:schemeClr val="accent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141" name="Line 23">
              <a:extLst>
                <a:ext uri="{FF2B5EF4-FFF2-40B4-BE49-F238E27FC236}">
                  <a16:creationId xmlns:a16="http://schemas.microsoft.com/office/drawing/2014/main" id="{B1732751-0DBE-8E8C-2C9B-77326B507EA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680" y="3216"/>
              <a:ext cx="0" cy="912"/>
            </a:xfrm>
            <a:prstGeom prst="line">
              <a:avLst/>
            </a:prstGeom>
            <a:noFill/>
            <a:ln w="31750">
              <a:solidFill>
                <a:schemeClr val="accent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142" name="Line 24">
              <a:extLst>
                <a:ext uri="{FF2B5EF4-FFF2-40B4-BE49-F238E27FC236}">
                  <a16:creationId xmlns:a16="http://schemas.microsoft.com/office/drawing/2014/main" id="{34F81BEB-8281-4307-60DB-58C1C607099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80" y="3216"/>
              <a:ext cx="192" cy="0"/>
            </a:xfrm>
            <a:prstGeom prst="line">
              <a:avLst/>
            </a:prstGeom>
            <a:noFill/>
            <a:ln w="31750">
              <a:solidFill>
                <a:schemeClr val="accent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108" name="Group 25">
            <a:extLst>
              <a:ext uri="{FF2B5EF4-FFF2-40B4-BE49-F238E27FC236}">
                <a16:creationId xmlns:a16="http://schemas.microsoft.com/office/drawing/2014/main" id="{692BAB19-CEE5-BC0E-7E97-D0ED6FD316AB}"/>
              </a:ext>
            </a:extLst>
          </p:cNvPr>
          <p:cNvGrpSpPr>
            <a:grpSpLocks/>
          </p:cNvGrpSpPr>
          <p:nvPr/>
        </p:nvGrpSpPr>
        <p:grpSpPr bwMode="auto">
          <a:xfrm>
            <a:off x="4191000" y="5267325"/>
            <a:ext cx="685800" cy="461963"/>
            <a:chOff x="2736" y="3888"/>
            <a:chExt cx="432" cy="291"/>
          </a:xfrm>
        </p:grpSpPr>
        <p:sp>
          <p:nvSpPr>
            <p:cNvPr id="27" name="Line 26">
              <a:extLst>
                <a:ext uri="{FF2B5EF4-FFF2-40B4-BE49-F238E27FC236}">
                  <a16:creationId xmlns:a16="http://schemas.microsoft.com/office/drawing/2014/main" id="{C8EF14DC-2352-6FE7-A021-61B3B53A162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784" y="4128"/>
              <a:ext cx="38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/>
            <a:lstStyle/>
            <a:p>
              <a:pPr>
                <a:buClr>
                  <a:srgbClr val="000000"/>
                </a:buClr>
                <a:buSzPct val="100000"/>
                <a:buFont typeface="Times New Roman" pitchFamily="16" charset="0"/>
                <a:buNone/>
                <a:defRPr/>
              </a:pPr>
              <a:endParaRPr lang="en-IN">
                <a:solidFill>
                  <a:schemeClr val="accent4">
                    <a:lumMod val="95000"/>
                    <a:lumOff val="5000"/>
                  </a:schemeClr>
                </a:solidFill>
                <a:latin typeface="Times New Roman" pitchFamily="16" charset="0"/>
                <a:cs typeface="+mn-cs"/>
              </a:endParaRPr>
            </a:p>
          </p:txBody>
        </p:sp>
        <p:sp>
          <p:nvSpPr>
            <p:cNvPr id="28" name="Text Box 27">
              <a:extLst>
                <a:ext uri="{FF2B5EF4-FFF2-40B4-BE49-F238E27FC236}">
                  <a16:creationId xmlns:a16="http://schemas.microsoft.com/office/drawing/2014/main" id="{B7DB08AE-DA46-D415-CC24-A8E6E4FBFC3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36" y="3888"/>
              <a:ext cx="393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ctr" eaLnBrk="1" hangingPunct="1">
                <a:defRPr/>
              </a:pPr>
              <a:r>
                <a:rPr lang="en-US">
                  <a:solidFill>
                    <a:schemeClr val="accent4">
                      <a:lumMod val="95000"/>
                      <a:lumOff val="5000"/>
                    </a:schemeClr>
                  </a:solidFill>
                  <a:latin typeface="Tahoma" pitchFamily="34" charset="0"/>
                  <a:cs typeface="+mn-cs"/>
                </a:rPr>
                <a:t>top</a:t>
              </a:r>
            </a:p>
          </p:txBody>
        </p:sp>
      </p:grpSp>
      <p:grpSp>
        <p:nvGrpSpPr>
          <p:cNvPr id="4109" name="Group 28">
            <a:extLst>
              <a:ext uri="{FF2B5EF4-FFF2-40B4-BE49-F238E27FC236}">
                <a16:creationId xmlns:a16="http://schemas.microsoft.com/office/drawing/2014/main" id="{3E0ACE9D-1644-A7CA-2319-F0F0CF203FFD}"/>
              </a:ext>
            </a:extLst>
          </p:cNvPr>
          <p:cNvGrpSpPr>
            <a:grpSpLocks/>
          </p:cNvGrpSpPr>
          <p:nvPr/>
        </p:nvGrpSpPr>
        <p:grpSpPr bwMode="auto">
          <a:xfrm>
            <a:off x="4648200" y="4962525"/>
            <a:ext cx="1905000" cy="1447800"/>
            <a:chOff x="672" y="3216"/>
            <a:chExt cx="1200" cy="912"/>
          </a:xfrm>
        </p:grpSpPr>
        <p:sp>
          <p:nvSpPr>
            <p:cNvPr id="4131" name="Line 29">
              <a:extLst>
                <a:ext uri="{FF2B5EF4-FFF2-40B4-BE49-F238E27FC236}">
                  <a16:creationId xmlns:a16="http://schemas.microsoft.com/office/drawing/2014/main" id="{6F5050AE-4AEF-FB46-EFA4-F0BCB055C5A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2" y="3216"/>
              <a:ext cx="192" cy="0"/>
            </a:xfrm>
            <a:prstGeom prst="line">
              <a:avLst/>
            </a:prstGeom>
            <a:noFill/>
            <a:ln w="31750">
              <a:solidFill>
                <a:schemeClr val="accent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132" name="Line 30">
              <a:extLst>
                <a:ext uri="{FF2B5EF4-FFF2-40B4-BE49-F238E27FC236}">
                  <a16:creationId xmlns:a16="http://schemas.microsoft.com/office/drawing/2014/main" id="{12D13DDB-70E7-34EA-7C66-43CDF54778B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64" y="3216"/>
              <a:ext cx="0" cy="912"/>
            </a:xfrm>
            <a:prstGeom prst="line">
              <a:avLst/>
            </a:prstGeom>
            <a:noFill/>
            <a:ln w="31750">
              <a:solidFill>
                <a:schemeClr val="accent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133" name="Line 31">
              <a:extLst>
                <a:ext uri="{FF2B5EF4-FFF2-40B4-BE49-F238E27FC236}">
                  <a16:creationId xmlns:a16="http://schemas.microsoft.com/office/drawing/2014/main" id="{D23327DA-D473-F19F-0A89-6D20859ACEA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64" y="4128"/>
              <a:ext cx="816" cy="0"/>
            </a:xfrm>
            <a:prstGeom prst="line">
              <a:avLst/>
            </a:prstGeom>
            <a:noFill/>
            <a:ln w="31750">
              <a:solidFill>
                <a:schemeClr val="accent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134" name="Line 32">
              <a:extLst>
                <a:ext uri="{FF2B5EF4-FFF2-40B4-BE49-F238E27FC236}">
                  <a16:creationId xmlns:a16="http://schemas.microsoft.com/office/drawing/2014/main" id="{CF1B93AD-EBEA-478E-0871-F8895B1F2DD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680" y="3216"/>
              <a:ext cx="0" cy="912"/>
            </a:xfrm>
            <a:prstGeom prst="line">
              <a:avLst/>
            </a:prstGeom>
            <a:noFill/>
            <a:ln w="31750">
              <a:solidFill>
                <a:schemeClr val="accent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135" name="Line 33">
              <a:extLst>
                <a:ext uri="{FF2B5EF4-FFF2-40B4-BE49-F238E27FC236}">
                  <a16:creationId xmlns:a16="http://schemas.microsoft.com/office/drawing/2014/main" id="{16D0F494-6EB7-D1E7-D135-9C8107646D3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80" y="3216"/>
              <a:ext cx="192" cy="0"/>
            </a:xfrm>
            <a:prstGeom prst="line">
              <a:avLst/>
            </a:prstGeom>
            <a:noFill/>
            <a:ln w="31750">
              <a:solidFill>
                <a:schemeClr val="accent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110" name="Group 34">
            <a:extLst>
              <a:ext uri="{FF2B5EF4-FFF2-40B4-BE49-F238E27FC236}">
                <a16:creationId xmlns:a16="http://schemas.microsoft.com/office/drawing/2014/main" id="{702235C1-CAF2-8ADD-84B7-B55061216224}"/>
              </a:ext>
            </a:extLst>
          </p:cNvPr>
          <p:cNvGrpSpPr>
            <a:grpSpLocks/>
          </p:cNvGrpSpPr>
          <p:nvPr/>
        </p:nvGrpSpPr>
        <p:grpSpPr bwMode="auto">
          <a:xfrm>
            <a:off x="6400800" y="5724525"/>
            <a:ext cx="685800" cy="461963"/>
            <a:chOff x="4128" y="3888"/>
            <a:chExt cx="432" cy="291"/>
          </a:xfrm>
        </p:grpSpPr>
        <p:sp>
          <p:nvSpPr>
            <p:cNvPr id="36" name="Line 35">
              <a:extLst>
                <a:ext uri="{FF2B5EF4-FFF2-40B4-BE49-F238E27FC236}">
                  <a16:creationId xmlns:a16="http://schemas.microsoft.com/office/drawing/2014/main" id="{9C23DA3D-4472-E683-695E-D23CFEE870D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176" y="4128"/>
              <a:ext cx="38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/>
            <a:lstStyle/>
            <a:p>
              <a:pPr>
                <a:buClr>
                  <a:srgbClr val="000000"/>
                </a:buClr>
                <a:buSzPct val="100000"/>
                <a:buFont typeface="Times New Roman" pitchFamily="16" charset="0"/>
                <a:buNone/>
                <a:defRPr/>
              </a:pPr>
              <a:endParaRPr lang="en-IN">
                <a:solidFill>
                  <a:schemeClr val="accent4">
                    <a:lumMod val="95000"/>
                    <a:lumOff val="5000"/>
                  </a:schemeClr>
                </a:solidFill>
                <a:latin typeface="Times New Roman" pitchFamily="16" charset="0"/>
                <a:cs typeface="+mn-cs"/>
              </a:endParaRPr>
            </a:p>
          </p:txBody>
        </p:sp>
        <p:sp>
          <p:nvSpPr>
            <p:cNvPr id="37" name="Text Box 36">
              <a:extLst>
                <a:ext uri="{FF2B5EF4-FFF2-40B4-BE49-F238E27FC236}">
                  <a16:creationId xmlns:a16="http://schemas.microsoft.com/office/drawing/2014/main" id="{7B3F2A40-4799-0679-26A2-FDD591A6584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28" y="3888"/>
              <a:ext cx="393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ctr" eaLnBrk="1" hangingPunct="1">
                <a:defRPr/>
              </a:pPr>
              <a:r>
                <a:rPr lang="en-US">
                  <a:solidFill>
                    <a:schemeClr val="accent4">
                      <a:lumMod val="95000"/>
                      <a:lumOff val="5000"/>
                    </a:schemeClr>
                  </a:solidFill>
                  <a:latin typeface="Tahoma" pitchFamily="34" charset="0"/>
                  <a:cs typeface="+mn-cs"/>
                </a:rPr>
                <a:t>top</a:t>
              </a:r>
            </a:p>
          </p:txBody>
        </p:sp>
      </p:grpSp>
      <p:grpSp>
        <p:nvGrpSpPr>
          <p:cNvPr id="4111" name="Group 37">
            <a:extLst>
              <a:ext uri="{FF2B5EF4-FFF2-40B4-BE49-F238E27FC236}">
                <a16:creationId xmlns:a16="http://schemas.microsoft.com/office/drawing/2014/main" id="{D6357C02-AC03-921F-5EC3-93254025619E}"/>
              </a:ext>
            </a:extLst>
          </p:cNvPr>
          <p:cNvGrpSpPr>
            <a:grpSpLocks/>
          </p:cNvGrpSpPr>
          <p:nvPr/>
        </p:nvGrpSpPr>
        <p:grpSpPr bwMode="auto">
          <a:xfrm>
            <a:off x="6858000" y="4962525"/>
            <a:ext cx="1905000" cy="1447800"/>
            <a:chOff x="672" y="3216"/>
            <a:chExt cx="1200" cy="912"/>
          </a:xfrm>
        </p:grpSpPr>
        <p:sp>
          <p:nvSpPr>
            <p:cNvPr id="4124" name="Line 38">
              <a:extLst>
                <a:ext uri="{FF2B5EF4-FFF2-40B4-BE49-F238E27FC236}">
                  <a16:creationId xmlns:a16="http://schemas.microsoft.com/office/drawing/2014/main" id="{61616EE2-47F6-007E-D2A2-DF47E28060F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2" y="3216"/>
              <a:ext cx="192" cy="0"/>
            </a:xfrm>
            <a:prstGeom prst="line">
              <a:avLst/>
            </a:prstGeom>
            <a:noFill/>
            <a:ln w="31750">
              <a:solidFill>
                <a:schemeClr val="accent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125" name="Line 39">
              <a:extLst>
                <a:ext uri="{FF2B5EF4-FFF2-40B4-BE49-F238E27FC236}">
                  <a16:creationId xmlns:a16="http://schemas.microsoft.com/office/drawing/2014/main" id="{C87A5F11-9EBF-2C7F-EFD9-78E6C340953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64" y="3216"/>
              <a:ext cx="0" cy="912"/>
            </a:xfrm>
            <a:prstGeom prst="line">
              <a:avLst/>
            </a:prstGeom>
            <a:noFill/>
            <a:ln w="31750">
              <a:solidFill>
                <a:schemeClr val="accent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126" name="Line 40">
              <a:extLst>
                <a:ext uri="{FF2B5EF4-FFF2-40B4-BE49-F238E27FC236}">
                  <a16:creationId xmlns:a16="http://schemas.microsoft.com/office/drawing/2014/main" id="{350744C4-1743-B91E-BCA2-210D22A2A4C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64" y="4128"/>
              <a:ext cx="816" cy="0"/>
            </a:xfrm>
            <a:prstGeom prst="line">
              <a:avLst/>
            </a:prstGeom>
            <a:noFill/>
            <a:ln w="31750">
              <a:solidFill>
                <a:schemeClr val="accent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127" name="Line 41">
              <a:extLst>
                <a:ext uri="{FF2B5EF4-FFF2-40B4-BE49-F238E27FC236}">
                  <a16:creationId xmlns:a16="http://schemas.microsoft.com/office/drawing/2014/main" id="{CE671A0B-6505-F436-B209-E54DF0E0826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680" y="3216"/>
              <a:ext cx="0" cy="912"/>
            </a:xfrm>
            <a:prstGeom prst="line">
              <a:avLst/>
            </a:prstGeom>
            <a:noFill/>
            <a:ln w="31750">
              <a:solidFill>
                <a:schemeClr val="accent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128" name="Line 42">
              <a:extLst>
                <a:ext uri="{FF2B5EF4-FFF2-40B4-BE49-F238E27FC236}">
                  <a16:creationId xmlns:a16="http://schemas.microsoft.com/office/drawing/2014/main" id="{05F2EAE5-C057-CD49-22A3-C32ADE66FAF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80" y="3216"/>
              <a:ext cx="192" cy="0"/>
            </a:xfrm>
            <a:prstGeom prst="line">
              <a:avLst/>
            </a:prstGeom>
            <a:noFill/>
            <a:ln w="31750">
              <a:solidFill>
                <a:schemeClr val="accent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44" name="Text Box 43">
            <a:extLst>
              <a:ext uri="{FF2B5EF4-FFF2-40B4-BE49-F238E27FC236}">
                <a16:creationId xmlns:a16="http://schemas.microsoft.com/office/drawing/2014/main" id="{D83F8C27-539B-007B-BA06-B95E17DD4B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79675" y="4429125"/>
            <a:ext cx="2449513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 eaLnBrk="1" hangingPunct="1">
              <a:defRPr/>
            </a:pPr>
            <a:r>
              <a:rPr lang="en-US">
                <a:solidFill>
                  <a:schemeClr val="accent4">
                    <a:lumMod val="95000"/>
                    <a:lumOff val="5000"/>
                  </a:schemeClr>
                </a:solidFill>
                <a:latin typeface="Tahoma" pitchFamily="34" charset="0"/>
                <a:cs typeface="+mn-cs"/>
              </a:rPr>
              <a:t>push an element</a:t>
            </a:r>
          </a:p>
        </p:txBody>
      </p:sp>
      <p:sp>
        <p:nvSpPr>
          <p:cNvPr id="45" name="Text Box 44">
            <a:extLst>
              <a:ext uri="{FF2B5EF4-FFF2-40B4-BE49-F238E27FC236}">
                <a16:creationId xmlns:a16="http://schemas.microsoft.com/office/drawing/2014/main" id="{4B030C9D-A20E-9EB8-62EA-560951CC27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05363" y="4429125"/>
            <a:ext cx="1978025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 eaLnBrk="1" hangingPunct="1">
              <a:defRPr/>
            </a:pPr>
            <a:r>
              <a:rPr lang="en-US">
                <a:solidFill>
                  <a:schemeClr val="accent4">
                    <a:lumMod val="95000"/>
                    <a:lumOff val="5000"/>
                  </a:schemeClr>
                </a:solidFill>
                <a:latin typeface="Tahoma" pitchFamily="34" charset="0"/>
                <a:cs typeface="+mn-cs"/>
              </a:rPr>
              <a:t>push another</a:t>
            </a:r>
          </a:p>
        </p:txBody>
      </p:sp>
      <p:grpSp>
        <p:nvGrpSpPr>
          <p:cNvPr id="4114" name="Group 45">
            <a:extLst>
              <a:ext uri="{FF2B5EF4-FFF2-40B4-BE49-F238E27FC236}">
                <a16:creationId xmlns:a16="http://schemas.microsoft.com/office/drawing/2014/main" id="{C27E0FF1-4294-4731-F908-FE5A63A3180F}"/>
              </a:ext>
            </a:extLst>
          </p:cNvPr>
          <p:cNvGrpSpPr>
            <a:grpSpLocks/>
          </p:cNvGrpSpPr>
          <p:nvPr/>
        </p:nvGrpSpPr>
        <p:grpSpPr bwMode="auto">
          <a:xfrm>
            <a:off x="5156200" y="5934075"/>
            <a:ext cx="914400" cy="336550"/>
            <a:chOff x="3648" y="3388"/>
            <a:chExt cx="576" cy="212"/>
          </a:xfrm>
        </p:grpSpPr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5EE49972-FF50-4F41-4D77-F5CDF29CAE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48" y="3408"/>
              <a:ext cx="576" cy="192"/>
            </a:xfrm>
            <a:prstGeom prst="rect">
              <a:avLst/>
            </a:prstGeom>
            <a:solidFill>
              <a:schemeClr val="folHlink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buClr>
                  <a:srgbClr val="000000"/>
                </a:buClr>
                <a:buSzPct val="100000"/>
                <a:buFont typeface="Times New Roman" pitchFamily="16" charset="0"/>
                <a:buNone/>
                <a:defRPr/>
              </a:pPr>
              <a:endParaRPr lang="en-IN">
                <a:solidFill>
                  <a:schemeClr val="accent4">
                    <a:lumMod val="95000"/>
                    <a:lumOff val="5000"/>
                  </a:schemeClr>
                </a:solidFill>
                <a:latin typeface="Times New Roman" pitchFamily="16" charset="0"/>
                <a:cs typeface="+mn-cs"/>
              </a:endParaRPr>
            </a:p>
          </p:txBody>
        </p:sp>
        <p:sp>
          <p:nvSpPr>
            <p:cNvPr id="48" name="Text Box 47">
              <a:extLst>
                <a:ext uri="{FF2B5EF4-FFF2-40B4-BE49-F238E27FC236}">
                  <a16:creationId xmlns:a16="http://schemas.microsoft.com/office/drawing/2014/main" id="{75EB8EAA-CC05-EAA4-D055-99238D309F8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22" y="3388"/>
              <a:ext cx="210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 eaLnBrk="1" hangingPunct="1">
                <a:defRPr/>
              </a:pPr>
              <a:r>
                <a:rPr lang="en-US" altLang="zh-CN" sz="1600">
                  <a:solidFill>
                    <a:schemeClr val="accent4">
                      <a:lumMod val="95000"/>
                      <a:lumOff val="5000"/>
                    </a:schemeClr>
                  </a:solidFill>
                  <a:latin typeface="Tahoma" pitchFamily="34" charset="0"/>
                  <a:ea typeface="宋体" pitchFamily="2" charset="-122"/>
                  <a:cs typeface="+mn-cs"/>
                </a:rPr>
                <a:t>A</a:t>
              </a:r>
            </a:p>
          </p:txBody>
        </p:sp>
      </p:grpSp>
      <p:grpSp>
        <p:nvGrpSpPr>
          <p:cNvPr id="4115" name="Group 48">
            <a:extLst>
              <a:ext uri="{FF2B5EF4-FFF2-40B4-BE49-F238E27FC236}">
                <a16:creationId xmlns:a16="http://schemas.microsoft.com/office/drawing/2014/main" id="{264639DD-5152-3045-3D71-6AA13AE09169}"/>
              </a:ext>
            </a:extLst>
          </p:cNvPr>
          <p:cNvGrpSpPr>
            <a:grpSpLocks/>
          </p:cNvGrpSpPr>
          <p:nvPr/>
        </p:nvGrpSpPr>
        <p:grpSpPr bwMode="auto">
          <a:xfrm>
            <a:off x="5168900" y="5489575"/>
            <a:ext cx="914400" cy="336550"/>
            <a:chOff x="3648" y="3388"/>
            <a:chExt cx="576" cy="212"/>
          </a:xfrm>
        </p:grpSpPr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49CE44C4-1FB1-82D1-2103-A018FB9CBA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48" y="3408"/>
              <a:ext cx="576" cy="192"/>
            </a:xfrm>
            <a:prstGeom prst="rect">
              <a:avLst/>
            </a:prstGeom>
            <a:solidFill>
              <a:schemeClr val="folHlink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buClr>
                  <a:srgbClr val="000000"/>
                </a:buClr>
                <a:buSzPct val="100000"/>
                <a:buFont typeface="Times New Roman" pitchFamily="16" charset="0"/>
                <a:buNone/>
                <a:defRPr/>
              </a:pPr>
              <a:endParaRPr lang="en-IN">
                <a:solidFill>
                  <a:schemeClr val="accent4">
                    <a:lumMod val="95000"/>
                    <a:lumOff val="5000"/>
                  </a:schemeClr>
                </a:solidFill>
                <a:latin typeface="Times New Roman" pitchFamily="16" charset="0"/>
                <a:cs typeface="+mn-cs"/>
              </a:endParaRPr>
            </a:p>
          </p:txBody>
        </p:sp>
        <p:sp>
          <p:nvSpPr>
            <p:cNvPr id="51" name="Text Box 50">
              <a:extLst>
                <a:ext uri="{FF2B5EF4-FFF2-40B4-BE49-F238E27FC236}">
                  <a16:creationId xmlns:a16="http://schemas.microsoft.com/office/drawing/2014/main" id="{CDC9E990-20AC-540C-EA8F-8A168D9665F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22" y="3388"/>
              <a:ext cx="210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 eaLnBrk="1" hangingPunct="1">
                <a:defRPr/>
              </a:pPr>
              <a:r>
                <a:rPr lang="en-US" altLang="zh-CN" sz="1600">
                  <a:solidFill>
                    <a:schemeClr val="accent4">
                      <a:lumMod val="95000"/>
                      <a:lumOff val="5000"/>
                    </a:schemeClr>
                  </a:solidFill>
                  <a:latin typeface="Tahoma" pitchFamily="34" charset="0"/>
                  <a:ea typeface="宋体" pitchFamily="2" charset="-122"/>
                  <a:cs typeface="+mn-cs"/>
                </a:rPr>
                <a:t>B</a:t>
              </a:r>
            </a:p>
          </p:txBody>
        </p:sp>
      </p:grpSp>
      <p:sp>
        <p:nvSpPr>
          <p:cNvPr id="52" name="Text Box 51">
            <a:extLst>
              <a:ext uri="{FF2B5EF4-FFF2-40B4-BE49-F238E27FC236}">
                <a16:creationId xmlns:a16="http://schemas.microsoft.com/office/drawing/2014/main" id="{DF4CA769-48F7-7340-5FB6-B17BFAB18B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78713" y="4429125"/>
            <a:ext cx="690562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 eaLnBrk="1" hangingPunct="1">
              <a:defRPr/>
            </a:pPr>
            <a:r>
              <a:rPr lang="en-US">
                <a:solidFill>
                  <a:schemeClr val="accent4">
                    <a:lumMod val="95000"/>
                    <a:lumOff val="5000"/>
                  </a:schemeClr>
                </a:solidFill>
                <a:latin typeface="Tahoma" pitchFamily="34" charset="0"/>
                <a:cs typeface="+mn-cs"/>
              </a:rPr>
              <a:t>pop</a:t>
            </a:r>
          </a:p>
        </p:txBody>
      </p:sp>
      <p:grpSp>
        <p:nvGrpSpPr>
          <p:cNvPr id="4117" name="Group 52">
            <a:extLst>
              <a:ext uri="{FF2B5EF4-FFF2-40B4-BE49-F238E27FC236}">
                <a16:creationId xmlns:a16="http://schemas.microsoft.com/office/drawing/2014/main" id="{4E4CC690-D63D-2D2F-FD2B-50641843CAEA}"/>
              </a:ext>
            </a:extLst>
          </p:cNvPr>
          <p:cNvGrpSpPr>
            <a:grpSpLocks/>
          </p:cNvGrpSpPr>
          <p:nvPr/>
        </p:nvGrpSpPr>
        <p:grpSpPr bwMode="auto">
          <a:xfrm>
            <a:off x="7391400" y="5902325"/>
            <a:ext cx="914400" cy="336550"/>
            <a:chOff x="3648" y="3388"/>
            <a:chExt cx="576" cy="212"/>
          </a:xfrm>
        </p:grpSpPr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E272AFCD-C195-9E50-27D2-C428F0617E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48" y="3408"/>
              <a:ext cx="576" cy="192"/>
            </a:xfrm>
            <a:prstGeom prst="rect">
              <a:avLst/>
            </a:prstGeom>
            <a:solidFill>
              <a:schemeClr val="folHlink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buClr>
                  <a:srgbClr val="000000"/>
                </a:buClr>
                <a:buSzPct val="100000"/>
                <a:buFont typeface="Times New Roman" pitchFamily="16" charset="0"/>
                <a:buNone/>
                <a:defRPr/>
              </a:pPr>
              <a:endParaRPr lang="en-IN">
                <a:solidFill>
                  <a:schemeClr val="accent4">
                    <a:lumMod val="95000"/>
                    <a:lumOff val="5000"/>
                  </a:schemeClr>
                </a:solidFill>
                <a:latin typeface="Times New Roman" pitchFamily="16" charset="0"/>
                <a:cs typeface="+mn-cs"/>
              </a:endParaRPr>
            </a:p>
          </p:txBody>
        </p:sp>
        <p:sp>
          <p:nvSpPr>
            <p:cNvPr id="55" name="Text Box 54">
              <a:extLst>
                <a:ext uri="{FF2B5EF4-FFF2-40B4-BE49-F238E27FC236}">
                  <a16:creationId xmlns:a16="http://schemas.microsoft.com/office/drawing/2014/main" id="{2F3837D6-FC08-FC6D-2A17-6C32B85FADD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22" y="3388"/>
              <a:ext cx="210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 eaLnBrk="1" hangingPunct="1">
                <a:defRPr/>
              </a:pPr>
              <a:r>
                <a:rPr lang="en-US" altLang="zh-CN" sz="1600">
                  <a:solidFill>
                    <a:schemeClr val="accent4">
                      <a:lumMod val="95000"/>
                      <a:lumOff val="5000"/>
                    </a:schemeClr>
                  </a:solidFill>
                  <a:latin typeface="Tahoma" pitchFamily="34" charset="0"/>
                  <a:ea typeface="宋体" pitchFamily="2" charset="-122"/>
                  <a:cs typeface="+mn-cs"/>
                </a:rPr>
                <a:t>A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D85422-F47F-FC75-316E-52BAF7E687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2938" y="1143000"/>
            <a:ext cx="7847012" cy="3627438"/>
          </a:xfrm>
        </p:spPr>
        <p:txBody>
          <a:bodyPr/>
          <a:lstStyle/>
          <a:p>
            <a:pPr marL="0" indent="0">
              <a:buFont typeface="Times New Roman" panose="02020603050405020304" pitchFamily="18" charset="0"/>
              <a:buNone/>
              <a:defRPr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Implementations of stacks </a:t>
            </a:r>
          </a:p>
          <a:p>
            <a:pPr>
              <a:buFont typeface="Times New Roman" pitchFamily="16" charset="0"/>
              <a:buNone/>
              <a:defRPr/>
            </a:pPr>
            <a:r>
              <a:rPr lang="en-US" sz="1800" b="0" dirty="0">
                <a:latin typeface="Times New Roman" pitchFamily="18" charset="0"/>
                <a:cs typeface="Times New Roman" pitchFamily="18" charset="0"/>
              </a:rPr>
              <a:t>Any list implementation could be used to implement a stack</a:t>
            </a:r>
          </a:p>
          <a:p>
            <a:pPr lvl="1">
              <a:buFont typeface="Times New Roman" pitchFamily="16" charset="0"/>
              <a:buChar char="–"/>
              <a:defRPr/>
            </a:pPr>
            <a:r>
              <a:rPr lang="en-US" sz="1800" b="0" dirty="0">
                <a:latin typeface="Times New Roman" pitchFamily="18" charset="0"/>
                <a:cs typeface="Times New Roman" pitchFamily="18" charset="0"/>
              </a:rPr>
              <a:t>Arrays (</a:t>
            </a:r>
            <a:r>
              <a:rPr lang="en-US" sz="1800" b="0" dirty="0">
                <a:solidFill>
                  <a:schemeClr val="accent4">
                    <a:lumMod val="95000"/>
                    <a:lumOff val="5000"/>
                  </a:schemeClr>
                </a:solidFill>
                <a:latin typeface="Times New Roman" pitchFamily="18" charset="0"/>
                <a:cs typeface="Times New Roman" pitchFamily="18" charset="0"/>
              </a:rPr>
              <a:t>static: the size of stack is given initially)</a:t>
            </a:r>
          </a:p>
          <a:p>
            <a:pPr lvl="1">
              <a:buFont typeface="Times New Roman" pitchFamily="16" charset="0"/>
              <a:buChar char="–"/>
              <a:defRPr/>
            </a:pPr>
            <a:r>
              <a:rPr lang="en-US" sz="1800" b="0" dirty="0">
                <a:solidFill>
                  <a:schemeClr val="accent4">
                    <a:lumMod val="95000"/>
                    <a:lumOff val="5000"/>
                  </a:schemeClr>
                </a:solidFill>
                <a:latin typeface="Times New Roman" pitchFamily="18" charset="0"/>
                <a:cs typeface="Times New Roman" pitchFamily="18" charset="0"/>
              </a:rPr>
              <a:t>Linked lists (dynamic: never become full)</a:t>
            </a:r>
            <a:endParaRPr lang="en-US" sz="1800" b="0" dirty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Times New Roman" pitchFamily="16" charset="0"/>
              <a:buNone/>
              <a:defRPr/>
            </a:pPr>
            <a:r>
              <a:rPr lang="en-US" sz="1800" b="0" dirty="0">
                <a:latin typeface="Times New Roman" pitchFamily="18" charset="0"/>
                <a:cs typeface="Times New Roman" pitchFamily="18" charset="0"/>
              </a:rPr>
              <a:t>Array Representation:</a:t>
            </a:r>
          </a:p>
          <a:p>
            <a:pPr>
              <a:buFont typeface="Times New Roman" pitchFamily="16" charset="0"/>
              <a:buNone/>
              <a:defRPr/>
            </a:pPr>
            <a:endParaRPr lang="en-US" sz="1800" b="0" dirty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Times New Roman" pitchFamily="16" charset="0"/>
              <a:buChar char="•"/>
              <a:defRPr/>
            </a:pPr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422B14C-208C-FEBD-5F74-1FF3D518CFAB}"/>
              </a:ext>
            </a:extLst>
          </p:cNvPr>
          <p:cNvGraphicFramePr>
            <a:graphicFrameLocks noGrp="1"/>
          </p:cNvGraphicFramePr>
          <p:nvPr/>
        </p:nvGraphicFramePr>
        <p:xfrm>
          <a:off x="1428750" y="3867150"/>
          <a:ext cx="6096000" cy="3714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71475">
                <a:tc>
                  <a:txBody>
                    <a:bodyPr/>
                    <a:lstStyle/>
                    <a:p>
                      <a:r>
                        <a:rPr lang="en-US" sz="1800" dirty="0"/>
                        <a:t>XXX</a:t>
                      </a:r>
                      <a:endParaRPr lang="en-IN" sz="1800" dirty="0"/>
                    </a:p>
                  </a:txBody>
                  <a:tcPr marT="45798" marB="45798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YYY</a:t>
                      </a:r>
                      <a:endParaRPr lang="en-IN" sz="1800" dirty="0"/>
                    </a:p>
                  </a:txBody>
                  <a:tcPr marT="45798" marB="45798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ZZZ</a:t>
                      </a:r>
                      <a:endParaRPr lang="en-IN" sz="1800" dirty="0"/>
                    </a:p>
                  </a:txBody>
                  <a:tcPr marT="45798" marB="45798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AAA</a:t>
                      </a:r>
                      <a:endParaRPr lang="en-IN" sz="1800" dirty="0"/>
                    </a:p>
                  </a:txBody>
                  <a:tcPr marT="45798" marB="45798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BBB</a:t>
                      </a:r>
                      <a:endParaRPr lang="en-IN" sz="1800" dirty="0"/>
                    </a:p>
                  </a:txBody>
                  <a:tcPr marT="45798" marB="45798"/>
                </a:tc>
                <a:tc>
                  <a:txBody>
                    <a:bodyPr/>
                    <a:lstStyle/>
                    <a:p>
                      <a:endParaRPr lang="en-IN" sz="1800"/>
                    </a:p>
                  </a:txBody>
                  <a:tcPr marT="45798" marB="45798"/>
                </a:tc>
                <a:tc>
                  <a:txBody>
                    <a:bodyPr/>
                    <a:lstStyle/>
                    <a:p>
                      <a:endParaRPr lang="en-IN" sz="1800"/>
                    </a:p>
                  </a:txBody>
                  <a:tcPr marT="45798" marB="45798"/>
                </a:tc>
                <a:tc>
                  <a:txBody>
                    <a:bodyPr/>
                    <a:lstStyle/>
                    <a:p>
                      <a:endParaRPr lang="en-IN" sz="1800" dirty="0"/>
                    </a:p>
                  </a:txBody>
                  <a:tcPr marT="45798" marB="45798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E90526AE-98D8-DE31-EDE9-6A263650D948}"/>
              </a:ext>
            </a:extLst>
          </p:cNvPr>
          <p:cNvSpPr txBox="1"/>
          <p:nvPr/>
        </p:nvSpPr>
        <p:spPr>
          <a:xfrm>
            <a:off x="4500563" y="4500563"/>
            <a:ext cx="642937" cy="36988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buClr>
                <a:srgbClr val="000000"/>
              </a:buClr>
              <a:buSzPct val="100000"/>
              <a:buFont typeface="Times New Roman" pitchFamily="16" charset="0"/>
              <a:buNone/>
              <a:defRPr/>
            </a:pPr>
            <a:r>
              <a:rPr lang="en-US" sz="1800" dirty="0">
                <a:solidFill>
                  <a:schemeClr val="accent4">
                    <a:lumMod val="95000"/>
                    <a:lumOff val="5000"/>
                  </a:schemeClr>
                </a:solidFill>
                <a:latin typeface="Times New Roman" pitchFamily="16" charset="0"/>
                <a:cs typeface="+mn-cs"/>
              </a:rPr>
              <a:t>TOP</a:t>
            </a:r>
            <a:endParaRPr lang="en-IN" sz="1800" dirty="0">
              <a:solidFill>
                <a:schemeClr val="accent4">
                  <a:lumMod val="95000"/>
                  <a:lumOff val="5000"/>
                </a:schemeClr>
              </a:solidFill>
              <a:latin typeface="Times New Roman" pitchFamily="16" charset="0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FF5D213-6119-FC61-8F7E-AA088744E64F}"/>
              </a:ext>
            </a:extLst>
          </p:cNvPr>
          <p:cNvSpPr txBox="1"/>
          <p:nvPr/>
        </p:nvSpPr>
        <p:spPr>
          <a:xfrm>
            <a:off x="6786563" y="4500563"/>
            <a:ext cx="1357312" cy="36988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buClr>
                <a:srgbClr val="000000"/>
              </a:buClr>
              <a:buSzPct val="100000"/>
              <a:buFont typeface="Times New Roman" pitchFamily="16" charset="0"/>
              <a:buNone/>
              <a:defRPr/>
            </a:pPr>
            <a:r>
              <a:rPr lang="en-US" sz="1800" dirty="0">
                <a:solidFill>
                  <a:schemeClr val="accent4">
                    <a:lumMod val="95000"/>
                    <a:lumOff val="5000"/>
                  </a:schemeClr>
                </a:solidFill>
                <a:latin typeface="Times New Roman" pitchFamily="16" charset="0"/>
                <a:cs typeface="+mn-cs"/>
              </a:rPr>
              <a:t>MAXSTK</a:t>
            </a:r>
            <a:endParaRPr lang="en-IN" sz="1800" dirty="0">
              <a:solidFill>
                <a:schemeClr val="accent4">
                  <a:lumMod val="95000"/>
                  <a:lumOff val="5000"/>
                </a:schemeClr>
              </a:solidFill>
              <a:latin typeface="Times New Roman" pitchFamily="16" charset="0"/>
              <a:cs typeface="+mn-cs"/>
            </a:endParaRPr>
          </a:p>
        </p:txBody>
      </p:sp>
      <p:cxnSp>
        <p:nvCxnSpPr>
          <p:cNvPr id="5145" name="Elbow Connector 7">
            <a:extLst>
              <a:ext uri="{FF2B5EF4-FFF2-40B4-BE49-F238E27FC236}">
                <a16:creationId xmlns:a16="http://schemas.microsoft.com/office/drawing/2014/main" id="{240A8EDE-D071-4528-C4D7-4A18FE31CF76}"/>
              </a:ext>
            </a:extLst>
          </p:cNvPr>
          <p:cNvCxnSpPr>
            <a:cxnSpLocks noChangeShapeType="1"/>
            <a:stCxn id="5" idx="0"/>
          </p:cNvCxnSpPr>
          <p:nvPr/>
        </p:nvCxnSpPr>
        <p:spPr bwMode="auto">
          <a:xfrm rot="16200000" flipV="1">
            <a:off x="4590256" y="4267995"/>
            <a:ext cx="428625" cy="36512"/>
          </a:xfrm>
          <a:prstGeom prst="bentConnector3">
            <a:avLst>
              <a:gd name="adj1" fmla="val 50000"/>
            </a:avLst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146" name="Elbow Connector 9">
            <a:extLst>
              <a:ext uri="{FF2B5EF4-FFF2-40B4-BE49-F238E27FC236}">
                <a16:creationId xmlns:a16="http://schemas.microsoft.com/office/drawing/2014/main" id="{CEFEEDDE-6A8F-FC7F-49E8-4D246A0A3D7D}"/>
              </a:ext>
            </a:extLst>
          </p:cNvPr>
          <p:cNvCxnSpPr>
            <a:cxnSpLocks noChangeShapeType="1"/>
          </p:cNvCxnSpPr>
          <p:nvPr/>
        </p:nvCxnSpPr>
        <p:spPr bwMode="auto">
          <a:xfrm rot="16200000" flipV="1">
            <a:off x="7036595" y="4250531"/>
            <a:ext cx="500062" cy="142875"/>
          </a:xfrm>
          <a:prstGeom prst="bentConnector3">
            <a:avLst>
              <a:gd name="adj1" fmla="val 50000"/>
            </a:avLst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4DB97A82-AD6F-E550-7E39-131CA9ABA5B1}"/>
              </a:ext>
            </a:extLst>
          </p:cNvPr>
          <p:cNvGraphicFramePr>
            <a:graphicFrameLocks noGrp="1"/>
          </p:cNvGraphicFramePr>
          <p:nvPr/>
        </p:nvGraphicFramePr>
        <p:xfrm>
          <a:off x="1368425" y="3444875"/>
          <a:ext cx="6216650" cy="365125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7770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708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7708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708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7708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7708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7708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7708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65125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accent4">
                              <a:lumMod val="95000"/>
                              <a:lumOff val="5000"/>
                            </a:schemeClr>
                          </a:solidFill>
                        </a:rPr>
                        <a:t>1</a:t>
                      </a:r>
                      <a:endParaRPr lang="en-IN" sz="1800" dirty="0">
                        <a:solidFill>
                          <a:schemeClr val="accent4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62" marR="91462" marT="45434" marB="45434"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accent4">
                              <a:lumMod val="95000"/>
                              <a:lumOff val="5000"/>
                            </a:schemeClr>
                          </a:solidFill>
                        </a:rPr>
                        <a:t>2</a:t>
                      </a:r>
                      <a:endParaRPr lang="en-IN" sz="1800" dirty="0">
                        <a:solidFill>
                          <a:schemeClr val="accent4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62" marR="91462" marT="45434" marB="45434"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accent4">
                              <a:lumMod val="95000"/>
                              <a:lumOff val="5000"/>
                            </a:schemeClr>
                          </a:solidFill>
                        </a:rPr>
                        <a:t>3</a:t>
                      </a:r>
                      <a:endParaRPr lang="en-IN" sz="1800" dirty="0">
                        <a:solidFill>
                          <a:schemeClr val="accent4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62" marR="91462" marT="45434" marB="45434"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accent4">
                              <a:lumMod val="95000"/>
                              <a:lumOff val="5000"/>
                            </a:schemeClr>
                          </a:solidFill>
                        </a:rPr>
                        <a:t>4</a:t>
                      </a:r>
                      <a:endParaRPr lang="en-IN" sz="1800" dirty="0">
                        <a:solidFill>
                          <a:schemeClr val="accent4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62" marR="91462" marT="45434" marB="45434"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accent4">
                              <a:lumMod val="95000"/>
                              <a:lumOff val="5000"/>
                            </a:schemeClr>
                          </a:solidFill>
                        </a:rPr>
                        <a:t>5</a:t>
                      </a:r>
                      <a:endParaRPr lang="en-IN" sz="1800" dirty="0">
                        <a:solidFill>
                          <a:schemeClr val="accent4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62" marR="91462" marT="45434" marB="45434"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accent4">
                              <a:lumMod val="95000"/>
                              <a:lumOff val="5000"/>
                            </a:schemeClr>
                          </a:solidFill>
                        </a:rPr>
                        <a:t>6</a:t>
                      </a:r>
                      <a:endParaRPr lang="en-IN" sz="1800" dirty="0">
                        <a:solidFill>
                          <a:schemeClr val="accent4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62" marR="91462" marT="45434" marB="45434"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accent4">
                              <a:lumMod val="95000"/>
                              <a:lumOff val="5000"/>
                            </a:schemeClr>
                          </a:solidFill>
                        </a:rPr>
                        <a:t>7</a:t>
                      </a:r>
                      <a:endParaRPr lang="en-IN" sz="1800" dirty="0">
                        <a:solidFill>
                          <a:schemeClr val="accent4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62" marR="91462" marT="45434" marB="45434"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accent4">
                              <a:lumMod val="95000"/>
                              <a:lumOff val="5000"/>
                            </a:schemeClr>
                          </a:solidFill>
                        </a:rPr>
                        <a:t>8</a:t>
                      </a:r>
                      <a:endParaRPr lang="en-IN" sz="1800" dirty="0">
                        <a:solidFill>
                          <a:schemeClr val="accent4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62" marR="91462" marT="45434" marB="45434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D621085F-1D04-7F26-8DBA-744830CAAEC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14375" y="142875"/>
            <a:ext cx="4643438" cy="3440113"/>
          </a:xfrm>
        </p:spPr>
        <p:txBody>
          <a:bodyPr/>
          <a:lstStyle/>
          <a:p>
            <a:r>
              <a:rPr lang="en-US" altLang="en-US"/>
              <a:t>Array Implementation</a:t>
            </a:r>
          </a:p>
        </p:txBody>
      </p:sp>
      <p:pic>
        <p:nvPicPr>
          <p:cNvPr id="6147" name="Picture 1">
            <a:extLst>
              <a:ext uri="{FF2B5EF4-FFF2-40B4-BE49-F238E27FC236}">
                <a16:creationId xmlns:a16="http://schemas.microsoft.com/office/drawing/2014/main" id="{758195C8-46E1-D772-10DE-F9AD492E71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863" t="28990" r="35825" b="59804"/>
          <a:stretch>
            <a:fillRect/>
          </a:stretch>
        </p:blipFill>
        <p:spPr bwMode="auto">
          <a:xfrm>
            <a:off x="1547813" y="1287463"/>
            <a:ext cx="5256212" cy="1277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48" name="Picture 2">
            <a:extLst>
              <a:ext uri="{FF2B5EF4-FFF2-40B4-BE49-F238E27FC236}">
                <a16:creationId xmlns:a16="http://schemas.microsoft.com/office/drawing/2014/main" id="{B66FDA3A-22C7-BC4C-09E3-2CF4ABAA4E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225" t="52995" r="32675" b="35992"/>
          <a:stretch>
            <a:fillRect/>
          </a:stretch>
        </p:blipFill>
        <p:spPr bwMode="auto">
          <a:xfrm>
            <a:off x="1835150" y="3016250"/>
            <a:ext cx="5400675" cy="1276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49" name="Picture 3">
            <a:extLst>
              <a:ext uri="{FF2B5EF4-FFF2-40B4-BE49-F238E27FC236}">
                <a16:creationId xmlns:a16="http://schemas.microsoft.com/office/drawing/2014/main" id="{94EC63D1-3292-59DF-0B7D-BBB62DF727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074" t="44397" r="35039" b="44556"/>
          <a:stretch>
            <a:fillRect/>
          </a:stretch>
        </p:blipFill>
        <p:spPr bwMode="auto">
          <a:xfrm>
            <a:off x="1403350" y="4443413"/>
            <a:ext cx="5545138" cy="785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50" name="Picture 4">
            <a:extLst>
              <a:ext uri="{FF2B5EF4-FFF2-40B4-BE49-F238E27FC236}">
                <a16:creationId xmlns:a16="http://schemas.microsoft.com/office/drawing/2014/main" id="{D3CFDEB4-2B7E-9907-29F9-E302AB4C86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889" t="64006" r="27162" b="20702"/>
          <a:stretch>
            <a:fillRect/>
          </a:stretch>
        </p:blipFill>
        <p:spPr bwMode="auto">
          <a:xfrm>
            <a:off x="1862138" y="5551488"/>
            <a:ext cx="5256212" cy="785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Content Placeholder 2">
            <a:extLst>
              <a:ext uri="{FF2B5EF4-FFF2-40B4-BE49-F238E27FC236}">
                <a16:creationId xmlns:a16="http://schemas.microsoft.com/office/drawing/2014/main" id="{AAC4C68C-072D-CA16-8F56-79EB0DD0169B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68313" y="188913"/>
            <a:ext cx="8424862" cy="6669087"/>
          </a:xfrm>
        </p:spPr>
        <p:txBody>
          <a:bodyPr/>
          <a:lstStyle/>
          <a:p>
            <a:pPr>
              <a:buFont typeface="Times New Roman" panose="02020603050405020304" pitchFamily="18" charset="0"/>
              <a:buNone/>
            </a:pPr>
            <a:endParaRPr lang="en-US" altLang="en-US" sz="1400"/>
          </a:p>
          <a:p>
            <a:pPr>
              <a:buFont typeface="Times New Roman" panose="02020603050405020304" pitchFamily="18" charset="0"/>
              <a:buNone/>
            </a:pPr>
            <a:endParaRPr lang="en-US" altLang="en-US" sz="1400"/>
          </a:p>
          <a:p>
            <a:pPr>
              <a:buFont typeface="Times New Roman" panose="02020603050405020304" pitchFamily="18" charset="0"/>
              <a:buNone/>
            </a:pPr>
            <a:endParaRPr lang="en-US" altLang="en-US" sz="1400"/>
          </a:p>
          <a:p>
            <a:pPr>
              <a:buFont typeface="Times New Roman" panose="02020603050405020304" pitchFamily="18" charset="0"/>
              <a:buNone/>
            </a:pPr>
            <a:endParaRPr lang="en-US" altLang="en-US" sz="1400"/>
          </a:p>
          <a:p>
            <a:pPr>
              <a:buFont typeface="Times New Roman" panose="02020603050405020304" pitchFamily="18" charset="0"/>
              <a:buNone/>
            </a:pPr>
            <a:endParaRPr lang="en-US" altLang="en-US" sz="1400"/>
          </a:p>
          <a:p>
            <a:pPr>
              <a:buFont typeface="Times New Roman" panose="02020603050405020304" pitchFamily="18" charset="0"/>
              <a:buNone/>
            </a:pPr>
            <a:endParaRPr lang="en-US" altLang="en-US" sz="140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FD88361-235A-089A-9C46-FA2C4F4D71F3}"/>
              </a:ext>
            </a:extLst>
          </p:cNvPr>
          <p:cNvGraphicFramePr>
            <a:graphicFrameLocks noGrp="1"/>
          </p:cNvGraphicFramePr>
          <p:nvPr/>
        </p:nvGraphicFramePr>
        <p:xfrm>
          <a:off x="0" y="0"/>
          <a:ext cx="9251950" cy="695007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4999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519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95007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1800" b="1" u="sng" dirty="0"/>
                        <a:t>Stack implementation with arrays</a:t>
                      </a:r>
                    </a:p>
                    <a:p>
                      <a:pPr>
                        <a:buNone/>
                      </a:pPr>
                      <a:r>
                        <a:rPr lang="en-US" altLang="en-US" sz="1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</a:p>
                    <a:p>
                      <a:pPr>
                        <a:buNone/>
                      </a:pPr>
                      <a:r>
                        <a:rPr lang="en-US" altLang="en-US" sz="1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#include &lt;iostream&gt;</a:t>
                      </a:r>
                    </a:p>
                    <a:p>
                      <a:pPr>
                        <a:buNone/>
                      </a:pPr>
                      <a:r>
                        <a:rPr lang="en-US" altLang="en-US" sz="1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#include &lt;</a:t>
                      </a:r>
                      <a:r>
                        <a:rPr lang="en-US" altLang="en-US" sz="180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stdlib.h</a:t>
                      </a:r>
                      <a:r>
                        <a:rPr lang="en-US" altLang="en-US" sz="1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&gt;</a:t>
                      </a:r>
                    </a:p>
                    <a:p>
                      <a:pPr>
                        <a:buNone/>
                      </a:pPr>
                      <a:endParaRPr lang="en-US" altLang="en-US" sz="1800" b="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>
                        <a:buNone/>
                      </a:pPr>
                      <a:r>
                        <a:rPr lang="en-US" altLang="en-US" sz="1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#define MAX 3 // Altering this value changes size of stack created</a:t>
                      </a:r>
                    </a:p>
                    <a:p>
                      <a:pPr>
                        <a:buNone/>
                      </a:pPr>
                      <a:r>
                        <a:rPr lang="en-US" altLang="en-US" sz="180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int</a:t>
                      </a:r>
                      <a:r>
                        <a:rPr lang="en-US" altLang="en-US" sz="1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altLang="en-US" sz="180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st</a:t>
                      </a:r>
                      <a:r>
                        <a:rPr lang="en-US" altLang="en-US" sz="1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[MAX], top=-1;</a:t>
                      </a:r>
                    </a:p>
                    <a:p>
                      <a:pPr>
                        <a:buNone/>
                      </a:pPr>
                      <a:r>
                        <a:rPr lang="en-US" altLang="en-US" sz="1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void push(</a:t>
                      </a:r>
                      <a:r>
                        <a:rPr lang="en-US" altLang="en-US" sz="180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int</a:t>
                      </a:r>
                      <a:r>
                        <a:rPr lang="en-US" altLang="en-US" sz="1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altLang="en-US" sz="180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st</a:t>
                      </a:r>
                      <a:r>
                        <a:rPr lang="en-US" altLang="en-US" sz="1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[], </a:t>
                      </a:r>
                      <a:r>
                        <a:rPr lang="en-US" altLang="en-US" sz="180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int</a:t>
                      </a:r>
                      <a:r>
                        <a:rPr lang="en-US" altLang="en-US" sz="1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altLang="en-US" sz="180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val</a:t>
                      </a:r>
                      <a:r>
                        <a:rPr lang="en-US" altLang="en-US" sz="1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);</a:t>
                      </a:r>
                    </a:p>
                    <a:p>
                      <a:pPr>
                        <a:buNone/>
                      </a:pPr>
                      <a:r>
                        <a:rPr lang="en-US" altLang="en-US" sz="180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int</a:t>
                      </a:r>
                      <a:r>
                        <a:rPr lang="en-US" altLang="en-US" sz="1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pop(</a:t>
                      </a:r>
                      <a:r>
                        <a:rPr lang="en-US" altLang="en-US" sz="180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int</a:t>
                      </a:r>
                      <a:r>
                        <a:rPr lang="en-US" altLang="en-US" sz="1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altLang="en-US" sz="180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st</a:t>
                      </a:r>
                      <a:r>
                        <a:rPr lang="en-US" altLang="en-US" sz="1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[]);</a:t>
                      </a:r>
                    </a:p>
                    <a:p>
                      <a:pPr>
                        <a:buNone/>
                      </a:pPr>
                      <a:r>
                        <a:rPr lang="en-US" altLang="en-US" sz="180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int</a:t>
                      </a:r>
                      <a:r>
                        <a:rPr lang="en-US" altLang="en-US" sz="1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peek(</a:t>
                      </a:r>
                      <a:r>
                        <a:rPr lang="en-US" altLang="en-US" sz="180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int</a:t>
                      </a:r>
                      <a:r>
                        <a:rPr lang="en-US" altLang="en-US" sz="1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altLang="en-US" sz="180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st</a:t>
                      </a:r>
                      <a:r>
                        <a:rPr lang="en-US" altLang="en-US" sz="1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[]);</a:t>
                      </a:r>
                    </a:p>
                    <a:p>
                      <a:pPr>
                        <a:buNone/>
                      </a:pPr>
                      <a:r>
                        <a:rPr lang="en-US" altLang="en-US" sz="1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void display(</a:t>
                      </a:r>
                      <a:r>
                        <a:rPr lang="en-US" altLang="en-US" sz="180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int</a:t>
                      </a:r>
                      <a:r>
                        <a:rPr lang="en-US" altLang="en-US" sz="1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altLang="en-US" sz="180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st</a:t>
                      </a:r>
                      <a:r>
                        <a:rPr lang="en-US" altLang="en-US" sz="1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[]);</a:t>
                      </a:r>
                    </a:p>
                    <a:p>
                      <a:pPr>
                        <a:buNone/>
                      </a:pPr>
                      <a:r>
                        <a:rPr lang="en-US" altLang="en-US" sz="180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int</a:t>
                      </a:r>
                      <a:r>
                        <a:rPr lang="en-US" altLang="en-US" sz="1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main() {</a:t>
                      </a:r>
                    </a:p>
                    <a:p>
                      <a:pPr>
                        <a:buNone/>
                      </a:pPr>
                      <a:r>
                        <a:rPr lang="en-US" altLang="en-US" sz="180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int</a:t>
                      </a:r>
                      <a:r>
                        <a:rPr lang="en-US" altLang="en-US" sz="1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altLang="en-US" sz="180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val</a:t>
                      </a:r>
                      <a:r>
                        <a:rPr lang="en-US" altLang="en-US" sz="1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, option;</a:t>
                      </a:r>
                    </a:p>
                    <a:p>
                      <a:pPr>
                        <a:buNone/>
                      </a:pPr>
                      <a:r>
                        <a:rPr lang="en-US" altLang="en-US" sz="1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do</a:t>
                      </a:r>
                    </a:p>
                    <a:p>
                      <a:pPr>
                        <a:buNone/>
                      </a:pPr>
                      <a:r>
                        <a:rPr lang="en-US" altLang="en-US" sz="1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{</a:t>
                      </a:r>
                    </a:p>
                    <a:p>
                      <a:pPr>
                        <a:buNone/>
                      </a:pPr>
                      <a:r>
                        <a:rPr lang="en-US" altLang="en-US" sz="180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cout</a:t>
                      </a:r>
                      <a:r>
                        <a:rPr lang="en-US" altLang="en-US" sz="1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&lt;&lt;"\n *****MAIN MENU*****";</a:t>
                      </a:r>
                    </a:p>
                    <a:p>
                      <a:pPr>
                        <a:buNone/>
                      </a:pPr>
                      <a:r>
                        <a:rPr lang="en-US" altLang="en-US" sz="180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cout</a:t>
                      </a:r>
                      <a:r>
                        <a:rPr lang="en-US" altLang="en-US" sz="1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&lt;&lt;"\n 1. PUSH";</a:t>
                      </a:r>
                    </a:p>
                    <a:p>
                      <a:pPr>
                        <a:buNone/>
                      </a:pPr>
                      <a:r>
                        <a:rPr lang="en-US" altLang="en-US" sz="180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cout</a:t>
                      </a:r>
                      <a:r>
                        <a:rPr lang="en-US" altLang="en-US" sz="1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&lt;&lt;"\n 2. POP";</a:t>
                      </a:r>
                    </a:p>
                    <a:p>
                      <a:pPr>
                        <a:buNone/>
                      </a:pPr>
                      <a:r>
                        <a:rPr lang="en-US" altLang="en-US" sz="180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cout</a:t>
                      </a:r>
                      <a:r>
                        <a:rPr lang="en-US" altLang="en-US" sz="1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&lt;&lt;"\n 3. PEEK";</a:t>
                      </a:r>
                    </a:p>
                    <a:p>
                      <a:pPr>
                        <a:buNone/>
                      </a:pPr>
                      <a:r>
                        <a:rPr lang="en-US" altLang="en-US" sz="180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cout</a:t>
                      </a:r>
                      <a:r>
                        <a:rPr lang="en-US" altLang="en-US" sz="1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&lt;&lt;"\n 4. DISPLAY";</a:t>
                      </a:r>
                    </a:p>
                    <a:p>
                      <a:pPr>
                        <a:buNone/>
                      </a:pPr>
                      <a:r>
                        <a:rPr lang="en-US" altLang="en-US" sz="180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cout</a:t>
                      </a:r>
                      <a:r>
                        <a:rPr lang="en-US" altLang="en-US" sz="1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&lt;&lt;"\n 5. EXIT";</a:t>
                      </a:r>
                    </a:p>
                    <a:p>
                      <a:pPr>
                        <a:buNone/>
                      </a:pPr>
                      <a:r>
                        <a:rPr lang="en-US" altLang="en-US" sz="180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cout</a:t>
                      </a:r>
                      <a:r>
                        <a:rPr lang="en-US" altLang="en-US" sz="1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&lt;&lt;"\n Enter your option: ";</a:t>
                      </a:r>
                    </a:p>
                    <a:p>
                      <a:pPr>
                        <a:buNone/>
                      </a:pPr>
                      <a:r>
                        <a:rPr lang="en-US" altLang="en-US" sz="180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cin</a:t>
                      </a:r>
                      <a:r>
                        <a:rPr lang="en-US" altLang="en-US" sz="1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&gt;&gt;option;</a:t>
                      </a:r>
                    </a:p>
                  </a:txBody>
                  <a:tcPr marL="91434" marR="91434" marT="45724" marB="45724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US" sz="16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switch(option)</a:t>
                      </a:r>
                    </a:p>
                    <a:p>
                      <a:pPr>
                        <a:buNone/>
                      </a:pPr>
                      <a:r>
                        <a:rPr lang="en-US" altLang="en-US" sz="16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{</a:t>
                      </a:r>
                    </a:p>
                    <a:p>
                      <a:pPr>
                        <a:buNone/>
                      </a:pPr>
                      <a:r>
                        <a:rPr lang="en-US" altLang="en-US" sz="16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case 1:</a:t>
                      </a:r>
                    </a:p>
                    <a:p>
                      <a:pPr>
                        <a:buNone/>
                      </a:pPr>
                      <a:r>
                        <a:rPr lang="en-US" altLang="en-US" sz="160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cout</a:t>
                      </a:r>
                      <a:r>
                        <a:rPr lang="en-US" altLang="en-US" sz="16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&lt;&lt;"\n Enter the number to be pushed on stack: ");</a:t>
                      </a:r>
                    </a:p>
                    <a:p>
                      <a:pPr>
                        <a:buNone/>
                      </a:pPr>
                      <a:r>
                        <a:rPr lang="en-US" altLang="en-US" sz="160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cin</a:t>
                      </a:r>
                      <a:r>
                        <a:rPr lang="en-US" altLang="en-US" sz="16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&gt;&gt;</a:t>
                      </a:r>
                      <a:r>
                        <a:rPr lang="en-US" altLang="en-US" sz="160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val</a:t>
                      </a:r>
                      <a:r>
                        <a:rPr lang="en-US" altLang="en-US" sz="16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);</a:t>
                      </a:r>
                    </a:p>
                    <a:p>
                      <a:pPr>
                        <a:buNone/>
                      </a:pPr>
                      <a:r>
                        <a:rPr lang="en-US" altLang="en-US" sz="16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push(</a:t>
                      </a:r>
                      <a:r>
                        <a:rPr lang="en-US" altLang="en-US" sz="160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st</a:t>
                      </a:r>
                      <a:r>
                        <a:rPr lang="en-US" altLang="en-US" sz="16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, </a:t>
                      </a:r>
                      <a:r>
                        <a:rPr lang="en-US" altLang="en-US" sz="160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val</a:t>
                      </a:r>
                      <a:r>
                        <a:rPr lang="en-US" altLang="en-US" sz="16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);</a:t>
                      </a:r>
                    </a:p>
                    <a:p>
                      <a:pPr>
                        <a:buNone/>
                      </a:pPr>
                      <a:r>
                        <a:rPr lang="en-US" altLang="en-US" sz="16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break;</a:t>
                      </a:r>
                    </a:p>
                    <a:p>
                      <a:pPr>
                        <a:buNone/>
                      </a:pPr>
                      <a:r>
                        <a:rPr lang="en-US" altLang="en-US" sz="16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case 2:</a:t>
                      </a:r>
                    </a:p>
                    <a:p>
                      <a:pPr>
                        <a:buNone/>
                      </a:pPr>
                      <a:r>
                        <a:rPr lang="en-US" altLang="en-US" sz="160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val</a:t>
                      </a:r>
                      <a:r>
                        <a:rPr lang="en-US" altLang="en-US" sz="16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= pop(</a:t>
                      </a:r>
                      <a:r>
                        <a:rPr lang="en-US" altLang="en-US" sz="160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st</a:t>
                      </a:r>
                      <a:r>
                        <a:rPr lang="en-US" altLang="en-US" sz="16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);</a:t>
                      </a:r>
                    </a:p>
                    <a:p>
                      <a:pPr>
                        <a:buNone/>
                      </a:pPr>
                      <a:r>
                        <a:rPr lang="en-US" altLang="en-US" sz="16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if(</a:t>
                      </a:r>
                      <a:r>
                        <a:rPr lang="en-US" altLang="en-US" sz="160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val</a:t>
                      </a:r>
                      <a:r>
                        <a:rPr lang="en-US" altLang="en-US" sz="16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!= -1)</a:t>
                      </a:r>
                    </a:p>
                    <a:p>
                      <a:pPr>
                        <a:buNone/>
                      </a:pPr>
                      <a:r>
                        <a:rPr lang="en-US" altLang="en-US" sz="160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cout</a:t>
                      </a:r>
                      <a:r>
                        <a:rPr lang="en-US" altLang="en-US" sz="16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&lt;&lt;"\n The value deleted from stack is: ", </a:t>
                      </a:r>
                      <a:r>
                        <a:rPr lang="en-US" altLang="en-US" sz="160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val</a:t>
                      </a:r>
                      <a:r>
                        <a:rPr lang="en-US" altLang="en-US" sz="16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);</a:t>
                      </a:r>
                    </a:p>
                    <a:p>
                      <a:pPr>
                        <a:buNone/>
                      </a:pPr>
                      <a:r>
                        <a:rPr lang="en-US" altLang="en-US" sz="16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break;</a:t>
                      </a:r>
                    </a:p>
                    <a:p>
                      <a:pPr>
                        <a:buNone/>
                      </a:pPr>
                      <a:r>
                        <a:rPr lang="en-US" altLang="en-US" sz="16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case 3:</a:t>
                      </a:r>
                    </a:p>
                    <a:p>
                      <a:pPr>
                        <a:buNone/>
                      </a:pPr>
                      <a:r>
                        <a:rPr lang="en-US" altLang="en-US" sz="160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val</a:t>
                      </a:r>
                      <a:r>
                        <a:rPr lang="en-US" altLang="en-US" sz="16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= peek(</a:t>
                      </a:r>
                      <a:r>
                        <a:rPr lang="en-US" altLang="en-US" sz="160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st</a:t>
                      </a:r>
                      <a:r>
                        <a:rPr lang="en-US" altLang="en-US" sz="16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);</a:t>
                      </a:r>
                    </a:p>
                    <a:p>
                      <a:pPr>
                        <a:buNone/>
                      </a:pPr>
                      <a:r>
                        <a:rPr lang="en-US" altLang="en-US" sz="16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if(</a:t>
                      </a:r>
                      <a:r>
                        <a:rPr lang="en-US" altLang="en-US" sz="160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val</a:t>
                      </a:r>
                      <a:r>
                        <a:rPr lang="en-US" altLang="en-US" sz="16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!= -1)</a:t>
                      </a:r>
                    </a:p>
                    <a:p>
                      <a:pPr>
                        <a:buNone/>
                      </a:pPr>
                      <a:r>
                        <a:rPr lang="en-US" altLang="en-US" sz="16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   </a:t>
                      </a:r>
                      <a:r>
                        <a:rPr lang="en-US" altLang="en-US" sz="160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cout</a:t>
                      </a:r>
                      <a:r>
                        <a:rPr lang="en-US" altLang="en-US" sz="16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&lt;&lt;"\n The value stored at top of stack is: ", </a:t>
                      </a:r>
                      <a:r>
                        <a:rPr lang="en-US" altLang="en-US" sz="160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val</a:t>
                      </a:r>
                      <a:r>
                        <a:rPr lang="en-US" altLang="en-US" sz="16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);</a:t>
                      </a:r>
                    </a:p>
                    <a:p>
                      <a:pPr>
                        <a:buNone/>
                      </a:pPr>
                      <a:r>
                        <a:rPr lang="en-US" altLang="en-US" sz="16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break;</a:t>
                      </a:r>
                    </a:p>
                    <a:p>
                      <a:pPr>
                        <a:buNone/>
                      </a:pPr>
                      <a:r>
                        <a:rPr lang="en-US" altLang="en-US" sz="16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case 4:</a:t>
                      </a:r>
                    </a:p>
                    <a:p>
                      <a:pPr>
                        <a:buNone/>
                      </a:pPr>
                      <a:r>
                        <a:rPr lang="en-US" altLang="en-US" sz="16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display(</a:t>
                      </a:r>
                      <a:r>
                        <a:rPr lang="en-US" altLang="en-US" sz="160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st</a:t>
                      </a:r>
                      <a:r>
                        <a:rPr lang="en-US" altLang="en-US" sz="16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);</a:t>
                      </a:r>
                    </a:p>
                    <a:p>
                      <a:pPr>
                        <a:buNone/>
                      </a:pPr>
                      <a:r>
                        <a:rPr lang="en-US" altLang="en-US" sz="16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break;</a:t>
                      </a:r>
                    </a:p>
                    <a:p>
                      <a:pPr>
                        <a:buNone/>
                      </a:pPr>
                      <a:r>
                        <a:rPr lang="en-US" altLang="en-US" sz="16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}</a:t>
                      </a:r>
                    </a:p>
                    <a:p>
                      <a:pPr>
                        <a:buNone/>
                      </a:pPr>
                      <a:r>
                        <a:rPr lang="en-US" altLang="en-US" sz="16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}while(option != 5);</a:t>
                      </a:r>
                    </a:p>
                    <a:p>
                      <a:pPr>
                        <a:buNone/>
                      </a:pPr>
                      <a:r>
                        <a:rPr lang="en-US" altLang="en-US" sz="16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return 0;</a:t>
                      </a:r>
                    </a:p>
                    <a:p>
                      <a:pPr>
                        <a:buNone/>
                      </a:pPr>
                      <a:r>
                        <a:rPr lang="en-US" altLang="en-US" sz="16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}</a:t>
                      </a:r>
                    </a:p>
                  </a:txBody>
                  <a:tcPr marL="91434" marR="91434" marT="45724" marB="45724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Content Placeholder 2">
            <a:extLst>
              <a:ext uri="{FF2B5EF4-FFF2-40B4-BE49-F238E27FC236}">
                <a16:creationId xmlns:a16="http://schemas.microsoft.com/office/drawing/2014/main" id="{349CDF92-05DE-D9E0-E0FF-8D0636AADD8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68313" y="188913"/>
            <a:ext cx="8424862" cy="6669087"/>
          </a:xfrm>
        </p:spPr>
        <p:txBody>
          <a:bodyPr/>
          <a:lstStyle/>
          <a:p>
            <a:pPr>
              <a:buFont typeface="Times New Roman" panose="02020603050405020304" pitchFamily="18" charset="0"/>
              <a:buNone/>
            </a:pPr>
            <a:endParaRPr lang="en-US" altLang="en-US" sz="1400"/>
          </a:p>
          <a:p>
            <a:pPr>
              <a:buFont typeface="Times New Roman" panose="02020603050405020304" pitchFamily="18" charset="0"/>
              <a:buNone/>
            </a:pPr>
            <a:endParaRPr lang="en-US" altLang="en-US" sz="1400"/>
          </a:p>
          <a:p>
            <a:pPr>
              <a:buFont typeface="Times New Roman" panose="02020603050405020304" pitchFamily="18" charset="0"/>
              <a:buNone/>
            </a:pPr>
            <a:endParaRPr lang="en-US" altLang="en-US" sz="1400"/>
          </a:p>
          <a:p>
            <a:pPr>
              <a:buFont typeface="Times New Roman" panose="02020603050405020304" pitchFamily="18" charset="0"/>
              <a:buNone/>
            </a:pPr>
            <a:endParaRPr lang="en-US" altLang="en-US" sz="1400"/>
          </a:p>
          <a:p>
            <a:pPr>
              <a:buFont typeface="Times New Roman" panose="02020603050405020304" pitchFamily="18" charset="0"/>
              <a:buNone/>
            </a:pPr>
            <a:endParaRPr lang="en-US" altLang="en-US" sz="1400"/>
          </a:p>
          <a:p>
            <a:pPr>
              <a:buFont typeface="Times New Roman" panose="02020603050405020304" pitchFamily="18" charset="0"/>
              <a:buNone/>
            </a:pPr>
            <a:endParaRPr lang="en-US" altLang="en-US" sz="140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F093843-2FD9-9C2A-2921-A2D8059B2525}"/>
              </a:ext>
            </a:extLst>
          </p:cNvPr>
          <p:cNvGraphicFramePr>
            <a:graphicFrameLocks noGrp="1"/>
          </p:cNvGraphicFramePr>
          <p:nvPr/>
        </p:nvGraphicFramePr>
        <p:xfrm>
          <a:off x="0" y="0"/>
          <a:ext cx="9251950" cy="695007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4999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519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9500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US" sz="1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void push(</a:t>
                      </a:r>
                      <a:r>
                        <a:rPr lang="en-US" altLang="en-US" sz="180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int</a:t>
                      </a:r>
                      <a:r>
                        <a:rPr lang="en-US" altLang="en-US" sz="1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altLang="en-US" sz="180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st</a:t>
                      </a:r>
                      <a:r>
                        <a:rPr lang="en-US" altLang="en-US" sz="1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[], </a:t>
                      </a:r>
                      <a:r>
                        <a:rPr lang="en-US" altLang="en-US" sz="180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int</a:t>
                      </a:r>
                      <a:r>
                        <a:rPr lang="en-US" altLang="en-US" sz="1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altLang="en-US" sz="180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val</a:t>
                      </a:r>
                      <a:r>
                        <a:rPr lang="en-US" altLang="en-US" sz="1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)</a:t>
                      </a:r>
                    </a:p>
                    <a:p>
                      <a:pPr>
                        <a:buNone/>
                      </a:pPr>
                      <a:r>
                        <a:rPr lang="en-US" altLang="en-US" sz="1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{</a:t>
                      </a:r>
                    </a:p>
                    <a:p>
                      <a:pPr>
                        <a:buNone/>
                      </a:pPr>
                      <a:r>
                        <a:rPr lang="en-US" altLang="en-US" sz="1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if(top == MAX-1)</a:t>
                      </a:r>
                    </a:p>
                    <a:p>
                      <a:pPr>
                        <a:buNone/>
                      </a:pPr>
                      <a:r>
                        <a:rPr lang="en-US" altLang="en-US" sz="1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{</a:t>
                      </a:r>
                    </a:p>
                    <a:p>
                      <a:pPr>
                        <a:buNone/>
                      </a:pPr>
                      <a:r>
                        <a:rPr lang="en-US" altLang="en-US" sz="180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cout</a:t>
                      </a:r>
                      <a:r>
                        <a:rPr lang="en-US" altLang="en-US" sz="1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&lt;&lt;"\n STACK OVERFLOW";</a:t>
                      </a:r>
                    </a:p>
                    <a:p>
                      <a:pPr>
                        <a:buNone/>
                      </a:pPr>
                      <a:r>
                        <a:rPr lang="en-US" altLang="en-US" sz="1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}</a:t>
                      </a:r>
                    </a:p>
                    <a:p>
                      <a:pPr>
                        <a:buNone/>
                      </a:pPr>
                      <a:r>
                        <a:rPr lang="en-US" altLang="en-US" sz="1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else</a:t>
                      </a:r>
                    </a:p>
                    <a:p>
                      <a:pPr>
                        <a:buNone/>
                      </a:pPr>
                      <a:r>
                        <a:rPr lang="en-US" altLang="en-US" sz="1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{</a:t>
                      </a:r>
                    </a:p>
                    <a:p>
                      <a:pPr>
                        <a:buNone/>
                      </a:pPr>
                      <a:r>
                        <a:rPr lang="en-US" altLang="en-US" sz="1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top++;</a:t>
                      </a:r>
                    </a:p>
                    <a:p>
                      <a:pPr>
                        <a:buNone/>
                      </a:pPr>
                      <a:r>
                        <a:rPr lang="en-US" altLang="en-US" sz="180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st</a:t>
                      </a:r>
                      <a:r>
                        <a:rPr lang="en-US" altLang="en-US" sz="1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[top] = </a:t>
                      </a:r>
                      <a:r>
                        <a:rPr lang="en-US" altLang="en-US" sz="180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val</a:t>
                      </a:r>
                      <a:r>
                        <a:rPr lang="en-US" altLang="en-US" sz="1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;</a:t>
                      </a:r>
                    </a:p>
                    <a:p>
                      <a:pPr>
                        <a:buNone/>
                      </a:pPr>
                      <a:r>
                        <a:rPr lang="en-US" altLang="en-US" sz="1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}</a:t>
                      </a:r>
                    </a:p>
                    <a:p>
                      <a:pPr>
                        <a:buNone/>
                      </a:pPr>
                      <a:r>
                        <a:rPr lang="en-US" altLang="en-US" sz="1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}</a:t>
                      </a:r>
                    </a:p>
                    <a:p>
                      <a:pPr>
                        <a:buNone/>
                      </a:pPr>
                      <a:r>
                        <a:rPr lang="en-US" altLang="en-US" sz="180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int</a:t>
                      </a:r>
                      <a:r>
                        <a:rPr lang="en-US" altLang="en-US" sz="1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pop(</a:t>
                      </a:r>
                      <a:r>
                        <a:rPr lang="en-US" altLang="en-US" sz="180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int</a:t>
                      </a:r>
                      <a:r>
                        <a:rPr lang="en-US" altLang="en-US" sz="1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altLang="en-US" sz="180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st</a:t>
                      </a:r>
                      <a:r>
                        <a:rPr lang="en-US" altLang="en-US" sz="1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[])</a:t>
                      </a:r>
                    </a:p>
                    <a:p>
                      <a:pPr>
                        <a:buNone/>
                      </a:pPr>
                      <a:r>
                        <a:rPr lang="en-US" altLang="en-US" sz="1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{</a:t>
                      </a:r>
                    </a:p>
                    <a:p>
                      <a:pPr>
                        <a:buNone/>
                      </a:pPr>
                      <a:r>
                        <a:rPr lang="en-US" altLang="en-US" sz="180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int</a:t>
                      </a:r>
                      <a:r>
                        <a:rPr lang="en-US" altLang="en-US" sz="1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altLang="en-US" sz="180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val</a:t>
                      </a:r>
                      <a:r>
                        <a:rPr lang="en-US" altLang="en-US" sz="1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;</a:t>
                      </a:r>
                    </a:p>
                    <a:p>
                      <a:pPr>
                        <a:buNone/>
                      </a:pPr>
                      <a:r>
                        <a:rPr lang="en-US" altLang="en-US" sz="1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if(top == -1)</a:t>
                      </a:r>
                    </a:p>
                    <a:p>
                      <a:pPr>
                        <a:buNone/>
                      </a:pPr>
                      <a:r>
                        <a:rPr lang="en-US" altLang="en-US" sz="1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{</a:t>
                      </a:r>
                    </a:p>
                    <a:p>
                      <a:pPr>
                        <a:buNone/>
                      </a:pPr>
                      <a:r>
                        <a:rPr lang="en-US" altLang="en-US" sz="180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cout</a:t>
                      </a:r>
                      <a:r>
                        <a:rPr lang="en-US" altLang="en-US" sz="1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&lt;&lt;"\n STACK UNDERFLOW";</a:t>
                      </a:r>
                    </a:p>
                    <a:p>
                      <a:pPr>
                        <a:buNone/>
                      </a:pPr>
                      <a:r>
                        <a:rPr lang="en-US" altLang="en-US" sz="1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return -1;</a:t>
                      </a:r>
                    </a:p>
                    <a:p>
                      <a:pPr>
                        <a:buNone/>
                      </a:pPr>
                      <a:r>
                        <a:rPr lang="en-US" altLang="en-US" sz="1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}</a:t>
                      </a:r>
                    </a:p>
                    <a:p>
                      <a:pPr>
                        <a:buNone/>
                      </a:pPr>
                      <a:r>
                        <a:rPr lang="en-US" altLang="en-US" sz="1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else</a:t>
                      </a:r>
                    </a:p>
                    <a:p>
                      <a:pPr>
                        <a:buNone/>
                      </a:pPr>
                      <a:r>
                        <a:rPr lang="en-US" altLang="en-US" sz="1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{</a:t>
                      </a:r>
                    </a:p>
                    <a:p>
                      <a:pPr>
                        <a:buNone/>
                      </a:pPr>
                      <a:r>
                        <a:rPr lang="en-US" altLang="en-US" sz="180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val</a:t>
                      </a:r>
                      <a:r>
                        <a:rPr lang="en-US" altLang="en-US" sz="1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= </a:t>
                      </a:r>
                      <a:r>
                        <a:rPr lang="en-US" altLang="en-US" sz="180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st</a:t>
                      </a:r>
                      <a:r>
                        <a:rPr lang="en-US" altLang="en-US" sz="1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[top];</a:t>
                      </a:r>
                    </a:p>
                    <a:p>
                      <a:pPr>
                        <a:buNone/>
                      </a:pPr>
                      <a:r>
                        <a:rPr lang="en-US" altLang="en-US" sz="1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top--;</a:t>
                      </a:r>
                    </a:p>
                    <a:p>
                      <a:pPr>
                        <a:buNone/>
                      </a:pPr>
                      <a:r>
                        <a:rPr lang="en-US" altLang="en-US" sz="1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return </a:t>
                      </a:r>
                      <a:r>
                        <a:rPr lang="en-US" altLang="en-US" sz="180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val</a:t>
                      </a:r>
                      <a:r>
                        <a:rPr lang="en-US" altLang="en-US" sz="1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;} }</a:t>
                      </a:r>
                    </a:p>
                  </a:txBody>
                  <a:tcPr marL="91434" marR="91434" marT="45724" marB="45724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US" sz="16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void display(</a:t>
                      </a:r>
                      <a:r>
                        <a:rPr lang="en-US" altLang="en-US" sz="160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int</a:t>
                      </a:r>
                      <a:r>
                        <a:rPr lang="en-US" altLang="en-US" sz="16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altLang="en-US" sz="160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st</a:t>
                      </a:r>
                      <a:r>
                        <a:rPr lang="en-US" altLang="en-US" sz="16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[])</a:t>
                      </a:r>
                    </a:p>
                    <a:p>
                      <a:pPr>
                        <a:buNone/>
                      </a:pPr>
                      <a:r>
                        <a:rPr lang="en-US" altLang="en-US" sz="16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{</a:t>
                      </a:r>
                    </a:p>
                    <a:p>
                      <a:pPr>
                        <a:buNone/>
                      </a:pPr>
                      <a:r>
                        <a:rPr lang="en-US" altLang="en-US" sz="160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int</a:t>
                      </a:r>
                      <a:r>
                        <a:rPr lang="en-US" altLang="en-US" sz="16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altLang="en-US" sz="160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i</a:t>
                      </a:r>
                      <a:r>
                        <a:rPr lang="en-US" altLang="en-US" sz="16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;</a:t>
                      </a:r>
                    </a:p>
                    <a:p>
                      <a:pPr>
                        <a:buNone/>
                      </a:pPr>
                      <a:r>
                        <a:rPr lang="en-US" altLang="en-US" sz="16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if(top == -1)</a:t>
                      </a:r>
                    </a:p>
                    <a:p>
                      <a:pPr>
                        <a:buNone/>
                      </a:pPr>
                      <a:r>
                        <a:rPr lang="en-US" altLang="en-US" sz="160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cout</a:t>
                      </a:r>
                      <a:r>
                        <a:rPr lang="en-US" altLang="en-US" sz="16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&lt;&lt;"\n STACK IS EMPTY";</a:t>
                      </a:r>
                    </a:p>
                    <a:p>
                      <a:pPr>
                        <a:buNone/>
                      </a:pPr>
                      <a:r>
                        <a:rPr lang="en-US" altLang="en-US" sz="16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else</a:t>
                      </a:r>
                    </a:p>
                    <a:p>
                      <a:pPr>
                        <a:buNone/>
                      </a:pPr>
                      <a:r>
                        <a:rPr lang="en-US" altLang="en-US" sz="16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{</a:t>
                      </a:r>
                    </a:p>
                    <a:p>
                      <a:pPr>
                        <a:buNone/>
                      </a:pPr>
                      <a:r>
                        <a:rPr lang="en-US" altLang="en-US" sz="16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for(</a:t>
                      </a:r>
                      <a:r>
                        <a:rPr lang="en-US" altLang="en-US" sz="160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i</a:t>
                      </a:r>
                      <a:r>
                        <a:rPr lang="en-US" altLang="en-US" sz="16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=</a:t>
                      </a:r>
                      <a:r>
                        <a:rPr lang="en-US" altLang="en-US" sz="160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top;i</a:t>
                      </a:r>
                      <a:r>
                        <a:rPr lang="en-US" altLang="en-US" sz="16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&gt;=0;i--)</a:t>
                      </a:r>
                    </a:p>
                    <a:p>
                      <a:pPr>
                        <a:buNone/>
                      </a:pPr>
                      <a:r>
                        <a:rPr lang="en-US" altLang="en-US" sz="160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cout</a:t>
                      </a:r>
                      <a:r>
                        <a:rPr lang="en-US" altLang="en-US" sz="16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&lt;&lt;"\n ",</a:t>
                      </a:r>
                      <a:r>
                        <a:rPr lang="en-US" altLang="en-US" sz="160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st</a:t>
                      </a:r>
                      <a:r>
                        <a:rPr lang="en-US" altLang="en-US" sz="16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[</a:t>
                      </a:r>
                      <a:r>
                        <a:rPr lang="en-US" altLang="en-US" sz="160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i</a:t>
                      </a:r>
                      <a:r>
                        <a:rPr lang="en-US" altLang="en-US" sz="16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];</a:t>
                      </a:r>
                    </a:p>
                    <a:p>
                      <a:pPr>
                        <a:buNone/>
                      </a:pPr>
                      <a:r>
                        <a:rPr lang="en-US" altLang="en-US" sz="160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cout</a:t>
                      </a:r>
                      <a:r>
                        <a:rPr lang="en-US" altLang="en-US" sz="16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&lt;&lt;"\n"; // Added for formatting purposes</a:t>
                      </a:r>
                    </a:p>
                    <a:p>
                      <a:pPr>
                        <a:buNone/>
                      </a:pPr>
                      <a:r>
                        <a:rPr lang="en-US" altLang="en-US" sz="16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}</a:t>
                      </a:r>
                    </a:p>
                    <a:p>
                      <a:pPr>
                        <a:buNone/>
                      </a:pPr>
                      <a:r>
                        <a:rPr lang="en-US" altLang="en-US" sz="16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}</a:t>
                      </a:r>
                    </a:p>
                    <a:p>
                      <a:pPr>
                        <a:buNone/>
                      </a:pPr>
                      <a:r>
                        <a:rPr lang="en-US" altLang="en-US" sz="160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int</a:t>
                      </a:r>
                      <a:r>
                        <a:rPr lang="en-US" altLang="en-US" sz="16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peek(</a:t>
                      </a:r>
                      <a:r>
                        <a:rPr lang="en-US" altLang="en-US" sz="160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int</a:t>
                      </a:r>
                      <a:r>
                        <a:rPr lang="en-US" altLang="en-US" sz="16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altLang="en-US" sz="160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st</a:t>
                      </a:r>
                      <a:r>
                        <a:rPr lang="en-US" altLang="en-US" sz="16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[])</a:t>
                      </a:r>
                    </a:p>
                    <a:p>
                      <a:pPr>
                        <a:buNone/>
                      </a:pPr>
                      <a:r>
                        <a:rPr lang="en-US" altLang="en-US" sz="16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{</a:t>
                      </a:r>
                    </a:p>
                    <a:p>
                      <a:pPr>
                        <a:buNone/>
                      </a:pPr>
                      <a:r>
                        <a:rPr lang="en-US" altLang="en-US" sz="16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if(top == -1)</a:t>
                      </a:r>
                    </a:p>
                    <a:p>
                      <a:pPr>
                        <a:buNone/>
                      </a:pPr>
                      <a:r>
                        <a:rPr lang="en-US" altLang="en-US" sz="16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{</a:t>
                      </a:r>
                    </a:p>
                    <a:p>
                      <a:pPr>
                        <a:buNone/>
                      </a:pPr>
                      <a:r>
                        <a:rPr lang="en-US" altLang="en-US" sz="160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cout</a:t>
                      </a:r>
                      <a:r>
                        <a:rPr lang="en-US" altLang="en-US" sz="16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&lt;&lt;"\n STACK IS EMPTY";</a:t>
                      </a:r>
                    </a:p>
                    <a:p>
                      <a:pPr>
                        <a:buNone/>
                      </a:pPr>
                      <a:r>
                        <a:rPr lang="en-US" altLang="en-US" sz="16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return -1;</a:t>
                      </a:r>
                    </a:p>
                    <a:p>
                      <a:pPr>
                        <a:buNone/>
                      </a:pPr>
                      <a:r>
                        <a:rPr lang="en-US" altLang="en-US" sz="16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}</a:t>
                      </a:r>
                    </a:p>
                    <a:p>
                      <a:pPr>
                        <a:buNone/>
                      </a:pPr>
                      <a:r>
                        <a:rPr lang="en-US" altLang="en-US" sz="16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else</a:t>
                      </a:r>
                    </a:p>
                    <a:p>
                      <a:pPr>
                        <a:buNone/>
                      </a:pPr>
                      <a:r>
                        <a:rPr lang="en-US" altLang="en-US" sz="16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return (</a:t>
                      </a:r>
                      <a:r>
                        <a:rPr lang="en-US" altLang="en-US" sz="160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st</a:t>
                      </a:r>
                      <a:r>
                        <a:rPr lang="en-US" altLang="en-US" sz="16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[top]);</a:t>
                      </a:r>
                    </a:p>
                    <a:p>
                      <a:pPr>
                        <a:buNone/>
                      </a:pPr>
                      <a:r>
                        <a:rPr lang="en-US" altLang="en-US" sz="16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}</a:t>
                      </a:r>
                    </a:p>
                  </a:txBody>
                  <a:tcPr marL="91434" marR="91434" marT="45724" marB="45724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6BCF7C39-D25D-E638-7BD5-27685A33E0A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14375" y="142875"/>
            <a:ext cx="7961313" cy="3440113"/>
          </a:xfrm>
        </p:spPr>
        <p:txBody>
          <a:bodyPr/>
          <a:lstStyle/>
          <a:p>
            <a:r>
              <a:rPr lang="en-US" altLang="en-US"/>
              <a:t>LinkedList Implementation of Stack</a:t>
            </a:r>
          </a:p>
        </p:txBody>
      </p:sp>
      <p:pic>
        <p:nvPicPr>
          <p:cNvPr id="9219" name="Picture 6">
            <a:extLst>
              <a:ext uri="{FF2B5EF4-FFF2-40B4-BE49-F238E27FC236}">
                <a16:creationId xmlns:a16="http://schemas.microsoft.com/office/drawing/2014/main" id="{4A4CDE8E-31FB-978D-224D-8194C74383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013" t="42998" r="38187" b="44397"/>
          <a:stretch>
            <a:fillRect/>
          </a:stretch>
        </p:blipFill>
        <p:spPr bwMode="auto">
          <a:xfrm>
            <a:off x="714375" y="836613"/>
            <a:ext cx="7170738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20" name="Picture 7">
            <a:extLst>
              <a:ext uri="{FF2B5EF4-FFF2-40B4-BE49-F238E27FC236}">
                <a16:creationId xmlns:a16="http://schemas.microsoft.com/office/drawing/2014/main" id="{5E50BB79-CF3B-D1F3-D779-A68394F8F0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651" t="69609" r="35039" b="16383"/>
          <a:stretch>
            <a:fillRect/>
          </a:stretch>
        </p:blipFill>
        <p:spPr bwMode="auto">
          <a:xfrm>
            <a:off x="806450" y="1557338"/>
            <a:ext cx="6985000" cy="1150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21" name="Picture 8">
            <a:extLst>
              <a:ext uri="{FF2B5EF4-FFF2-40B4-BE49-F238E27FC236}">
                <a16:creationId xmlns:a16="http://schemas.microsoft.com/office/drawing/2014/main" id="{AC28DBB2-49F0-AA86-CA82-5A1313D539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889" t="80815" r="27162" b="5179"/>
          <a:stretch>
            <a:fillRect/>
          </a:stretch>
        </p:blipFill>
        <p:spPr bwMode="auto">
          <a:xfrm>
            <a:off x="950913" y="2855913"/>
            <a:ext cx="6645275" cy="1152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Content Placeholder 2">
            <a:extLst>
              <a:ext uri="{FF2B5EF4-FFF2-40B4-BE49-F238E27FC236}">
                <a16:creationId xmlns:a16="http://schemas.microsoft.com/office/drawing/2014/main" id="{7973E902-9A54-B2D5-E91D-A115B26C2D3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68313" y="188913"/>
            <a:ext cx="8424862" cy="6669087"/>
          </a:xfrm>
        </p:spPr>
        <p:txBody>
          <a:bodyPr/>
          <a:lstStyle/>
          <a:p>
            <a:pPr>
              <a:buFont typeface="Times New Roman" panose="02020603050405020304" pitchFamily="18" charset="0"/>
              <a:buNone/>
            </a:pPr>
            <a:endParaRPr lang="en-US" altLang="en-US" sz="1400"/>
          </a:p>
          <a:p>
            <a:pPr>
              <a:buFont typeface="Times New Roman" panose="02020603050405020304" pitchFamily="18" charset="0"/>
              <a:buNone/>
            </a:pPr>
            <a:endParaRPr lang="en-US" altLang="en-US" sz="1400"/>
          </a:p>
          <a:p>
            <a:pPr>
              <a:buFont typeface="Times New Roman" panose="02020603050405020304" pitchFamily="18" charset="0"/>
              <a:buNone/>
            </a:pPr>
            <a:endParaRPr lang="en-US" altLang="en-US" sz="1400"/>
          </a:p>
          <a:p>
            <a:pPr>
              <a:buFont typeface="Times New Roman" panose="02020603050405020304" pitchFamily="18" charset="0"/>
              <a:buNone/>
            </a:pPr>
            <a:endParaRPr lang="en-US" altLang="en-US" sz="1400"/>
          </a:p>
          <a:p>
            <a:pPr>
              <a:buFont typeface="Times New Roman" panose="02020603050405020304" pitchFamily="18" charset="0"/>
              <a:buNone/>
            </a:pPr>
            <a:endParaRPr lang="en-US" altLang="en-US" sz="1400"/>
          </a:p>
          <a:p>
            <a:pPr>
              <a:buFont typeface="Times New Roman" panose="02020603050405020304" pitchFamily="18" charset="0"/>
              <a:buNone/>
            </a:pPr>
            <a:endParaRPr lang="en-US" altLang="en-US" sz="140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63DEF35-D793-9612-1763-C450DFD86213}"/>
              </a:ext>
            </a:extLst>
          </p:cNvPr>
          <p:cNvGraphicFramePr>
            <a:graphicFrameLocks noGrp="1"/>
          </p:cNvGraphicFramePr>
          <p:nvPr/>
        </p:nvGraphicFramePr>
        <p:xfrm>
          <a:off x="0" y="0"/>
          <a:ext cx="9251950" cy="695007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4999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519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95007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1800" b="1" u="sng" dirty="0"/>
                        <a:t>Stack implementation using LinkedList</a:t>
                      </a:r>
                    </a:p>
                    <a:p>
                      <a:pPr>
                        <a:buNone/>
                      </a:pPr>
                      <a:r>
                        <a:rPr lang="en-US" altLang="en-US" sz="1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#include &lt;iostream&gt;</a:t>
                      </a:r>
                    </a:p>
                    <a:p>
                      <a:pPr>
                        <a:buNone/>
                      </a:pPr>
                      <a:r>
                        <a:rPr lang="en-US" altLang="en-US" sz="1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#include&lt;</a:t>
                      </a:r>
                      <a:r>
                        <a:rPr lang="en-US" altLang="en-US" sz="180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stdlib.h</a:t>
                      </a:r>
                      <a:r>
                        <a:rPr lang="en-US" altLang="en-US" sz="1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&gt;</a:t>
                      </a:r>
                    </a:p>
                    <a:p>
                      <a:pPr>
                        <a:buNone/>
                      </a:pPr>
                      <a:r>
                        <a:rPr lang="en-US" altLang="en-US" sz="1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using namespace </a:t>
                      </a:r>
                      <a:r>
                        <a:rPr lang="en-US" altLang="en-US" sz="180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std</a:t>
                      </a:r>
                      <a:r>
                        <a:rPr lang="en-US" altLang="en-US" sz="1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;</a:t>
                      </a:r>
                    </a:p>
                    <a:p>
                      <a:pPr>
                        <a:buNone/>
                      </a:pPr>
                      <a:r>
                        <a:rPr lang="en-US" altLang="en-US" sz="1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struct stack{</a:t>
                      </a:r>
                    </a:p>
                    <a:p>
                      <a:pPr>
                        <a:buNone/>
                      </a:pPr>
                      <a:r>
                        <a:rPr lang="en-US" altLang="en-US" sz="1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       </a:t>
                      </a:r>
                      <a:r>
                        <a:rPr lang="en-US" altLang="en-US" sz="180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int</a:t>
                      </a:r>
                      <a:r>
                        <a:rPr lang="en-US" altLang="en-US" sz="1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data;</a:t>
                      </a:r>
                    </a:p>
                    <a:p>
                      <a:pPr>
                        <a:buNone/>
                      </a:pPr>
                      <a:r>
                        <a:rPr lang="en-US" altLang="en-US" sz="1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       struct stack *next;</a:t>
                      </a:r>
                    </a:p>
                    <a:p>
                      <a:pPr>
                        <a:buNone/>
                      </a:pPr>
                      <a:r>
                        <a:rPr lang="en-US" altLang="en-US" sz="1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   };</a:t>
                      </a:r>
                    </a:p>
                    <a:p>
                      <a:pPr>
                        <a:buNone/>
                      </a:pPr>
                      <a:r>
                        <a:rPr lang="en-US" altLang="en-US" sz="1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  struct stack *top =NULL;</a:t>
                      </a:r>
                    </a:p>
                    <a:p>
                      <a:pPr>
                        <a:buNone/>
                      </a:pPr>
                      <a:endParaRPr lang="en-US" altLang="en-US" sz="1800" b="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>
                        <a:buNone/>
                      </a:pPr>
                      <a:r>
                        <a:rPr lang="en-US" altLang="en-US" sz="1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  struct stack *push(struct stack *top, </a:t>
                      </a:r>
                      <a:r>
                        <a:rPr lang="en-US" altLang="en-US" sz="180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int</a:t>
                      </a:r>
                      <a:r>
                        <a:rPr lang="en-US" altLang="en-US" sz="1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value)</a:t>
                      </a:r>
                    </a:p>
                    <a:p>
                      <a:pPr>
                        <a:buNone/>
                      </a:pPr>
                      <a:r>
                        <a:rPr lang="en-US" altLang="en-US" sz="1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   {</a:t>
                      </a:r>
                    </a:p>
                    <a:p>
                      <a:pPr>
                        <a:buNone/>
                      </a:pPr>
                      <a:r>
                        <a:rPr lang="en-US" altLang="en-US" sz="1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      struct stack *temp;</a:t>
                      </a:r>
                    </a:p>
                    <a:p>
                      <a:pPr>
                        <a:buNone/>
                      </a:pPr>
                      <a:r>
                        <a:rPr lang="en-US" altLang="en-US" sz="1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      temp = new stack();</a:t>
                      </a:r>
                    </a:p>
                    <a:p>
                      <a:pPr>
                        <a:buNone/>
                      </a:pPr>
                      <a:r>
                        <a:rPr lang="en-US" altLang="en-US" sz="1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      temp-&gt;data =value;</a:t>
                      </a:r>
                    </a:p>
                    <a:p>
                      <a:pPr>
                        <a:buNone/>
                      </a:pPr>
                      <a:r>
                        <a:rPr lang="en-US" altLang="en-US" sz="1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      if(top == NULL)</a:t>
                      </a:r>
                    </a:p>
                    <a:p>
                      <a:pPr>
                        <a:buNone/>
                      </a:pPr>
                      <a:r>
                        <a:rPr lang="en-US" altLang="en-US" sz="1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      {</a:t>
                      </a:r>
                    </a:p>
                    <a:p>
                      <a:pPr>
                        <a:buNone/>
                      </a:pPr>
                      <a:r>
                        <a:rPr lang="en-US" altLang="en-US" sz="1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          top = temp;</a:t>
                      </a:r>
                    </a:p>
                    <a:p>
                      <a:pPr>
                        <a:buNone/>
                      </a:pPr>
                      <a:r>
                        <a:rPr lang="en-US" altLang="en-US" sz="1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          top-&gt;next = NULL;</a:t>
                      </a:r>
                    </a:p>
                    <a:p>
                      <a:pPr>
                        <a:buNone/>
                      </a:pPr>
                      <a:r>
                        <a:rPr lang="en-US" altLang="en-US" sz="1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      }</a:t>
                      </a:r>
                    </a:p>
                    <a:p>
                      <a:pPr>
                        <a:buNone/>
                      </a:pPr>
                      <a:r>
                        <a:rPr lang="en-US" altLang="en-US" sz="1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      else{</a:t>
                      </a:r>
                    </a:p>
                    <a:p>
                      <a:pPr>
                        <a:buNone/>
                      </a:pPr>
                      <a:r>
                        <a:rPr lang="en-US" altLang="en-US" sz="1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       temp-&gt;next = top;</a:t>
                      </a:r>
                    </a:p>
                    <a:p>
                      <a:pPr>
                        <a:buNone/>
                      </a:pPr>
                      <a:r>
                        <a:rPr lang="en-US" altLang="en-US" sz="1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       top=temp;</a:t>
                      </a:r>
                    </a:p>
                    <a:p>
                      <a:pPr>
                        <a:buNone/>
                      </a:pPr>
                      <a:r>
                        <a:rPr lang="en-US" altLang="en-US" sz="1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      }</a:t>
                      </a:r>
                    </a:p>
                  </a:txBody>
                  <a:tcPr marL="91434" marR="91434" marT="45724" marB="45724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altLang="en-US" sz="1600" b="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>
                        <a:buNone/>
                      </a:pPr>
                      <a:r>
                        <a:rPr lang="en-US" altLang="en-US" sz="16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      return top;</a:t>
                      </a:r>
                    </a:p>
                    <a:p>
                      <a:pPr>
                        <a:buNone/>
                      </a:pPr>
                      <a:r>
                        <a:rPr lang="en-US" altLang="en-US" sz="16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   }</a:t>
                      </a:r>
                    </a:p>
                    <a:p>
                      <a:pPr>
                        <a:buNone/>
                      </a:pPr>
                      <a:r>
                        <a:rPr lang="en-US" altLang="en-US" sz="16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   struct stack  *pop(struct stack *top)</a:t>
                      </a:r>
                    </a:p>
                    <a:p>
                      <a:pPr>
                        <a:buNone/>
                      </a:pPr>
                      <a:r>
                        <a:rPr lang="en-US" altLang="en-US" sz="16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   {</a:t>
                      </a:r>
                    </a:p>
                    <a:p>
                      <a:pPr>
                        <a:buNone/>
                      </a:pPr>
                      <a:r>
                        <a:rPr lang="en-US" altLang="en-US" sz="16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      struct stack *temp;</a:t>
                      </a:r>
                    </a:p>
                    <a:p>
                      <a:pPr>
                        <a:buNone/>
                      </a:pPr>
                      <a:r>
                        <a:rPr lang="en-US" altLang="en-US" sz="16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      temp = top;</a:t>
                      </a:r>
                    </a:p>
                    <a:p>
                      <a:pPr>
                        <a:buNone/>
                      </a:pPr>
                      <a:r>
                        <a:rPr lang="en-US" altLang="en-US" sz="16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      if(top == NULL)</a:t>
                      </a:r>
                    </a:p>
                    <a:p>
                      <a:pPr>
                        <a:buNone/>
                      </a:pPr>
                      <a:r>
                        <a:rPr lang="en-US" altLang="en-US" sz="16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      {</a:t>
                      </a:r>
                    </a:p>
                    <a:p>
                      <a:pPr>
                        <a:buNone/>
                      </a:pPr>
                      <a:r>
                        <a:rPr lang="en-US" altLang="en-US" sz="16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         </a:t>
                      </a:r>
                      <a:r>
                        <a:rPr lang="en-US" altLang="en-US" sz="160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cout</a:t>
                      </a:r>
                      <a:r>
                        <a:rPr lang="en-US" altLang="en-US" sz="16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&lt;&lt;"Empty stack";</a:t>
                      </a:r>
                    </a:p>
                    <a:p>
                      <a:pPr>
                        <a:buNone/>
                      </a:pPr>
                      <a:r>
                        <a:rPr lang="en-US" altLang="en-US" sz="16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      }</a:t>
                      </a:r>
                    </a:p>
                    <a:p>
                      <a:pPr>
                        <a:buNone/>
                      </a:pPr>
                      <a:r>
                        <a:rPr lang="en-US" altLang="en-US" sz="16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      else{</a:t>
                      </a:r>
                    </a:p>
                    <a:p>
                      <a:pPr>
                        <a:buNone/>
                      </a:pPr>
                      <a:r>
                        <a:rPr lang="en-US" altLang="en-US" sz="16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       top=top-&gt;next;</a:t>
                      </a:r>
                    </a:p>
                    <a:p>
                      <a:pPr>
                        <a:buNone/>
                      </a:pPr>
                      <a:r>
                        <a:rPr lang="en-US" altLang="en-US" sz="16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       </a:t>
                      </a:r>
                      <a:r>
                        <a:rPr lang="en-US" altLang="en-US" sz="160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cout</a:t>
                      </a:r>
                      <a:r>
                        <a:rPr lang="en-US" altLang="en-US" sz="16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&lt;&lt;"The value being deleted:::"&lt;&lt;temp-&gt;data;</a:t>
                      </a:r>
                    </a:p>
                    <a:p>
                      <a:pPr>
                        <a:buNone/>
                      </a:pPr>
                      <a:r>
                        <a:rPr lang="en-US" altLang="en-US" sz="16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       free(temp);</a:t>
                      </a:r>
                    </a:p>
                    <a:p>
                      <a:pPr>
                        <a:buNone/>
                      </a:pPr>
                      <a:r>
                        <a:rPr lang="en-US" altLang="en-US" sz="16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      }</a:t>
                      </a:r>
                    </a:p>
                    <a:p>
                      <a:pPr>
                        <a:buNone/>
                      </a:pPr>
                      <a:r>
                        <a:rPr lang="en-US" altLang="en-US" sz="16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      return top;</a:t>
                      </a:r>
                    </a:p>
                    <a:p>
                      <a:pPr>
                        <a:buNone/>
                      </a:pPr>
                      <a:r>
                        <a:rPr lang="en-US" altLang="en-US" sz="16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   }</a:t>
                      </a:r>
                    </a:p>
                    <a:p>
                      <a:pPr>
                        <a:buNone/>
                      </a:pPr>
                      <a:endParaRPr lang="en-US" altLang="en-US" sz="1600" b="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>
                        <a:buNone/>
                      </a:pPr>
                      <a:r>
                        <a:rPr lang="en-US" altLang="en-US" sz="16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   </a:t>
                      </a:r>
                      <a:r>
                        <a:rPr lang="en-US" altLang="en-US" sz="160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int</a:t>
                      </a:r>
                      <a:r>
                        <a:rPr lang="en-US" altLang="en-US" sz="16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peek(struct stack *top)</a:t>
                      </a:r>
                    </a:p>
                    <a:p>
                      <a:pPr>
                        <a:buNone/>
                      </a:pPr>
                      <a:r>
                        <a:rPr lang="en-US" altLang="en-US" sz="16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   {</a:t>
                      </a:r>
                    </a:p>
                    <a:p>
                      <a:pPr>
                        <a:buNone/>
                      </a:pPr>
                      <a:r>
                        <a:rPr lang="en-US" altLang="en-US" sz="16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       return top-&gt;data;</a:t>
                      </a:r>
                    </a:p>
                    <a:p>
                      <a:pPr>
                        <a:buNone/>
                      </a:pPr>
                      <a:r>
                        <a:rPr lang="en-US" altLang="en-US" sz="16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   }</a:t>
                      </a:r>
                    </a:p>
                    <a:p>
                      <a:pPr>
                        <a:buNone/>
                      </a:pPr>
                      <a:endParaRPr lang="en-US" altLang="en-US" sz="1600" b="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>
                        <a:buNone/>
                      </a:pPr>
                      <a:r>
                        <a:rPr lang="en-US" altLang="en-US" sz="16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   struct stack *display(struct stack *top)</a:t>
                      </a:r>
                    </a:p>
                    <a:p>
                      <a:pPr>
                        <a:buNone/>
                      </a:pPr>
                      <a:r>
                        <a:rPr lang="en-US" altLang="en-US" sz="16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   {</a:t>
                      </a:r>
                    </a:p>
                    <a:p>
                      <a:pPr>
                        <a:buNone/>
                      </a:pPr>
                      <a:r>
                        <a:rPr lang="en-US" altLang="en-US" sz="16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       struct stack *</a:t>
                      </a:r>
                      <a:r>
                        <a:rPr lang="en-US" altLang="en-US" sz="160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ptr</a:t>
                      </a:r>
                      <a:r>
                        <a:rPr lang="en-US" altLang="en-US" sz="16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= top;</a:t>
                      </a:r>
                    </a:p>
                    <a:p>
                      <a:pPr>
                        <a:buNone/>
                      </a:pPr>
                      <a:r>
                        <a:rPr lang="en-US" altLang="en-US" sz="16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       if(top==NULL)</a:t>
                      </a:r>
                    </a:p>
                  </a:txBody>
                  <a:tcPr marL="91434" marR="91434" marT="45724" marB="45724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Content Placeholder 2">
            <a:extLst>
              <a:ext uri="{FF2B5EF4-FFF2-40B4-BE49-F238E27FC236}">
                <a16:creationId xmlns:a16="http://schemas.microsoft.com/office/drawing/2014/main" id="{9BC3F67D-D8F5-D123-B225-057B3406F339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68313" y="188913"/>
            <a:ext cx="8424862" cy="6669087"/>
          </a:xfrm>
        </p:spPr>
        <p:txBody>
          <a:bodyPr/>
          <a:lstStyle/>
          <a:p>
            <a:pPr>
              <a:buFont typeface="Times New Roman" panose="02020603050405020304" pitchFamily="18" charset="0"/>
              <a:buNone/>
            </a:pPr>
            <a:endParaRPr lang="en-US" altLang="en-US" sz="1400"/>
          </a:p>
          <a:p>
            <a:pPr>
              <a:buFont typeface="Times New Roman" panose="02020603050405020304" pitchFamily="18" charset="0"/>
              <a:buNone/>
            </a:pPr>
            <a:endParaRPr lang="en-US" altLang="en-US" sz="1400"/>
          </a:p>
          <a:p>
            <a:pPr>
              <a:buFont typeface="Times New Roman" panose="02020603050405020304" pitchFamily="18" charset="0"/>
              <a:buNone/>
            </a:pPr>
            <a:endParaRPr lang="en-US" altLang="en-US" sz="1400"/>
          </a:p>
          <a:p>
            <a:pPr>
              <a:buFont typeface="Times New Roman" panose="02020603050405020304" pitchFamily="18" charset="0"/>
              <a:buNone/>
            </a:pPr>
            <a:endParaRPr lang="en-US" altLang="en-US" sz="1400"/>
          </a:p>
          <a:p>
            <a:pPr>
              <a:buFont typeface="Times New Roman" panose="02020603050405020304" pitchFamily="18" charset="0"/>
              <a:buNone/>
            </a:pPr>
            <a:endParaRPr lang="en-US" altLang="en-US" sz="1400"/>
          </a:p>
          <a:p>
            <a:pPr>
              <a:buFont typeface="Times New Roman" panose="02020603050405020304" pitchFamily="18" charset="0"/>
              <a:buNone/>
            </a:pPr>
            <a:endParaRPr lang="en-US" altLang="en-US" sz="140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F44F06DC-E727-C7B4-8B42-FB96F99A2BB4}"/>
              </a:ext>
            </a:extLst>
          </p:cNvPr>
          <p:cNvGraphicFramePr>
            <a:graphicFrameLocks noGrp="1"/>
          </p:cNvGraphicFramePr>
          <p:nvPr/>
        </p:nvGraphicFramePr>
        <p:xfrm>
          <a:off x="0" y="0"/>
          <a:ext cx="9251950" cy="695007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4999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519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9500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US" sz="1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       {</a:t>
                      </a:r>
                    </a:p>
                    <a:p>
                      <a:pPr>
                        <a:buNone/>
                      </a:pPr>
                      <a:r>
                        <a:rPr lang="en-US" altLang="en-US" sz="1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           </a:t>
                      </a:r>
                      <a:r>
                        <a:rPr lang="en-US" altLang="en-US" sz="180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cout</a:t>
                      </a:r>
                      <a:r>
                        <a:rPr lang="en-US" altLang="en-US" sz="1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&lt;&lt;"stack is empty";</a:t>
                      </a:r>
                    </a:p>
                    <a:p>
                      <a:pPr>
                        <a:buNone/>
                      </a:pPr>
                      <a:endParaRPr lang="en-US" altLang="en-US" sz="1800" b="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>
                        <a:buNone/>
                      </a:pPr>
                      <a:r>
                        <a:rPr lang="en-US" altLang="en-US" sz="1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       }</a:t>
                      </a:r>
                    </a:p>
                    <a:p>
                      <a:pPr>
                        <a:buNone/>
                      </a:pPr>
                      <a:r>
                        <a:rPr lang="en-US" altLang="en-US" sz="1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       else</a:t>
                      </a:r>
                    </a:p>
                    <a:p>
                      <a:pPr>
                        <a:buNone/>
                      </a:pPr>
                      <a:r>
                        <a:rPr lang="en-US" altLang="en-US" sz="1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       {</a:t>
                      </a:r>
                    </a:p>
                    <a:p>
                      <a:pPr>
                        <a:buNone/>
                      </a:pPr>
                      <a:r>
                        <a:rPr lang="en-US" altLang="en-US" sz="1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           while(</a:t>
                      </a:r>
                      <a:r>
                        <a:rPr lang="en-US" altLang="en-US" sz="180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ptr</a:t>
                      </a:r>
                      <a:r>
                        <a:rPr lang="en-US" altLang="en-US" sz="1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!=NULL)</a:t>
                      </a:r>
                    </a:p>
                    <a:p>
                      <a:pPr>
                        <a:buNone/>
                      </a:pPr>
                      <a:r>
                        <a:rPr lang="en-US" altLang="en-US" sz="1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           {</a:t>
                      </a:r>
                    </a:p>
                    <a:p>
                      <a:pPr>
                        <a:buNone/>
                      </a:pPr>
                      <a:r>
                        <a:rPr lang="en-US" altLang="en-US" sz="1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               </a:t>
                      </a:r>
                      <a:r>
                        <a:rPr lang="en-US" altLang="en-US" sz="180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cout</a:t>
                      </a:r>
                      <a:r>
                        <a:rPr lang="en-US" altLang="en-US" sz="1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</a:t>
                      </a:r>
                      <a:r>
                        <a:rPr lang="en-US" altLang="en-US" sz="180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ptr</a:t>
                      </a:r>
                      <a:r>
                        <a:rPr lang="en-US" altLang="en-US" sz="1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-&gt;data&lt;&lt;</a:t>
                      </a:r>
                      <a:r>
                        <a:rPr lang="en-US" altLang="en-US" sz="180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endl</a:t>
                      </a:r>
                      <a:r>
                        <a:rPr lang="en-US" altLang="en-US" sz="1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;</a:t>
                      </a:r>
                    </a:p>
                    <a:p>
                      <a:pPr>
                        <a:buNone/>
                      </a:pPr>
                      <a:r>
                        <a:rPr lang="en-US" altLang="en-US" sz="1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               </a:t>
                      </a:r>
                      <a:r>
                        <a:rPr lang="en-US" altLang="en-US" sz="180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ptr</a:t>
                      </a:r>
                      <a:r>
                        <a:rPr lang="en-US" altLang="en-US" sz="1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=</a:t>
                      </a:r>
                      <a:r>
                        <a:rPr lang="en-US" altLang="en-US" sz="180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ptr</a:t>
                      </a:r>
                      <a:r>
                        <a:rPr lang="en-US" altLang="en-US" sz="1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-&gt;next;</a:t>
                      </a:r>
                    </a:p>
                    <a:p>
                      <a:pPr>
                        <a:buNone/>
                      </a:pPr>
                      <a:r>
                        <a:rPr lang="en-US" altLang="en-US" sz="1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           }</a:t>
                      </a:r>
                    </a:p>
                    <a:p>
                      <a:pPr>
                        <a:buNone/>
                      </a:pPr>
                      <a:r>
                        <a:rPr lang="en-US" altLang="en-US" sz="1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       }</a:t>
                      </a:r>
                    </a:p>
                    <a:p>
                      <a:pPr>
                        <a:buNone/>
                      </a:pPr>
                      <a:r>
                        <a:rPr lang="en-US" altLang="en-US" sz="1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       return top;</a:t>
                      </a:r>
                    </a:p>
                    <a:p>
                      <a:pPr>
                        <a:buNone/>
                      </a:pPr>
                      <a:r>
                        <a:rPr lang="en-US" altLang="en-US" sz="1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   }</a:t>
                      </a:r>
                    </a:p>
                    <a:p>
                      <a:pPr>
                        <a:buNone/>
                      </a:pPr>
                      <a:r>
                        <a:rPr lang="en-US" altLang="en-US" sz="180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int</a:t>
                      </a:r>
                      <a:r>
                        <a:rPr lang="en-US" altLang="en-US" sz="1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main()</a:t>
                      </a:r>
                    </a:p>
                    <a:p>
                      <a:pPr>
                        <a:buNone/>
                      </a:pPr>
                      <a:r>
                        <a:rPr lang="en-US" altLang="en-US" sz="1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{</a:t>
                      </a:r>
                    </a:p>
                    <a:p>
                      <a:pPr>
                        <a:buNone/>
                      </a:pPr>
                      <a:r>
                        <a:rPr lang="en-US" altLang="en-US" sz="1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   </a:t>
                      </a:r>
                      <a:r>
                        <a:rPr lang="en-US" altLang="en-US" sz="180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int</a:t>
                      </a:r>
                      <a:r>
                        <a:rPr lang="en-US" altLang="en-US" sz="1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altLang="en-US" sz="180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choice,value</a:t>
                      </a:r>
                      <a:r>
                        <a:rPr lang="en-US" altLang="en-US" sz="1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;</a:t>
                      </a:r>
                    </a:p>
                    <a:p>
                      <a:pPr>
                        <a:buNone/>
                      </a:pPr>
                      <a:r>
                        <a:rPr lang="en-US" altLang="en-US" sz="1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   </a:t>
                      </a:r>
                      <a:r>
                        <a:rPr lang="en-US" altLang="en-US" sz="180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cout</a:t>
                      </a:r>
                      <a:r>
                        <a:rPr lang="en-US" altLang="en-US" sz="1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&lt;&lt;"Enter choice";</a:t>
                      </a:r>
                    </a:p>
                    <a:p>
                      <a:pPr>
                        <a:buNone/>
                      </a:pPr>
                      <a:r>
                        <a:rPr lang="en-US" altLang="en-US" sz="1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   </a:t>
                      </a:r>
                      <a:r>
                        <a:rPr lang="en-US" altLang="en-US" sz="180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cin</a:t>
                      </a:r>
                      <a:r>
                        <a:rPr lang="en-US" altLang="en-US" sz="1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&gt;&gt;choice;</a:t>
                      </a:r>
                    </a:p>
                    <a:p>
                      <a:pPr>
                        <a:buNone/>
                      </a:pPr>
                      <a:r>
                        <a:rPr lang="en-US" altLang="en-US" sz="1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while(1)</a:t>
                      </a:r>
                    </a:p>
                    <a:p>
                      <a:pPr>
                        <a:buNone/>
                      </a:pPr>
                      <a:r>
                        <a:rPr lang="en-US" altLang="en-US" sz="1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   {</a:t>
                      </a:r>
                    </a:p>
                    <a:p>
                      <a:pPr>
                        <a:buNone/>
                      </a:pPr>
                      <a:r>
                        <a:rPr lang="en-US" altLang="en-US" sz="1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       switch(choice)</a:t>
                      </a:r>
                    </a:p>
                    <a:p>
                      <a:pPr>
                        <a:buNone/>
                      </a:pPr>
                      <a:r>
                        <a:rPr lang="en-US" altLang="en-US" sz="1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       {</a:t>
                      </a:r>
                    </a:p>
                    <a:p>
                      <a:pPr>
                        <a:buNone/>
                      </a:pPr>
                      <a:r>
                        <a:rPr lang="en-US" altLang="en-US" sz="1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           case 1:</a:t>
                      </a:r>
                    </a:p>
                    <a:p>
                      <a:pPr>
                        <a:buNone/>
                      </a:pPr>
                      <a:r>
                        <a:rPr lang="en-US" altLang="en-US" sz="1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           </a:t>
                      </a:r>
                      <a:r>
                        <a:rPr lang="en-US" altLang="en-US" sz="180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cout</a:t>
                      </a:r>
                      <a:r>
                        <a:rPr lang="en-US" altLang="en-US" sz="1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&lt;&lt;"Enter the value"; </a:t>
                      </a:r>
                    </a:p>
                  </a:txBody>
                  <a:tcPr marL="91434" marR="91434" marT="45724" marB="45724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US" sz="16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      </a:t>
                      </a:r>
                      <a:r>
                        <a:rPr lang="en-US" altLang="en-US" sz="160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cin</a:t>
                      </a:r>
                      <a:r>
                        <a:rPr lang="en-US" altLang="en-US" sz="16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&gt;&gt;value;</a:t>
                      </a:r>
                    </a:p>
                    <a:p>
                      <a:pPr>
                        <a:buNone/>
                      </a:pPr>
                      <a:r>
                        <a:rPr lang="en-US" altLang="en-US" sz="16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           top = push(</a:t>
                      </a:r>
                      <a:r>
                        <a:rPr lang="en-US" altLang="en-US" sz="160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top,value</a:t>
                      </a:r>
                      <a:r>
                        <a:rPr lang="en-US" altLang="en-US" sz="16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);</a:t>
                      </a:r>
                    </a:p>
                    <a:p>
                      <a:pPr>
                        <a:buNone/>
                      </a:pPr>
                      <a:r>
                        <a:rPr lang="en-US" altLang="en-US" sz="16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           break;</a:t>
                      </a:r>
                    </a:p>
                    <a:p>
                      <a:pPr>
                        <a:buNone/>
                      </a:pPr>
                      <a:endParaRPr lang="en-US" altLang="en-US" sz="1600" b="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>
                        <a:buNone/>
                      </a:pPr>
                      <a:r>
                        <a:rPr lang="en-US" altLang="en-US" sz="16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           case 2:</a:t>
                      </a:r>
                    </a:p>
                    <a:p>
                      <a:pPr>
                        <a:buNone/>
                      </a:pPr>
                      <a:r>
                        <a:rPr lang="en-US" altLang="en-US" sz="16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           top=pop(top);</a:t>
                      </a:r>
                    </a:p>
                    <a:p>
                      <a:pPr>
                        <a:buNone/>
                      </a:pPr>
                      <a:r>
                        <a:rPr lang="en-US" altLang="en-US" sz="16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           break;</a:t>
                      </a:r>
                    </a:p>
                    <a:p>
                      <a:pPr>
                        <a:buNone/>
                      </a:pPr>
                      <a:endParaRPr lang="en-US" altLang="en-US" sz="1600" b="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>
                        <a:buNone/>
                      </a:pPr>
                      <a:r>
                        <a:rPr lang="en-US" altLang="en-US" sz="16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           case 3:</a:t>
                      </a:r>
                    </a:p>
                    <a:p>
                      <a:pPr>
                        <a:buNone/>
                      </a:pPr>
                      <a:r>
                        <a:rPr lang="en-US" altLang="en-US" sz="16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           top=display(top);</a:t>
                      </a:r>
                    </a:p>
                    <a:p>
                      <a:pPr>
                        <a:buNone/>
                      </a:pPr>
                      <a:r>
                        <a:rPr lang="en-US" altLang="en-US" sz="16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           break;</a:t>
                      </a:r>
                    </a:p>
                    <a:p>
                      <a:pPr>
                        <a:buNone/>
                      </a:pPr>
                      <a:endParaRPr lang="en-US" altLang="en-US" sz="1600" b="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>
                        <a:buNone/>
                      </a:pPr>
                      <a:r>
                        <a:rPr lang="en-US" altLang="en-US" sz="16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           case 4:</a:t>
                      </a:r>
                    </a:p>
                    <a:p>
                      <a:pPr>
                        <a:buNone/>
                      </a:pPr>
                      <a:r>
                        <a:rPr lang="en-US" altLang="en-US" sz="16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           </a:t>
                      </a:r>
                      <a:r>
                        <a:rPr lang="en-US" altLang="en-US" sz="160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int</a:t>
                      </a:r>
                      <a:r>
                        <a:rPr lang="en-US" altLang="en-US" sz="16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value1 = peek(top);</a:t>
                      </a:r>
                    </a:p>
                    <a:p>
                      <a:pPr>
                        <a:buNone/>
                      </a:pPr>
                      <a:r>
                        <a:rPr lang="en-US" altLang="en-US" sz="16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           </a:t>
                      </a:r>
                      <a:r>
                        <a:rPr lang="en-US" altLang="en-US" sz="160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cout</a:t>
                      </a:r>
                      <a:r>
                        <a:rPr lang="en-US" altLang="en-US" sz="16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&lt;&lt;value1&lt;&lt;</a:t>
                      </a:r>
                      <a:r>
                        <a:rPr lang="en-US" altLang="en-US" sz="160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endl</a:t>
                      </a:r>
                      <a:r>
                        <a:rPr lang="en-US" altLang="en-US" sz="16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;</a:t>
                      </a:r>
                    </a:p>
                    <a:p>
                      <a:pPr>
                        <a:buNone/>
                      </a:pPr>
                      <a:r>
                        <a:rPr lang="en-US" altLang="en-US" sz="16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           break;</a:t>
                      </a:r>
                    </a:p>
                    <a:p>
                      <a:pPr>
                        <a:buNone/>
                      </a:pPr>
                      <a:endParaRPr lang="en-US" altLang="en-US" sz="1600" b="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>
                        <a:buNone/>
                      </a:pPr>
                      <a:r>
                        <a:rPr lang="en-US" altLang="en-US" sz="16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          // default:</a:t>
                      </a:r>
                    </a:p>
                    <a:p>
                      <a:pPr>
                        <a:buNone/>
                      </a:pPr>
                      <a:r>
                        <a:rPr lang="en-US" altLang="en-US" sz="16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          // </a:t>
                      </a:r>
                      <a:r>
                        <a:rPr lang="en-US" altLang="en-US" sz="160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cout</a:t>
                      </a:r>
                      <a:r>
                        <a:rPr lang="en-US" altLang="en-US" sz="16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&lt;&lt;"Invalid Input";</a:t>
                      </a:r>
                    </a:p>
                    <a:p>
                      <a:pPr>
                        <a:buNone/>
                      </a:pPr>
                      <a:r>
                        <a:rPr lang="en-US" altLang="en-US" sz="16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       }</a:t>
                      </a:r>
                    </a:p>
                    <a:p>
                      <a:pPr>
                        <a:buNone/>
                      </a:pPr>
                      <a:r>
                        <a:rPr lang="en-US" altLang="en-US" sz="16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       </a:t>
                      </a:r>
                      <a:r>
                        <a:rPr lang="en-US" altLang="en-US" sz="160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cout</a:t>
                      </a:r>
                      <a:r>
                        <a:rPr lang="en-US" altLang="en-US" sz="16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&lt;&lt;"Enter choice";</a:t>
                      </a:r>
                    </a:p>
                    <a:p>
                      <a:pPr>
                        <a:buNone/>
                      </a:pPr>
                      <a:r>
                        <a:rPr lang="en-US" altLang="en-US" sz="16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   </a:t>
                      </a:r>
                      <a:r>
                        <a:rPr lang="en-US" altLang="en-US" sz="160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cin</a:t>
                      </a:r>
                      <a:r>
                        <a:rPr lang="en-US" altLang="en-US" sz="16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&gt;&gt;choice;</a:t>
                      </a:r>
                    </a:p>
                    <a:p>
                      <a:pPr>
                        <a:buNone/>
                      </a:pPr>
                      <a:endParaRPr lang="en-US" altLang="en-US" sz="1600" b="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>
                        <a:buNone/>
                      </a:pPr>
                      <a:r>
                        <a:rPr lang="en-US" altLang="en-US" sz="16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   }</a:t>
                      </a:r>
                    </a:p>
                    <a:p>
                      <a:pPr>
                        <a:buNone/>
                      </a:pPr>
                      <a:endParaRPr lang="en-US" altLang="en-US" sz="1600" b="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>
                        <a:buNone/>
                      </a:pPr>
                      <a:r>
                        <a:rPr lang="en-US" altLang="en-US" sz="16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   return 0;</a:t>
                      </a:r>
                    </a:p>
                    <a:p>
                      <a:pPr>
                        <a:buNone/>
                      </a:pPr>
                      <a:r>
                        <a:rPr lang="en-US" altLang="en-US" sz="16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}</a:t>
                      </a:r>
                    </a:p>
                  </a:txBody>
                  <a:tcPr marL="91434" marR="91434" marT="45724" marB="45724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Content Placeholder 2">
            <a:extLst>
              <a:ext uri="{FF2B5EF4-FFF2-40B4-BE49-F238E27FC236}">
                <a16:creationId xmlns:a16="http://schemas.microsoft.com/office/drawing/2014/main" id="{097DC4E6-81EA-DF1D-F4EC-7AFBABF7C014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Application of Stacks</a:t>
            </a:r>
            <a:r>
              <a:rPr lang="en-IN" altLang="en-US"/>
              <a:t>:</a:t>
            </a:r>
          </a:p>
          <a:p>
            <a:pPr lvl="1"/>
            <a:r>
              <a:rPr lang="en-US" altLang="en-US"/>
              <a:t>Evaluating postfix expressions</a:t>
            </a:r>
          </a:p>
          <a:p>
            <a:pPr lvl="1"/>
            <a:r>
              <a:rPr lang="en-US" altLang="en-US"/>
              <a:t>Converting Infix to postfix expression</a:t>
            </a:r>
          </a:p>
          <a:p>
            <a:pPr lvl="1"/>
            <a:r>
              <a:rPr lang="en-US" altLang="en-US"/>
              <a:t>Tower of Hanoi problem</a:t>
            </a:r>
          </a:p>
          <a:p>
            <a:pPr lvl="1"/>
            <a:r>
              <a:rPr lang="en-US" altLang="en-US"/>
              <a:t>Factorial of a number</a:t>
            </a:r>
          </a:p>
          <a:p>
            <a:pPr lvl="1"/>
            <a:r>
              <a:rPr lang="en-US" altLang="en-US"/>
              <a:t>Fibonacci series</a:t>
            </a:r>
          </a:p>
          <a:p>
            <a:pPr lvl="1">
              <a:buFont typeface="Times New Roman" panose="02020603050405020304" pitchFamily="18" charset="0"/>
              <a:buNone/>
            </a:pPr>
            <a:endParaRPr lang="en-US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>
            <a:extLst>
              <a:ext uri="{FF2B5EF4-FFF2-40B4-BE49-F238E27FC236}">
                <a16:creationId xmlns:a16="http://schemas.microsoft.com/office/drawing/2014/main" id="{7D65626E-4269-BAE3-330C-7FE2C5917A0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50825" y="214313"/>
            <a:ext cx="8001000" cy="1000125"/>
          </a:xfrm>
        </p:spPr>
        <p:txBody>
          <a:bodyPr/>
          <a:lstStyle/>
          <a:p>
            <a:r>
              <a:rPr lang="en-US" altLang="en-US"/>
              <a:t>Arithmetic Expression: Polish Notation</a:t>
            </a:r>
            <a:endParaRPr lang="en-IN" altLang="en-US"/>
          </a:p>
        </p:txBody>
      </p:sp>
      <p:sp>
        <p:nvSpPr>
          <p:cNvPr id="9219" name="Content Placeholder 2">
            <a:extLst>
              <a:ext uri="{FF2B5EF4-FFF2-40B4-BE49-F238E27FC236}">
                <a16:creationId xmlns:a16="http://schemas.microsoft.com/office/drawing/2014/main" id="{CA9EAA3E-2584-F4C5-1BB7-D81CEFBDFC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0825" y="836613"/>
            <a:ext cx="8382000" cy="5307012"/>
          </a:xfrm>
        </p:spPr>
        <p:txBody>
          <a:bodyPr/>
          <a:lstStyle/>
          <a:p>
            <a:pPr algn="just">
              <a:buFont typeface="Times New Roman" panose="02020603050405020304" pitchFamily="18" charset="0"/>
              <a:buNone/>
              <a:defRPr/>
            </a:pPr>
            <a:r>
              <a:rPr lang="en-US" altLang="en-US" sz="2000" dirty="0"/>
              <a:t>Polish Notation:</a:t>
            </a:r>
          </a:p>
          <a:p>
            <a:pPr marL="0" indent="0" algn="just">
              <a:buFont typeface="Times New Roman" panose="02020603050405020304" pitchFamily="18" charset="0"/>
              <a:buNone/>
              <a:defRPr/>
            </a:pPr>
            <a:r>
              <a:rPr lang="en-US" sz="2000" b="0" dirty="0"/>
              <a:t>Infix, postfix, and prefix notations are three different but equivalent notations of writing algebraic expressions.</a:t>
            </a:r>
          </a:p>
          <a:p>
            <a:pPr algn="just">
              <a:defRPr/>
            </a:pPr>
            <a:r>
              <a:rPr lang="en-US" sz="2000" u="sng" dirty="0"/>
              <a:t>Infix notation :</a:t>
            </a:r>
            <a:r>
              <a:rPr lang="en-US" sz="2000" b="0" dirty="0"/>
              <a:t>the operator is placed in between the operands. For example, A+B; here, plus operator is placed between the two operands A and B.</a:t>
            </a:r>
          </a:p>
          <a:p>
            <a:pPr algn="just">
              <a:defRPr/>
            </a:pPr>
            <a:r>
              <a:rPr lang="en-US" sz="2000" u="sng" dirty="0"/>
              <a:t>Postfix notation :</a:t>
            </a:r>
            <a:r>
              <a:rPr lang="en-US" sz="2000" b="0" dirty="0"/>
              <a:t> better known as Reverse Polish Notation or RPN. the operator is placed after the operands. For example, if an expression is written as </a:t>
            </a:r>
            <a:r>
              <a:rPr lang="en-US" sz="2000" dirty="0"/>
              <a:t>A+B</a:t>
            </a:r>
            <a:r>
              <a:rPr lang="en-US" sz="2000" b="0" dirty="0"/>
              <a:t> in infix notation, the same expression can be written as </a:t>
            </a:r>
            <a:r>
              <a:rPr lang="en-US" sz="2000" dirty="0"/>
              <a:t>AB+</a:t>
            </a:r>
            <a:r>
              <a:rPr lang="en-US" sz="2000" b="0" dirty="0"/>
              <a:t> in postfix notation. The order of evaluation of a postfix expression is always from left to right. Even brackets cannot alter the order of evaluation.</a:t>
            </a:r>
          </a:p>
          <a:p>
            <a:pPr algn="just">
              <a:defRPr/>
            </a:pPr>
            <a:r>
              <a:rPr lang="en-US" sz="2000" u="sng" dirty="0"/>
              <a:t>Prefix notation : </a:t>
            </a:r>
            <a:r>
              <a:rPr lang="en-US" sz="2000" b="0" dirty="0"/>
              <a:t>In a prefix notation, the operator is placed before the operands. For example, if </a:t>
            </a:r>
            <a:r>
              <a:rPr lang="en-US" sz="2000" dirty="0"/>
              <a:t>A+B</a:t>
            </a:r>
            <a:r>
              <a:rPr lang="en-US" sz="2000" b="0" dirty="0"/>
              <a:t> is an expression in infix notation, then the corresponding expression in prefix notation is given by </a:t>
            </a:r>
            <a:r>
              <a:rPr lang="en-US" sz="2000" dirty="0"/>
              <a:t>+AB</a:t>
            </a:r>
            <a:r>
              <a:rPr lang="en-US" sz="2000" b="0" dirty="0"/>
              <a:t>.</a:t>
            </a:r>
            <a:endParaRPr lang="en-IN" altLang="en-US" sz="20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7DF37A-4AE3-BA8D-2EB3-D914379ADE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9388" y="404813"/>
            <a:ext cx="8208962" cy="6337300"/>
          </a:xfrm>
        </p:spPr>
        <p:txBody>
          <a:bodyPr/>
          <a:lstStyle/>
          <a:p>
            <a:pPr marL="0" indent="0">
              <a:lnSpc>
                <a:spcPts val="800"/>
              </a:lnSpc>
              <a:buFont typeface="Times New Roman" panose="02020603050405020304" pitchFamily="18" charset="0"/>
              <a:buNone/>
              <a:defRPr/>
            </a:pPr>
            <a:r>
              <a:rPr lang="en-IN" sz="1600" dirty="0"/>
              <a:t>Evaluation of postfix expression:-      </a:t>
            </a:r>
          </a:p>
          <a:p>
            <a:pPr marL="0" indent="0">
              <a:lnSpc>
                <a:spcPts val="800"/>
              </a:lnSpc>
              <a:buFont typeface="Times New Roman" panose="02020603050405020304" pitchFamily="18" charset="0"/>
              <a:buNone/>
              <a:defRPr/>
            </a:pPr>
            <a:r>
              <a:rPr lang="en-IN" sz="1600" dirty="0"/>
              <a:t> </a:t>
            </a:r>
            <a:r>
              <a:rPr lang="en-IN" sz="1600" b="0" dirty="0"/>
              <a:t>This</a:t>
            </a:r>
            <a:r>
              <a:rPr lang="en-IN" sz="1600" dirty="0"/>
              <a:t> </a:t>
            </a:r>
            <a:r>
              <a:rPr lang="en-IN" sz="1600" b="0" dirty="0"/>
              <a:t>algorithm finds the value of arithmetic expression P written in postfix expression</a:t>
            </a:r>
          </a:p>
          <a:p>
            <a:pPr>
              <a:lnSpc>
                <a:spcPts val="800"/>
              </a:lnSpc>
              <a:buFont typeface="Times New Roman" panose="02020603050405020304" pitchFamily="18" charset="0"/>
              <a:buAutoNum type="arabicPeriod"/>
              <a:defRPr/>
            </a:pPr>
            <a:r>
              <a:rPr lang="en-IN" sz="1600" dirty="0"/>
              <a:t>Add a right parenthesis “) ” at the end of P.</a:t>
            </a:r>
          </a:p>
          <a:p>
            <a:pPr>
              <a:lnSpc>
                <a:spcPts val="800"/>
              </a:lnSpc>
              <a:buFont typeface="Times New Roman" panose="02020603050405020304" pitchFamily="18" charset="0"/>
              <a:buAutoNum type="arabicPeriod"/>
              <a:defRPr/>
            </a:pPr>
            <a:r>
              <a:rPr lang="en-IN" sz="1600" dirty="0"/>
              <a:t>Scan P from left to right and repeat steps 3 and 4 for each element of P until “)”</a:t>
            </a:r>
          </a:p>
          <a:p>
            <a:pPr marL="0" indent="0">
              <a:lnSpc>
                <a:spcPts val="800"/>
              </a:lnSpc>
              <a:buFont typeface="Times New Roman" panose="02020603050405020304" pitchFamily="18" charset="0"/>
              <a:buNone/>
              <a:defRPr/>
            </a:pPr>
            <a:r>
              <a:rPr lang="en-IN" sz="1600" dirty="0"/>
              <a:t> is  encountered.</a:t>
            </a:r>
            <a:br>
              <a:rPr lang="en-IN" sz="1600" dirty="0"/>
            </a:br>
            <a:endParaRPr lang="en-IN" sz="1600" dirty="0"/>
          </a:p>
          <a:p>
            <a:pPr marL="0" indent="0">
              <a:lnSpc>
                <a:spcPts val="800"/>
              </a:lnSpc>
              <a:buFont typeface="Times New Roman" panose="02020603050405020304" pitchFamily="18" charset="0"/>
              <a:buNone/>
              <a:defRPr/>
            </a:pPr>
            <a:r>
              <a:rPr lang="en-IN" sz="1600" dirty="0"/>
              <a:t>3. If any operand is encountered, put it on stack.</a:t>
            </a:r>
          </a:p>
          <a:p>
            <a:pPr marL="0" indent="0">
              <a:lnSpc>
                <a:spcPts val="800"/>
              </a:lnSpc>
              <a:buFont typeface="Times New Roman" panose="02020603050405020304" pitchFamily="18" charset="0"/>
              <a:buNone/>
              <a:defRPr/>
            </a:pPr>
            <a:r>
              <a:rPr lang="en-IN" sz="1600" dirty="0"/>
              <a:t>4. If any operator © is encountered, then</a:t>
            </a:r>
          </a:p>
          <a:p>
            <a:pPr marL="0" indent="0">
              <a:lnSpc>
                <a:spcPts val="800"/>
              </a:lnSpc>
              <a:buFont typeface="Times New Roman" panose="02020603050405020304" pitchFamily="18" charset="0"/>
              <a:buNone/>
              <a:defRPr/>
            </a:pPr>
            <a:r>
              <a:rPr lang="en-IN" sz="1600" dirty="0"/>
              <a:t>	(a) Remove the top two elements from the stack, where A is the top </a:t>
            </a:r>
          </a:p>
          <a:p>
            <a:pPr marL="0" indent="0">
              <a:lnSpc>
                <a:spcPts val="800"/>
              </a:lnSpc>
              <a:buFont typeface="Times New Roman" panose="02020603050405020304" pitchFamily="18" charset="0"/>
              <a:buNone/>
              <a:defRPr/>
            </a:pPr>
            <a:r>
              <a:rPr lang="en-IN" sz="1600" dirty="0"/>
              <a:t> element and B is the next to top element</a:t>
            </a:r>
          </a:p>
          <a:p>
            <a:pPr marL="0" indent="0">
              <a:lnSpc>
                <a:spcPts val="800"/>
              </a:lnSpc>
              <a:buFont typeface="Times New Roman" panose="02020603050405020304" pitchFamily="18" charset="0"/>
              <a:buNone/>
              <a:defRPr/>
            </a:pPr>
            <a:r>
              <a:rPr lang="en-IN" sz="1600" dirty="0"/>
              <a:t>	(b) Evaluate B © A</a:t>
            </a:r>
          </a:p>
          <a:p>
            <a:pPr marL="0" indent="0">
              <a:lnSpc>
                <a:spcPts val="800"/>
              </a:lnSpc>
              <a:buFont typeface="Times New Roman" panose="02020603050405020304" pitchFamily="18" charset="0"/>
              <a:buNone/>
              <a:defRPr/>
            </a:pPr>
            <a:r>
              <a:rPr lang="en-IN" sz="1600" dirty="0"/>
              <a:t>	(c) Place the result of (b) back on the stack.</a:t>
            </a:r>
          </a:p>
          <a:p>
            <a:pPr marL="0" indent="0">
              <a:lnSpc>
                <a:spcPts val="800"/>
              </a:lnSpc>
              <a:buFont typeface="Times New Roman" panose="02020603050405020304" pitchFamily="18" charset="0"/>
              <a:buNone/>
              <a:defRPr/>
            </a:pPr>
            <a:r>
              <a:rPr lang="en-IN" sz="1600" dirty="0"/>
              <a:t>[END IF]</a:t>
            </a:r>
          </a:p>
          <a:p>
            <a:pPr marL="0" indent="0">
              <a:lnSpc>
                <a:spcPts val="800"/>
              </a:lnSpc>
              <a:buFont typeface="Times New Roman" panose="02020603050405020304" pitchFamily="18" charset="0"/>
              <a:buNone/>
              <a:defRPr/>
            </a:pPr>
            <a:r>
              <a:rPr lang="en-IN" sz="1600" dirty="0"/>
              <a:t>[END WHILE]</a:t>
            </a:r>
          </a:p>
          <a:p>
            <a:pPr marL="0" indent="0">
              <a:lnSpc>
                <a:spcPts val="800"/>
              </a:lnSpc>
              <a:buFont typeface="Times New Roman" panose="02020603050405020304" pitchFamily="18" charset="0"/>
              <a:buNone/>
              <a:defRPr/>
            </a:pPr>
            <a:r>
              <a:rPr lang="en-IN" sz="1600" dirty="0"/>
              <a:t>5. Set VALUE equal to the top element of stack.</a:t>
            </a:r>
          </a:p>
          <a:p>
            <a:pPr marL="0" indent="0">
              <a:lnSpc>
                <a:spcPts val="800"/>
              </a:lnSpc>
              <a:buFont typeface="Times New Roman" panose="02020603050405020304" pitchFamily="18" charset="0"/>
              <a:buNone/>
              <a:defRPr/>
            </a:pPr>
            <a:r>
              <a:rPr lang="en-IN" sz="1600" dirty="0"/>
              <a:t>6. Exit</a:t>
            </a:r>
          </a:p>
          <a:p>
            <a:pPr marL="0" indent="0">
              <a:lnSpc>
                <a:spcPts val="800"/>
              </a:lnSpc>
              <a:buFont typeface="Times New Roman" panose="02020603050405020304" pitchFamily="18" charset="0"/>
              <a:buNone/>
              <a:defRPr/>
            </a:pPr>
            <a:endParaRPr lang="en-IN" sz="1600" dirty="0"/>
          </a:p>
          <a:p>
            <a:pPr>
              <a:buFont typeface="Times New Roman" panose="02020603050405020304" pitchFamily="18" charset="0"/>
              <a:buAutoNum type="arabicPeriod"/>
              <a:defRPr/>
            </a:pPr>
            <a:endParaRPr lang="en-IN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Content Placeholder 2">
            <a:extLst>
              <a:ext uri="{FF2B5EF4-FFF2-40B4-BE49-F238E27FC236}">
                <a16:creationId xmlns:a16="http://schemas.microsoft.com/office/drawing/2014/main" id="{93B19879-887C-BBC1-AA88-499A5C6A63C7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EXAMPLE=</a:t>
            </a:r>
          </a:p>
          <a:p>
            <a:pPr>
              <a:buFont typeface="Times New Roman" panose="02020603050405020304" pitchFamily="18" charset="0"/>
              <a:buNone/>
            </a:pPr>
            <a:r>
              <a:rPr lang="en-US" altLang="en-US" sz="1800" b="0">
                <a:latin typeface="Times New Roman" panose="02020603050405020304" pitchFamily="18" charset="0"/>
                <a:cs typeface="Times New Roman" panose="02020603050405020304" pitchFamily="18" charset="0"/>
              </a:rPr>
              <a:t>Q: 5*(6+2)-12/4</a:t>
            </a:r>
          </a:p>
          <a:p>
            <a:pPr>
              <a:buFont typeface="Times New Roman" panose="02020603050405020304" pitchFamily="18" charset="0"/>
              <a:buNone/>
            </a:pPr>
            <a:r>
              <a:rPr lang="en-US" altLang="en-US" sz="1800" b="0">
                <a:latin typeface="Times New Roman" panose="02020603050405020304" pitchFamily="18" charset="0"/>
                <a:cs typeface="Times New Roman" panose="02020603050405020304" pitchFamily="18" charset="0"/>
              </a:rPr>
              <a:t>Postfix :5 6 2 + * 12  4 / -</a:t>
            </a:r>
          </a:p>
          <a:p>
            <a:pPr>
              <a:buFont typeface="Times New Roman" panose="02020603050405020304" pitchFamily="18" charset="0"/>
              <a:buNone/>
            </a:pPr>
            <a:endParaRPr lang="en-IN" altLang="en-US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23E27AE-F677-6F65-6B20-14C8D08E6641}"/>
              </a:ext>
            </a:extLst>
          </p:cNvPr>
          <p:cNvGraphicFramePr>
            <a:graphicFrameLocks noGrp="1"/>
          </p:cNvGraphicFramePr>
          <p:nvPr/>
        </p:nvGraphicFramePr>
        <p:xfrm>
          <a:off x="4286250" y="1785938"/>
          <a:ext cx="3262313" cy="42973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311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311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40049">
                <a:tc>
                  <a:txBody>
                    <a:bodyPr/>
                    <a:lstStyle/>
                    <a:p>
                      <a:r>
                        <a:rPr lang="en-US" sz="1800" dirty="0"/>
                        <a:t>Symbol Scanned</a:t>
                      </a:r>
                      <a:endParaRPr lang="en-IN" sz="1800" dirty="0"/>
                    </a:p>
                  </a:txBody>
                  <a:tcPr marL="91439" marR="91439" marT="45707" marB="45707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STACK</a:t>
                      </a:r>
                    </a:p>
                  </a:txBody>
                  <a:tcPr marL="91439" marR="91439" marT="45707" marB="45707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31">
                <a:tc>
                  <a:txBody>
                    <a:bodyPr/>
                    <a:lstStyle/>
                    <a:p>
                      <a:r>
                        <a:rPr lang="en-US" sz="1800" dirty="0"/>
                        <a:t>5</a:t>
                      </a:r>
                    </a:p>
                  </a:txBody>
                  <a:tcPr marL="91439" marR="91439" marT="45707" marB="45707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5</a:t>
                      </a:r>
                      <a:endParaRPr lang="en-IN" sz="1800" dirty="0"/>
                    </a:p>
                  </a:txBody>
                  <a:tcPr marL="91439" marR="91439" marT="45707" marB="45707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31">
                <a:tc>
                  <a:txBody>
                    <a:bodyPr/>
                    <a:lstStyle/>
                    <a:p>
                      <a:r>
                        <a:rPr lang="en-US" sz="1800" dirty="0"/>
                        <a:t>6</a:t>
                      </a:r>
                      <a:endParaRPr lang="en-IN" sz="1800" dirty="0"/>
                    </a:p>
                  </a:txBody>
                  <a:tcPr marL="91439" marR="91439" marT="45707" marB="45707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5,6</a:t>
                      </a:r>
                      <a:endParaRPr lang="en-IN" sz="1800" dirty="0"/>
                    </a:p>
                  </a:txBody>
                  <a:tcPr marL="91439" marR="91439" marT="45707" marB="45707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31">
                <a:tc>
                  <a:txBody>
                    <a:bodyPr/>
                    <a:lstStyle/>
                    <a:p>
                      <a:r>
                        <a:rPr lang="en-US" sz="1800" dirty="0"/>
                        <a:t>2</a:t>
                      </a:r>
                      <a:endParaRPr lang="en-IN" sz="1800" dirty="0"/>
                    </a:p>
                  </a:txBody>
                  <a:tcPr marL="91439" marR="91439" marT="45707" marB="45707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5,6,2</a:t>
                      </a:r>
                      <a:endParaRPr lang="en-IN" sz="1800" dirty="0"/>
                    </a:p>
                  </a:txBody>
                  <a:tcPr marL="91439" marR="91439" marT="45707" marB="45707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31">
                <a:tc>
                  <a:txBody>
                    <a:bodyPr/>
                    <a:lstStyle/>
                    <a:p>
                      <a:r>
                        <a:rPr lang="en-US" sz="1800" dirty="0"/>
                        <a:t>+</a:t>
                      </a:r>
                      <a:endParaRPr lang="en-IN" sz="1800" dirty="0"/>
                    </a:p>
                  </a:txBody>
                  <a:tcPr marL="91439" marR="91439" marT="45707" marB="45707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5,8</a:t>
                      </a:r>
                      <a:endParaRPr lang="en-IN" sz="1800" dirty="0"/>
                    </a:p>
                  </a:txBody>
                  <a:tcPr marL="91439" marR="91439" marT="45707" marB="45707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31">
                <a:tc>
                  <a:txBody>
                    <a:bodyPr/>
                    <a:lstStyle/>
                    <a:p>
                      <a:r>
                        <a:rPr lang="en-US" sz="1800" dirty="0"/>
                        <a:t>*</a:t>
                      </a:r>
                      <a:endParaRPr lang="en-IN" sz="1800" dirty="0"/>
                    </a:p>
                  </a:txBody>
                  <a:tcPr marL="91439" marR="91439" marT="45707" marB="45707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40</a:t>
                      </a:r>
                      <a:endParaRPr lang="en-IN" sz="1800" dirty="0"/>
                    </a:p>
                  </a:txBody>
                  <a:tcPr marL="91439" marR="91439" marT="45707" marB="45707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31">
                <a:tc>
                  <a:txBody>
                    <a:bodyPr/>
                    <a:lstStyle/>
                    <a:p>
                      <a:r>
                        <a:rPr lang="en-US" sz="1800" dirty="0"/>
                        <a:t>12</a:t>
                      </a:r>
                      <a:endParaRPr lang="en-IN" sz="1800" dirty="0"/>
                    </a:p>
                  </a:txBody>
                  <a:tcPr marL="91439" marR="91439" marT="45707" marB="45707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40,12</a:t>
                      </a:r>
                      <a:endParaRPr lang="en-IN" sz="1800" dirty="0"/>
                    </a:p>
                  </a:txBody>
                  <a:tcPr marL="91439" marR="91439" marT="45707" marB="45707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31">
                <a:tc>
                  <a:txBody>
                    <a:bodyPr/>
                    <a:lstStyle/>
                    <a:p>
                      <a:r>
                        <a:rPr lang="en-US" sz="1800" dirty="0"/>
                        <a:t>4</a:t>
                      </a:r>
                      <a:endParaRPr lang="en-IN" sz="1800" dirty="0"/>
                    </a:p>
                  </a:txBody>
                  <a:tcPr marL="91439" marR="91439" marT="45707" marB="45707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40,12,4</a:t>
                      </a:r>
                      <a:endParaRPr lang="en-IN" sz="1800" dirty="0"/>
                    </a:p>
                  </a:txBody>
                  <a:tcPr marL="91439" marR="91439" marT="45707" marB="45707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731">
                <a:tc>
                  <a:txBody>
                    <a:bodyPr/>
                    <a:lstStyle/>
                    <a:p>
                      <a:r>
                        <a:rPr lang="en-US" sz="1800" dirty="0"/>
                        <a:t>/</a:t>
                      </a:r>
                      <a:endParaRPr lang="en-IN" sz="1800" dirty="0"/>
                    </a:p>
                  </a:txBody>
                  <a:tcPr marL="91439" marR="91439" marT="45707" marB="45707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40,3</a:t>
                      </a:r>
                      <a:endParaRPr lang="en-IN" sz="1800" dirty="0"/>
                    </a:p>
                  </a:txBody>
                  <a:tcPr marL="91439" marR="91439" marT="45707" marB="45707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5731">
                <a:tc>
                  <a:txBody>
                    <a:bodyPr/>
                    <a:lstStyle/>
                    <a:p>
                      <a:r>
                        <a:rPr lang="en-US" sz="1800" dirty="0"/>
                        <a:t>-</a:t>
                      </a:r>
                      <a:endParaRPr lang="en-IN" sz="1800" dirty="0"/>
                    </a:p>
                  </a:txBody>
                  <a:tcPr marL="91439" marR="91439" marT="45707" marB="45707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37</a:t>
                      </a:r>
                      <a:endParaRPr lang="en-IN" sz="1800" dirty="0"/>
                    </a:p>
                  </a:txBody>
                  <a:tcPr marL="91439" marR="91439" marT="45707" marB="45707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65731">
                <a:tc>
                  <a:txBody>
                    <a:bodyPr/>
                    <a:lstStyle/>
                    <a:p>
                      <a:r>
                        <a:rPr lang="en-US" sz="1800" dirty="0"/>
                        <a:t>)</a:t>
                      </a:r>
                      <a:endParaRPr lang="en-IN" sz="1800" dirty="0"/>
                    </a:p>
                  </a:txBody>
                  <a:tcPr marL="91439" marR="91439" marT="45707" marB="45707"/>
                </a:tc>
                <a:tc>
                  <a:txBody>
                    <a:bodyPr/>
                    <a:lstStyle/>
                    <a:p>
                      <a:endParaRPr lang="en-IN" sz="1800" dirty="0"/>
                    </a:p>
                  </a:txBody>
                  <a:tcPr marL="91439" marR="91439" marT="45707" marB="45707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>
            <a:extLst>
              <a:ext uri="{FF2B5EF4-FFF2-40B4-BE49-F238E27FC236}">
                <a16:creationId xmlns:a16="http://schemas.microsoft.com/office/drawing/2014/main" id="{DAD17835-C915-D1B2-3555-BE8E737D11D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79388" y="188913"/>
            <a:ext cx="8058150" cy="323850"/>
          </a:xfrm>
        </p:spPr>
        <p:txBody>
          <a:bodyPr/>
          <a:lstStyle/>
          <a:p>
            <a:r>
              <a:rPr lang="en-US" altLang="en-US"/>
              <a:t>Example of Evaluation</a:t>
            </a:r>
          </a:p>
        </p:txBody>
      </p:sp>
      <p:sp>
        <p:nvSpPr>
          <p:cNvPr id="16387" name="Content Placeholder 2">
            <a:extLst>
              <a:ext uri="{FF2B5EF4-FFF2-40B4-BE49-F238E27FC236}">
                <a16:creationId xmlns:a16="http://schemas.microsoft.com/office/drawing/2014/main" id="{1593039E-E1E3-90F3-1769-F26F75DF9833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000" b="0"/>
              <a:t>Let us now take an example that makes use of this algorithm. Consider the infix expression  given as </a:t>
            </a:r>
            <a:r>
              <a:rPr lang="en-US" altLang="en-US" sz="2000"/>
              <a:t>9 – ((3 * 4) + 8) / 4</a:t>
            </a:r>
            <a:r>
              <a:rPr lang="en-US" altLang="en-US" sz="2000" b="0"/>
              <a:t>. Evaluate the expression into postfix.</a:t>
            </a:r>
            <a:endParaRPr lang="en-US" altLang="en-US"/>
          </a:p>
        </p:txBody>
      </p:sp>
      <p:pic>
        <p:nvPicPr>
          <p:cNvPr id="16388" name="Picture 4">
            <a:extLst>
              <a:ext uri="{FF2B5EF4-FFF2-40B4-BE49-F238E27FC236}">
                <a16:creationId xmlns:a16="http://schemas.microsoft.com/office/drawing/2014/main" id="{64E55951-7012-A996-A46F-10387FFF05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912" t="42693" r="28400" b="14030"/>
          <a:stretch>
            <a:fillRect/>
          </a:stretch>
        </p:blipFill>
        <p:spPr bwMode="auto">
          <a:xfrm>
            <a:off x="1476375" y="2636838"/>
            <a:ext cx="6119813" cy="3529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2C840F-B01B-8FF1-E393-6D4EE2E6BD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950" y="115888"/>
            <a:ext cx="8280400" cy="6626225"/>
          </a:xfrm>
        </p:spPr>
        <p:txBody>
          <a:bodyPr/>
          <a:lstStyle/>
          <a:p>
            <a:pPr marL="0" indent="0">
              <a:lnSpc>
                <a:spcPts val="800"/>
              </a:lnSpc>
              <a:buFont typeface="Times New Roman" panose="02020603050405020304" pitchFamily="18" charset="0"/>
              <a:buNone/>
              <a:defRPr/>
            </a:pPr>
            <a:r>
              <a:rPr lang="en-IN" sz="1800" dirty="0"/>
              <a:t>Conversion of infix to postfix expression:</a:t>
            </a:r>
            <a:r>
              <a:rPr lang="en-IN" sz="1600" dirty="0"/>
              <a:t>-      </a:t>
            </a:r>
          </a:p>
          <a:p>
            <a:pPr marL="0" indent="0">
              <a:lnSpc>
                <a:spcPts val="800"/>
              </a:lnSpc>
              <a:buFont typeface="Times New Roman" panose="02020603050405020304" pitchFamily="18" charset="0"/>
              <a:buNone/>
              <a:defRPr/>
            </a:pPr>
            <a:r>
              <a:rPr lang="en-IN" sz="1600" dirty="0"/>
              <a:t> This </a:t>
            </a:r>
            <a:r>
              <a:rPr lang="en-IN" sz="1600" b="0" dirty="0" err="1"/>
              <a:t>algo</a:t>
            </a:r>
            <a:r>
              <a:rPr lang="en-IN" sz="1600" b="0" dirty="0"/>
              <a:t>  finds the value of arithmetic expression P written in postfix expression</a:t>
            </a:r>
          </a:p>
          <a:p>
            <a:pPr>
              <a:buFont typeface="+mj-lt"/>
              <a:buAutoNum type="arabicPeriod"/>
              <a:defRPr/>
            </a:pPr>
            <a:r>
              <a:rPr lang="en-US" sz="1400" dirty="0"/>
              <a:t>Push “(“onto Stack, and add “)” to the end of X.</a:t>
            </a:r>
          </a:p>
          <a:p>
            <a:pPr>
              <a:buFont typeface="+mj-lt"/>
              <a:buAutoNum type="arabicPeriod"/>
              <a:defRPr/>
            </a:pPr>
            <a:r>
              <a:rPr lang="en-US" sz="1400" dirty="0"/>
              <a:t>Scan X from left to right and repeat Step 3 to 6 for each element of X until the Stack is empty.</a:t>
            </a:r>
          </a:p>
          <a:p>
            <a:pPr>
              <a:buFont typeface="+mj-lt"/>
              <a:buAutoNum type="arabicPeriod"/>
              <a:defRPr/>
            </a:pPr>
            <a:r>
              <a:rPr lang="en-US" sz="1400" dirty="0"/>
              <a:t>If an operand is encountered, add it to Y.</a:t>
            </a:r>
          </a:p>
          <a:p>
            <a:pPr>
              <a:buFont typeface="+mj-lt"/>
              <a:buAutoNum type="arabicPeriod"/>
              <a:defRPr/>
            </a:pPr>
            <a:r>
              <a:rPr lang="en-US" sz="1400" dirty="0"/>
              <a:t>If a left parenthesis is encountered, push it onto Stack.</a:t>
            </a:r>
          </a:p>
          <a:p>
            <a:pPr>
              <a:buFont typeface="+mj-lt"/>
              <a:buAutoNum type="arabicPeriod"/>
              <a:defRPr/>
            </a:pPr>
            <a:r>
              <a:rPr lang="en-US" sz="1400" dirty="0"/>
              <a:t>If an operator is encountered ,then:</a:t>
            </a:r>
          </a:p>
          <a:p>
            <a:pPr marL="800100" lvl="1" indent="-342900">
              <a:buFont typeface="+mj-lt"/>
              <a:buAutoNum type="arabicPeriod"/>
              <a:defRPr/>
            </a:pPr>
            <a:r>
              <a:rPr lang="en-US" sz="1400" dirty="0"/>
              <a:t>Repeatedly pop from Stack and add to Y each operator (on the top of Stack) which has the same precedence as or higher precedence than operator.</a:t>
            </a:r>
          </a:p>
          <a:p>
            <a:pPr marL="800100" lvl="1" indent="-342900">
              <a:buFont typeface="+mj-lt"/>
              <a:buAutoNum type="arabicPeriod"/>
              <a:defRPr/>
            </a:pPr>
            <a:r>
              <a:rPr lang="en-US" sz="1400" dirty="0"/>
              <a:t>Add operator to Stack.</a:t>
            </a:r>
            <a:br>
              <a:rPr lang="en-US" sz="1400" dirty="0"/>
            </a:br>
            <a:r>
              <a:rPr lang="en-US" sz="1400" dirty="0"/>
              <a:t>[End of If]</a:t>
            </a:r>
          </a:p>
          <a:p>
            <a:pPr>
              <a:buFont typeface="+mj-lt"/>
              <a:buAutoNum type="arabicPeriod"/>
              <a:defRPr/>
            </a:pPr>
            <a:r>
              <a:rPr lang="en-US" sz="1400" dirty="0"/>
              <a:t>If a right parenthesis is encountered ,then:</a:t>
            </a:r>
          </a:p>
          <a:p>
            <a:pPr marL="800100" lvl="1" indent="-342900">
              <a:buFont typeface="+mj-lt"/>
              <a:buAutoNum type="arabicPeriod"/>
              <a:defRPr/>
            </a:pPr>
            <a:r>
              <a:rPr lang="en-US" sz="1400" dirty="0"/>
              <a:t>Repeatedly pop from Stack and add to Y each operator (on the top of Stack) until a left parenthesis is encountered.</a:t>
            </a:r>
          </a:p>
          <a:p>
            <a:pPr marL="800100" lvl="1" indent="-342900">
              <a:buFont typeface="+mj-lt"/>
              <a:buAutoNum type="arabicPeriod"/>
              <a:defRPr/>
            </a:pPr>
            <a:r>
              <a:rPr lang="en-US" sz="1400" dirty="0"/>
              <a:t>Remove the left Parenthesis.</a:t>
            </a:r>
            <a:br>
              <a:rPr lang="en-US" sz="1400" dirty="0"/>
            </a:br>
            <a:r>
              <a:rPr lang="en-US" sz="1400" dirty="0"/>
              <a:t>[End of If]</a:t>
            </a:r>
            <a:br>
              <a:rPr lang="en-US" sz="1400" dirty="0"/>
            </a:br>
            <a:r>
              <a:rPr lang="en-US" sz="1400" dirty="0"/>
              <a:t>[End of If]</a:t>
            </a:r>
          </a:p>
          <a:p>
            <a:pPr>
              <a:buFont typeface="+mj-lt"/>
              <a:buAutoNum type="arabicPeriod"/>
              <a:defRPr/>
            </a:pPr>
            <a:r>
              <a:rPr lang="en-US" sz="1400" dirty="0"/>
              <a:t>END.</a:t>
            </a:r>
          </a:p>
          <a:p>
            <a:pPr marL="0" indent="0">
              <a:buFont typeface="Times New Roman" panose="02020603050405020304" pitchFamily="18" charset="0"/>
              <a:buNone/>
              <a:defRPr/>
            </a:pPr>
            <a:endParaRPr lang="en-IN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>
            <a:extLst>
              <a:ext uri="{FF2B5EF4-FFF2-40B4-BE49-F238E27FC236}">
                <a16:creationId xmlns:a16="http://schemas.microsoft.com/office/drawing/2014/main" id="{9DA547AB-38F9-E2E8-9307-D477BD29D3E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4213" y="361950"/>
            <a:ext cx="8202612" cy="419100"/>
          </a:xfrm>
        </p:spPr>
        <p:txBody>
          <a:bodyPr/>
          <a:lstStyle/>
          <a:p>
            <a:r>
              <a:rPr lang="en-US" altLang="en-US" sz="2800"/>
              <a:t>Convert A+(B*C-(D/E|F)*G)*H into Postfix using Algo</a:t>
            </a:r>
            <a:endParaRPr lang="en-IN" altLang="en-US" sz="2800"/>
          </a:p>
        </p:txBody>
      </p:sp>
      <p:pic>
        <p:nvPicPr>
          <p:cNvPr id="25602" name="Picture 2">
            <a:extLst>
              <a:ext uri="{FF2B5EF4-FFF2-40B4-BE49-F238E27FC236}">
                <a16:creationId xmlns:a16="http://schemas.microsoft.com/office/drawing/2014/main" id="{0C07533F-2960-3BAA-7FFC-46DB300B6B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7250" y="1143000"/>
            <a:ext cx="6929438" cy="5143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56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56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le 1">
            <a:extLst>
              <a:ext uri="{FF2B5EF4-FFF2-40B4-BE49-F238E27FC236}">
                <a16:creationId xmlns:a16="http://schemas.microsoft.com/office/drawing/2014/main" id="{2104B929-E5C4-96E2-14DF-A7EEA07EDB0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79388" y="260350"/>
            <a:ext cx="8785225" cy="252413"/>
          </a:xfrm>
        </p:spPr>
        <p:txBody>
          <a:bodyPr/>
          <a:lstStyle/>
          <a:p>
            <a:r>
              <a:rPr lang="en-US" altLang="en-US"/>
              <a:t>Example of Conversion(Practice Problem)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8001F03-C4CD-9154-2C44-22AEBB30E9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9388" y="908050"/>
            <a:ext cx="8353425" cy="3862388"/>
          </a:xfrm>
        </p:spPr>
        <p:txBody>
          <a:bodyPr/>
          <a:lstStyle/>
          <a:p>
            <a:pPr>
              <a:defRPr/>
            </a:pPr>
            <a:r>
              <a:rPr lang="en-US" dirty="0"/>
              <a:t>A+[(B+C)+(D+E)*F]/G</a:t>
            </a:r>
          </a:p>
          <a:p>
            <a:pPr marL="0" indent="0">
              <a:buFont typeface="Times New Roman" panose="02020603050405020304" pitchFamily="18" charset="0"/>
              <a:buNone/>
              <a:defRPr/>
            </a:pPr>
            <a:r>
              <a:rPr lang="en-US" dirty="0"/>
              <a:t>A+[(BC+) + (DE+) * F]/G</a:t>
            </a:r>
          </a:p>
          <a:p>
            <a:pPr marL="0" indent="0">
              <a:buFont typeface="Times New Roman" panose="02020603050405020304" pitchFamily="18" charset="0"/>
              <a:buNone/>
              <a:defRPr/>
            </a:pPr>
            <a:r>
              <a:rPr lang="en-US" dirty="0"/>
              <a:t>A+[(BC+) + (DE+F *)]/G</a:t>
            </a:r>
          </a:p>
          <a:p>
            <a:pPr marL="0" indent="0">
              <a:buFont typeface="Times New Roman" panose="02020603050405020304" pitchFamily="18" charset="0"/>
              <a:buNone/>
              <a:defRPr/>
            </a:pPr>
            <a:r>
              <a:rPr lang="en-US" dirty="0"/>
              <a:t>A+[BC+DE+F*+]/G</a:t>
            </a:r>
          </a:p>
          <a:p>
            <a:pPr marL="0" indent="0">
              <a:buFont typeface="Times New Roman" panose="02020603050405020304" pitchFamily="18" charset="0"/>
              <a:buNone/>
              <a:defRPr/>
            </a:pPr>
            <a:r>
              <a:rPr lang="en-US" dirty="0"/>
              <a:t>ABC+DE+F*+G/+</a:t>
            </a:r>
          </a:p>
          <a:p>
            <a:pPr>
              <a:defRPr/>
            </a:pPr>
            <a:endParaRPr 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Content Placeholder 2">
            <a:extLst>
              <a:ext uri="{FF2B5EF4-FFF2-40B4-BE49-F238E27FC236}">
                <a16:creationId xmlns:a16="http://schemas.microsoft.com/office/drawing/2014/main" id="{88DD29F2-ADE3-547E-95BA-34DAD6EF4CB1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68313" y="692150"/>
            <a:ext cx="8064500" cy="4078288"/>
          </a:xfrm>
        </p:spPr>
        <p:txBody>
          <a:bodyPr/>
          <a:lstStyle/>
          <a:p>
            <a:pPr marL="0" indent="0">
              <a:buFont typeface="Times New Roman" panose="02020603050405020304" pitchFamily="18" charset="0"/>
              <a:buNone/>
            </a:pPr>
            <a:r>
              <a:rPr lang="en-IN" altLang="en-US"/>
              <a:t>Practice</a:t>
            </a:r>
          </a:p>
          <a:p>
            <a:pPr marL="0" indent="0">
              <a:buFont typeface="Times New Roman" panose="02020603050405020304" pitchFamily="18" charset="0"/>
              <a:buNone/>
            </a:pPr>
            <a:r>
              <a:rPr lang="en-IN" altLang="en-US"/>
              <a:t>1.((A+B)*D) Ȋ (E-F)</a:t>
            </a:r>
          </a:p>
          <a:p>
            <a:pPr marL="0" indent="0">
              <a:buFont typeface="Times New Roman" panose="02020603050405020304" pitchFamily="18" charset="0"/>
              <a:buNone/>
            </a:pPr>
            <a:r>
              <a:rPr lang="en-IN" altLang="en-US"/>
              <a:t>2. (A-B)*(D/E)</a:t>
            </a:r>
          </a:p>
          <a:p>
            <a:pPr marL="0" indent="0">
              <a:buFont typeface="Times New Roman" panose="02020603050405020304" pitchFamily="18" charset="0"/>
              <a:buNone/>
            </a:pPr>
            <a:r>
              <a:rPr lang="en-IN" altLang="en-US"/>
              <a:t>3. (A+B Ȋ D)/(E-F)+G</a:t>
            </a:r>
          </a:p>
          <a:p>
            <a:pPr marL="0" indent="0">
              <a:buFont typeface="Times New Roman" panose="02020603050405020304" pitchFamily="18" charset="0"/>
              <a:buNone/>
            </a:pPr>
            <a:r>
              <a:rPr lang="en-IN" altLang="en-US"/>
              <a:t>4. A*(B+D)/E-F*(G+H/K)</a:t>
            </a:r>
          </a:p>
          <a:p>
            <a:pPr marL="0" indent="0">
              <a:buFont typeface="Times New Roman" panose="02020603050405020304" pitchFamily="18" charset="0"/>
              <a:buNone/>
            </a:pPr>
            <a:r>
              <a:rPr lang="en-IN" altLang="en-US"/>
              <a:t>5. (A-B)*(D/E)</a:t>
            </a:r>
          </a:p>
          <a:p>
            <a:pPr marL="0" indent="0">
              <a:buFont typeface="Times New Roman" panose="02020603050405020304" pitchFamily="18" charset="0"/>
              <a:buNone/>
            </a:pPr>
            <a:r>
              <a:rPr lang="en-IN" altLang="en-US"/>
              <a:t>6. (A+B Ȋ D)/(E-F)+G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Content Placeholder 2">
            <a:extLst>
              <a:ext uri="{FF2B5EF4-FFF2-40B4-BE49-F238E27FC236}">
                <a16:creationId xmlns:a16="http://schemas.microsoft.com/office/drawing/2014/main" id="{5B72DE3E-B75F-5705-9D41-5E90F16194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143000"/>
            <a:ext cx="7847013" cy="3941763"/>
          </a:xfrm>
        </p:spPr>
        <p:txBody>
          <a:bodyPr/>
          <a:lstStyle/>
          <a:p>
            <a:pPr marL="0" indent="0" algn="just">
              <a:buFont typeface="Times New Roman" panose="02020603050405020304" pitchFamily="18" charset="0"/>
              <a:buNone/>
              <a:defRPr/>
            </a:pPr>
            <a:r>
              <a:rPr lang="en-US" altLang="en-US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Recursion:</a:t>
            </a:r>
          </a:p>
          <a:p>
            <a:pPr algn="just">
              <a:buFont typeface="Times New Roman" panose="02020603050405020304" pitchFamily="18" charset="0"/>
              <a:buNone/>
              <a:defRPr/>
            </a:pPr>
            <a:r>
              <a:rPr lang="en-US" altLang="en-US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Suppose P is a procedure containing either a call statement to itself or a call statement to a second procedure that may eventually result in a call statement back to the original procedure P then P is called a Recursive Procedure. A program will not continue to run indefinitely a recursive procedure must have the following two properties:</a:t>
            </a:r>
          </a:p>
          <a:p>
            <a:pPr algn="just">
              <a:defRPr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Base case</a:t>
            </a:r>
            <a:r>
              <a:rPr lang="en-US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in which the problem is simple enough to be solved directly without making any further calls to the same function.</a:t>
            </a:r>
          </a:p>
          <a:p>
            <a:pPr algn="just">
              <a:defRPr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Recursive case</a:t>
            </a:r>
            <a:r>
              <a:rPr lang="en-US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in which first the problem at hand is divided into simpler sub-parts. Second the function calls itself but with sub-parts of the problem obtained in the first step. Third, the result is obtained by combining the solutions of simpler sub-parts.</a:t>
            </a:r>
            <a:endParaRPr lang="en-US" altLang="en-US" sz="18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Times New Roman" panose="02020603050405020304" pitchFamily="18" charset="0"/>
              <a:buNone/>
              <a:defRPr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Factorial</a:t>
            </a:r>
          </a:p>
          <a:p>
            <a:pPr algn="just">
              <a:buFont typeface="Times New Roman" panose="02020603050405020304" pitchFamily="18" charset="0"/>
              <a:buNone/>
              <a:defRPr/>
            </a:pPr>
            <a:endParaRPr lang="en-US" altLang="en-US" sz="18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Times New Roman" panose="02020603050405020304" pitchFamily="18" charset="0"/>
              <a:buNone/>
              <a:defRPr/>
            </a:pPr>
            <a:endParaRPr lang="en-US" altLang="en-US" sz="18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Content Placeholder 2">
            <a:extLst>
              <a:ext uri="{FF2B5EF4-FFF2-40B4-BE49-F238E27FC236}">
                <a16:creationId xmlns:a16="http://schemas.microsoft.com/office/drawing/2014/main" id="{0038343B-9B81-8250-9FA9-57FA2CEE1A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2938" y="1071563"/>
            <a:ext cx="7847012" cy="3627437"/>
          </a:xfrm>
        </p:spPr>
        <p:txBody>
          <a:bodyPr/>
          <a:lstStyle/>
          <a:p>
            <a:pPr marL="0" indent="0" algn="just">
              <a:buFont typeface="Times New Roman" panose="02020603050405020304" pitchFamily="18" charset="0"/>
              <a:buNone/>
              <a:defRPr/>
            </a:pPr>
            <a:r>
              <a:rPr lang="en-US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calculate n!, we multiply the number with factorial of the number that is 1 less than that number.</a:t>
            </a:r>
          </a:p>
          <a:p>
            <a:pPr algn="just">
              <a:defRPr/>
            </a:pPr>
            <a:r>
              <a:rPr lang="en-US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other words, n! = n * (n–1)!</a:t>
            </a:r>
          </a:p>
          <a:p>
            <a:pPr algn="just">
              <a:defRPr/>
            </a:pPr>
            <a:r>
              <a:rPr lang="en-US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Let us say we need to find the value of 5!</a:t>
            </a:r>
          </a:p>
          <a:p>
            <a:pPr algn="just">
              <a:defRPr/>
            </a:pPr>
            <a:r>
              <a:rPr lang="en-US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5! = 5 * 4 * 3 * 2 * 1 = 120</a:t>
            </a:r>
          </a:p>
          <a:p>
            <a:pPr algn="just">
              <a:defRPr/>
            </a:pPr>
            <a:r>
              <a:rPr lang="en-US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can be written as</a:t>
            </a:r>
          </a:p>
          <a:p>
            <a:pPr algn="just">
              <a:defRPr/>
            </a:pPr>
            <a:r>
              <a:rPr lang="en-US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5! = 5 * 4!, where 4!= 4 * 3!</a:t>
            </a:r>
          </a:p>
          <a:p>
            <a:pPr marL="0" indent="0" algn="just">
              <a:buFont typeface="Times New Roman" panose="02020603050405020304" pitchFamily="18" charset="0"/>
              <a:buNone/>
              <a:defRPr/>
            </a:pPr>
            <a:r>
              <a:rPr lang="en-US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Therefore,</a:t>
            </a:r>
          </a:p>
          <a:p>
            <a:pPr algn="just">
              <a:defRPr/>
            </a:pPr>
            <a:r>
              <a:rPr lang="en-US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5! = 5 * 4 * 3!</a:t>
            </a:r>
          </a:p>
        </p:txBody>
      </p:sp>
      <p:pic>
        <p:nvPicPr>
          <p:cNvPr id="22531" name="Picture 1">
            <a:extLst>
              <a:ext uri="{FF2B5EF4-FFF2-40B4-BE49-F238E27FC236}">
                <a16:creationId xmlns:a16="http://schemas.microsoft.com/office/drawing/2014/main" id="{2D4642CF-3765-AF21-B90D-C03BD87FE5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350" t="68207" r="61813" b="9383"/>
          <a:stretch>
            <a:fillRect/>
          </a:stretch>
        </p:blipFill>
        <p:spPr bwMode="auto">
          <a:xfrm>
            <a:off x="4859338" y="2997200"/>
            <a:ext cx="3889375" cy="2447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Content Placeholder 2">
            <a:extLst>
              <a:ext uri="{FF2B5EF4-FFF2-40B4-BE49-F238E27FC236}">
                <a16:creationId xmlns:a16="http://schemas.microsoft.com/office/drawing/2014/main" id="{C239A679-7367-7E71-1989-2C8CD877201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79388" y="1071563"/>
            <a:ext cx="8310562" cy="3627437"/>
          </a:xfrm>
        </p:spPr>
        <p:txBody>
          <a:bodyPr/>
          <a:lstStyle/>
          <a:p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Base case </a:t>
            </a:r>
            <a:r>
              <a:rPr lang="en-US" altLang="en-US" sz="1800" b="0">
                <a:latin typeface="Times New Roman" panose="02020603050405020304" pitchFamily="18" charset="0"/>
                <a:cs typeface="Times New Roman" panose="02020603050405020304" pitchFamily="18" charset="0"/>
              </a:rPr>
              <a:t>is when n = 1, because if n = 1, the result will be 1 as 1! = 1.</a:t>
            </a:r>
          </a:p>
          <a:p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Recursive case </a:t>
            </a:r>
            <a:r>
              <a:rPr lang="en-US" altLang="en-US" sz="1800" b="0">
                <a:latin typeface="Times New Roman" panose="02020603050405020304" pitchFamily="18" charset="0"/>
                <a:cs typeface="Times New Roman" panose="02020603050405020304" pitchFamily="18" charset="0"/>
              </a:rPr>
              <a:t>of the factorial function will call itself but with a smaller value of n, this case can be given as  </a:t>
            </a:r>
            <a:r>
              <a:rPr lang="pt-BR" altLang="en-US" sz="1800" b="0">
                <a:latin typeface="Times New Roman" panose="02020603050405020304" pitchFamily="18" charset="0"/>
                <a:cs typeface="Times New Roman" panose="02020603050405020304" pitchFamily="18" charset="0"/>
              </a:rPr>
              <a:t>factorial(n) = n × factorial (n–1)</a:t>
            </a:r>
          </a:p>
          <a:p>
            <a:pPr>
              <a:lnSpc>
                <a:spcPct val="100000"/>
              </a:lnSpc>
              <a:spcBef>
                <a:spcPct val="0"/>
              </a:spcBef>
              <a:buFont typeface="Times New Roman" panose="02020603050405020304" pitchFamily="18" charset="0"/>
              <a:buNone/>
            </a:pP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#include &lt;iostream&gt;</a:t>
            </a:r>
          </a:p>
          <a:p>
            <a:pPr>
              <a:lnSpc>
                <a:spcPct val="100000"/>
              </a:lnSpc>
              <a:spcBef>
                <a:spcPct val="0"/>
              </a:spcBef>
              <a:buFont typeface="Times New Roman" panose="02020603050405020304" pitchFamily="18" charset="0"/>
              <a:buNone/>
            </a:pP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int Fact(int); // FUNCTION DECLARATION</a:t>
            </a:r>
          </a:p>
          <a:p>
            <a:pPr>
              <a:lnSpc>
                <a:spcPct val="100000"/>
              </a:lnSpc>
              <a:spcBef>
                <a:spcPct val="0"/>
              </a:spcBef>
              <a:buFont typeface="Times New Roman" panose="02020603050405020304" pitchFamily="18" charset="0"/>
              <a:buNone/>
            </a:pP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int main()</a:t>
            </a:r>
          </a:p>
          <a:p>
            <a:pPr>
              <a:lnSpc>
                <a:spcPct val="100000"/>
              </a:lnSpc>
              <a:spcBef>
                <a:spcPct val="0"/>
              </a:spcBef>
              <a:buFont typeface="Times New Roman" panose="02020603050405020304" pitchFamily="18" charset="0"/>
              <a:buNone/>
            </a:pP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pPr>
              <a:lnSpc>
                <a:spcPct val="100000"/>
              </a:lnSpc>
              <a:spcBef>
                <a:spcPct val="0"/>
              </a:spcBef>
              <a:buFont typeface="Times New Roman" panose="02020603050405020304" pitchFamily="18" charset="0"/>
              <a:buNone/>
            </a:pP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int num, val;</a:t>
            </a:r>
          </a:p>
          <a:p>
            <a:pPr>
              <a:lnSpc>
                <a:spcPct val="100000"/>
              </a:lnSpc>
              <a:spcBef>
                <a:spcPct val="0"/>
              </a:spcBef>
              <a:buFont typeface="Times New Roman" panose="02020603050405020304" pitchFamily="18" charset="0"/>
              <a:buNone/>
            </a:pP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cout&lt;&lt;"\n Enter the number: ";</a:t>
            </a:r>
          </a:p>
          <a:p>
            <a:pPr>
              <a:lnSpc>
                <a:spcPct val="100000"/>
              </a:lnSpc>
              <a:spcBef>
                <a:spcPct val="0"/>
              </a:spcBef>
              <a:buFont typeface="Times New Roman" panose="02020603050405020304" pitchFamily="18" charset="0"/>
              <a:buNone/>
            </a:pP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cin&gt;&gt;num;</a:t>
            </a:r>
          </a:p>
          <a:p>
            <a:pPr>
              <a:lnSpc>
                <a:spcPct val="100000"/>
              </a:lnSpc>
              <a:spcBef>
                <a:spcPct val="0"/>
              </a:spcBef>
              <a:buFont typeface="Times New Roman" panose="02020603050405020304" pitchFamily="18" charset="0"/>
              <a:buNone/>
            </a:pP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val = Fact(num);</a:t>
            </a:r>
          </a:p>
          <a:p>
            <a:pPr>
              <a:lnSpc>
                <a:spcPct val="100000"/>
              </a:lnSpc>
              <a:spcBef>
                <a:spcPct val="0"/>
              </a:spcBef>
              <a:buFont typeface="Times New Roman" panose="02020603050405020304" pitchFamily="18" charset="0"/>
              <a:buNone/>
            </a:pPr>
            <a:r>
              <a:rPr lang="pt-BR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cout&lt;&lt;"\n Factorial of  “&lt;&lt; num &lt;&lt; “is ”  &lt;&lt;val;</a:t>
            </a:r>
          </a:p>
          <a:p>
            <a:pPr>
              <a:lnSpc>
                <a:spcPct val="100000"/>
              </a:lnSpc>
              <a:spcBef>
                <a:spcPct val="0"/>
              </a:spcBef>
              <a:buFont typeface="Times New Roman" panose="02020603050405020304" pitchFamily="18" charset="0"/>
              <a:buNone/>
            </a:pP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return 0;</a:t>
            </a:r>
          </a:p>
          <a:p>
            <a:pPr>
              <a:lnSpc>
                <a:spcPct val="100000"/>
              </a:lnSpc>
              <a:spcBef>
                <a:spcPct val="0"/>
              </a:spcBef>
              <a:buFont typeface="Times New Roman" panose="02020603050405020304" pitchFamily="18" charset="0"/>
              <a:buNone/>
            </a:pP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>
              <a:lnSpc>
                <a:spcPct val="100000"/>
              </a:lnSpc>
              <a:spcBef>
                <a:spcPct val="0"/>
              </a:spcBef>
              <a:buFont typeface="Times New Roman" panose="02020603050405020304" pitchFamily="18" charset="0"/>
              <a:buNone/>
            </a:pP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int Fact(int n)</a:t>
            </a:r>
          </a:p>
          <a:p>
            <a:pPr>
              <a:lnSpc>
                <a:spcPct val="100000"/>
              </a:lnSpc>
              <a:spcBef>
                <a:spcPct val="0"/>
              </a:spcBef>
              <a:buFont typeface="Times New Roman" panose="02020603050405020304" pitchFamily="18" charset="0"/>
              <a:buNone/>
            </a:pP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pPr>
              <a:lnSpc>
                <a:spcPct val="100000"/>
              </a:lnSpc>
              <a:spcBef>
                <a:spcPct val="0"/>
              </a:spcBef>
              <a:buFont typeface="Times New Roman" panose="02020603050405020304" pitchFamily="18" charset="0"/>
              <a:buNone/>
            </a:pP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if(n==1)</a:t>
            </a:r>
          </a:p>
          <a:p>
            <a:pPr>
              <a:lnSpc>
                <a:spcPct val="100000"/>
              </a:lnSpc>
              <a:spcBef>
                <a:spcPct val="0"/>
              </a:spcBef>
              <a:buFont typeface="Times New Roman" panose="02020603050405020304" pitchFamily="18" charset="0"/>
              <a:buNone/>
            </a:pP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return 1;</a:t>
            </a:r>
          </a:p>
          <a:p>
            <a:pPr>
              <a:lnSpc>
                <a:spcPct val="100000"/>
              </a:lnSpc>
              <a:spcBef>
                <a:spcPct val="0"/>
              </a:spcBef>
              <a:buFont typeface="Times New Roman" panose="02020603050405020304" pitchFamily="18" charset="0"/>
              <a:buNone/>
            </a:pP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else</a:t>
            </a:r>
          </a:p>
          <a:p>
            <a:pPr>
              <a:lnSpc>
                <a:spcPct val="100000"/>
              </a:lnSpc>
              <a:spcBef>
                <a:spcPct val="0"/>
              </a:spcBef>
              <a:buFont typeface="Times New Roman" panose="02020603050405020304" pitchFamily="18" charset="0"/>
              <a:buNone/>
            </a:pP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return (n * Fact(n–1)); }</a:t>
            </a:r>
            <a:endParaRPr lang="en-US" alt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Content Placeholder 2">
            <a:extLst>
              <a:ext uri="{FF2B5EF4-FFF2-40B4-BE49-F238E27FC236}">
                <a16:creationId xmlns:a16="http://schemas.microsoft.com/office/drawing/2014/main" id="{9EB19E87-731B-4755-5EF8-BD1CDDDE0F46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07950" y="117475"/>
            <a:ext cx="8928100" cy="6481763"/>
          </a:xfrm>
        </p:spPr>
        <p:txBody>
          <a:bodyPr/>
          <a:lstStyle/>
          <a:p>
            <a:pPr marL="0" indent="0" algn="just">
              <a:buFont typeface="Times New Roman" panose="02020603050405020304" pitchFamily="18" charset="0"/>
              <a:buNone/>
            </a:pPr>
            <a:r>
              <a:rPr lang="en-US" altLang="en-US" sz="1800" u="sng"/>
              <a:t>Tower of Hanoi</a:t>
            </a:r>
          </a:p>
          <a:p>
            <a:pPr marL="0" indent="0" algn="just">
              <a:lnSpc>
                <a:spcPct val="100000"/>
              </a:lnSpc>
              <a:spcBef>
                <a:spcPct val="0"/>
              </a:spcBef>
            </a:pPr>
            <a:r>
              <a:rPr lang="en-US" altLang="en-US" sz="1800" b="0"/>
              <a:t>The tower of Hanoi is one of the main applications of recursion. It says, ‘if you can solve n–1 cases, then you can easily solve the nth case’. </a:t>
            </a:r>
          </a:p>
          <a:p>
            <a:pPr marL="0" indent="0" algn="just">
              <a:lnSpc>
                <a:spcPct val="100000"/>
              </a:lnSpc>
              <a:spcBef>
                <a:spcPct val="0"/>
              </a:spcBef>
            </a:pPr>
            <a:r>
              <a:rPr lang="en-US" altLang="en-US" sz="1800" b="0"/>
              <a:t>The problem is to move all these rings from pole A to pole C while maintaining the same order. The main issue is that the smaller disk must always come above the larger disk.</a:t>
            </a:r>
          </a:p>
          <a:p>
            <a:pPr marL="0" indent="0" algn="just">
              <a:lnSpc>
                <a:spcPct val="100000"/>
              </a:lnSpc>
              <a:spcBef>
                <a:spcPct val="0"/>
              </a:spcBef>
            </a:pPr>
            <a:r>
              <a:rPr lang="en-US" altLang="en-US" sz="1800" b="0"/>
              <a:t>We will be doing this using a spare pole. In our case, A is the source pole, C is the destination pole,  and B is the spare pole. To transfer all the three rings from A to C</a:t>
            </a:r>
          </a:p>
          <a:p>
            <a:pPr marL="0" indent="0" algn="just">
              <a:lnSpc>
                <a:spcPct val="100000"/>
              </a:lnSpc>
              <a:spcBef>
                <a:spcPct val="0"/>
              </a:spcBef>
              <a:buFont typeface="Times New Roman" panose="02020603050405020304" pitchFamily="18" charset="0"/>
              <a:buNone/>
            </a:pPr>
            <a:r>
              <a:rPr lang="en-US" altLang="en-US" sz="1800" b="0"/>
              <a:t>, we will first shift the upper two rings (n–1 rings) from the source pole to the spare pole.</a:t>
            </a:r>
          </a:p>
          <a:p>
            <a:pPr marL="0" indent="0" algn="just">
              <a:lnSpc>
                <a:spcPct val="100000"/>
              </a:lnSpc>
              <a:spcBef>
                <a:spcPct val="0"/>
              </a:spcBef>
            </a:pPr>
            <a:r>
              <a:rPr lang="en-US" altLang="en-US" sz="2000" b="0">
                <a:latin typeface="Times New Roman" panose="02020603050405020304" pitchFamily="18" charset="0"/>
                <a:cs typeface="Times New Roman" panose="02020603050405020304" pitchFamily="18" charset="0"/>
              </a:rPr>
              <a:t>To summarize, the solution to our problem</a:t>
            </a:r>
          </a:p>
          <a:p>
            <a:pPr marL="0" indent="0" algn="just">
              <a:lnSpc>
                <a:spcPct val="100000"/>
              </a:lnSpc>
              <a:spcBef>
                <a:spcPct val="0"/>
              </a:spcBef>
              <a:buFont typeface="Times New Roman" panose="02020603050405020304" pitchFamily="18" charset="0"/>
              <a:buNone/>
            </a:pPr>
            <a:r>
              <a:rPr lang="en-US" altLang="en-US" sz="2000" b="0">
                <a:latin typeface="Times New Roman" panose="02020603050405020304" pitchFamily="18" charset="0"/>
                <a:cs typeface="Times New Roman" panose="02020603050405020304" pitchFamily="18" charset="0"/>
              </a:rPr>
              <a:t> of moving n rings from A to C using B</a:t>
            </a:r>
          </a:p>
          <a:p>
            <a:pPr marL="0" indent="0" algn="just">
              <a:lnSpc>
                <a:spcPct val="100000"/>
              </a:lnSpc>
              <a:spcBef>
                <a:spcPct val="0"/>
              </a:spcBef>
              <a:buFont typeface="Times New Roman" panose="02020603050405020304" pitchFamily="18" charset="0"/>
              <a:buNone/>
            </a:pPr>
            <a:r>
              <a:rPr lang="en-US" altLang="en-US" sz="2000" b="0">
                <a:latin typeface="Times New Roman" panose="02020603050405020304" pitchFamily="18" charset="0"/>
                <a:cs typeface="Times New Roman" panose="02020603050405020304" pitchFamily="18" charset="0"/>
              </a:rPr>
              <a:t> as spare can be given as:</a:t>
            </a:r>
          </a:p>
          <a:p>
            <a:pPr marL="0" indent="0" algn="just">
              <a:lnSpc>
                <a:spcPct val="100000"/>
              </a:lnSpc>
              <a:spcBef>
                <a:spcPct val="0"/>
              </a:spcBef>
              <a:buFont typeface="Times New Roman" panose="02020603050405020304" pitchFamily="18" charset="0"/>
              <a:buNone/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Base case: </a:t>
            </a:r>
            <a:r>
              <a:rPr lang="en-US" altLang="en-US" sz="2000" b="0">
                <a:latin typeface="Times New Roman" panose="02020603050405020304" pitchFamily="18" charset="0"/>
                <a:cs typeface="Times New Roman" panose="02020603050405020304" pitchFamily="18" charset="0"/>
              </a:rPr>
              <a:t>if n=1</a:t>
            </a:r>
          </a:p>
          <a:p>
            <a:pPr marL="0" indent="0" algn="just">
              <a:lnSpc>
                <a:spcPct val="100000"/>
              </a:lnSpc>
              <a:spcBef>
                <a:spcPct val="0"/>
              </a:spcBef>
              <a:buFont typeface="Times New Roman" panose="02020603050405020304" pitchFamily="18" charset="0"/>
              <a:buNone/>
            </a:pPr>
            <a:r>
              <a:rPr lang="en-US" altLang="en-US" sz="2000" b="0">
                <a:latin typeface="Times New Roman" panose="02020603050405020304" pitchFamily="18" charset="0"/>
                <a:cs typeface="Times New Roman" panose="02020603050405020304" pitchFamily="18" charset="0"/>
              </a:rPr>
              <a:t>Move the ring from A to C using B </a:t>
            </a:r>
          </a:p>
          <a:p>
            <a:pPr marL="0" indent="0" algn="just">
              <a:lnSpc>
                <a:spcPct val="100000"/>
              </a:lnSpc>
              <a:spcBef>
                <a:spcPct val="0"/>
              </a:spcBef>
              <a:buFont typeface="Times New Roman" panose="02020603050405020304" pitchFamily="18" charset="0"/>
              <a:buNone/>
            </a:pPr>
            <a:r>
              <a:rPr lang="en-US" altLang="en-US" sz="2000" b="0">
                <a:latin typeface="Times New Roman" panose="02020603050405020304" pitchFamily="18" charset="0"/>
                <a:cs typeface="Times New Roman" panose="02020603050405020304" pitchFamily="18" charset="0"/>
              </a:rPr>
              <a:t>as spare</a:t>
            </a:r>
          </a:p>
          <a:p>
            <a:pPr marL="0" indent="0" algn="just">
              <a:lnSpc>
                <a:spcPct val="100000"/>
              </a:lnSpc>
              <a:spcBef>
                <a:spcPct val="0"/>
              </a:spcBef>
              <a:buFont typeface="Times New Roman" panose="02020603050405020304" pitchFamily="18" charset="0"/>
              <a:buNone/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Recursive case:</a:t>
            </a:r>
          </a:p>
          <a:p>
            <a:pPr marL="0" indent="0" algn="just">
              <a:lnSpc>
                <a:spcPct val="100000"/>
              </a:lnSpc>
              <a:spcBef>
                <a:spcPct val="0"/>
              </a:spcBef>
              <a:buFont typeface="Times New Roman" panose="02020603050405020304" pitchFamily="18" charset="0"/>
              <a:buNone/>
            </a:pPr>
            <a:r>
              <a:rPr lang="en-US" altLang="en-US" sz="2000" b="0">
                <a:latin typeface="Times New Roman" panose="02020603050405020304" pitchFamily="18" charset="0"/>
                <a:cs typeface="Times New Roman" panose="02020603050405020304" pitchFamily="18" charset="0"/>
              </a:rPr>
              <a:t>Move n – 1 rings from A to B using C as </a:t>
            </a:r>
          </a:p>
          <a:p>
            <a:pPr marL="0" indent="0" algn="just">
              <a:lnSpc>
                <a:spcPct val="100000"/>
              </a:lnSpc>
              <a:spcBef>
                <a:spcPct val="0"/>
              </a:spcBef>
              <a:buFont typeface="Times New Roman" panose="02020603050405020304" pitchFamily="18" charset="0"/>
              <a:buNone/>
            </a:pPr>
            <a:r>
              <a:rPr lang="en-US" altLang="en-US" sz="2000" b="0">
                <a:latin typeface="Times New Roman" panose="02020603050405020304" pitchFamily="18" charset="0"/>
                <a:cs typeface="Times New Roman" panose="02020603050405020304" pitchFamily="18" charset="0"/>
              </a:rPr>
              <a:t>spare</a:t>
            </a:r>
          </a:p>
          <a:p>
            <a:pPr marL="0" indent="0" algn="just">
              <a:lnSpc>
                <a:spcPct val="100000"/>
              </a:lnSpc>
              <a:spcBef>
                <a:spcPct val="0"/>
              </a:spcBef>
              <a:buFont typeface="Times New Roman" panose="02020603050405020304" pitchFamily="18" charset="0"/>
              <a:buNone/>
            </a:pPr>
            <a:r>
              <a:rPr lang="en-US" altLang="en-US" sz="2000" b="0">
                <a:latin typeface="Times New Roman" panose="02020603050405020304" pitchFamily="18" charset="0"/>
                <a:cs typeface="Times New Roman" panose="02020603050405020304" pitchFamily="18" charset="0"/>
              </a:rPr>
              <a:t>Move the one ring left on A to C using B </a:t>
            </a:r>
          </a:p>
          <a:p>
            <a:pPr marL="0" indent="0" algn="just">
              <a:lnSpc>
                <a:spcPct val="100000"/>
              </a:lnSpc>
              <a:spcBef>
                <a:spcPct val="0"/>
              </a:spcBef>
              <a:buFont typeface="Times New Roman" panose="02020603050405020304" pitchFamily="18" charset="0"/>
              <a:buNone/>
            </a:pPr>
            <a:r>
              <a:rPr lang="en-US" altLang="en-US" sz="2000" b="0">
                <a:latin typeface="Times New Roman" panose="02020603050405020304" pitchFamily="18" charset="0"/>
                <a:cs typeface="Times New Roman" panose="02020603050405020304" pitchFamily="18" charset="0"/>
              </a:rPr>
              <a:t>as spare</a:t>
            </a:r>
          </a:p>
          <a:p>
            <a:pPr marL="0" indent="0" algn="just">
              <a:lnSpc>
                <a:spcPct val="100000"/>
              </a:lnSpc>
              <a:spcBef>
                <a:spcPct val="0"/>
              </a:spcBef>
              <a:buFont typeface="Times New Roman" panose="02020603050405020304" pitchFamily="18" charset="0"/>
              <a:buNone/>
            </a:pPr>
            <a:r>
              <a:rPr lang="en-US" altLang="en-US" sz="2000" b="0">
                <a:latin typeface="Times New Roman" panose="02020603050405020304" pitchFamily="18" charset="0"/>
                <a:cs typeface="Times New Roman" panose="02020603050405020304" pitchFamily="18" charset="0"/>
              </a:rPr>
              <a:t>Move n – 1 rings from B to C using A </a:t>
            </a:r>
          </a:p>
          <a:p>
            <a:pPr marL="0" indent="0" algn="just">
              <a:lnSpc>
                <a:spcPct val="100000"/>
              </a:lnSpc>
              <a:spcBef>
                <a:spcPct val="0"/>
              </a:spcBef>
              <a:buFont typeface="Times New Roman" panose="02020603050405020304" pitchFamily="18" charset="0"/>
              <a:buNone/>
            </a:pPr>
            <a:r>
              <a:rPr lang="en-US" altLang="en-US" sz="2000" b="0">
                <a:latin typeface="Times New Roman" panose="02020603050405020304" pitchFamily="18" charset="0"/>
                <a:cs typeface="Times New Roman" panose="02020603050405020304" pitchFamily="18" charset="0"/>
              </a:rPr>
              <a:t>as spare</a:t>
            </a:r>
          </a:p>
        </p:txBody>
      </p:sp>
      <p:pic>
        <p:nvPicPr>
          <p:cNvPr id="24579" name="Picture 3">
            <a:extLst>
              <a:ext uri="{FF2B5EF4-FFF2-40B4-BE49-F238E27FC236}">
                <a16:creationId xmlns:a16="http://schemas.microsoft.com/office/drawing/2014/main" id="{847010A0-15E3-1995-B00D-879E89E998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563" t="30389" r="66537" b="6580"/>
          <a:stretch>
            <a:fillRect/>
          </a:stretch>
        </p:blipFill>
        <p:spPr bwMode="auto">
          <a:xfrm>
            <a:off x="4716463" y="2781300"/>
            <a:ext cx="4319587" cy="3960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Content Placeholder 2">
            <a:extLst>
              <a:ext uri="{FF2B5EF4-FFF2-40B4-BE49-F238E27FC236}">
                <a16:creationId xmlns:a16="http://schemas.microsoft.com/office/drawing/2014/main" id="{26D207D7-1F9C-33BF-5E2E-9AA3C2C4A76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47700" y="765175"/>
            <a:ext cx="7847013" cy="3627438"/>
          </a:xfrm>
        </p:spPr>
        <p:txBody>
          <a:bodyPr/>
          <a:lstStyle/>
          <a:p>
            <a:pPr marL="0" indent="0">
              <a:lnSpc>
                <a:spcPct val="100000"/>
              </a:lnSpc>
              <a:spcBef>
                <a:spcPct val="0"/>
              </a:spcBef>
              <a:buFont typeface="Times New Roman" panose="02020603050405020304" pitchFamily="18" charset="0"/>
              <a:buNone/>
            </a:pP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#include &lt;iostream&gt;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buFont typeface="Times New Roman" panose="02020603050405020304" pitchFamily="18" charset="0"/>
              <a:buNone/>
            </a:pP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using namespace std;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buFont typeface="Times New Roman" panose="02020603050405020304" pitchFamily="18" charset="0"/>
              <a:buNone/>
            </a:pP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void towerOfHanoi(int n, char from_rod, char to_rod, char helping_rod)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buFont typeface="Times New Roman" panose="02020603050405020304" pitchFamily="18" charset="0"/>
              <a:buNone/>
            </a:pP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buFont typeface="Times New Roman" panose="02020603050405020304" pitchFamily="18" charset="0"/>
              <a:buNone/>
            </a:pP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   if (n == 1)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buFont typeface="Times New Roman" panose="02020603050405020304" pitchFamily="18" charset="0"/>
              <a:buNone/>
            </a:pP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   {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buFont typeface="Times New Roman" panose="02020603050405020304" pitchFamily="18" charset="0"/>
              <a:buNone/>
            </a:pP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       cout&lt;&lt;"\n Move disk 1 from rod " &lt;&lt; from_rod&lt;&lt; "to rod"&lt;&lt;  to_rod;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buFont typeface="Times New Roman" panose="02020603050405020304" pitchFamily="18" charset="0"/>
              <a:buNone/>
            </a:pP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       return;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buFont typeface="Times New Roman" panose="02020603050405020304" pitchFamily="18" charset="0"/>
              <a:buNone/>
            </a:pP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   }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buFont typeface="Times New Roman" panose="02020603050405020304" pitchFamily="18" charset="0"/>
              <a:buNone/>
            </a:pP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   towerOfHanoi(n-1, from_rod, helping_rod, to_rod);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buFont typeface="Times New Roman" panose="02020603050405020304" pitchFamily="18" charset="0"/>
              <a:buNone/>
            </a:pP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   cout&lt;&lt;"\n Move disk "&lt;&lt;n&lt;&lt;" from rod " &lt;&lt; from_rod&lt;&lt; "to rod"&lt;&lt;  to_rod;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buFont typeface="Times New Roman" panose="02020603050405020304" pitchFamily="18" charset="0"/>
              <a:buNone/>
            </a:pP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   towerOfHanoi(n-1, helping_rod, to_rod, from_rod);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buFont typeface="Times New Roman" panose="02020603050405020304" pitchFamily="18" charset="0"/>
              <a:buNone/>
            </a:pP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buFont typeface="Times New Roman" panose="02020603050405020304" pitchFamily="18" charset="0"/>
              <a:buNone/>
            </a:pPr>
            <a:endParaRPr lang="en-US" alt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spcBef>
                <a:spcPct val="0"/>
              </a:spcBef>
              <a:buFont typeface="Times New Roman" panose="02020603050405020304" pitchFamily="18" charset="0"/>
              <a:buNone/>
            </a:pP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int main()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buFont typeface="Times New Roman" panose="02020603050405020304" pitchFamily="18" charset="0"/>
              <a:buNone/>
            </a:pP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buFont typeface="Times New Roman" panose="02020603050405020304" pitchFamily="18" charset="0"/>
              <a:buNone/>
            </a:pP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   int n = 4; // Number of disks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buFont typeface="Times New Roman" panose="02020603050405020304" pitchFamily="18" charset="0"/>
              <a:buNone/>
            </a:pP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   towerOfHanoi(n, 'A', 'C', 'B');  // A, B and C are names of rods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buFont typeface="Times New Roman" panose="02020603050405020304" pitchFamily="18" charset="0"/>
              <a:buNone/>
            </a:pP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   return 0;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buFont typeface="Times New Roman" panose="02020603050405020304" pitchFamily="18" charset="0"/>
              <a:buNone/>
            </a:pP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buFont typeface="Times New Roman" panose="02020603050405020304" pitchFamily="18" charset="0"/>
              <a:buNone/>
            </a:pP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spcBef>
                <a:spcPct val="0"/>
              </a:spcBef>
              <a:buFont typeface="Times New Roman" panose="02020603050405020304" pitchFamily="18" charset="0"/>
              <a:buNone/>
            </a:pPr>
            <a:endParaRPr lang="en-IN" alt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itle 1">
            <a:extLst>
              <a:ext uri="{FF2B5EF4-FFF2-40B4-BE49-F238E27FC236}">
                <a16:creationId xmlns:a16="http://schemas.microsoft.com/office/drawing/2014/main" id="{791FB306-1A0C-1973-0D35-F17755D3804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3663" y="115888"/>
            <a:ext cx="8202612" cy="396875"/>
          </a:xfrm>
        </p:spPr>
        <p:txBody>
          <a:bodyPr/>
          <a:lstStyle/>
          <a:p>
            <a:r>
              <a:rPr lang="en-US" altLang="en-US"/>
              <a:t>Questions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2DEEEC-792F-726D-258D-E284238986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663" y="765175"/>
            <a:ext cx="9050337" cy="4005263"/>
          </a:xfrm>
        </p:spPr>
        <p:txBody>
          <a:bodyPr/>
          <a:lstStyle/>
          <a:p>
            <a:pPr marL="0" indent="0">
              <a:lnSpc>
                <a:spcPct val="100000"/>
              </a:lnSpc>
              <a:spcBef>
                <a:spcPts val="0"/>
              </a:spcBef>
              <a:buFont typeface="Times New Roman" panose="02020603050405020304" pitchFamily="18" charset="0"/>
              <a:buNone/>
              <a:defRPr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Ques : Implement push and pop using arrays.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Times New Roman" panose="02020603050405020304" pitchFamily="18" charset="0"/>
              <a:buNone/>
              <a:defRPr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Ques : Convert the following infix expression into postfix and prefix.</a:t>
            </a:r>
          </a:p>
          <a:p>
            <a:pPr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pt-BR" sz="2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– B + C (b) A * B + C / D</a:t>
            </a:r>
          </a:p>
          <a:p>
            <a:pPr>
              <a:lnSpc>
                <a:spcPct val="100000"/>
              </a:lnSpc>
              <a:spcBef>
                <a:spcPts val="0"/>
              </a:spcBef>
              <a:defRPr/>
            </a:pPr>
            <a:r>
              <a:rPr lang="pt-BR" sz="2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(A – B ) + C * D / E – C</a:t>
            </a:r>
          </a:p>
          <a:p>
            <a:pPr>
              <a:lnSpc>
                <a:spcPct val="100000"/>
              </a:lnSpc>
              <a:spcBef>
                <a:spcPts val="0"/>
              </a:spcBef>
              <a:defRPr/>
            </a:pPr>
            <a:r>
              <a:rPr lang="pt-BR" sz="2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 * B) + (C / D) – ( D + E)</a:t>
            </a:r>
          </a:p>
          <a:p>
            <a:pPr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((A – B) + D / ((E + F) * G))</a:t>
            </a:r>
          </a:p>
          <a:p>
            <a:pPr>
              <a:lnSpc>
                <a:spcPct val="100000"/>
              </a:lnSpc>
              <a:spcBef>
                <a:spcPts val="0"/>
              </a:spcBef>
              <a:defRPr/>
            </a:pPr>
            <a:r>
              <a:rPr lang="pt-BR" sz="2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 A – 2 * (B + C) / D * E) + F</a:t>
            </a:r>
          </a:p>
          <a:p>
            <a:pPr>
              <a:lnSpc>
                <a:spcPct val="100000"/>
              </a:lnSpc>
              <a:spcBef>
                <a:spcPts val="0"/>
              </a:spcBef>
              <a:defRPr/>
            </a:pPr>
            <a:r>
              <a:rPr lang="nn-NO" sz="2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14 / 7 * 3 – 4 + 9 / 2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Times New Roman" panose="02020603050405020304" pitchFamily="18" charset="0"/>
              <a:buNone/>
              <a:defRPr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Ques : Write a program/Algorithm to evaluate a postfix expression 10 + ((7 – 5) + 10)/2.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Times New Roman" panose="02020603050405020304" pitchFamily="18" charset="0"/>
              <a:buNone/>
              <a:defRPr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Ques : Explain the recursion by giving one example.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Times New Roman" panose="02020603050405020304" pitchFamily="18" charset="0"/>
              <a:buNone/>
              <a:defRPr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Ques : Implement push and pop using linked list.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Times New Roman" panose="02020603050405020304" pitchFamily="18" charset="0"/>
              <a:buNone/>
              <a:defRPr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Ques : Explain the problem of towers of Hanoi.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Times New Roman" panose="02020603050405020304" pitchFamily="18" charset="0"/>
              <a:buNone/>
              <a:defRPr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Content Placeholder 2">
            <a:extLst>
              <a:ext uri="{FF2B5EF4-FFF2-40B4-BE49-F238E27FC236}">
                <a16:creationId xmlns:a16="http://schemas.microsoft.com/office/drawing/2014/main" id="{9B2894A7-52BD-058F-C6A2-0B476565AC56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85800" y="1143000"/>
            <a:ext cx="7847013" cy="3392488"/>
          </a:xfrm>
        </p:spPr>
        <p:txBody>
          <a:bodyPr/>
          <a:lstStyle/>
          <a:p>
            <a:pPr marL="0" indent="0">
              <a:buFont typeface="Times New Roman" panose="02020603050405020304" pitchFamily="18" charset="0"/>
              <a:buNone/>
            </a:pPr>
            <a:r>
              <a:rPr lang="en-US" altLang="en-US"/>
              <a:t>X --</a:t>
            </a:r>
            <a:r>
              <a:rPr lang="en-US" altLang="en-US">
                <a:sym typeface="Wingdings" panose="05000000000000000000" pitchFamily="2" charset="2"/>
              </a:rPr>
              <a:t> </a:t>
            </a:r>
            <a:r>
              <a:rPr lang="en-US" altLang="en-US"/>
              <a:t>9 – ((3 * 4) + 8) / 4</a:t>
            </a:r>
          </a:p>
          <a:p>
            <a:pPr marL="0" indent="0">
              <a:buFont typeface="Times New Roman" panose="02020603050405020304" pitchFamily="18" charset="0"/>
              <a:buNone/>
            </a:pPr>
            <a:r>
              <a:rPr lang="en-US" altLang="en-US"/>
              <a:t>9- ( 34 * + 8) /4</a:t>
            </a:r>
          </a:p>
          <a:p>
            <a:pPr marL="0" indent="0">
              <a:buFont typeface="Times New Roman" panose="02020603050405020304" pitchFamily="18" charset="0"/>
              <a:buNone/>
            </a:pPr>
            <a:r>
              <a:rPr lang="en-US" altLang="en-US"/>
              <a:t>9- ( 3 4 * 8 +) /4 </a:t>
            </a:r>
          </a:p>
          <a:p>
            <a:pPr marL="0" indent="0">
              <a:buFont typeface="Times New Roman" panose="02020603050405020304" pitchFamily="18" charset="0"/>
              <a:buNone/>
            </a:pPr>
            <a:r>
              <a:rPr lang="en-US" altLang="en-US"/>
              <a:t>9 – 3 4 * 8 + 4 /</a:t>
            </a:r>
          </a:p>
          <a:p>
            <a:pPr marL="0" indent="0">
              <a:buFont typeface="Times New Roman" panose="02020603050405020304" pitchFamily="18" charset="0"/>
              <a:buNone/>
            </a:pPr>
            <a:r>
              <a:rPr lang="en-US" altLang="en-US" b="0"/>
              <a:t>9  34 * 8+4 / -</a:t>
            </a:r>
            <a:r>
              <a:rPr lang="en-US" altLang="en-US" sz="4000">
                <a:solidFill>
                  <a:srgbClr val="FF0000"/>
                </a:solidFill>
              </a:rPr>
              <a:t>)</a:t>
            </a:r>
            <a:endParaRPr lang="en-US" altLang="en-US">
              <a:solidFill>
                <a:srgbClr val="FF0000"/>
              </a:solidFill>
            </a:endParaRPr>
          </a:p>
        </p:txBody>
      </p:sp>
      <p:sp>
        <p:nvSpPr>
          <p:cNvPr id="27651" name="TextBox 3">
            <a:extLst>
              <a:ext uri="{FF2B5EF4-FFF2-40B4-BE49-F238E27FC236}">
                <a16:creationId xmlns:a16="http://schemas.microsoft.com/office/drawing/2014/main" id="{349D09BC-8B72-6998-8DBF-B60A73A8C0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5013325"/>
            <a:ext cx="935038" cy="461963"/>
          </a:xfrm>
          <a:prstGeom prst="rect">
            <a:avLst/>
          </a:prstGeom>
          <a:noFill/>
          <a:ln w="9525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/>
          <a:p>
            <a:r>
              <a:rPr lang="en-US" altLang="en-US" b="1">
                <a:solidFill>
                  <a:schemeClr val="tx1"/>
                </a:solidFill>
              </a:rPr>
              <a:t>4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74" name="Content Placeholder 5">
            <a:extLst>
              <a:ext uri="{FF2B5EF4-FFF2-40B4-BE49-F238E27FC236}">
                <a16:creationId xmlns:a16="http://schemas.microsoft.com/office/drawing/2014/main" id="{0956A71B-309C-BE29-19DE-48A6A63BA5BE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958850" y="1482725"/>
            <a:ext cx="7310438" cy="4195763"/>
          </a:xfrm>
        </p:spPr>
      </p:pic>
      <p:sp>
        <p:nvSpPr>
          <p:cNvPr id="28675" name="TextBox 1">
            <a:extLst>
              <a:ext uri="{FF2B5EF4-FFF2-40B4-BE49-F238E27FC236}">
                <a16:creationId xmlns:a16="http://schemas.microsoft.com/office/drawing/2014/main" id="{8E1EB508-9B55-F802-0763-557CC43C5C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47813" y="1125538"/>
            <a:ext cx="489585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altLang="en-US">
                <a:solidFill>
                  <a:schemeClr val="tx1"/>
                </a:solidFill>
              </a:rPr>
              <a:t>Parenthesis Checker Algorithm</a:t>
            </a:r>
            <a:endParaRPr lang="en-IN" altLang="en-US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698" name="Content Placeholder 3">
            <a:extLst>
              <a:ext uri="{FF2B5EF4-FFF2-40B4-BE49-F238E27FC236}">
                <a16:creationId xmlns:a16="http://schemas.microsoft.com/office/drawing/2014/main" id="{248BA6D2-7010-F4C1-E596-5C612CB73A55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049338" y="1008063"/>
            <a:ext cx="7270750" cy="4579937"/>
          </a:xfr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22" name="Content Placeholder 3">
            <a:extLst>
              <a:ext uri="{FF2B5EF4-FFF2-40B4-BE49-F238E27FC236}">
                <a16:creationId xmlns:a16="http://schemas.microsoft.com/office/drawing/2014/main" id="{CA8A9C44-3D82-1D44-10B1-C274CE5DCFB9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401763" y="1441450"/>
            <a:ext cx="6686550" cy="4105275"/>
          </a:xfr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 Theme">
      <a:majorFont>
        <a:latin typeface="Arial"/>
        <a:ea typeface="Lucida Sans Unicode"/>
        <a:cs typeface="Lucida Sans Unicode"/>
      </a:majorFont>
      <a:minorFont>
        <a:latin typeface="Arial"/>
        <a:ea typeface="Lucida Sans Unicode"/>
        <a:cs typeface="Lucida Sans Unicode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572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itchFamily="16" charset="0"/>
          <a:buNone/>
          <a:tabLst/>
          <a:defRPr kumimoji="0" lang="en-GB" sz="24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Times New Roman" pitchFamily="16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572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itchFamily="16" charset="0"/>
          <a:buNone/>
          <a:tabLst/>
          <a:defRPr kumimoji="0" lang="en-GB" sz="24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Times New Roman" pitchFamily="16" charset="0"/>
          </a:defRPr>
        </a:defPPr>
      </a:lstStyle>
    </a:lnDef>
  </a:objectDefaults>
  <a:extraClrSchemeLst>
    <a:extraClrScheme>
      <a:clrScheme name="Office Them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6580</TotalTime>
  <Words>2766</Words>
  <Application>Microsoft Office PowerPoint</Application>
  <PresentationFormat>On-screen Show (4:3)</PresentationFormat>
  <Paragraphs>431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6" baseType="lpstr">
      <vt:lpstr>Times New Roman</vt:lpstr>
      <vt:lpstr>Lucida Sans Unicode</vt:lpstr>
      <vt:lpstr>Arial</vt:lpstr>
      <vt:lpstr>宋体</vt:lpstr>
      <vt:lpstr>Tahoma</vt:lpstr>
      <vt:lpstr>Calibri</vt:lpstr>
      <vt:lpstr>Wingdings</vt:lpstr>
      <vt:lpstr>Office Theme</vt:lpstr>
      <vt:lpstr>PowerPoint Presentation</vt:lpstr>
      <vt:lpstr>Stack Overview</vt:lpstr>
      <vt:lpstr>PowerPoint Presentation</vt:lpstr>
      <vt:lpstr>Array Implementation</vt:lpstr>
      <vt:lpstr>PowerPoint Presentation</vt:lpstr>
      <vt:lpstr>PowerPoint Presentation</vt:lpstr>
      <vt:lpstr>LinkedList Implementation of Stack</vt:lpstr>
      <vt:lpstr>PowerPoint Presentation</vt:lpstr>
      <vt:lpstr>PowerPoint Presentation</vt:lpstr>
      <vt:lpstr>PowerPoint Presentation</vt:lpstr>
      <vt:lpstr>Arithmetic Expression: Polish Notation</vt:lpstr>
      <vt:lpstr>PowerPoint Presentation</vt:lpstr>
      <vt:lpstr>PowerPoint Presentation</vt:lpstr>
      <vt:lpstr>Example of Evaluation</vt:lpstr>
      <vt:lpstr>PowerPoint Presentation</vt:lpstr>
      <vt:lpstr>Convert A+(B*C-(D/E|F)*G)*H into Postfix using Algo</vt:lpstr>
      <vt:lpstr>Example of Conversion(Practice Problem)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Questions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CS61C - Lecture 13</dc:title>
  <dc:creator>Sanjay Sood</dc:creator>
  <cp:lastModifiedBy>Thind</cp:lastModifiedBy>
  <cp:revision>780</cp:revision>
  <cp:lastPrinted>2000-07-11T07:24:10Z</cp:lastPrinted>
  <dcterms:created xsi:type="dcterms:W3CDTF">1997-08-19T16:58:46Z</dcterms:created>
  <dcterms:modified xsi:type="dcterms:W3CDTF">2026-03-20T10:01:09Z</dcterms:modified>
</cp:coreProperties>
</file>