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6" r:id="rId30"/>
    <p:sldId id="284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19" autoAdjust="0"/>
  </p:normalViewPr>
  <p:slideViewPr>
    <p:cSldViewPr snapToGrid="0">
      <p:cViewPr varScale="1">
        <p:scale>
          <a:sx n="64" d="100"/>
          <a:sy n="64" d="100"/>
        </p:scale>
        <p:origin x="6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F3E90-AB53-4900-9D3B-5D33038245FF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02E02-6266-401D-A34E-6F6E176A5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77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injection (SQLi) in MySQL is a vulnerability that occurs when user-supplied data is directly concatenated into SQL queries without proper validation or sanitization, allowing attackers to manipulate the database with malicious SQL code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02E02-6266-401D-A34E-6F6E176A5BF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9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02E02-6266-401D-A34E-6F6E176A5BF9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965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4" name="Picture 13" descr="Image result for lovely professional university transparent">
            <a:extLst>
              <a:ext uri="{FF2B5EF4-FFF2-40B4-BE49-F238E27FC236}">
                <a16:creationId xmlns:a16="http://schemas.microsoft.com/office/drawing/2014/main" id="{E442297E-3734-47C6-9586-4D065939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742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2075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488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3131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8057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78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51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5639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8368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35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15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B12CB5F-3422-4555-A1DA-2E48AE68D2C1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A499646-8505-426A-A637-2C1ABBF3807B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Image result for lovely professional university transparent">
            <a:extLst>
              <a:ext uri="{FF2B5EF4-FFF2-40B4-BE49-F238E27FC236}">
                <a16:creationId xmlns:a16="http://schemas.microsoft.com/office/drawing/2014/main" id="{21BE8278-7A7D-4DD7-ACA8-176AE482D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1500"/>
                    </a14:imgEffect>
                    <a14:imgEffect>
                      <a14:saturation sat="3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654"/>
            <a:ext cx="1972856" cy="63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392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yogesh@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705A1D-5E4F-757C-80F5-32F598DCFF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296DC-C01D-5374-CD8E-E43F1DC4D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using </a:t>
            </a:r>
            <a:r>
              <a:rPr lang="en-US" dirty="0" err="1"/>
              <a:t>MYSQLi</a:t>
            </a:r>
            <a:r>
              <a:rPr lang="en-US" dirty="0"/>
              <a:t> with PHP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498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DBFB-5361-FB44-507A-20D91D3B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CA983-D3DA-BB83-1BC9-CFB99DB5CB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MySQL</a:t>
            </a:r>
            <a:r>
              <a:rPr lang="en-US" dirty="0"/>
              <a:t> is a </a:t>
            </a:r>
            <a:r>
              <a:rPr lang="en-US" b="1" dirty="0"/>
              <a:t>Relational Database Management System (RDBMS)</a:t>
            </a:r>
            <a:r>
              <a:rPr lang="en-US" dirty="0"/>
              <a:t> used to store, manage, and retrieve data.</a:t>
            </a:r>
          </a:p>
          <a:p>
            <a:r>
              <a:rPr lang="en-US" b="1" dirty="0"/>
              <a:t>Key Features:</a:t>
            </a:r>
          </a:p>
          <a:p>
            <a:r>
              <a:rPr lang="en-US" dirty="0"/>
              <a:t>Stores data in </a:t>
            </a:r>
            <a:r>
              <a:rPr lang="en-US" b="1" dirty="0"/>
              <a:t>tables (rows &amp; columns)</a:t>
            </a:r>
            <a:r>
              <a:rPr lang="en-US" dirty="0"/>
              <a:t> </a:t>
            </a:r>
          </a:p>
          <a:p>
            <a:r>
              <a:rPr lang="en-US" dirty="0"/>
              <a:t>Uses </a:t>
            </a:r>
            <a:r>
              <a:rPr lang="en-US" b="1" dirty="0"/>
              <a:t>SQL (Structured Query Language)</a:t>
            </a:r>
            <a:r>
              <a:rPr lang="en-US" dirty="0"/>
              <a:t> </a:t>
            </a:r>
          </a:p>
          <a:p>
            <a:r>
              <a:rPr lang="en-US" dirty="0"/>
              <a:t>Open-source and widely used </a:t>
            </a:r>
          </a:p>
          <a:p>
            <a:r>
              <a:rPr lang="en-US" dirty="0"/>
              <a:t>Works well with PHP</a:t>
            </a:r>
          </a:p>
          <a:p>
            <a:pPr marL="0" indent="0">
              <a:buNone/>
            </a:pPr>
            <a:r>
              <a:rPr lang="en-IN" b="1" dirty="0"/>
              <a:t>Example Table:</a:t>
            </a:r>
            <a:endParaRPr lang="en-US" b="1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1DF712-93D9-62E4-8C04-AA08E75F3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113876"/>
              </p:ext>
            </p:extLst>
          </p:nvPr>
        </p:nvGraphicFramePr>
        <p:xfrm>
          <a:off x="1139687" y="5326049"/>
          <a:ext cx="10363200" cy="91440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471183777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1580952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4027147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44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linkClick r:id="rId2"/>
                        </a:rPr>
                        <a:t>test@mail.com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983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25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7FE1-F687-E396-A18B-187184EE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9889-9E45-D095-93CC-6857701DCF2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MySQL (old extension)</a:t>
            </a:r>
            <a:r>
              <a:rPr lang="en-IN" dirty="0"/>
              <a:t> refers to the </a:t>
            </a:r>
            <a:r>
              <a:rPr lang="en-IN" b="1" dirty="0"/>
              <a:t>original PHP extension (mysql_* functions)</a:t>
            </a:r>
            <a:r>
              <a:rPr lang="en-IN" dirty="0"/>
              <a:t> used to interact with MySQL databases.</a:t>
            </a:r>
          </a:p>
          <a:p>
            <a:r>
              <a:rPr lang="en-IN" b="1" dirty="0"/>
              <a:t>Example:</a:t>
            </a:r>
          </a:p>
          <a:p>
            <a:r>
              <a:rPr lang="en-IN" dirty="0"/>
              <a:t>$conn = mysql_connect("localhost", "root", "");</a:t>
            </a:r>
            <a:br>
              <a:rPr lang="en-IN" dirty="0"/>
            </a:br>
            <a:r>
              <a:rPr lang="en-IN" dirty="0"/>
              <a:t>mysql_select_db("testdb");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Important:</a:t>
            </a:r>
            <a:endParaRPr lang="en-IN" dirty="0"/>
          </a:p>
          <a:p>
            <a:r>
              <a:rPr lang="en-IN" dirty="0"/>
              <a:t>Removed in </a:t>
            </a:r>
            <a:r>
              <a:rPr lang="en-IN" b="1" dirty="0"/>
              <a:t>PHP 7</a:t>
            </a:r>
            <a:r>
              <a:rPr lang="en-IN" dirty="0"/>
              <a:t> </a:t>
            </a:r>
          </a:p>
          <a:p>
            <a:r>
              <a:rPr lang="en-IN" dirty="0"/>
              <a:t>Not secure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799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4E8C-9C02-CD55-7AE6-A04CC1F1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MySQLi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79612-66AA-4089-D8D8-5C8F35A123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 err="1"/>
              <a:t>MySQLi</a:t>
            </a:r>
            <a:r>
              <a:rPr lang="en-IN" b="1" dirty="0"/>
              <a:t> (MySQL Improved)</a:t>
            </a:r>
            <a:r>
              <a:rPr lang="en-IN" dirty="0"/>
              <a:t> is the </a:t>
            </a:r>
            <a:r>
              <a:rPr lang="en-IN" b="1" dirty="0"/>
              <a:t>modern PHP extension</a:t>
            </a:r>
            <a:r>
              <a:rPr lang="en-IN" dirty="0"/>
              <a:t> used to interact with MySQL databases.</a:t>
            </a:r>
          </a:p>
          <a:p>
            <a:r>
              <a:rPr lang="en-IN" b="1" dirty="0"/>
              <a:t>Example:</a:t>
            </a:r>
          </a:p>
          <a:p>
            <a:r>
              <a:rPr lang="en-IN" dirty="0"/>
              <a:t>$conn = </a:t>
            </a:r>
            <a:r>
              <a:rPr lang="en-IN" dirty="0" err="1"/>
              <a:t>mysqli_connect</a:t>
            </a:r>
            <a:r>
              <a:rPr lang="en-IN" dirty="0"/>
              <a:t>("localhost", "root", "", "</a:t>
            </a:r>
            <a:r>
              <a:rPr lang="en-IN" dirty="0" err="1"/>
              <a:t>testdb</a:t>
            </a:r>
            <a:r>
              <a:rPr lang="en-IN" dirty="0"/>
              <a:t>");</a:t>
            </a:r>
          </a:p>
          <a:p>
            <a:r>
              <a:rPr lang="en-IN" b="1" dirty="0"/>
              <a:t>Supports:</a:t>
            </a:r>
          </a:p>
          <a:p>
            <a:r>
              <a:rPr lang="en-IN" dirty="0"/>
              <a:t>Object-Oriented Programming (OOP) </a:t>
            </a:r>
          </a:p>
          <a:p>
            <a:r>
              <a:rPr lang="en-IN" dirty="0"/>
              <a:t>Prepared statements </a:t>
            </a:r>
          </a:p>
          <a:p>
            <a:r>
              <a:rPr lang="en-IN" dirty="0"/>
              <a:t>Better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93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50C8-000E-5939-FA2E-08F84FED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B4B9E5-7F4B-6CD7-DD0D-D318F51C8AAC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47133176"/>
              </p:ext>
            </p:extLst>
          </p:nvPr>
        </p:nvGraphicFramePr>
        <p:xfrm>
          <a:off x="516835" y="815009"/>
          <a:ext cx="11065566" cy="5538170"/>
        </p:xfrm>
        <a:graphic>
          <a:graphicData uri="http://schemas.openxmlformats.org/drawingml/2006/table">
            <a:tbl>
              <a:tblPr/>
              <a:tblGrid>
                <a:gridCol w="3688522">
                  <a:extLst>
                    <a:ext uri="{9D8B030D-6E8A-4147-A177-3AD203B41FA5}">
                      <a16:colId xmlns:a16="http://schemas.microsoft.com/office/drawing/2014/main" val="2945260994"/>
                    </a:ext>
                  </a:extLst>
                </a:gridCol>
                <a:gridCol w="3688522">
                  <a:extLst>
                    <a:ext uri="{9D8B030D-6E8A-4147-A177-3AD203B41FA5}">
                      <a16:colId xmlns:a16="http://schemas.microsoft.com/office/drawing/2014/main" val="227528881"/>
                    </a:ext>
                  </a:extLst>
                </a:gridCol>
                <a:gridCol w="3688522">
                  <a:extLst>
                    <a:ext uri="{9D8B030D-6E8A-4147-A177-3AD203B41FA5}">
                      <a16:colId xmlns:a16="http://schemas.microsoft.com/office/drawing/2014/main" val="2739114976"/>
                    </a:ext>
                  </a:extLst>
                </a:gridCol>
              </a:tblGrid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MySQL (Old)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MySQLi</a:t>
                      </a:r>
                      <a:r>
                        <a:rPr lang="en-IN" sz="2400" b="1" dirty="0"/>
                        <a:t> (Improved)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009195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Full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MySQL Extension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MySQL Improved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542809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Deprecated (removed)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Actively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091522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790914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Prepared Statements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Not 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667990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OOP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741405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Multiple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482308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Full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804870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677598"/>
                  </a:ext>
                </a:extLst>
              </a:tr>
              <a:tr h="553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Not maintained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Maintained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750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66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DA64-4815-D56F-2F24-42F9CF3A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9AA0A-F354-3A66-A5E7-52E26666225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MySQL (Unsafe)</a:t>
            </a:r>
          </a:p>
          <a:p>
            <a:r>
              <a:rPr lang="en-IN" dirty="0"/>
              <a:t>$query = "SELECT * FROM users WHERE name = '$name'";</a:t>
            </a:r>
          </a:p>
          <a:p>
            <a:r>
              <a:rPr lang="en-IN" dirty="0"/>
              <a:t> Vulnerable to </a:t>
            </a:r>
            <a:r>
              <a:rPr lang="en-IN" b="1" dirty="0"/>
              <a:t>SQL Injection</a:t>
            </a:r>
            <a:br>
              <a:rPr lang="en-IN" dirty="0"/>
            </a:br>
            <a:endParaRPr lang="en-IN" dirty="0"/>
          </a:p>
          <a:p>
            <a:r>
              <a:rPr lang="en-IN" b="1" dirty="0" err="1"/>
              <a:t>MySQLi</a:t>
            </a:r>
            <a:r>
              <a:rPr lang="en-IN" b="1" dirty="0"/>
              <a:t> (Safe with Prepared Statement)</a:t>
            </a:r>
          </a:p>
          <a:p>
            <a:r>
              <a:rPr lang="en-IN" dirty="0"/>
              <a:t>$</a:t>
            </a:r>
            <a:r>
              <a:rPr lang="en-IN" dirty="0" err="1"/>
              <a:t>stmt</a:t>
            </a:r>
            <a:r>
              <a:rPr lang="en-IN" dirty="0"/>
              <a:t> = $conn-&gt;prepare("SELECT * FROM users WHERE name = ?");</a:t>
            </a:r>
            <a:br>
              <a:rPr lang="en-IN" dirty="0"/>
            </a:br>
            <a:r>
              <a:rPr lang="en-IN" dirty="0"/>
              <a:t>$</a:t>
            </a:r>
            <a:r>
              <a:rPr lang="en-IN" dirty="0" err="1"/>
              <a:t>stmt</a:t>
            </a:r>
            <a:r>
              <a:rPr lang="en-IN" dirty="0"/>
              <a:t>-&gt;</a:t>
            </a:r>
            <a:r>
              <a:rPr lang="en-IN" dirty="0" err="1"/>
              <a:t>bind_param</a:t>
            </a:r>
            <a:r>
              <a:rPr lang="en-IN" dirty="0"/>
              <a:t>("s", $name);</a:t>
            </a:r>
            <a:br>
              <a:rPr lang="en-IN" dirty="0"/>
            </a:br>
            <a:r>
              <a:rPr lang="en-IN" dirty="0"/>
              <a:t>$</a:t>
            </a:r>
            <a:r>
              <a:rPr lang="en-IN" dirty="0" err="1"/>
              <a:t>stmt</a:t>
            </a:r>
            <a:r>
              <a:rPr lang="en-IN" dirty="0"/>
              <a:t>-&gt;execute();</a:t>
            </a:r>
          </a:p>
          <a:p>
            <a:r>
              <a:rPr lang="en-IN" dirty="0"/>
              <a:t>Prevents SQL Injection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4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9FA9-E7D3-A39F-4845-D1C2200C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Programming Style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6331E-56F0-3A09-D621-378666348F2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MySQL → Only Procedural</a:t>
            </a:r>
          </a:p>
          <a:p>
            <a:r>
              <a:rPr lang="en-IN" dirty="0"/>
              <a:t>$conn = mysql_connect("localhost", "root", "");</a:t>
            </a:r>
            <a:br>
              <a:rPr lang="en-IN" dirty="0"/>
            </a:br>
            <a:endParaRPr lang="en-IN" dirty="0"/>
          </a:p>
          <a:p>
            <a:r>
              <a:rPr lang="en-IN" b="1" dirty="0" err="1"/>
              <a:t>MySQLi</a:t>
            </a:r>
            <a:r>
              <a:rPr lang="en-IN" b="1" dirty="0"/>
              <a:t> → Two Styles</a:t>
            </a:r>
          </a:p>
          <a:p>
            <a:pPr marL="0" indent="0">
              <a:buNone/>
            </a:pPr>
            <a:r>
              <a:rPr lang="en-IN" b="1" dirty="0"/>
              <a:t>1. Procedural</a:t>
            </a:r>
          </a:p>
          <a:p>
            <a:r>
              <a:rPr lang="en-IN" dirty="0"/>
              <a:t>$conn = </a:t>
            </a:r>
            <a:r>
              <a:rPr lang="en-IN" dirty="0" err="1"/>
              <a:t>mysqli_connect</a:t>
            </a:r>
            <a:r>
              <a:rPr lang="en-IN" dirty="0"/>
              <a:t>("localhost", "root", "", "testdb");</a:t>
            </a:r>
          </a:p>
          <a:p>
            <a:pPr marL="0" indent="0">
              <a:buNone/>
            </a:pPr>
            <a:r>
              <a:rPr lang="en-IN" b="1" dirty="0"/>
              <a:t>2. Object-Oriented</a:t>
            </a:r>
          </a:p>
          <a:p>
            <a:r>
              <a:rPr lang="en-IN" dirty="0"/>
              <a:t>$conn = new </a:t>
            </a:r>
            <a:r>
              <a:rPr lang="en-IN" dirty="0" err="1"/>
              <a:t>mysqli</a:t>
            </a:r>
            <a:r>
              <a:rPr lang="en-IN" dirty="0"/>
              <a:t>("localhost", "root", "", "testdb");</a:t>
            </a:r>
          </a:p>
        </p:txBody>
      </p:sp>
    </p:spTree>
    <p:extLst>
      <p:ext uri="{BB962C8B-B14F-4D97-AF65-F5344CB8AC3E}">
        <p14:creationId xmlns:p14="http://schemas.microsoft.com/office/powerpoint/2010/main" val="195147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7116-37A1-537D-9E95-DD75926C1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Execution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930AC-7C42-B71E-1B71-0DCA185C30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MySQL</a:t>
            </a:r>
          </a:p>
          <a:p>
            <a:r>
              <a:rPr lang="en-IN" dirty="0"/>
              <a:t>$result = </a:t>
            </a:r>
            <a:r>
              <a:rPr lang="en-IN" dirty="0" err="1"/>
              <a:t>mysql_query</a:t>
            </a:r>
            <a:r>
              <a:rPr lang="en-IN" dirty="0"/>
              <a:t>("SELECT * FROM students");</a:t>
            </a:r>
            <a:br>
              <a:rPr lang="en-IN" dirty="0"/>
            </a:br>
            <a:endParaRPr lang="en-IN" dirty="0"/>
          </a:p>
          <a:p>
            <a:r>
              <a:rPr lang="en-IN" b="1" dirty="0" err="1"/>
              <a:t>MySQLi</a:t>
            </a:r>
            <a:endParaRPr lang="en-IN" b="1" dirty="0"/>
          </a:p>
          <a:p>
            <a:r>
              <a:rPr lang="en-IN" dirty="0"/>
              <a:t>$result = </a:t>
            </a:r>
            <a:r>
              <a:rPr lang="en-IN" dirty="0" err="1"/>
              <a:t>mysqli_query</a:t>
            </a:r>
            <a:r>
              <a:rPr lang="en-IN" dirty="0"/>
              <a:t>($conn, "SELECT * FROM students");</a:t>
            </a:r>
          </a:p>
          <a:p>
            <a:r>
              <a:rPr lang="en-IN" dirty="0"/>
              <a:t>OR (OOP)</a:t>
            </a:r>
          </a:p>
          <a:p>
            <a:r>
              <a:rPr lang="en-IN" dirty="0"/>
              <a:t>$result = $conn-&gt;query("SELECT * FROM students");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1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AA17-EA13-17A4-A68B-75C1E9AF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Fetching Data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4691-3A10-0313-57AA-BEA29B1DDDD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MySQL</a:t>
            </a:r>
          </a:p>
          <a:p>
            <a:r>
              <a:rPr lang="en-US" dirty="0"/>
              <a:t>$row = </a:t>
            </a:r>
            <a:r>
              <a:rPr lang="en-US" dirty="0" err="1"/>
              <a:t>mysql_fetch_assoc</a:t>
            </a:r>
            <a:r>
              <a:rPr lang="en-US" dirty="0"/>
              <a:t>($result);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 err="1"/>
              <a:t>MySQLi</a:t>
            </a:r>
            <a:endParaRPr lang="en-US" b="1" dirty="0"/>
          </a:p>
          <a:p>
            <a:r>
              <a:rPr lang="en-US" dirty="0"/>
              <a:t>$row = </a:t>
            </a:r>
            <a:r>
              <a:rPr lang="en-US" dirty="0" err="1"/>
              <a:t>mysqli_fetch_assoc</a:t>
            </a:r>
            <a:r>
              <a:rPr lang="en-US" dirty="0"/>
              <a:t>($result);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$row = $result-&gt;</a:t>
            </a:r>
            <a:r>
              <a:rPr lang="en-US" dirty="0" err="1"/>
              <a:t>fetch_assoc</a:t>
            </a:r>
            <a:r>
              <a:rPr lang="en-US" dirty="0"/>
              <a:t>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490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CD0E-3343-53F7-970D-69FD8C51B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Performance Difference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DC18D-6D41-ED37-1518-5C552B3D1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/>
              <a:t>MySQLi</a:t>
            </a:r>
            <a:r>
              <a:rPr lang="en-US" b="1" dirty="0"/>
              <a:t> is faster</a:t>
            </a:r>
            <a:r>
              <a:rPr lang="en-US" dirty="0"/>
              <a:t> because: </a:t>
            </a:r>
          </a:p>
          <a:p>
            <a:pPr lvl="1"/>
            <a:r>
              <a:rPr lang="en-US" dirty="0"/>
              <a:t>Optimized for modern MySQL servers </a:t>
            </a:r>
          </a:p>
          <a:p>
            <a:pPr lvl="1"/>
            <a:r>
              <a:rPr lang="en-US" dirty="0"/>
              <a:t>Supports advanced features like prepared statements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0594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879F-2F66-810D-CFFA-904BF0A6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Transactions Support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D787-C83B-80F4-6298-7D993ADEABF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MySQL</a:t>
            </a:r>
          </a:p>
          <a:p>
            <a:r>
              <a:rPr lang="en-IN" dirty="0"/>
              <a:t>Limited or no proper transaction support </a:t>
            </a:r>
          </a:p>
          <a:p>
            <a:endParaRPr lang="en-IN" b="1" dirty="0"/>
          </a:p>
          <a:p>
            <a:r>
              <a:rPr lang="en-IN" b="1" dirty="0" err="1"/>
              <a:t>MySQLi</a:t>
            </a:r>
            <a:endParaRPr lang="en-IN" b="1" dirty="0"/>
          </a:p>
          <a:p>
            <a:r>
              <a:rPr lang="en-IN" dirty="0"/>
              <a:t>$conn-&gt;</a:t>
            </a:r>
            <a:r>
              <a:rPr lang="en-IN" dirty="0" err="1"/>
              <a:t>begin_transaction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$conn-&gt;commit();</a:t>
            </a:r>
            <a:br>
              <a:rPr lang="en-IN" dirty="0"/>
            </a:br>
            <a:r>
              <a:rPr lang="en-IN" dirty="0"/>
              <a:t>$conn-&gt;rollback();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808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1AE2-C55C-8F72-7888-883BE301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46ED-016B-BB9B-4FBE-F5568CB1273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MySQL:</a:t>
            </a:r>
          </a:p>
          <a:p>
            <a:pPr marL="273050" indent="-4763"/>
            <a:r>
              <a:rPr lang="en-US" dirty="0"/>
              <a:t>Old, deprecated </a:t>
            </a:r>
          </a:p>
          <a:p>
            <a:pPr marL="273050" indent="-4763"/>
            <a:r>
              <a:rPr lang="en-US" dirty="0"/>
              <a:t>Unsafe </a:t>
            </a:r>
          </a:p>
          <a:p>
            <a:pPr marL="273050" indent="-4763"/>
            <a:r>
              <a:rPr lang="en-US" dirty="0"/>
              <a:t>No OOP </a:t>
            </a:r>
          </a:p>
          <a:p>
            <a:pPr marL="273050" indent="-4763"/>
            <a:r>
              <a:rPr lang="en-US" dirty="0"/>
              <a:t>No future use </a:t>
            </a:r>
          </a:p>
          <a:p>
            <a:pPr marL="0" indent="0">
              <a:buNone/>
            </a:pPr>
            <a:r>
              <a:rPr lang="en-US" b="1" dirty="0" err="1"/>
              <a:t>MySQLi</a:t>
            </a:r>
            <a:r>
              <a:rPr lang="en-US" b="1" dirty="0"/>
              <a:t>:</a:t>
            </a:r>
          </a:p>
          <a:p>
            <a:pPr marL="273050" indent="-4763"/>
            <a:r>
              <a:rPr lang="en-US" dirty="0"/>
              <a:t>Improved version </a:t>
            </a:r>
          </a:p>
          <a:p>
            <a:pPr marL="273050" indent="-4763"/>
            <a:r>
              <a:rPr lang="en-US" dirty="0"/>
              <a:t>Secure </a:t>
            </a:r>
          </a:p>
          <a:p>
            <a:pPr marL="273050" indent="-4763"/>
            <a:r>
              <a:rPr lang="en-US" dirty="0"/>
              <a:t>Supports OOP </a:t>
            </a:r>
          </a:p>
          <a:p>
            <a:pPr marL="273050" indent="-4763"/>
            <a:r>
              <a:rPr lang="en-US" dirty="0"/>
              <a:t>Industry standard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0426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06CAA-41B3-5B20-2716-E305C432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EC8A1-5B2F-B89E-C6C7-B5688CE5B0F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MySQL is an outdated PHP extension that is no longer supported and lacks modern features like security and OOP.</a:t>
            </a:r>
          </a:p>
          <a:p>
            <a:r>
              <a:rPr lang="en-US" dirty="0"/>
              <a:t> </a:t>
            </a:r>
            <a:r>
              <a:rPr lang="en-US" dirty="0" err="1"/>
              <a:t>MySQLi</a:t>
            </a:r>
            <a:r>
              <a:rPr lang="en-US" dirty="0"/>
              <a:t> (MySQL Improved) is the enhanced version that </a:t>
            </a:r>
          </a:p>
          <a:p>
            <a:pPr lvl="1"/>
            <a:r>
              <a:rPr lang="en-US" dirty="0"/>
              <a:t>provides better performance</a:t>
            </a:r>
          </a:p>
          <a:p>
            <a:pPr lvl="1"/>
            <a:r>
              <a:rPr lang="en-US" dirty="0"/>
              <a:t>security (through prepared statements)</a:t>
            </a:r>
          </a:p>
          <a:p>
            <a:pPr lvl="1"/>
            <a:r>
              <a:rPr lang="en-US" dirty="0"/>
              <a:t>support for object-oriented programming</a:t>
            </a:r>
          </a:p>
          <a:p>
            <a:pPr lvl="1"/>
            <a:r>
              <a:rPr lang="en-US" dirty="0"/>
              <a:t>advanced database operations. </a:t>
            </a:r>
          </a:p>
          <a:p>
            <a:r>
              <a:rPr lang="en-US" dirty="0"/>
              <a:t>Therefore, </a:t>
            </a:r>
            <a:r>
              <a:rPr lang="en-US" dirty="0" err="1"/>
              <a:t>MySQLi</a:t>
            </a:r>
            <a:r>
              <a:rPr lang="en-US" dirty="0"/>
              <a:t> is recommended for all modern PHP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44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87289-D952-0025-9462-6249D213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Database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89B1-F531-4536-8720-494B24FCD4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Database operations (CRUD) include:</a:t>
            </a:r>
          </a:p>
          <a:p>
            <a:r>
              <a:rPr lang="en-IN" b="1" dirty="0"/>
              <a:t>C → Create</a:t>
            </a:r>
            <a:r>
              <a:rPr lang="en-IN" dirty="0"/>
              <a:t> (Insert data) </a:t>
            </a:r>
          </a:p>
          <a:p>
            <a:r>
              <a:rPr lang="en-IN" b="1" dirty="0"/>
              <a:t>R → Read</a:t>
            </a:r>
            <a:r>
              <a:rPr lang="en-IN" dirty="0"/>
              <a:t> (Fetch data) </a:t>
            </a:r>
          </a:p>
          <a:p>
            <a:r>
              <a:rPr lang="en-IN" b="1" dirty="0"/>
              <a:t>U → Update</a:t>
            </a:r>
            <a:r>
              <a:rPr lang="en-IN" dirty="0"/>
              <a:t> (Modify data) </a:t>
            </a:r>
          </a:p>
          <a:p>
            <a:r>
              <a:rPr lang="en-IN" b="1" dirty="0"/>
              <a:t>D → Delete</a:t>
            </a:r>
            <a:r>
              <a:rPr lang="en-IN" dirty="0"/>
              <a:t> (Remove data) </a:t>
            </a:r>
          </a:p>
          <a:p>
            <a:r>
              <a:rPr lang="en-IN" dirty="0" err="1"/>
              <a:t>MySQLi</a:t>
            </a:r>
            <a:r>
              <a:rPr lang="en-IN" dirty="0"/>
              <a:t> helps us perform all these operations in PHP.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537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6B51-37AD-637E-0B5A-188CFD8A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Connect to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DF3ED-98F4-9791-E124-F754EF75AC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$conn = new </a:t>
            </a:r>
            <a:r>
              <a:rPr lang="en-US" dirty="0" err="1"/>
              <a:t>mysqli</a:t>
            </a:r>
            <a:r>
              <a:rPr lang="en-US" dirty="0"/>
              <a:t>("localhost", "root", "", "college");</a:t>
            </a:r>
            <a:br>
              <a:rPr lang="en-US" dirty="0"/>
            </a:br>
            <a:r>
              <a:rPr lang="en-US" dirty="0"/>
              <a:t>if ($conn-&gt;</a:t>
            </a:r>
            <a:r>
              <a:rPr lang="en-US" dirty="0" err="1"/>
              <a:t>connect_error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    die("Connection failed: " . $conn-&gt;</a:t>
            </a:r>
            <a:r>
              <a:rPr lang="en-US" dirty="0" err="1"/>
              <a:t>connect_error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IN" b="1" dirty="0"/>
              <a:t>Explanation:</a:t>
            </a:r>
          </a:p>
          <a:p>
            <a:r>
              <a:rPr lang="en-IN" dirty="0"/>
              <a:t>"localhost" → server name </a:t>
            </a:r>
          </a:p>
          <a:p>
            <a:r>
              <a:rPr lang="en-IN" dirty="0"/>
              <a:t>"root" → username </a:t>
            </a:r>
          </a:p>
          <a:p>
            <a:r>
              <a:rPr lang="en-IN" dirty="0"/>
              <a:t>"" → password </a:t>
            </a:r>
          </a:p>
          <a:p>
            <a:r>
              <a:rPr lang="en-IN" dirty="0"/>
              <a:t>"college" → database name </a:t>
            </a:r>
          </a:p>
          <a:p>
            <a:r>
              <a:rPr lang="en-IN" dirty="0" err="1"/>
              <a:t>connect_error</a:t>
            </a:r>
            <a:r>
              <a:rPr lang="en-IN" dirty="0"/>
              <a:t> checks connection failure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587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92DE-E1F1-130C-04AB-72252A32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2: Create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5F39-FACD-4F02-D5FD-74B60A8B4DC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$</a:t>
            </a:r>
            <a:r>
              <a:rPr lang="en-US" dirty="0" err="1"/>
              <a:t>sql</a:t>
            </a:r>
            <a:r>
              <a:rPr lang="en-US" dirty="0"/>
              <a:t> = "CREATE TABLE students (</a:t>
            </a:r>
            <a:br>
              <a:rPr lang="en-US" dirty="0"/>
            </a:br>
            <a:r>
              <a:rPr lang="en-US" dirty="0"/>
              <a:t>    id INT AUTO_INCREMENT PRIMARY KEY,</a:t>
            </a:r>
            <a:br>
              <a:rPr lang="en-US" dirty="0"/>
            </a:br>
            <a:r>
              <a:rPr lang="en-US" dirty="0"/>
              <a:t>    name VARCHAR(50),</a:t>
            </a:r>
            <a:br>
              <a:rPr lang="en-US" dirty="0"/>
            </a:br>
            <a:r>
              <a:rPr lang="en-US" dirty="0"/>
              <a:t>    email VARCHAR(50),</a:t>
            </a:r>
            <a:br>
              <a:rPr lang="en-US" dirty="0"/>
            </a:br>
            <a:r>
              <a:rPr lang="en-US" dirty="0"/>
              <a:t>    age INT</a:t>
            </a:r>
            <a:br>
              <a:rPr lang="en-US" dirty="0"/>
            </a:br>
            <a:r>
              <a:rPr lang="en-US" dirty="0"/>
              <a:t>)";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B24FE-A405-DC5D-0CEC-CC7E200E3394}"/>
              </a:ext>
            </a:extLst>
          </p:cNvPr>
          <p:cNvSpPr txBox="1"/>
          <p:nvPr/>
        </p:nvSpPr>
        <p:spPr>
          <a:xfrm>
            <a:off x="5695123" y="2828835"/>
            <a:ext cx="58872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AUTO_INCREMENT → automatically increases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→ unique identifier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VARCHAR → string datatype</a:t>
            </a:r>
          </a:p>
        </p:txBody>
      </p:sp>
    </p:spTree>
    <p:extLst>
      <p:ext uri="{BB962C8B-B14F-4D97-AF65-F5344CB8AC3E}">
        <p14:creationId xmlns:p14="http://schemas.microsoft.com/office/powerpoint/2010/main" val="468665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FE1DA-984E-4869-1ADB-B1A90887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CREATE Operation (Insert Data)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2AB38-1EFB-87B5-76D7-ADDC0D4E06D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Simple Insert</a:t>
            </a:r>
          </a:p>
          <a:p>
            <a:r>
              <a:rPr lang="en-US" dirty="0"/>
              <a:t>$</a:t>
            </a:r>
            <a:r>
              <a:rPr lang="en-US" dirty="0" err="1"/>
              <a:t>sql</a:t>
            </a:r>
            <a:r>
              <a:rPr lang="en-US" dirty="0"/>
              <a:t> = "INSERT INTO students (name, email, age)</a:t>
            </a:r>
            <a:br>
              <a:rPr lang="en-US" dirty="0"/>
            </a:br>
            <a:r>
              <a:rPr lang="en-US" dirty="0"/>
              <a:t>        VALUES (test’, test@gmail.com', 21)";</a:t>
            </a:r>
            <a:br>
              <a:rPr lang="en-US" dirty="0"/>
            </a:br>
            <a:r>
              <a:rPr lang="en-US" dirty="0"/>
              <a:t>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endParaRPr lang="en-IN" dirty="0"/>
          </a:p>
          <a:p>
            <a:r>
              <a:rPr lang="en-US" b="1" dirty="0"/>
              <a:t>Explanation:</a:t>
            </a:r>
          </a:p>
          <a:p>
            <a:r>
              <a:rPr lang="en-US" dirty="0"/>
              <a:t>Adds a new record into the table </a:t>
            </a:r>
          </a:p>
          <a:p>
            <a:r>
              <a:rPr lang="en-US" dirty="0"/>
              <a:t>query() executes SQL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168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B5F0-820E-6310-2FFC-9224DF07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Secure Insert (Prepared Statement)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29003-99A5-0A81-B6FD-5BFAA5CDD10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5996609" cy="4572000"/>
          </a:xfrm>
        </p:spPr>
        <p:txBody>
          <a:bodyPr/>
          <a:lstStyle/>
          <a:p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 = $conn-&gt;prepare("INSERT INTO students (name, email, age) VALUES (?, ?, ?)");</a:t>
            </a: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bind_param</a:t>
            </a:r>
            <a:r>
              <a:rPr lang="en-US" dirty="0"/>
              <a:t>("</a:t>
            </a:r>
            <a:r>
              <a:rPr lang="en-US" dirty="0" err="1"/>
              <a:t>ssi</a:t>
            </a:r>
            <a:r>
              <a:rPr lang="en-US" dirty="0"/>
              <a:t>", $name, $email, $age);</a:t>
            </a:r>
            <a:br>
              <a:rPr lang="en-US" dirty="0"/>
            </a:br>
            <a:r>
              <a:rPr lang="en-US" dirty="0"/>
              <a:t>$name = "Rahul";</a:t>
            </a:r>
            <a:br>
              <a:rPr lang="en-US" dirty="0"/>
            </a:br>
            <a:r>
              <a:rPr lang="en-US" dirty="0"/>
              <a:t>$email = "rahul@gmail.com";</a:t>
            </a:r>
            <a:br>
              <a:rPr lang="en-US" dirty="0"/>
            </a:br>
            <a:r>
              <a:rPr lang="en-US" dirty="0"/>
              <a:t>$age = 22;</a:t>
            </a: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-&gt;execute();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10181-1883-F410-3E77-B0F0780A8E00}"/>
              </a:ext>
            </a:extLst>
          </p:cNvPr>
          <p:cNvSpPr txBox="1"/>
          <p:nvPr/>
        </p:nvSpPr>
        <p:spPr>
          <a:xfrm>
            <a:off x="7215809" y="1447800"/>
            <a:ext cx="393838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/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? → placeholder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 err="1"/>
              <a:t>bind_param</a:t>
            </a:r>
            <a:r>
              <a:rPr lang="en-IN" sz="2600" dirty="0"/>
              <a:t>() binds values safely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"</a:t>
            </a:r>
            <a:r>
              <a:rPr lang="en-IN" sz="2600" dirty="0" err="1"/>
              <a:t>ssi</a:t>
            </a:r>
            <a:r>
              <a:rPr lang="en-IN" sz="2600" dirty="0"/>
              <a:t>" → data types (string, string, integer)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Prevents SQL Injection</a:t>
            </a:r>
          </a:p>
        </p:txBody>
      </p:sp>
    </p:spTree>
    <p:extLst>
      <p:ext uri="{BB962C8B-B14F-4D97-AF65-F5344CB8AC3E}">
        <p14:creationId xmlns:p14="http://schemas.microsoft.com/office/powerpoint/2010/main" val="2524182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E3CD-2857-D2C0-2017-7CAE4A0E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READ Operation (Fetch Data)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7D808-A531-F5CC-9C17-36A8B9F9CC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$</a:t>
            </a:r>
            <a:r>
              <a:rPr lang="en-IN" dirty="0" err="1"/>
              <a:t>sql</a:t>
            </a:r>
            <a:r>
              <a:rPr lang="en-IN" dirty="0"/>
              <a:t> = "SELECT * FROM students";</a:t>
            </a:r>
            <a:br>
              <a:rPr lang="en-IN" dirty="0"/>
            </a:br>
            <a:r>
              <a:rPr lang="en-IN" dirty="0"/>
              <a:t>$result = $conn-&gt;query($</a:t>
            </a:r>
            <a:r>
              <a:rPr lang="en-IN" dirty="0" err="1"/>
              <a:t>sql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while ($row = $result-&gt;</a:t>
            </a:r>
            <a:r>
              <a:rPr lang="en-IN" dirty="0" err="1"/>
              <a:t>fetch_assoc</a:t>
            </a:r>
            <a:r>
              <a:rPr lang="en-IN" dirty="0"/>
              <a:t>()) {</a:t>
            </a:r>
            <a:br>
              <a:rPr lang="en-IN" dirty="0"/>
            </a:br>
            <a:r>
              <a:rPr lang="en-IN" dirty="0"/>
              <a:t>    echo $row['name'] . " - " . $row['email'] . "&lt;</a:t>
            </a:r>
            <a:r>
              <a:rPr lang="en-IN" dirty="0" err="1"/>
              <a:t>br</a:t>
            </a:r>
            <a:r>
              <a:rPr lang="en-IN" dirty="0"/>
              <a:t>&gt;";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b="1" dirty="0"/>
              <a:t>Explanation:</a:t>
            </a:r>
          </a:p>
          <a:p>
            <a:r>
              <a:rPr lang="en-IN" dirty="0"/>
              <a:t>SELECT * → fetch all records </a:t>
            </a:r>
          </a:p>
          <a:p>
            <a:r>
              <a:rPr lang="en-IN" dirty="0" err="1"/>
              <a:t>fetch_assoc</a:t>
            </a:r>
            <a:r>
              <a:rPr lang="en-IN" dirty="0"/>
              <a:t>() → returns row as associative array </a:t>
            </a:r>
          </a:p>
          <a:p>
            <a:r>
              <a:rPr lang="en-IN" dirty="0"/>
              <a:t>Loop displays all rows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873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DC00-AA93-23AE-FAA6-9BF1376B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Read Secure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1821-04A9-BCF7-5866-5BC0A04BB0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 = $conn-&gt;prepare("SELECT * FROM students WHERE name=?");</a:t>
            </a: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bind_param</a:t>
            </a:r>
            <a:r>
              <a:rPr lang="en-US" dirty="0"/>
              <a:t>("s", $name);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$name = “test";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-&gt;execute();</a:t>
            </a:r>
            <a:br>
              <a:rPr lang="en-US" dirty="0"/>
            </a:br>
            <a:r>
              <a:rPr lang="en-US" dirty="0"/>
              <a:t>$result = $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get_result</a:t>
            </a:r>
            <a:r>
              <a:rPr lang="en-US" dirty="0"/>
              <a:t>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782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5AFB-C301-BF10-6B57-8FA43D1B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70626-74E5-6F07-0575-CA89D03252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UPDATE Operation</a:t>
            </a:r>
          </a:p>
          <a:p>
            <a:r>
              <a:rPr lang="en-US" dirty="0"/>
              <a:t>$</a:t>
            </a:r>
            <a:r>
              <a:rPr lang="en-US" dirty="0" err="1"/>
              <a:t>sql</a:t>
            </a:r>
            <a:r>
              <a:rPr lang="en-US" dirty="0"/>
              <a:t> = "UPDATE students SET age=25 WHERE id=1";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endParaRPr lang="en-US" b="1" dirty="0"/>
          </a:p>
          <a:p>
            <a:r>
              <a:rPr lang="en-US" b="1" dirty="0"/>
              <a:t>Explanation:</a:t>
            </a:r>
          </a:p>
          <a:p>
            <a:r>
              <a:rPr lang="en-US" dirty="0"/>
              <a:t>Updates existing data </a:t>
            </a:r>
          </a:p>
          <a:p>
            <a:r>
              <a:rPr lang="en-US" dirty="0"/>
              <a:t>WHERE is important (otherwise all rows update)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92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A07C-CE61-3CA9-5243-CD755878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CE1A2-7543-1549-E12F-236B6BDA03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Secure Update</a:t>
            </a:r>
          </a:p>
          <a:p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 = $conn-&gt;prepare("UPDATE students SET age=? WHERE id=?");</a:t>
            </a: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bind_param</a:t>
            </a:r>
            <a:r>
              <a:rPr lang="en-US" dirty="0"/>
              <a:t>("ii", $age, $id);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$age = 30;</a:t>
            </a:r>
            <a:br>
              <a:rPr lang="en-US" dirty="0"/>
            </a:br>
            <a:r>
              <a:rPr lang="en-US" dirty="0"/>
              <a:t>$id = 1;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-&gt;execute();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510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EA163-3CF0-DF28-4CB8-D2B16576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590FE-AE5B-CB47-8EDF-DE8C842CAC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DELETE Operation</a:t>
            </a:r>
          </a:p>
          <a:p>
            <a:r>
              <a:rPr lang="en-US" dirty="0"/>
              <a:t>$</a:t>
            </a:r>
            <a:r>
              <a:rPr lang="en-US" dirty="0" err="1"/>
              <a:t>sql</a:t>
            </a:r>
            <a:r>
              <a:rPr lang="en-US" dirty="0"/>
              <a:t> = "DELETE FROM students WHERE id=1";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endParaRPr lang="en-US" b="1" dirty="0"/>
          </a:p>
          <a:p>
            <a:r>
              <a:rPr lang="en-US" b="1" dirty="0"/>
              <a:t>Explanation:</a:t>
            </a:r>
          </a:p>
          <a:p>
            <a:r>
              <a:rPr lang="en-US" dirty="0"/>
              <a:t>Deletes specific record </a:t>
            </a:r>
          </a:p>
          <a:p>
            <a:r>
              <a:rPr lang="en-US" dirty="0"/>
              <a:t>Always use WHERE condition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3770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BF6D-C937-06B4-0E54-24C9D32B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F9021-D320-7710-46FE-3015C75FBB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Secure Delete</a:t>
            </a:r>
          </a:p>
          <a:p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 = $conn-&gt;prepare("DELETE FROM students WHERE id=?");</a:t>
            </a: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bind_param</a:t>
            </a:r>
            <a:r>
              <a:rPr lang="en-US" dirty="0"/>
              <a:t>("</a:t>
            </a:r>
            <a:r>
              <a:rPr lang="en-US" dirty="0" err="1"/>
              <a:t>i</a:t>
            </a:r>
            <a:r>
              <a:rPr lang="en-US" dirty="0"/>
              <a:t>", $id);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$id = 1;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-&gt;execute();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82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D741-963E-B399-C012-E2ADCC5C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2E0B2-98C7-A9FF-E33F-272A54815D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Close Connection</a:t>
            </a:r>
          </a:p>
          <a:p>
            <a:r>
              <a:rPr lang="en-IN" dirty="0"/>
              <a:t>$conn-&gt;close();</a:t>
            </a:r>
          </a:p>
          <a:p>
            <a:endParaRPr lang="en-IN" dirty="0"/>
          </a:p>
          <a:p>
            <a:r>
              <a:rPr lang="en-US" dirty="0"/>
              <a:t>PHP automatically closes connection when script ends</a:t>
            </a:r>
          </a:p>
          <a:p>
            <a:r>
              <a:rPr lang="en-US" dirty="0"/>
              <a:t>But manually closing is recommended in real projects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078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9075-A5C7-B0C0-55F6-AA8306AF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818" y="135490"/>
            <a:ext cx="10363200" cy="1143000"/>
          </a:xfrm>
        </p:spPr>
        <p:txBody>
          <a:bodyPr/>
          <a:lstStyle/>
          <a:p>
            <a:r>
              <a:rPr lang="en-IN" dirty="0" err="1"/>
              <a:t>MySQLi</a:t>
            </a:r>
            <a:r>
              <a:rPr lang="en-IN" dirty="0"/>
              <a:t> Functions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AD147D-967F-C151-DA6F-E160BA2E9FBC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923699983"/>
              </p:ext>
            </p:extLst>
          </p:nvPr>
        </p:nvGraphicFramePr>
        <p:xfrm>
          <a:off x="705678" y="1192696"/>
          <a:ext cx="10876722" cy="5210469"/>
        </p:xfrm>
        <a:graphic>
          <a:graphicData uri="http://schemas.openxmlformats.org/drawingml/2006/table">
            <a:tbl>
              <a:tblPr/>
              <a:tblGrid>
                <a:gridCol w="5438361">
                  <a:extLst>
                    <a:ext uri="{9D8B030D-6E8A-4147-A177-3AD203B41FA5}">
                      <a16:colId xmlns:a16="http://schemas.microsoft.com/office/drawing/2014/main" val="3241655589"/>
                    </a:ext>
                  </a:extLst>
                </a:gridCol>
                <a:gridCol w="5438361">
                  <a:extLst>
                    <a:ext uri="{9D8B030D-6E8A-4147-A177-3AD203B41FA5}">
                      <a16:colId xmlns:a16="http://schemas.microsoft.com/office/drawing/2014/main" val="3728310896"/>
                    </a:ext>
                  </a:extLst>
                </a:gridCol>
              </a:tblGrid>
              <a:tr h="62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288833"/>
                  </a:ext>
                </a:extLst>
              </a:tr>
              <a:tr h="799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mysqli_connect()</a:t>
                      </a:r>
                      <a:r>
                        <a:rPr lang="en-IN" sz="2400"/>
                        <a:t> / </a:t>
                      </a:r>
                      <a:r>
                        <a:rPr lang="en-IN" sz="2400">
                          <a:latin typeface="Courier New" panose="02070309020205020404" pitchFamily="49" charset="0"/>
                        </a:rPr>
                        <a:t>new mysqli()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Connect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904741"/>
                  </a:ext>
                </a:extLst>
              </a:tr>
              <a:tr h="62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ourier New" panose="02070309020205020404" pitchFamily="49" charset="0"/>
                        </a:rPr>
                        <a:t>query()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Execute 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021485"/>
                  </a:ext>
                </a:extLst>
              </a:tr>
              <a:tr h="62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ourier New" panose="02070309020205020404" pitchFamily="49" charset="0"/>
                        </a:rPr>
                        <a:t>prepare()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Prepare query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860252"/>
                  </a:ext>
                </a:extLst>
              </a:tr>
              <a:tr h="62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bind_param()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Bind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803285"/>
                  </a:ext>
                </a:extLst>
              </a:tr>
              <a:tr h="62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execute()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 query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977508"/>
                  </a:ext>
                </a:extLst>
              </a:tr>
              <a:tr h="62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fetch_assoc()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Fetch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217065"/>
                  </a:ext>
                </a:extLst>
              </a:tr>
              <a:tr h="62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ourier New" panose="02070309020205020404" pitchFamily="49" charset="0"/>
                        </a:rPr>
                        <a:t>close()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Close connection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249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642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A52A-38FA-D8E7-E788-23AA01A0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MySQLi</a:t>
            </a:r>
            <a:r>
              <a:rPr lang="en-US" dirty="0"/>
              <a:t> in PHP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A2272-5AB0-BA42-E814-FE2C1C6511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we can perform CRUD operations such as </a:t>
            </a:r>
          </a:p>
          <a:p>
            <a:pPr lvl="1"/>
            <a:r>
              <a:rPr lang="en-US" dirty="0"/>
              <a:t>inserting</a:t>
            </a:r>
          </a:p>
          <a:p>
            <a:pPr lvl="1"/>
            <a:r>
              <a:rPr lang="en-US" dirty="0"/>
              <a:t>retrieving</a:t>
            </a:r>
          </a:p>
          <a:p>
            <a:pPr lvl="1"/>
            <a:r>
              <a:rPr lang="en-US" dirty="0"/>
              <a:t>updating</a:t>
            </a:r>
          </a:p>
          <a:p>
            <a:pPr lvl="1"/>
            <a:r>
              <a:rPr lang="en-US" dirty="0"/>
              <a:t>deleting data from a MySQL database. </a:t>
            </a:r>
          </a:p>
          <a:p>
            <a:r>
              <a:rPr lang="en-US" dirty="0" err="1"/>
              <a:t>MySQLi</a:t>
            </a:r>
            <a:r>
              <a:rPr lang="en-US" dirty="0"/>
              <a:t> provides both </a:t>
            </a:r>
          </a:p>
          <a:p>
            <a:pPr lvl="1"/>
            <a:r>
              <a:rPr lang="en-US" dirty="0"/>
              <a:t>procedural </a:t>
            </a:r>
          </a:p>
          <a:p>
            <a:pPr lvl="1"/>
            <a:r>
              <a:rPr lang="en-US" dirty="0"/>
              <a:t>object-oriented approaches</a:t>
            </a:r>
          </a:p>
          <a:p>
            <a:pPr lvl="1"/>
            <a:r>
              <a:rPr lang="en-US" dirty="0"/>
              <a:t>supports prepared statements for secure and efficient database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039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29D3-F2B8-C438-417F-05C119DF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AA6E7-D1D7-DD11-2EC8-53E1341F52D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Database navigation</a:t>
            </a:r>
            <a:r>
              <a:rPr lang="en-US" dirty="0"/>
              <a:t> means:</a:t>
            </a:r>
          </a:p>
          <a:p>
            <a:r>
              <a:rPr lang="en-US" dirty="0"/>
              <a:t>Moving through records (rows) </a:t>
            </a:r>
          </a:p>
          <a:p>
            <a:r>
              <a:rPr lang="en-US" dirty="0"/>
              <a:t>Displaying records in structured format </a:t>
            </a:r>
          </a:p>
          <a:p>
            <a:r>
              <a:rPr lang="en-US" dirty="0"/>
              <a:t>Accessing data row-by-row </a:t>
            </a:r>
          </a:p>
          <a:p>
            <a:r>
              <a:rPr lang="en-US" dirty="0"/>
              <a:t>In PHP, we use </a:t>
            </a:r>
            <a:r>
              <a:rPr lang="en-US" b="1" dirty="0" err="1"/>
              <a:t>MySQLi</a:t>
            </a:r>
            <a:r>
              <a:rPr lang="en-US" b="1" dirty="0"/>
              <a:t> result sets</a:t>
            </a:r>
            <a:r>
              <a:rPr lang="en-US" dirty="0"/>
              <a:t> to navigate through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072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9C9B-F540-E111-E95C-6A6E38A4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Navigate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BBED-9880-413A-7B62-65EE0C8A1A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fetch_assoc</a:t>
            </a:r>
            <a:r>
              <a:rPr lang="en-US" b="1" dirty="0"/>
              <a:t>() (Most Common)</a:t>
            </a:r>
          </a:p>
          <a:p>
            <a:r>
              <a:rPr lang="en-US" dirty="0"/>
              <a:t>while ($row = $result-&gt;</a:t>
            </a:r>
            <a:r>
              <a:rPr lang="en-US" dirty="0" err="1"/>
              <a:t>fetch_assoc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    echo $row['name'];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b="1" dirty="0"/>
          </a:p>
          <a:p>
            <a:r>
              <a:rPr lang="en-US" b="1" dirty="0"/>
              <a:t>Explanation:</a:t>
            </a:r>
          </a:p>
          <a:p>
            <a:r>
              <a:rPr lang="en-US" dirty="0"/>
              <a:t>Fetches one row at a time </a:t>
            </a:r>
          </a:p>
          <a:p>
            <a:r>
              <a:rPr lang="en-US" dirty="0"/>
              <a:t>Moves pointer to next row automatically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295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9767-E424-16E5-149D-48CE7313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Grid 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DA986-352D-A3AB-46B2-D25E3416C1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grid</a:t>
            </a:r>
            <a:r>
              <a:rPr lang="en-US" dirty="0"/>
              <a:t> means displaying database records in a </a:t>
            </a:r>
            <a:r>
              <a:rPr lang="en-US" b="1" dirty="0"/>
              <a:t>tabular format (HTML table)</a:t>
            </a:r>
            <a:r>
              <a:rPr lang="en-US" dirty="0"/>
              <a:t>.</a:t>
            </a:r>
          </a:p>
          <a:p>
            <a:r>
              <a:rPr lang="en-IN" dirty="0"/>
              <a:t>Example: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8D7819-8D44-6B6C-0B53-15168C6FD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083294"/>
              </p:ext>
            </p:extLst>
          </p:nvPr>
        </p:nvGraphicFramePr>
        <p:xfrm>
          <a:off x="1219200" y="2643808"/>
          <a:ext cx="10363200" cy="183874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129429062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58669148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18036623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614730510"/>
                    </a:ext>
                  </a:extLst>
                </a:gridCol>
              </a:tblGrid>
              <a:tr h="91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315485"/>
                  </a:ext>
                </a:extLst>
              </a:tr>
              <a:tr h="919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test@gmail.com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897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073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B488-BE00-44ED-45BA-71579742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Data in Grid (HTML Table)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7C069-3F16-51D9-65DE-3530E43BBD0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513556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echo "&lt;table border='1'&gt;</a:t>
            </a:r>
            <a:br>
              <a:rPr lang="en-US" sz="2400" dirty="0"/>
            </a:br>
            <a:r>
              <a:rPr lang="en-US" sz="2400" dirty="0"/>
              <a:t>&lt;tr&gt;</a:t>
            </a:r>
            <a:br>
              <a:rPr lang="en-US" sz="2400" dirty="0"/>
            </a:br>
            <a:r>
              <a:rPr lang="en-US" sz="2400" dirty="0"/>
              <a:t>&lt;</a:t>
            </a:r>
            <a:r>
              <a:rPr lang="en-US" sz="2400" dirty="0" err="1"/>
              <a:t>th</a:t>
            </a:r>
            <a:r>
              <a:rPr lang="en-US" sz="2400" dirty="0"/>
              <a:t>&gt;ID&lt;/</a:t>
            </a:r>
            <a:r>
              <a:rPr lang="en-US" sz="2400" dirty="0" err="1"/>
              <a:t>th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&lt;</a:t>
            </a:r>
            <a:r>
              <a:rPr lang="en-US" sz="2400" dirty="0" err="1"/>
              <a:t>th</a:t>
            </a:r>
            <a:r>
              <a:rPr lang="en-US" sz="2400" dirty="0"/>
              <a:t>&gt;Name&lt;/</a:t>
            </a:r>
            <a:r>
              <a:rPr lang="en-US" sz="2400" dirty="0" err="1"/>
              <a:t>th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&lt;</a:t>
            </a:r>
            <a:r>
              <a:rPr lang="en-US" sz="2400" dirty="0" err="1"/>
              <a:t>th</a:t>
            </a:r>
            <a:r>
              <a:rPr lang="en-US" sz="2400" dirty="0"/>
              <a:t>&gt;Email&lt;/</a:t>
            </a:r>
            <a:r>
              <a:rPr lang="en-US" sz="2400" dirty="0" err="1"/>
              <a:t>th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&lt;/tr&gt;";</a:t>
            </a:r>
            <a:br>
              <a:rPr lang="en-US" sz="2400" dirty="0"/>
            </a:br>
            <a:r>
              <a:rPr lang="en-US" sz="2400" dirty="0"/>
              <a:t>foreach ($rows as $row) {</a:t>
            </a:r>
            <a:br>
              <a:rPr lang="en-US" sz="2400" dirty="0"/>
            </a:br>
            <a:r>
              <a:rPr lang="en-US" sz="2400" dirty="0"/>
              <a:t>echo "&lt;tr&gt;</a:t>
            </a:r>
            <a:br>
              <a:rPr lang="en-US" sz="2400" dirty="0"/>
            </a:br>
            <a:r>
              <a:rPr lang="en-US" sz="2400" dirty="0"/>
              <a:t>&lt;td&gt;".$row['id']."&lt;/td&gt;</a:t>
            </a:r>
            <a:br>
              <a:rPr lang="en-US" sz="2400" dirty="0"/>
            </a:br>
            <a:r>
              <a:rPr lang="en-US" sz="2400" dirty="0"/>
              <a:t>&lt;td&gt;".$row['name']."&lt;/td&gt;</a:t>
            </a:r>
            <a:br>
              <a:rPr lang="en-US" sz="2400" dirty="0"/>
            </a:br>
            <a:r>
              <a:rPr lang="en-US" sz="2400" dirty="0"/>
              <a:t>&lt;td&gt;".$row['email']."&lt;/td&gt;</a:t>
            </a:r>
            <a:br>
              <a:rPr lang="en-US" sz="2400" dirty="0"/>
            </a:br>
            <a:r>
              <a:rPr lang="en-US" sz="2400" dirty="0"/>
              <a:t>&lt;/tr&gt;";</a:t>
            </a:r>
            <a:br>
              <a:rPr lang="en-US" sz="2400" dirty="0"/>
            </a:br>
            <a:r>
              <a:rPr lang="en-US" sz="2400" dirty="0"/>
              <a:t>}</a:t>
            </a:r>
            <a:br>
              <a:rPr lang="en-US" sz="2400" dirty="0"/>
            </a:br>
            <a:r>
              <a:rPr lang="en-US" sz="2400" dirty="0"/>
              <a:t>echo "&lt;/table&gt;";</a:t>
            </a:r>
            <a:br>
              <a:rPr lang="en-US" sz="2400" dirty="0"/>
            </a:br>
            <a:r>
              <a:rPr lang="en-US" sz="2400" dirty="0"/>
              <a:t>?&gt;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74802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0B46E-076C-1AE4-996F-9CC8148A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7CD27-EC3E-BF9A-77BC-CA90B37DFD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What is </a:t>
            </a:r>
            <a:r>
              <a:rPr lang="en-US" b="1" dirty="0" err="1"/>
              <a:t>MySQLi</a:t>
            </a:r>
            <a:r>
              <a:rPr lang="en-US" b="1" dirty="0"/>
              <a:t>?</a:t>
            </a:r>
            <a:br>
              <a:rPr lang="en-US" dirty="0"/>
            </a:br>
            <a:r>
              <a:rPr lang="en-US" dirty="0" err="1"/>
              <a:t>MySQLi</a:t>
            </a:r>
            <a:r>
              <a:rPr lang="en-US" dirty="0"/>
              <a:t> (MySQL Improved) is a PHP extension used to connect and interact with MySQL databases. It supports both procedural and object-oriented programming and provides advanced features like prepared statements for better security.</a:t>
            </a:r>
          </a:p>
          <a:p>
            <a:r>
              <a:rPr lang="en-US" b="1" dirty="0"/>
              <a:t>Difference between MySQL and </a:t>
            </a:r>
            <a:r>
              <a:rPr lang="en-US" b="1" dirty="0" err="1"/>
              <a:t>MySQLi</a:t>
            </a: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F5F69F-6D39-6C3C-D74B-AEC24422A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694153"/>
              </p:ext>
            </p:extLst>
          </p:nvPr>
        </p:nvGraphicFramePr>
        <p:xfrm>
          <a:off x="1378226" y="3942522"/>
          <a:ext cx="10363200" cy="228600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3047280893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1258005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MySQLi</a:t>
                      </a:r>
                      <a:endParaRPr lang="en-IN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79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Deprecated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67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 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Supports 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212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Less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More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8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 prepared statements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Supports prepared statements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88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308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BD31-00A5-DC6C-ABF9-7F0C0A37B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4530F-8942-9712-382A-22F27076DA6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What is a database?</a:t>
            </a:r>
            <a:br>
              <a:rPr lang="en-US" dirty="0"/>
            </a:br>
            <a:r>
              <a:rPr lang="en-US" dirty="0"/>
              <a:t>A database is an organized collection of data stored in tables, which can be easily accessed, managed, and updated.</a:t>
            </a:r>
          </a:p>
          <a:p>
            <a:pPr marL="0" indent="0">
              <a:buNone/>
            </a:pPr>
            <a:r>
              <a:rPr lang="en-IN" b="1" dirty="0"/>
              <a:t>What is CRUD operation?</a:t>
            </a:r>
            <a:br>
              <a:rPr lang="en-IN" dirty="0"/>
            </a:br>
            <a:r>
              <a:rPr lang="en-IN" dirty="0"/>
              <a:t>CRUD stands for:</a:t>
            </a:r>
          </a:p>
          <a:p>
            <a:r>
              <a:rPr lang="en-IN" b="1" dirty="0"/>
              <a:t>C</a:t>
            </a:r>
            <a:r>
              <a:rPr lang="en-IN" dirty="0"/>
              <a:t> → Create (Insert data) </a:t>
            </a:r>
          </a:p>
          <a:p>
            <a:r>
              <a:rPr lang="en-IN" b="1" dirty="0"/>
              <a:t>R</a:t>
            </a:r>
            <a:r>
              <a:rPr lang="en-IN" dirty="0"/>
              <a:t> → Read (Fetch data) </a:t>
            </a:r>
          </a:p>
          <a:p>
            <a:r>
              <a:rPr lang="en-IN" b="1" dirty="0"/>
              <a:t>U</a:t>
            </a:r>
            <a:r>
              <a:rPr lang="en-IN" dirty="0"/>
              <a:t> → Update (Modify data) </a:t>
            </a:r>
          </a:p>
          <a:p>
            <a:r>
              <a:rPr lang="en-IN" b="1" dirty="0"/>
              <a:t>D</a:t>
            </a:r>
            <a:r>
              <a:rPr lang="en-IN" dirty="0"/>
              <a:t> → Delete (Remove data)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815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806D-C79C-09EB-9AD1-ECE68CF0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BF981-06A6-3BC2-83EE-A644CAB3D52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Write code to connect MySQL database using </a:t>
            </a:r>
            <a:r>
              <a:rPr lang="en-IN" b="1" dirty="0" err="1"/>
              <a:t>MySQLi</a:t>
            </a:r>
            <a:endParaRPr lang="en-IN" b="1" dirty="0"/>
          </a:p>
          <a:p>
            <a:r>
              <a:rPr lang="en-IN" dirty="0"/>
              <a:t>$conn = new </a:t>
            </a:r>
            <a:r>
              <a:rPr lang="en-IN" dirty="0" err="1"/>
              <a:t>mysqli</a:t>
            </a:r>
            <a:r>
              <a:rPr lang="en-IN" dirty="0"/>
              <a:t>("localhost", "root", "", "college");</a:t>
            </a:r>
            <a:br>
              <a:rPr lang="en-IN" dirty="0"/>
            </a:br>
            <a:r>
              <a:rPr lang="en-IN" dirty="0"/>
              <a:t>if ($conn-&gt;</a:t>
            </a:r>
            <a:r>
              <a:rPr lang="en-IN" dirty="0" err="1"/>
              <a:t>connect_error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die("Connection failed");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US" b="1" dirty="0"/>
              <a:t>What is query() function?</a:t>
            </a:r>
            <a:br>
              <a:rPr lang="en-US" dirty="0"/>
            </a:br>
            <a:r>
              <a:rPr lang="en-US" dirty="0"/>
              <a:t>query() is used to execute SQL statements like INSERT, SELECT, UPDATE, DELETE in </a:t>
            </a:r>
            <a:r>
              <a:rPr lang="en-US" dirty="0" err="1"/>
              <a:t>MySQLi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What is prepared statement?</a:t>
            </a:r>
          </a:p>
          <a:p>
            <a:r>
              <a:rPr lang="en-US" dirty="0"/>
              <a:t>A prepared statement is a secure way to execute SQL queries using placeholders (?) to prevent SQL injection.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437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548A-92D8-870B-754E-C8B19B1D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4313-B400-AB27-D379-42CAAAC26E9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of prepared statement</a:t>
            </a:r>
          </a:p>
          <a:p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 = $conn-&gt;prepare("INSERT INTO students(</a:t>
            </a:r>
            <a:r>
              <a:rPr lang="en-US" dirty="0" err="1"/>
              <a:t>name,email</a:t>
            </a:r>
            <a:r>
              <a:rPr lang="en-US" dirty="0"/>
              <a:t>) VALUES (?,?)");</a:t>
            </a: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bind_param</a:t>
            </a:r>
            <a:r>
              <a:rPr lang="en-US" dirty="0"/>
              <a:t>("ss", $name, $email);</a:t>
            </a:r>
            <a:br>
              <a:rPr lang="en-US" dirty="0"/>
            </a:b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-&gt;execute();</a:t>
            </a:r>
          </a:p>
          <a:p>
            <a:r>
              <a:rPr lang="en-US" b="1" dirty="0"/>
              <a:t>What is </a:t>
            </a:r>
            <a:r>
              <a:rPr lang="en-US" b="1" dirty="0" err="1"/>
              <a:t>fetch_assoc</a:t>
            </a:r>
            <a:r>
              <a:rPr lang="en-US" b="1" dirty="0"/>
              <a:t>()?</a:t>
            </a:r>
            <a:br>
              <a:rPr lang="en-US" dirty="0"/>
            </a:br>
            <a:r>
              <a:rPr lang="en-US" dirty="0" err="1"/>
              <a:t>fetch_assoc</a:t>
            </a:r>
            <a:r>
              <a:rPr lang="en-US" dirty="0"/>
              <a:t>() fetches a row from result set as an associative array where column names are used as keys.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What is result set?</a:t>
            </a:r>
          </a:p>
          <a:p>
            <a:r>
              <a:rPr lang="en-US" dirty="0"/>
              <a:t>A result set is a collection of rows returned by a SELECT query.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189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B543-D8A2-9DE1-6FC2-EEA8A641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9F99-4DD4-E139-CBE8-490DEBB611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Write code to display data</a:t>
            </a:r>
          </a:p>
          <a:p>
            <a:r>
              <a:rPr lang="en-US" dirty="0"/>
              <a:t>$result = $conn-&gt;query("SELECT * FROM students");</a:t>
            </a:r>
            <a:br>
              <a:rPr lang="en-US" dirty="0"/>
            </a:br>
            <a:r>
              <a:rPr lang="en-US" dirty="0"/>
              <a:t>while($row = $result-&gt;</a:t>
            </a:r>
            <a:r>
              <a:rPr lang="en-US" dirty="0" err="1"/>
              <a:t>fetch_assoc</a:t>
            </a:r>
            <a:r>
              <a:rPr lang="en-US" dirty="0"/>
              <a:t>()){</a:t>
            </a:r>
            <a:br>
              <a:rPr lang="en-US" dirty="0"/>
            </a:br>
            <a:r>
              <a:rPr lang="en-US" dirty="0"/>
              <a:t>    echo $row['name'];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What is </a:t>
            </a:r>
            <a:r>
              <a:rPr lang="en-US" b="1" dirty="0" err="1"/>
              <a:t>num_rows</a:t>
            </a:r>
            <a:r>
              <a:rPr lang="en-US" b="1" dirty="0"/>
              <a:t>?</a:t>
            </a:r>
          </a:p>
          <a:p>
            <a:r>
              <a:rPr lang="en-US" dirty="0" err="1"/>
              <a:t>num_rows</a:t>
            </a:r>
            <a:r>
              <a:rPr lang="en-US" dirty="0"/>
              <a:t> returns the number of rows in a result set.</a:t>
            </a:r>
          </a:p>
          <a:p>
            <a:r>
              <a:rPr lang="en-US" dirty="0"/>
              <a:t>echo $result-&gt;</a:t>
            </a:r>
            <a:r>
              <a:rPr lang="en-US" dirty="0" err="1"/>
              <a:t>num_rows</a:t>
            </a:r>
            <a:r>
              <a:rPr lang="en-US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1659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F8B3-2735-96B0-499E-56847EEC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500A5-94C0-1090-E7FB-149A0D4BCCA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What is database navigation?</a:t>
            </a:r>
            <a:br>
              <a:rPr lang="en-US" dirty="0"/>
            </a:br>
            <a:r>
              <a:rPr lang="en-US" dirty="0"/>
              <a:t>Database navigation means accessing and moving through records using functions like </a:t>
            </a:r>
            <a:r>
              <a:rPr lang="en-US" dirty="0" err="1"/>
              <a:t>fetch_assoc</a:t>
            </a:r>
            <a:r>
              <a:rPr lang="en-US" dirty="0"/>
              <a:t>().</a:t>
            </a:r>
          </a:p>
          <a:p>
            <a:r>
              <a:rPr lang="en-US" b="1" dirty="0"/>
              <a:t>What is grid display?</a:t>
            </a:r>
          </a:p>
          <a:p>
            <a:r>
              <a:rPr lang="en-US" dirty="0"/>
              <a:t>Grid display means showing database records in tabular format using HTML table.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51270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9B81-99E8-D9C2-1B4E-C0984748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AFF5A-75AE-1AC9-2341-90783ED2AA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Difference between </a:t>
            </a:r>
            <a:r>
              <a:rPr lang="en-US" b="1" dirty="0" err="1"/>
              <a:t>fetch_assoc</a:t>
            </a:r>
            <a:r>
              <a:rPr lang="en-US" b="1" dirty="0"/>
              <a:t>() and </a:t>
            </a:r>
            <a:r>
              <a:rPr lang="en-US" b="1" dirty="0" err="1"/>
              <a:t>fetch_row</a:t>
            </a:r>
            <a:r>
              <a:rPr lang="en-US" b="1" dirty="0"/>
              <a:t>() in </a:t>
            </a:r>
            <a:r>
              <a:rPr lang="en-US" b="1" dirty="0" err="1"/>
              <a:t>MySQLi</a:t>
            </a:r>
            <a:endParaRPr lang="en-US" b="1" dirty="0"/>
          </a:p>
          <a:p>
            <a:r>
              <a:rPr lang="en-US" b="1" dirty="0" err="1"/>
              <a:t>fetch_assoc</a:t>
            </a:r>
            <a:r>
              <a:rPr lang="en-US" b="1" dirty="0"/>
              <a:t>()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 err="1"/>
              <a:t>fetch_assoc</a:t>
            </a:r>
            <a:r>
              <a:rPr lang="en-US" dirty="0"/>
              <a:t>() fetches a row from the result set as an </a:t>
            </a:r>
            <a:r>
              <a:rPr lang="en-US" b="1" dirty="0"/>
              <a:t>associative array</a:t>
            </a:r>
            <a:r>
              <a:rPr lang="en-US" dirty="0"/>
              <a:t>.</a:t>
            </a:r>
          </a:p>
          <a:p>
            <a:r>
              <a:rPr lang="en-US" dirty="0"/>
              <a:t>Means: You access data using </a:t>
            </a:r>
            <a:r>
              <a:rPr lang="en-US" b="1" dirty="0"/>
              <a:t>column names</a:t>
            </a:r>
            <a:endParaRPr lang="en-US" dirty="0"/>
          </a:p>
          <a:p>
            <a:r>
              <a:rPr lang="en-US" dirty="0"/>
              <a:t>$row = $result-&gt;</a:t>
            </a:r>
            <a:r>
              <a:rPr lang="en-US" dirty="0" err="1"/>
              <a:t>fetch_assoc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echo $row['name'];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70740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3287-CD26-BE35-369B-B5F33AFA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35DE6-5D19-451D-AE4A-322709FD4EC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/>
              <a:t>fetch_row</a:t>
            </a:r>
            <a:r>
              <a:rPr lang="en-US" b="1" dirty="0"/>
              <a:t>()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 err="1"/>
              <a:t>fetch_row</a:t>
            </a:r>
            <a:r>
              <a:rPr lang="en-US" dirty="0"/>
              <a:t>() fetches a row as a </a:t>
            </a:r>
            <a:r>
              <a:rPr lang="en-US" b="1" dirty="0"/>
              <a:t>numeric array</a:t>
            </a:r>
            <a:r>
              <a:rPr lang="en-US" dirty="0"/>
              <a:t>.</a:t>
            </a:r>
          </a:p>
          <a:p>
            <a:r>
              <a:rPr lang="en-US" dirty="0"/>
              <a:t>Means: You access data using </a:t>
            </a:r>
            <a:r>
              <a:rPr lang="en-US" b="1" dirty="0"/>
              <a:t>index numbers (0, 1, 2...)</a:t>
            </a:r>
            <a:endParaRPr lang="en-US" dirty="0"/>
          </a:p>
          <a:p>
            <a:r>
              <a:rPr lang="en-US" b="1" dirty="0"/>
              <a:t>Example:</a:t>
            </a:r>
          </a:p>
          <a:p>
            <a:r>
              <a:rPr lang="en-US" dirty="0"/>
              <a:t>$row = $result-&gt;</a:t>
            </a:r>
            <a:r>
              <a:rPr lang="en-US" dirty="0" err="1"/>
              <a:t>fetch_row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echo $row[1]; // name column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76476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_LPU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_LPU" id="{BB28679B-D966-4CFA-8E30-8E5ED8F581FF}" vid="{CA0C32D0-A588-4E4D-8E93-996DA3C803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Theme1_LPU</Template>
  <TotalTime>1046</TotalTime>
  <Words>2137</Words>
  <Application>Microsoft Office PowerPoint</Application>
  <PresentationFormat>Widescreen</PresentationFormat>
  <Paragraphs>284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Courier New</vt:lpstr>
      <vt:lpstr>Franklin Gothic Book</vt:lpstr>
      <vt:lpstr>Perpetua</vt:lpstr>
      <vt:lpstr>Times New Roman</vt:lpstr>
      <vt:lpstr>Wingdings 2</vt:lpstr>
      <vt:lpstr>Theme1_LPU</vt:lpstr>
      <vt:lpstr>Database using MYSQLi with PHP </vt:lpstr>
      <vt:lpstr>PowerPoint Presentation</vt:lpstr>
      <vt:lpstr>What is MySQL</vt:lpstr>
      <vt:lpstr>What is MySQLi</vt:lpstr>
      <vt:lpstr>PowerPoint Presentation</vt:lpstr>
      <vt:lpstr>Security Difference</vt:lpstr>
      <vt:lpstr>Programming Style Difference</vt:lpstr>
      <vt:lpstr>Query Execution Difference</vt:lpstr>
      <vt:lpstr>Fetching Data Difference</vt:lpstr>
      <vt:lpstr>Performance Difference</vt:lpstr>
      <vt:lpstr>Transactions Support</vt:lpstr>
      <vt:lpstr>Key Difference</vt:lpstr>
      <vt:lpstr>PowerPoint Presentation</vt:lpstr>
      <vt:lpstr>What are Database Operations</vt:lpstr>
      <vt:lpstr>Step 1: Connect to Database</vt:lpstr>
      <vt:lpstr>Step 2: Create Table</vt:lpstr>
      <vt:lpstr>CREATE Operation (Insert Data)</vt:lpstr>
      <vt:lpstr>Secure Insert (Prepared Statement)</vt:lpstr>
      <vt:lpstr>READ Operation (Fetch Data)</vt:lpstr>
      <vt:lpstr>Read Secure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MySQLi Functions</vt:lpstr>
      <vt:lpstr>Using MySQLi in PHP</vt:lpstr>
      <vt:lpstr>Database Navigation</vt:lpstr>
      <vt:lpstr>Navigate Records</vt:lpstr>
      <vt:lpstr>Grid Display</vt:lpstr>
      <vt:lpstr>Display Data in Grid (HTML Table)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choudhary</dc:creator>
  <cp:lastModifiedBy>Yogesh choudhary</cp:lastModifiedBy>
  <cp:revision>15</cp:revision>
  <dcterms:created xsi:type="dcterms:W3CDTF">2026-03-25T04:50:06Z</dcterms:created>
  <dcterms:modified xsi:type="dcterms:W3CDTF">2026-04-02T08:29:00Z</dcterms:modified>
</cp:coreProperties>
</file>