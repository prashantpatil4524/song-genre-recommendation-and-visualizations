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62" r:id="rId19"/>
    <p:sldId id="282" r:id="rId20"/>
    <p:sldId id="283" r:id="rId21"/>
    <p:sldId id="284" r:id="rId22"/>
    <p:sldId id="285" r:id="rId23"/>
    <p:sldId id="261" r:id="rId24"/>
    <p:sldId id="267" r:id="rId25"/>
    <p:sldId id="286" r:id="rId26"/>
    <p:sldId id="287" r:id="rId27"/>
    <p:sldId id="28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529C2-BAC7-4569-9EBC-A1E0962684B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33039-C511-40D1-ACED-EFCA49D37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56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33039-C511-40D1-ACED-EFCA49D3767B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422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4" name="Picture 13" descr="Image result for lovely professional university transparent">
            <a:extLst>
              <a:ext uri="{FF2B5EF4-FFF2-40B4-BE49-F238E27FC236}">
                <a16:creationId xmlns:a16="http://schemas.microsoft.com/office/drawing/2014/main" id="{E442297E-3734-47C6-9586-4D0659394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3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654"/>
            <a:ext cx="1972856" cy="6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705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7290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841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25910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1621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90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759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25357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8753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351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66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E016E3-A2CD-476F-AF8D-49DF755D090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6B23A9F-DDBF-407B-B11B-4C1599BEBBF2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 descr="Image result for lovely professional university transparent">
            <a:extLst>
              <a:ext uri="{FF2B5EF4-FFF2-40B4-BE49-F238E27FC236}">
                <a16:creationId xmlns:a16="http://schemas.microsoft.com/office/drawing/2014/main" id="{21BE8278-7A7D-4DD7-ACA8-176AE482D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11500"/>
                    </a14:imgEffect>
                    <a14:imgEffect>
                      <a14:saturation sat="3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654"/>
            <a:ext cx="1972856" cy="6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76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CB8D02-07FA-56CB-9AE4-B52707BD9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D3C12-FFE4-E5A3-C1DE-BBA39D73D8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Html Forms with PHP</a:t>
            </a:r>
          </a:p>
        </p:txBody>
      </p:sp>
    </p:spTree>
    <p:extLst>
      <p:ext uri="{BB962C8B-B14F-4D97-AF65-F5344CB8AC3E}">
        <p14:creationId xmlns:p14="http://schemas.microsoft.com/office/powerpoint/2010/main" val="92601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5C36-1F8D-60B8-DCB3-CA7896A1F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CA4D7-D663-0637-12C7-6C6B3F800FE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HTML form</a:t>
            </a:r>
            <a:r>
              <a:rPr lang="en-US" dirty="0"/>
              <a:t> is used to collect data from users (like name, email, password, etc.) and send it to a server-side script (like PHP) for processing.</a:t>
            </a:r>
          </a:p>
          <a:p>
            <a:r>
              <a:rPr lang="en-US" dirty="0"/>
              <a:t>PHP is a </a:t>
            </a:r>
            <a:r>
              <a:rPr lang="en-US" b="1" dirty="0"/>
              <a:t>server-side scripting language</a:t>
            </a:r>
            <a:r>
              <a:rPr lang="en-US" dirty="0"/>
              <a:t>, so it receives the form data, processes it, and sends a response back to the browser.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48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1BC45-2F75-7810-2E85-89A6BE85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Structure of an HTML 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016B-8B97-A609-5AB7-7F0820BEF10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&lt;form action="</a:t>
            </a:r>
            <a:r>
              <a:rPr lang="en-US" dirty="0" err="1"/>
              <a:t>process.php</a:t>
            </a:r>
            <a:r>
              <a:rPr lang="en-US" dirty="0"/>
              <a:t>" method="POST"&gt;</a:t>
            </a:r>
            <a:br>
              <a:rPr lang="en-US" dirty="0"/>
            </a:br>
            <a:r>
              <a:rPr lang="en-US" dirty="0"/>
              <a:t>    &lt;!-- Form controls --&gt;</a:t>
            </a:r>
            <a:br>
              <a:rPr lang="en-US" dirty="0"/>
            </a:br>
            <a:r>
              <a:rPr lang="en-US" dirty="0"/>
              <a:t>&lt;/form&gt;</a:t>
            </a:r>
          </a:p>
          <a:p>
            <a:r>
              <a:rPr lang="en-US" b="1" dirty="0"/>
              <a:t>Key Attributes:</a:t>
            </a:r>
          </a:p>
          <a:p>
            <a:r>
              <a:rPr lang="en-US" b="1" dirty="0"/>
              <a:t>action</a:t>
            </a:r>
            <a:r>
              <a:rPr lang="en-US" dirty="0"/>
              <a:t> → Specifies the PHP file that will process the data </a:t>
            </a:r>
          </a:p>
          <a:p>
            <a:r>
              <a:rPr lang="en-US" b="1" dirty="0"/>
              <a:t>method</a:t>
            </a:r>
            <a:r>
              <a:rPr lang="en-US" dirty="0"/>
              <a:t> → Defines how data is sent </a:t>
            </a:r>
          </a:p>
          <a:p>
            <a:pPr lvl="1"/>
            <a:r>
              <a:rPr lang="en-US" dirty="0"/>
              <a:t>GET </a:t>
            </a:r>
          </a:p>
          <a:p>
            <a:pPr lvl="1"/>
            <a:r>
              <a:rPr lang="en-US" dirty="0"/>
              <a:t>POST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932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54A25-63E7-BA59-DC9E-348B558E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HTML Form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4F654-5872-5D46-2453-BA07D07C1C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HTML form controls</a:t>
            </a:r>
            <a:r>
              <a:rPr lang="en-US" dirty="0"/>
              <a:t> are elements used inside a &lt;form&gt; to </a:t>
            </a:r>
            <a:r>
              <a:rPr lang="en-US" b="1" dirty="0"/>
              <a:t>collect input from users</a:t>
            </a:r>
            <a:r>
              <a:rPr lang="en-US" dirty="0"/>
              <a:t>.</a:t>
            </a:r>
          </a:p>
          <a:p>
            <a:r>
              <a:rPr lang="en-US" dirty="0"/>
              <a:t>They allow users to:</a:t>
            </a:r>
          </a:p>
          <a:p>
            <a:r>
              <a:rPr lang="en-US" dirty="0"/>
              <a:t>Enter text </a:t>
            </a:r>
          </a:p>
          <a:p>
            <a:r>
              <a:rPr lang="en-US" dirty="0"/>
              <a:t>Select options </a:t>
            </a:r>
          </a:p>
          <a:p>
            <a:r>
              <a:rPr lang="en-US" dirty="0"/>
              <a:t>Upload files </a:t>
            </a:r>
          </a:p>
          <a:p>
            <a:r>
              <a:rPr lang="en-US" dirty="0"/>
              <a:t>Submit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883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F225C-3344-67C2-6913-7EF1BECE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BFA70-DE9E-D1F5-DA19-B8A91010309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Text Input Control</a:t>
            </a:r>
          </a:p>
          <a:p>
            <a:r>
              <a:rPr lang="en-US" dirty="0"/>
              <a:t>Used to take </a:t>
            </a:r>
            <a:r>
              <a:rPr lang="en-US" b="1" dirty="0"/>
              <a:t>single-line text input</a:t>
            </a:r>
            <a:endParaRPr lang="en-US" dirty="0"/>
          </a:p>
          <a:p>
            <a:r>
              <a:rPr lang="en-US" dirty="0"/>
              <a:t>&lt;input type="text" name="username"&gt;</a:t>
            </a:r>
          </a:p>
          <a:p>
            <a:r>
              <a:rPr lang="en-US" dirty="0"/>
              <a:t>Used for: Name, Username, City</a:t>
            </a:r>
            <a:br>
              <a:rPr lang="en-US" dirty="0"/>
            </a:br>
            <a:r>
              <a:rPr lang="en-US" dirty="0"/>
              <a:t>Attributes:</a:t>
            </a:r>
          </a:p>
          <a:p>
            <a:r>
              <a:rPr lang="en-US" dirty="0"/>
              <a:t>name → used in PHP to get value </a:t>
            </a:r>
          </a:p>
          <a:p>
            <a:r>
              <a:rPr lang="en-US" dirty="0"/>
              <a:t>placeholder → hint text </a:t>
            </a:r>
          </a:p>
          <a:p>
            <a:r>
              <a:rPr lang="en-US" dirty="0" err="1"/>
              <a:t>maxlength</a:t>
            </a:r>
            <a:r>
              <a:rPr lang="en-US" dirty="0"/>
              <a:t> → limit characters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736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1E88-1289-584B-05BD-7E87AFF0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B0B96-C30D-9D1E-E35B-04FB08A324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Password Field</a:t>
            </a:r>
          </a:p>
          <a:p>
            <a:r>
              <a:rPr lang="en-US" dirty="0"/>
              <a:t>Used to hide input characters</a:t>
            </a:r>
          </a:p>
          <a:p>
            <a:r>
              <a:rPr lang="en-US" dirty="0"/>
              <a:t>&lt;input type="password" name="password"&gt;</a:t>
            </a:r>
          </a:p>
          <a:p>
            <a:pPr marL="361950" indent="0">
              <a:buNone/>
            </a:pPr>
            <a:r>
              <a:rPr lang="en-US" dirty="0"/>
              <a:t>Characters appear as dots (••••)</a:t>
            </a:r>
            <a:br>
              <a:rPr lang="en-US" dirty="0"/>
            </a:br>
            <a:r>
              <a:rPr lang="en-US" dirty="0"/>
              <a:t>Used for login forms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41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E8D8A-C44F-4F79-1B35-1FA018B1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C53D6-CBDD-0FB0-1E3E-D14A42F38F7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Radio Buttons</a:t>
            </a:r>
          </a:p>
          <a:p>
            <a:r>
              <a:rPr lang="en-US" dirty="0"/>
              <a:t>Used when </a:t>
            </a:r>
            <a:r>
              <a:rPr lang="en-US" b="1" dirty="0"/>
              <a:t>only one option can be selected</a:t>
            </a:r>
            <a:endParaRPr lang="en-US" dirty="0"/>
          </a:p>
          <a:p>
            <a:r>
              <a:rPr lang="en-US" dirty="0"/>
              <a:t>&lt;input type="radio" name="gender" value="Male"&gt; Male</a:t>
            </a:r>
            <a:br>
              <a:rPr lang="en-US" dirty="0"/>
            </a:br>
            <a:r>
              <a:rPr lang="en-US" dirty="0"/>
              <a:t>&lt;input type="radio" name="gender" value="Female"&gt; Female</a:t>
            </a:r>
          </a:p>
          <a:p>
            <a:pPr marL="266700" indent="0">
              <a:buNone/>
            </a:pPr>
            <a:r>
              <a:rPr lang="en-US" dirty="0"/>
              <a:t>Same name → only one selected</a:t>
            </a:r>
            <a:br>
              <a:rPr lang="en-US" dirty="0"/>
            </a:br>
            <a:r>
              <a:rPr lang="en-US" dirty="0"/>
              <a:t>Different value → identifies selection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116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3273-C952-506D-1D45-55A3F619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3CE6B-A7D7-9717-36F5-4DD1AE0DABA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Checkboxes</a:t>
            </a:r>
          </a:p>
          <a:p>
            <a:r>
              <a:rPr lang="en-US" dirty="0"/>
              <a:t>Used when </a:t>
            </a:r>
            <a:r>
              <a:rPr lang="en-US" b="1" dirty="0"/>
              <a:t>multiple selections are allowed</a:t>
            </a:r>
            <a:endParaRPr lang="en-US" dirty="0"/>
          </a:p>
          <a:p>
            <a:r>
              <a:rPr lang="en-US" dirty="0"/>
              <a:t>&lt;input type="checkbox" name="hobbies[]" value="Reading"&gt; Reading</a:t>
            </a:r>
            <a:br>
              <a:rPr lang="en-US" dirty="0"/>
            </a:br>
            <a:r>
              <a:rPr lang="en-US" dirty="0"/>
              <a:t>&lt;input type="checkbox" name="hobbies[]" value="Sports"&gt; Sports</a:t>
            </a:r>
          </a:p>
          <a:p>
            <a:pPr marL="266700" indent="0">
              <a:buNone/>
            </a:pPr>
            <a:r>
              <a:rPr lang="en-US" dirty="0"/>
              <a:t>Use [] to send multiple values</a:t>
            </a:r>
            <a:br>
              <a:rPr lang="en-US" dirty="0"/>
            </a:br>
            <a:r>
              <a:rPr lang="en-US" dirty="0"/>
              <a:t>Returns array in PHP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214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09FD2-6F9C-5C73-4E5D-DBE2BD6A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9AF53-FC4F-DD12-B9F9-058FFC82E0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Dropdown List (Select Box)</a:t>
            </a:r>
          </a:p>
          <a:p>
            <a:r>
              <a:rPr lang="en-IN" dirty="0"/>
              <a:t>Used to choose from a list</a:t>
            </a:r>
          </a:p>
          <a:p>
            <a:r>
              <a:rPr lang="en-IN" dirty="0"/>
              <a:t>&lt;select name="course"&gt;</a:t>
            </a:r>
            <a:br>
              <a:rPr lang="en-IN" dirty="0"/>
            </a:br>
            <a:r>
              <a:rPr lang="en-IN" dirty="0"/>
              <a:t>    &lt;option value="BCA"&gt;BCA&lt;/option&gt;</a:t>
            </a:r>
            <a:br>
              <a:rPr lang="en-IN" dirty="0"/>
            </a:br>
            <a:r>
              <a:rPr lang="en-IN" dirty="0"/>
              <a:t>    &lt;option value="MCA"&gt;MCA&lt;/option&gt;</a:t>
            </a:r>
            <a:br>
              <a:rPr lang="en-IN" dirty="0"/>
            </a:br>
            <a:r>
              <a:rPr lang="en-IN" dirty="0"/>
              <a:t>&lt;/select&gt;</a:t>
            </a:r>
          </a:p>
          <a:p>
            <a:pPr marL="266700" indent="0">
              <a:buNone/>
            </a:pPr>
            <a:r>
              <a:rPr lang="en-IN" dirty="0"/>
              <a:t>Saves space</a:t>
            </a:r>
            <a:br>
              <a:rPr lang="en-IN" dirty="0"/>
            </a:br>
            <a:r>
              <a:rPr lang="en-IN" dirty="0"/>
              <a:t>Only one option selected by default</a:t>
            </a:r>
          </a:p>
          <a:p>
            <a:r>
              <a:rPr lang="en-IN" dirty="0"/>
              <a:t>Multiple select:</a:t>
            </a:r>
          </a:p>
          <a:p>
            <a:r>
              <a:rPr lang="en-IN" dirty="0"/>
              <a:t>&lt;select name="course[]" multiple&gt;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03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4E231-7C7D-6948-936E-6377ED95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AF461-A2F8-F5F7-ECE7-3BB9A82021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51355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Textarea</a:t>
            </a:r>
            <a:r>
              <a:rPr lang="en-US" b="1" dirty="0"/>
              <a:t> (Multiline Input)</a:t>
            </a:r>
          </a:p>
          <a:p>
            <a:r>
              <a:rPr lang="en-US" dirty="0"/>
              <a:t>Used for long text input</a:t>
            </a:r>
          </a:p>
          <a:p>
            <a:r>
              <a:rPr lang="en-US" dirty="0"/>
              <a:t>&lt;</a:t>
            </a:r>
            <a:r>
              <a:rPr lang="en-US" dirty="0" err="1"/>
              <a:t>textarea</a:t>
            </a:r>
            <a:r>
              <a:rPr lang="en-US" dirty="0"/>
              <a:t> name="message"&gt;&lt;/</a:t>
            </a:r>
            <a:r>
              <a:rPr lang="en-US" dirty="0" err="1"/>
              <a:t>textarea</a:t>
            </a:r>
            <a:r>
              <a:rPr lang="en-US" dirty="0"/>
              <a:t>&gt;</a:t>
            </a:r>
          </a:p>
          <a:p>
            <a:pPr marL="266700" indent="0">
              <a:buNone/>
            </a:pPr>
            <a:r>
              <a:rPr lang="en-US" dirty="0"/>
              <a:t>Used for feedback, comments</a:t>
            </a:r>
            <a:br>
              <a:rPr lang="en-US" dirty="0"/>
            </a:br>
            <a:r>
              <a:rPr lang="en-US" dirty="0"/>
              <a:t>Supports multiple lines</a:t>
            </a:r>
          </a:p>
          <a:p>
            <a:pPr marL="26670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670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2E6B-2ADC-8FE1-4A88-667BC1B4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CA827-6E73-890F-F434-DF503140022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File Upload Control</a:t>
            </a:r>
          </a:p>
          <a:p>
            <a:r>
              <a:rPr lang="en-US" dirty="0"/>
              <a:t>Used to upload files</a:t>
            </a:r>
          </a:p>
          <a:p>
            <a:r>
              <a:rPr lang="en-US" dirty="0"/>
              <a:t>&lt;input type="file" name="file"&gt;</a:t>
            </a:r>
          </a:p>
          <a:p>
            <a:pPr marL="0" indent="0">
              <a:buNone/>
            </a:pPr>
            <a:r>
              <a:rPr lang="en-US" dirty="0"/>
              <a:t>Requires:</a:t>
            </a:r>
          </a:p>
          <a:p>
            <a:r>
              <a:rPr lang="en-US" dirty="0"/>
              <a:t>&lt;form </a:t>
            </a:r>
            <a:r>
              <a:rPr lang="en-US" dirty="0" err="1"/>
              <a:t>enctype</a:t>
            </a:r>
            <a:r>
              <a:rPr lang="en-US" dirty="0"/>
              <a:t>="multipart/form-data"&gt;</a:t>
            </a:r>
          </a:p>
          <a:p>
            <a:pPr marL="0" indent="0">
              <a:buNone/>
            </a:pPr>
            <a:r>
              <a:rPr lang="en-US" b="1" dirty="0"/>
              <a:t>Submit Button</a:t>
            </a:r>
          </a:p>
          <a:p>
            <a:r>
              <a:rPr lang="en-US" dirty="0"/>
              <a:t>Used to send form data to server</a:t>
            </a:r>
          </a:p>
          <a:p>
            <a:r>
              <a:rPr lang="en-US" dirty="0"/>
              <a:t>&lt;input type="submit" value="Submit"&gt;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74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1582-EA8A-7486-0F9E-49CA13C5B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AED86-691C-5A42-1D54-7DB79D74A22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Reset Button</a:t>
            </a:r>
          </a:p>
          <a:p>
            <a:r>
              <a:rPr lang="en-IN" dirty="0"/>
              <a:t>Clears all form inputs</a:t>
            </a:r>
          </a:p>
          <a:p>
            <a:r>
              <a:rPr lang="en-IN" dirty="0"/>
              <a:t>&lt;input type="reset" value="Reset"&gt;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Button</a:t>
            </a:r>
          </a:p>
          <a:p>
            <a:r>
              <a:rPr lang="en-IN" dirty="0"/>
              <a:t>Custom button (used with JavaScript)</a:t>
            </a:r>
          </a:p>
          <a:p>
            <a:r>
              <a:rPr lang="en-IN" dirty="0"/>
              <a:t>&lt;button type="button"&gt;Click&lt;/button&gt;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760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6C24-63C6-0D2F-98AD-2B5A21FCC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B7C62-5959-42ED-F0AC-CFE76FC6D9E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Email Input</a:t>
            </a:r>
          </a:p>
          <a:p>
            <a:r>
              <a:rPr lang="en-US" dirty="0"/>
              <a:t>&lt;input type="email" name="email"&gt;</a:t>
            </a:r>
          </a:p>
          <a:p>
            <a:r>
              <a:rPr lang="en-US" dirty="0"/>
              <a:t>Validates email format automatically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Number Input</a:t>
            </a:r>
          </a:p>
          <a:p>
            <a:r>
              <a:rPr lang="en-US" dirty="0"/>
              <a:t>&lt;input type="number" name="age"&gt;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363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531F5-BE87-3104-6866-FB214057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6B4C6-6AB3-0DF3-F805-2B0C3C906B1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Date Picker</a:t>
            </a:r>
          </a:p>
          <a:p>
            <a:r>
              <a:rPr lang="en-US" dirty="0"/>
              <a:t>&lt;input type="date" name="dob"&gt;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Range Slider</a:t>
            </a:r>
          </a:p>
          <a:p>
            <a:r>
              <a:rPr lang="en-US" dirty="0"/>
              <a:t>&lt;input type="range" min="1" max="100"&gt;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Color Picker</a:t>
            </a:r>
          </a:p>
          <a:p>
            <a:r>
              <a:rPr lang="en-US" dirty="0"/>
              <a:t>&lt;input type="color"&gt;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226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B8E9C-0C74-0ACF-9FA1-50DE33329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Attributes of Form Controls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79FBC7-88DE-33C4-BEF0-C469CD3B68E8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234987196"/>
              </p:ext>
            </p:extLst>
          </p:nvPr>
        </p:nvGraphicFramePr>
        <p:xfrm>
          <a:off x="1219200" y="1543049"/>
          <a:ext cx="10363200" cy="4676776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933577204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949471610"/>
                    </a:ext>
                  </a:extLst>
                </a:gridCol>
              </a:tblGrid>
              <a:tr h="584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38141"/>
                  </a:ext>
                </a:extLst>
              </a:tr>
              <a:tr h="584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Used to access value in PHP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501794"/>
                  </a:ext>
                </a:extLst>
              </a:tr>
              <a:tr h="584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729008"/>
                  </a:ext>
                </a:extLst>
              </a:tr>
              <a:tr h="584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Makes field mandatory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434408"/>
                  </a:ext>
                </a:extLst>
              </a:tr>
              <a:tr h="584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placeholder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Hint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260074"/>
                  </a:ext>
                </a:extLst>
              </a:tr>
              <a:tr h="584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readonly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Cannot 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09093"/>
                  </a:ext>
                </a:extLst>
              </a:tr>
              <a:tr h="584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disabled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Cannot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959516"/>
                  </a:ext>
                </a:extLst>
              </a:tr>
              <a:tr h="584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maxlength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Limit input 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666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857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3A7CB-92E5-26AB-E3B2-6199CBA5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Capturing Form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5B80-AED9-190B-88D8-93EB4DB45C5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When a user fills an HTML form and clicks </a:t>
            </a:r>
            <a:r>
              <a:rPr lang="en-US" b="1" dirty="0"/>
              <a:t>Submit</a:t>
            </a:r>
            <a:r>
              <a:rPr lang="en-US" dirty="0"/>
              <a:t>, the data is sent to a PHP file.</a:t>
            </a:r>
            <a:br>
              <a:rPr lang="en-US" dirty="0"/>
            </a:br>
            <a:r>
              <a:rPr lang="en-US" b="1" dirty="0"/>
              <a:t>Capturing data</a:t>
            </a:r>
            <a:r>
              <a:rPr lang="en-US" dirty="0"/>
              <a:t> means: </a:t>
            </a:r>
            <a:r>
              <a:rPr lang="en-US" i="1" dirty="0"/>
              <a:t>retrieving that data inside PHP and using 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349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CD58B-CB1F-D694-37B4-72BC0928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Data is Sent from HTML to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54E61-95C9-429A-FC21-62B468826B9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Example Form:</a:t>
            </a:r>
          </a:p>
          <a:p>
            <a:r>
              <a:rPr lang="en-US" dirty="0"/>
              <a:t>&lt;form action="</a:t>
            </a:r>
            <a:r>
              <a:rPr lang="en-US" dirty="0" err="1"/>
              <a:t>process.php</a:t>
            </a:r>
            <a:r>
              <a:rPr lang="en-US" dirty="0"/>
              <a:t>" method="POST"&gt;</a:t>
            </a:r>
            <a:br>
              <a:rPr lang="en-US" dirty="0"/>
            </a:br>
            <a:r>
              <a:rPr lang="en-US" dirty="0"/>
              <a:t>    Name: &lt;input type="text" name="name"&gt;&lt;</a:t>
            </a:r>
            <a:r>
              <a:rPr lang="en-US" dirty="0" err="1"/>
              <a:t>br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Email: &lt;input type="email" name="email"&gt;&lt;</a:t>
            </a:r>
            <a:r>
              <a:rPr lang="en-US" dirty="0" err="1"/>
              <a:t>br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&lt;input type="submit"&gt;</a:t>
            </a:r>
            <a:br>
              <a:rPr lang="en-US" dirty="0"/>
            </a:br>
            <a:r>
              <a:rPr lang="en-US" dirty="0"/>
              <a:t>&lt;/form&gt;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When submitted:</a:t>
            </a:r>
          </a:p>
          <a:p>
            <a:r>
              <a:rPr lang="en-US" dirty="0"/>
              <a:t>Data goes to </a:t>
            </a:r>
            <a:r>
              <a:rPr lang="en-US" dirty="0" err="1"/>
              <a:t>process.php</a:t>
            </a:r>
            <a:r>
              <a:rPr lang="en-US" dirty="0"/>
              <a:t> </a:t>
            </a:r>
          </a:p>
          <a:p>
            <a:r>
              <a:rPr lang="en-US" dirty="0"/>
              <a:t>PHP reads it using </a:t>
            </a:r>
            <a:r>
              <a:rPr lang="en-US" b="1" dirty="0" err="1"/>
              <a:t>superglobals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601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C4C5-01D3-8254-FD5A-690A0D39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PHP Receives Form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E42B2-C102-9C0D-1F85-7DF64176EE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PHP uses </a:t>
            </a:r>
            <a:r>
              <a:rPr lang="en-IN" b="1" dirty="0" err="1"/>
              <a:t>superglobal</a:t>
            </a:r>
            <a:r>
              <a:rPr lang="en-IN" b="1" dirty="0"/>
              <a:t> arrays</a:t>
            </a:r>
            <a:r>
              <a:rPr lang="en-IN" dirty="0"/>
              <a:t>:</a:t>
            </a:r>
          </a:p>
          <a:p>
            <a:r>
              <a:rPr lang="en-IN" dirty="0"/>
              <a:t>$_GET </a:t>
            </a:r>
          </a:p>
          <a:p>
            <a:r>
              <a:rPr lang="en-IN" dirty="0"/>
              <a:t>$_POST </a:t>
            </a:r>
          </a:p>
          <a:p>
            <a:r>
              <a:rPr lang="en-IN" dirty="0"/>
              <a:t>$_REQUEST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763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D5C2-B76F-4B35-88FD-0C44BD17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4B1AF-53A5-5285-6EA8-11EFBF8C457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PHP </a:t>
            </a:r>
            <a:r>
              <a:rPr lang="en-US" b="1" dirty="0" err="1"/>
              <a:t>Superglobal</a:t>
            </a:r>
            <a:r>
              <a:rPr lang="en-US" b="1" dirty="0"/>
              <a:t> Arrays</a:t>
            </a:r>
          </a:p>
          <a:p>
            <a:r>
              <a:rPr lang="en-US" dirty="0"/>
              <a:t>PHP provides special arrays to capture form data:</a:t>
            </a:r>
          </a:p>
          <a:p>
            <a:endParaRPr lang="en-US" dirty="0"/>
          </a:p>
          <a:p>
            <a:r>
              <a:rPr lang="en-US" b="1" dirty="0"/>
              <a:t>$_POST</a:t>
            </a:r>
          </a:p>
          <a:p>
            <a:r>
              <a:rPr lang="en-US" dirty="0"/>
              <a:t>Used when method = POST</a:t>
            </a:r>
          </a:p>
          <a:p>
            <a:r>
              <a:rPr lang="en-US" dirty="0"/>
              <a:t>$name = $_POST['name'];</a:t>
            </a:r>
            <a:br>
              <a:rPr lang="en-US" dirty="0"/>
            </a:br>
            <a:r>
              <a:rPr lang="en-US" dirty="0"/>
              <a:t>$email = $_POST['email'];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6886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6D22-35C7-ACFF-3F28-95D6D4653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AB7B-73DE-B28B-52C8-30C687D84F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$_GET</a:t>
            </a:r>
          </a:p>
          <a:p>
            <a:r>
              <a:rPr lang="en-US" dirty="0"/>
              <a:t>Used when method = GET</a:t>
            </a:r>
          </a:p>
          <a:p>
            <a:r>
              <a:rPr lang="en-US" dirty="0"/>
              <a:t>$name = $_GET['name'];</a:t>
            </a:r>
          </a:p>
          <a:p>
            <a:r>
              <a:rPr lang="en-US" dirty="0"/>
              <a:t>Data appears in URL:</a:t>
            </a:r>
          </a:p>
          <a:p>
            <a:r>
              <a:rPr lang="en-US" dirty="0" err="1"/>
              <a:t>process.php?name</a:t>
            </a:r>
            <a:r>
              <a:rPr lang="en-US" dirty="0"/>
              <a:t>=Yogesh</a:t>
            </a:r>
          </a:p>
          <a:p>
            <a:endParaRPr lang="en-IN" dirty="0"/>
          </a:p>
          <a:p>
            <a:r>
              <a:rPr lang="en-US" b="1" dirty="0"/>
              <a:t>$_REQUEST</a:t>
            </a:r>
          </a:p>
          <a:p>
            <a:r>
              <a:rPr lang="en-US" dirty="0"/>
              <a:t>Combines GET + POST</a:t>
            </a:r>
          </a:p>
          <a:p>
            <a:r>
              <a:rPr lang="en-US" dirty="0"/>
              <a:t>$name = $_REQUEST['name'];</a:t>
            </a:r>
          </a:p>
          <a:p>
            <a:r>
              <a:rPr lang="en-US" dirty="0"/>
              <a:t>Not recommended for secure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773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F18B-252E-D36F-11E5-BD8F2A128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475" y="0"/>
            <a:ext cx="10363200" cy="1143000"/>
          </a:xfrm>
        </p:spPr>
        <p:txBody>
          <a:bodyPr/>
          <a:lstStyle/>
          <a:p>
            <a:r>
              <a:rPr lang="en-IN" dirty="0"/>
              <a:t>Complete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F1AD8-B52B-838D-59A6-1BECEBAE49B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10582275" cy="5334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HTML:</a:t>
            </a:r>
          </a:p>
          <a:p>
            <a:r>
              <a:rPr lang="en-IN" dirty="0"/>
              <a:t>&lt;form action="</a:t>
            </a:r>
            <a:r>
              <a:rPr lang="en-IN" dirty="0" err="1"/>
              <a:t>process.php</a:t>
            </a:r>
            <a:r>
              <a:rPr lang="en-IN" dirty="0"/>
              <a:t>" method="POST"&gt;</a:t>
            </a:r>
            <a:br>
              <a:rPr lang="en-IN" dirty="0"/>
            </a:br>
            <a:r>
              <a:rPr lang="en-IN" dirty="0"/>
              <a:t>    Name: &lt;input type="text" name="name"&gt;&lt;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    Age: &lt;input type="number" name="age"&gt;&lt;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    &lt;input type="submit"&gt;</a:t>
            </a:r>
            <a:br>
              <a:rPr lang="en-IN" dirty="0"/>
            </a:br>
            <a:r>
              <a:rPr lang="en-IN" dirty="0"/>
              <a:t>&lt;/form&gt;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PHP (</a:t>
            </a:r>
            <a:r>
              <a:rPr lang="en-IN" b="1" dirty="0" err="1"/>
              <a:t>process.php</a:t>
            </a:r>
            <a:r>
              <a:rPr lang="en-IN" b="1" dirty="0"/>
              <a:t>):</a:t>
            </a:r>
          </a:p>
          <a:p>
            <a:r>
              <a:rPr lang="en-IN" dirty="0"/>
              <a:t>&lt;?</a:t>
            </a:r>
            <a:r>
              <a:rPr lang="en-IN" dirty="0" err="1"/>
              <a:t>php</a:t>
            </a:r>
            <a:br>
              <a:rPr lang="en-IN" dirty="0"/>
            </a:br>
            <a:r>
              <a:rPr lang="en-IN" dirty="0"/>
              <a:t>$name = $_POST['name'];</a:t>
            </a:r>
            <a:br>
              <a:rPr lang="en-IN" dirty="0"/>
            </a:br>
            <a:r>
              <a:rPr lang="en-IN" dirty="0"/>
              <a:t>$age = $_POST['age'];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echo "Name: " . $name . "&lt;</a:t>
            </a:r>
            <a:r>
              <a:rPr lang="en-IN" dirty="0" err="1"/>
              <a:t>br</a:t>
            </a:r>
            <a:r>
              <a:rPr lang="en-IN" dirty="0"/>
              <a:t>&gt;";</a:t>
            </a:r>
            <a:br>
              <a:rPr lang="en-IN" dirty="0"/>
            </a:br>
            <a:r>
              <a:rPr lang="en-IN" dirty="0"/>
              <a:t>echo "Age: " . $age;</a:t>
            </a:r>
            <a:br>
              <a:rPr lang="en-IN" dirty="0"/>
            </a:br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88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E0D9-AA62-9A55-F852-1CF7524A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Checking Whether Form is Submitted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4AD61-DCC8-E38C-5BAD-4FB1BE66FD7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Always check before accessing data:</a:t>
            </a:r>
          </a:p>
          <a:p>
            <a:r>
              <a:rPr lang="en-US" dirty="0"/>
              <a:t>&lt;?</a:t>
            </a:r>
            <a:r>
              <a:rPr lang="en-US" dirty="0" err="1"/>
              <a:t>php</a:t>
            </a:r>
            <a:br>
              <a:rPr lang="en-US" dirty="0"/>
            </a:br>
            <a:r>
              <a:rPr lang="en-US" dirty="0"/>
              <a:t>if ($_SERVER["REQUEST_METHOD"] == "POST") {</a:t>
            </a:r>
            <a:br>
              <a:rPr lang="en-US" dirty="0"/>
            </a:br>
            <a:r>
              <a:rPr lang="en-US" dirty="0"/>
              <a:t>    $name = $_POST['name'];</a:t>
            </a:r>
            <a:br>
              <a:rPr lang="en-US" dirty="0"/>
            </a:br>
            <a:r>
              <a:rPr lang="en-US" dirty="0"/>
              <a:t>    echo $name;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59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6B14-E566-3429-BF58-DB91357F6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GET vs POST Method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93FFEF-58E6-ADBF-A9AF-011CF43770C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486642051"/>
              </p:ext>
            </p:extLst>
          </p:nvPr>
        </p:nvGraphicFramePr>
        <p:xfrm>
          <a:off x="1219200" y="1417638"/>
          <a:ext cx="10258425" cy="4038600"/>
        </p:xfrm>
        <a:graphic>
          <a:graphicData uri="http://schemas.openxmlformats.org/drawingml/2006/table">
            <a:tbl>
              <a:tblPr/>
              <a:tblGrid>
                <a:gridCol w="3419475">
                  <a:extLst>
                    <a:ext uri="{9D8B030D-6E8A-4147-A177-3AD203B41FA5}">
                      <a16:colId xmlns:a16="http://schemas.microsoft.com/office/drawing/2014/main" val="3408205322"/>
                    </a:ext>
                  </a:extLst>
                </a:gridCol>
                <a:gridCol w="3419475">
                  <a:extLst>
                    <a:ext uri="{9D8B030D-6E8A-4147-A177-3AD203B41FA5}">
                      <a16:colId xmlns:a16="http://schemas.microsoft.com/office/drawing/2014/main" val="1854317540"/>
                    </a:ext>
                  </a:extLst>
                </a:gridCol>
                <a:gridCol w="3419475">
                  <a:extLst>
                    <a:ext uri="{9D8B030D-6E8A-4147-A177-3AD203B41FA5}">
                      <a16:colId xmlns:a16="http://schemas.microsoft.com/office/drawing/2014/main" val="3485561536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32062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 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Visible in URL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Hidden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61859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Less 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More 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25957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676855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Search forms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Login, registration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7347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D750AF-BA33-4664-B602-1F28F758810A}"/>
              </a:ext>
            </a:extLst>
          </p:cNvPr>
          <p:cNvSpPr txBox="1"/>
          <p:nvPr/>
        </p:nvSpPr>
        <p:spPr>
          <a:xfrm>
            <a:off x="1219200" y="558165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&lt;form method="GET"&gt;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&lt;form method="POST"&gt;</a:t>
            </a:r>
          </a:p>
        </p:txBody>
      </p:sp>
    </p:spTree>
    <p:extLst>
      <p:ext uri="{BB962C8B-B14F-4D97-AF65-F5344CB8AC3E}">
        <p14:creationId xmlns:p14="http://schemas.microsoft.com/office/powerpoint/2010/main" val="4091933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F928-16CC-FD2D-8623-1F499B376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74ED7-B735-D1AE-CF81-98A00DD1E8E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br>
              <a:rPr lang="en-US" dirty="0"/>
            </a:br>
            <a:r>
              <a:rPr lang="en-US" dirty="0"/>
              <a:t>$name = $email = $age = $message = "";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($_SERVER["REQUEST_METHOD"] == "POST") {</a:t>
            </a:r>
            <a:br>
              <a:rPr lang="en-US" dirty="0"/>
            </a:br>
            <a:r>
              <a:rPr lang="en-US" dirty="0"/>
              <a:t>$name = $_POST["name"];</a:t>
            </a:r>
            <a:br>
              <a:rPr lang="en-US" dirty="0"/>
            </a:br>
            <a:r>
              <a:rPr lang="en-US" dirty="0"/>
              <a:t>$email = $_POST["email"];</a:t>
            </a:r>
            <a:br>
              <a:rPr lang="en-US" dirty="0"/>
            </a:br>
            <a:r>
              <a:rPr lang="en-US" dirty="0"/>
              <a:t>$age = $_POST["age"];</a:t>
            </a:r>
            <a:br>
              <a:rPr lang="en-US" dirty="0"/>
            </a:br>
            <a:r>
              <a:rPr lang="en-US" dirty="0"/>
              <a:t>$message = $_POST["message"];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?&gt;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386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4A302-C996-55C5-29BD-D8934098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AA480-61B1-1F97-4008-625A9E170E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5029200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&lt;!DOCTYPE html&gt;</a:t>
            </a:r>
            <a:br>
              <a:rPr lang="en-IN" dirty="0"/>
            </a:br>
            <a:r>
              <a:rPr lang="en-IN" dirty="0"/>
              <a:t>&lt;html&gt;</a:t>
            </a:r>
            <a:br>
              <a:rPr lang="en-IN" dirty="0"/>
            </a:br>
            <a:r>
              <a:rPr lang="en-IN" dirty="0"/>
              <a:t>&lt;head&gt;</a:t>
            </a:r>
            <a:br>
              <a:rPr lang="en-IN" dirty="0"/>
            </a:br>
            <a:r>
              <a:rPr lang="en-IN" dirty="0"/>
              <a:t>&lt;title&gt;PHP Form (No Validation)&lt;/title&gt;</a:t>
            </a:r>
            <a:br>
              <a:rPr lang="en-IN" dirty="0"/>
            </a:br>
            <a:r>
              <a:rPr lang="en-IN" dirty="0"/>
              <a:t>&lt;/head&gt;</a:t>
            </a:r>
            <a:br>
              <a:rPr lang="en-IN" dirty="0"/>
            </a:br>
            <a:r>
              <a:rPr lang="en-IN" dirty="0"/>
              <a:t>&lt;body&gt;</a:t>
            </a:r>
            <a:br>
              <a:rPr lang="en-IN" dirty="0"/>
            </a:br>
            <a:r>
              <a:rPr lang="en-IN" dirty="0"/>
              <a:t>&lt;h2&gt;User Registration Form&lt;/h2&gt;</a:t>
            </a:r>
            <a:br>
              <a:rPr lang="en-IN" dirty="0"/>
            </a:br>
            <a:r>
              <a:rPr lang="en-IN" dirty="0"/>
              <a:t>&lt;form method="post" action=""&gt;</a:t>
            </a:r>
            <a:br>
              <a:rPr lang="en-IN" dirty="0"/>
            </a:br>
            <a:r>
              <a:rPr lang="en-IN" dirty="0"/>
              <a:t>Name: &lt;input type="text" name="name"&gt;&lt;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Email: &lt;input type="text" name="email"&gt;&lt;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Age: &lt;input type="number" name="age"&gt;&lt;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Message:&lt;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&lt;</a:t>
            </a:r>
            <a:r>
              <a:rPr lang="en-IN" dirty="0" err="1"/>
              <a:t>textarea</a:t>
            </a:r>
            <a:r>
              <a:rPr lang="en-IN" dirty="0"/>
              <a:t> name="message"&gt;&lt;/</a:t>
            </a:r>
            <a:r>
              <a:rPr lang="en-IN" dirty="0" err="1"/>
              <a:t>textarea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&lt;input type="submit" value="Submit"&gt;</a:t>
            </a:r>
            <a:br>
              <a:rPr lang="en-IN" dirty="0"/>
            </a:br>
            <a:r>
              <a:rPr lang="en-IN" dirty="0"/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136031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579E-6E16-24B7-0875-60B8F95E1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D678F-8F29-5F44-DD0E-39EFC39BD50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&lt;hr&gt;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&lt;?</a:t>
            </a:r>
            <a:r>
              <a:rPr lang="en-IN" dirty="0" err="1"/>
              <a:t>php</a:t>
            </a:r>
            <a:br>
              <a:rPr lang="en-IN" dirty="0"/>
            </a:br>
            <a:r>
              <a:rPr lang="en-IN" dirty="0"/>
              <a:t>if ($_SERVER["REQUEST_METHOD"] == "POST") {</a:t>
            </a:r>
            <a:br>
              <a:rPr lang="en-IN" dirty="0"/>
            </a:br>
            <a:r>
              <a:rPr lang="en-IN" dirty="0"/>
              <a:t>echo "&lt;h3 style='</a:t>
            </a:r>
            <a:r>
              <a:rPr lang="en-IN" dirty="0" err="1"/>
              <a:t>color:green</a:t>
            </a:r>
            <a:r>
              <a:rPr lang="en-IN" dirty="0"/>
              <a:t>;'&gt;Form Submitted Successfully!&lt;/h3&gt;";</a:t>
            </a:r>
            <a:br>
              <a:rPr lang="en-IN" dirty="0"/>
            </a:br>
            <a:r>
              <a:rPr lang="en-IN" dirty="0"/>
              <a:t>echo "&lt;p&gt;&lt;strong&gt;Name:&lt;/strong&gt; $name&lt;/p&gt;";</a:t>
            </a:r>
            <a:br>
              <a:rPr lang="en-IN" dirty="0"/>
            </a:br>
            <a:r>
              <a:rPr lang="en-IN" dirty="0"/>
              <a:t>echo "&lt;p&gt;&lt;strong&gt;Email:&lt;/strong&gt; $email&lt;/p&gt;";</a:t>
            </a:r>
            <a:br>
              <a:rPr lang="en-IN" dirty="0"/>
            </a:br>
            <a:r>
              <a:rPr lang="en-IN" dirty="0"/>
              <a:t>echo "&lt;p&gt;&lt;strong&gt;Age:&lt;/strong&gt; $age&lt;/p&gt;";</a:t>
            </a:r>
            <a:br>
              <a:rPr lang="en-IN" dirty="0"/>
            </a:br>
            <a:r>
              <a:rPr lang="en-IN" dirty="0"/>
              <a:t>echo "&lt;p&gt;&lt;strong&gt;Message:&lt;/strong&gt; $message&lt;/p&gt;";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?&gt;</a:t>
            </a:r>
            <a:br>
              <a:rPr lang="en-IN" dirty="0"/>
            </a:br>
            <a:r>
              <a:rPr lang="en-IN" dirty="0"/>
              <a:t>&lt;/body&gt;</a:t>
            </a:r>
            <a:br>
              <a:rPr lang="en-IN" dirty="0"/>
            </a:b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462697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F17D-739C-489E-9AAD-C6EE78B1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FDC4F-94A6-F4F9-FFF7-5D653448CAC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ACD9DF-5000-ADA0-499B-5D913AED1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692556"/>
            <a:ext cx="6372225" cy="552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581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_LPU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_LPU" id="{BB28679B-D966-4CFA-8E30-8E5ED8F581FF}" vid="{CA0C32D0-A588-4E4D-8E93-996DA3C803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Theme1_LPU</Template>
  <TotalTime>272</TotalTime>
  <Words>1337</Words>
  <Application>Microsoft Office PowerPoint</Application>
  <PresentationFormat>Widescreen</PresentationFormat>
  <Paragraphs>152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Franklin Gothic Book</vt:lpstr>
      <vt:lpstr>Perpetua</vt:lpstr>
      <vt:lpstr>Times New Roman</vt:lpstr>
      <vt:lpstr>Wingdings 2</vt:lpstr>
      <vt:lpstr>Theme1_LPU</vt:lpstr>
      <vt:lpstr>Html Forms with PHP</vt:lpstr>
      <vt:lpstr>PowerPoint Presentation</vt:lpstr>
      <vt:lpstr>Basic Structure of an HTML Form</vt:lpstr>
      <vt:lpstr>HTML Form Controls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Attributes of Form Controls</vt:lpstr>
      <vt:lpstr>Capturing Form Data</vt:lpstr>
      <vt:lpstr>How Data is Sent from HTML to PHP</vt:lpstr>
      <vt:lpstr>How PHP Receives Form Data</vt:lpstr>
      <vt:lpstr>PowerPoint Presentation</vt:lpstr>
      <vt:lpstr>PowerPoint Presentation</vt:lpstr>
      <vt:lpstr>Complete Example</vt:lpstr>
      <vt:lpstr>Checking Whether Form is Submitted</vt:lpstr>
      <vt:lpstr>GET vs POST Method</vt:lpstr>
      <vt:lpstr>Example: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choudhary</dc:creator>
  <cp:lastModifiedBy>Yogesh choudhary</cp:lastModifiedBy>
  <cp:revision>9</cp:revision>
  <dcterms:created xsi:type="dcterms:W3CDTF">2026-03-23T16:58:27Z</dcterms:created>
  <dcterms:modified xsi:type="dcterms:W3CDTF">2026-03-24T11:14:51Z</dcterms:modified>
</cp:coreProperties>
</file>