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88" r:id="rId5"/>
    <p:sldId id="289" r:id="rId6"/>
    <p:sldId id="271" r:id="rId7"/>
    <p:sldId id="272" r:id="rId8"/>
    <p:sldId id="273" r:id="rId9"/>
    <p:sldId id="274" r:id="rId10"/>
    <p:sldId id="275" r:id="rId11"/>
    <p:sldId id="276" r:id="rId12"/>
    <p:sldId id="277" r:id="rId13"/>
    <p:sldId id="278" r:id="rId14"/>
    <p:sldId id="279" r:id="rId15"/>
    <p:sldId id="280" r:id="rId16"/>
    <p:sldId id="290" r:id="rId17"/>
    <p:sldId id="259" r:id="rId18"/>
    <p:sldId id="260" r:id="rId19"/>
    <p:sldId id="261" r:id="rId20"/>
    <p:sldId id="281" r:id="rId21"/>
    <p:sldId id="282" r:id="rId22"/>
    <p:sldId id="283" r:id="rId23"/>
    <p:sldId id="284" r:id="rId24"/>
    <p:sldId id="285" r:id="rId25"/>
    <p:sldId id="286" r:id="rId26"/>
    <p:sldId id="287" r:id="rId27"/>
    <p:sldId id="263" r:id="rId28"/>
    <p:sldId id="264" r:id="rId29"/>
    <p:sldId id="265" r:id="rId30"/>
    <p:sldId id="262" r:id="rId31"/>
    <p:sldId id="267" r:id="rId32"/>
    <p:sldId id="266" r:id="rId33"/>
    <p:sldId id="291" r:id="rId34"/>
    <p:sldId id="292" r:id="rId35"/>
    <p:sldId id="293" r:id="rId36"/>
    <p:sldId id="268" r:id="rId37"/>
    <p:sldId id="294" r:id="rId38"/>
    <p:sldId id="295" r:id="rId39"/>
    <p:sldId id="269" r:id="rId40"/>
    <p:sldId id="296" r:id="rId41"/>
    <p:sldId id="297" r:id="rId42"/>
    <p:sldId id="270" r:id="rId43"/>
    <p:sldId id="298" r:id="rId44"/>
    <p:sldId id="299" r:id="rId45"/>
    <p:sldId id="300" r:id="rId46"/>
    <p:sldId id="301" r:id="rId47"/>
    <p:sldId id="302" r:id="rId48"/>
    <p:sldId id="303" r:id="rId49"/>
    <p:sldId id="306" r:id="rId50"/>
    <p:sldId id="304" r:id="rId51"/>
    <p:sldId id="305" r:id="rId52"/>
    <p:sldId id="307" r:id="rId53"/>
    <p:sldId id="308" r:id="rId54"/>
    <p:sldId id="309" r:id="rId55"/>
    <p:sldId id="310" r:id="rId5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54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sz="1800"/>
          </a:p>
        </p:txBody>
      </p:sp>
      <p:sp useBgFill="1">
        <p:nvSpPr>
          <p:cNvPr id="13" name="Rounded Rectangle 12"/>
          <p:cNvSpPr/>
          <p:nvPr/>
        </p:nvSpPr>
        <p:spPr>
          <a:xfrm>
            <a:off x="87084" y="69756"/>
            <a:ext cx="12017829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727200" y="3200400"/>
            <a:ext cx="85344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1FBEF-1602-48E8-BB25-77883B7447C2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A3421FFE-46A3-461A-B687-B0B48CCF2C48}" type="slidenum">
              <a:rPr lang="en-IN" smtClean="0"/>
              <a:t>‹#›</a:t>
            </a:fld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83909" y="1449304"/>
            <a:ext cx="12028716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0" name="Rectangle 9"/>
          <p:cNvSpPr/>
          <p:nvPr/>
        </p:nvSpPr>
        <p:spPr>
          <a:xfrm>
            <a:off x="83909" y="1396720"/>
            <a:ext cx="12028716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1" name="Rectangle 10"/>
          <p:cNvSpPr/>
          <p:nvPr/>
        </p:nvSpPr>
        <p:spPr>
          <a:xfrm>
            <a:off x="83909" y="2976649"/>
            <a:ext cx="12028716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609600" y="1505931"/>
            <a:ext cx="109728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pic>
        <p:nvPicPr>
          <p:cNvPr id="14" name="Picture 13" descr="Image result for lovely professional university transparent">
            <a:extLst>
              <a:ext uri="{FF2B5EF4-FFF2-40B4-BE49-F238E27FC236}">
                <a16:creationId xmlns:a16="http://schemas.microsoft.com/office/drawing/2014/main" id="{E442297E-3734-47C6-9586-4D0659394F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500"/>
                    </a14:imgEffect>
                    <a14:imgEffect>
                      <a14:saturation sat="39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0416" y="228654"/>
            <a:ext cx="1972856" cy="6362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367048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1FBEF-1602-48E8-BB25-77883B7447C2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21FFE-46A3-461A-B687-B0B48CCF2C48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1219200" y="1447800"/>
            <a:ext cx="1036320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1838037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sz="1800"/>
          </a:p>
        </p:txBody>
      </p:sp>
      <p:sp useBgFill="1">
        <p:nvSpPr>
          <p:cNvPr id="10" name="Rounded Rectangle 9"/>
          <p:cNvSpPr/>
          <p:nvPr/>
        </p:nvSpPr>
        <p:spPr>
          <a:xfrm>
            <a:off x="87084" y="69756"/>
            <a:ext cx="12017829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952501"/>
            <a:ext cx="103632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547938"/>
            <a:ext cx="103632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1FBEF-1602-48E8-BB25-77883B7447C2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066800" y="6172200"/>
            <a:ext cx="5334000" cy="457200"/>
          </a:xfrm>
        </p:spPr>
        <p:txBody>
          <a:bodyPr/>
          <a:lstStyle/>
          <a:p>
            <a:endParaRPr lang="en-IN"/>
          </a:p>
        </p:txBody>
      </p:sp>
      <p:sp>
        <p:nvSpPr>
          <p:cNvPr id="7" name="Rectangle 6"/>
          <p:cNvSpPr/>
          <p:nvPr/>
        </p:nvSpPr>
        <p:spPr>
          <a:xfrm flipV="1">
            <a:off x="92550" y="2376830"/>
            <a:ext cx="1201802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Rectangle 7"/>
          <p:cNvSpPr/>
          <p:nvPr/>
        </p:nvSpPr>
        <p:spPr>
          <a:xfrm>
            <a:off x="92195" y="2341476"/>
            <a:ext cx="12018375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Rectangle 8"/>
          <p:cNvSpPr/>
          <p:nvPr/>
        </p:nvSpPr>
        <p:spPr>
          <a:xfrm>
            <a:off x="91075" y="2468880"/>
            <a:ext cx="12019495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95072" y="6208776"/>
            <a:ext cx="609600" cy="457200"/>
          </a:xfrm>
        </p:spPr>
        <p:txBody>
          <a:bodyPr/>
          <a:lstStyle/>
          <a:p>
            <a:fld id="{A3421FFE-46A3-461A-B687-B0B48CCF2C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57004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1FBEF-1602-48E8-BB25-77883B7447C2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21FFE-46A3-461A-B687-B0B48CCF2C48}" type="slidenum">
              <a:rPr lang="en-IN" smtClean="0"/>
              <a:t>‹#›</a:t>
            </a:fld>
            <a:endParaRPr lang="en-IN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1219200" y="1447800"/>
            <a:ext cx="499872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578600" y="1447800"/>
            <a:ext cx="499872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41581746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73050"/>
            <a:ext cx="103632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9200" y="1447800"/>
            <a:ext cx="49784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604000" y="1447800"/>
            <a:ext cx="49784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1FBEF-1602-48E8-BB25-77883B7447C2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21FFE-46A3-461A-B687-B0B48CCF2C48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1219200" y="2247900"/>
            <a:ext cx="49784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6604000" y="2247900"/>
            <a:ext cx="49784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40528836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1FBEF-1602-48E8-BB25-77883B7447C2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21FFE-46A3-461A-B687-B0B48CCF2C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24488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1FBEF-1602-48E8-BB25-77883B7447C2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21FFE-46A3-461A-B687-B0B48CCF2C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19079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 useBgFill="1">
        <p:nvSpPr>
          <p:cNvPr id="9" name="Rounded Rectangle 8"/>
          <p:cNvSpPr/>
          <p:nvPr/>
        </p:nvSpPr>
        <p:spPr>
          <a:xfrm>
            <a:off x="85344" y="69755"/>
            <a:ext cx="12017829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73050"/>
            <a:ext cx="103632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1219200" y="1600200"/>
            <a:ext cx="2540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1FBEF-1602-48E8-BB25-77883B7447C2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21FFE-46A3-461A-B687-B0B48CCF2C48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3962400" y="1600200"/>
            <a:ext cx="7620000" cy="44958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5719683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4900550"/>
            <a:ext cx="97536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9200" y="5445825"/>
            <a:ext cx="97536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1FBEF-1602-48E8-BB25-77883B7447C2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219200" y="6172200"/>
            <a:ext cx="5181600" cy="457200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95072" y="6208776"/>
            <a:ext cx="609600" cy="457200"/>
          </a:xfrm>
        </p:spPr>
        <p:txBody>
          <a:bodyPr/>
          <a:lstStyle/>
          <a:p>
            <a:fld id="{A3421FFE-46A3-461A-B687-B0B48CCF2C48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Rectangle 10"/>
          <p:cNvSpPr/>
          <p:nvPr/>
        </p:nvSpPr>
        <p:spPr>
          <a:xfrm flipV="1">
            <a:off x="91076" y="4683555"/>
            <a:ext cx="1200912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2" name="Rectangle 11"/>
          <p:cNvSpPr/>
          <p:nvPr/>
        </p:nvSpPr>
        <p:spPr>
          <a:xfrm>
            <a:off x="91345" y="4650475"/>
            <a:ext cx="12008852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3" name="Rectangle 12"/>
          <p:cNvSpPr/>
          <p:nvPr/>
        </p:nvSpPr>
        <p:spPr>
          <a:xfrm>
            <a:off x="91348" y="4773225"/>
            <a:ext cx="12008849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91078" y="66676"/>
            <a:ext cx="12002497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34318023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1FBEF-1602-48E8-BB25-77883B7447C2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21FFE-46A3-461A-B687-B0B48CCF2C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0922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2"/>
            <a:ext cx="268224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9200" y="274641"/>
            <a:ext cx="7416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1FBEF-1602-48E8-BB25-77883B7447C2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21FFE-46A3-461A-B687-B0B48CCF2C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56806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sz="1800"/>
          </a:p>
        </p:txBody>
      </p:sp>
      <p:sp useBgFill="1">
        <p:nvSpPr>
          <p:cNvPr id="8" name="Rounded Rectangle 7"/>
          <p:cNvSpPr/>
          <p:nvPr/>
        </p:nvSpPr>
        <p:spPr>
          <a:xfrm>
            <a:off x="85344" y="69755"/>
            <a:ext cx="12017829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1219200" y="274638"/>
            <a:ext cx="103632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1219200" y="1447800"/>
            <a:ext cx="103632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5BE1FBEF-1602-48E8-BB25-77883B7447C2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219200" y="6172200"/>
            <a:ext cx="52832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95072" y="6210300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A3421FFE-46A3-461A-B687-B0B48CCF2C48}" type="slidenum">
              <a:rPr lang="en-IN" smtClean="0"/>
              <a:t>‹#›</a:t>
            </a:fld>
            <a:endParaRPr lang="en-IN"/>
          </a:p>
        </p:txBody>
      </p:sp>
      <p:pic>
        <p:nvPicPr>
          <p:cNvPr id="10" name="Picture 9" descr="Image result for lovely professional university transparent">
            <a:extLst>
              <a:ext uri="{FF2B5EF4-FFF2-40B4-BE49-F238E27FC236}">
                <a16:creationId xmlns:a16="http://schemas.microsoft.com/office/drawing/2014/main" id="{21BE8278-7A7D-4DD7-ACA8-176AE482D9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alphaModFix/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colorTemperature colorTemp="11500"/>
                    </a14:imgEffect>
                    <a14:imgEffect>
                      <a14:saturation sat="39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0416" y="228654"/>
            <a:ext cx="1972856" cy="6362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855953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A557D3C-37EF-30FF-B21F-F94327063EE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D86203-7CEE-940C-6640-E3EB97EC15B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Unit-1 Basics of PHP</a:t>
            </a:r>
          </a:p>
        </p:txBody>
      </p:sp>
    </p:spTree>
    <p:extLst>
      <p:ext uri="{BB962C8B-B14F-4D97-AF65-F5344CB8AC3E}">
        <p14:creationId xmlns:p14="http://schemas.microsoft.com/office/powerpoint/2010/main" val="13114962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E5854-C031-5F2E-B151-9899ED5FD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OOP (Object-Oriented Programming) in PHP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11EF28-0DF3-1584-87B2-8668F4B8F854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It is a programming approach that organizes code using </a:t>
            </a:r>
            <a:r>
              <a:rPr lang="en-US" b="1" dirty="0"/>
              <a:t>objects and classes</a:t>
            </a:r>
            <a:r>
              <a:rPr lang="en-US" dirty="0"/>
              <a:t>. It helps in writing </a:t>
            </a:r>
            <a:r>
              <a:rPr lang="en-US" b="1" dirty="0"/>
              <a:t>clean, reusable, secure, and maintainable code</a:t>
            </a:r>
            <a:r>
              <a:rPr lang="en-US" dirty="0"/>
              <a:t>.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✅ What is OOP?</a:t>
            </a:r>
          </a:p>
          <a:p>
            <a:r>
              <a:rPr lang="en-US" dirty="0"/>
              <a:t>OOP is a programming paradigm based on </a:t>
            </a:r>
            <a:r>
              <a:rPr lang="en-US" b="1" dirty="0"/>
              <a:t>objects</a:t>
            </a:r>
            <a:r>
              <a:rPr lang="en-US" dirty="0"/>
              <a:t> which contain </a:t>
            </a:r>
            <a:r>
              <a:rPr lang="en-US" b="1" dirty="0"/>
              <a:t>data (properties)</a:t>
            </a:r>
            <a:r>
              <a:rPr lang="en-US" dirty="0"/>
              <a:t> and </a:t>
            </a:r>
            <a:r>
              <a:rPr lang="en-US" b="1" dirty="0"/>
              <a:t>functions (methods)</a:t>
            </a:r>
            <a:r>
              <a:rPr lang="en-US" dirty="0"/>
              <a:t>.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🔹 Real-Life Example</a:t>
            </a:r>
          </a:p>
          <a:p>
            <a:r>
              <a:rPr lang="en-US" dirty="0"/>
              <a:t>Think of a </a:t>
            </a:r>
            <a:r>
              <a:rPr lang="en-US" b="1" dirty="0"/>
              <a:t>Student</a:t>
            </a:r>
            <a:r>
              <a:rPr lang="en-US" dirty="0"/>
              <a:t>:</a:t>
            </a:r>
          </a:p>
          <a:p>
            <a:r>
              <a:rPr lang="en-US" dirty="0"/>
              <a:t>Properties → Name, Roll No, Course</a:t>
            </a:r>
          </a:p>
          <a:p>
            <a:r>
              <a:rPr lang="en-US" dirty="0"/>
              <a:t>Methods → Study(), </a:t>
            </a:r>
            <a:r>
              <a:rPr lang="en-US" dirty="0" err="1"/>
              <a:t>AttendClass</a:t>
            </a:r>
            <a:r>
              <a:rPr lang="en-US" dirty="0"/>
              <a:t>()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000808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23355-CEF4-DA5B-EB26-91199EDF3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OOP Terms in PHP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F5A764C-230B-3B05-43E2-43288C47053A}"/>
              </a:ext>
            </a:extLst>
          </p:cNvPr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2912664321"/>
              </p:ext>
            </p:extLst>
          </p:nvPr>
        </p:nvGraphicFramePr>
        <p:xfrm>
          <a:off x="1219200" y="1504949"/>
          <a:ext cx="10363200" cy="4752978"/>
        </p:xfrm>
        <a:graphic>
          <a:graphicData uri="http://schemas.openxmlformats.org/drawingml/2006/table">
            <a:tbl>
              <a:tblPr/>
              <a:tblGrid>
                <a:gridCol w="5181600">
                  <a:extLst>
                    <a:ext uri="{9D8B030D-6E8A-4147-A177-3AD203B41FA5}">
                      <a16:colId xmlns:a16="http://schemas.microsoft.com/office/drawing/2014/main" val="2175978938"/>
                    </a:ext>
                  </a:extLst>
                </a:gridCol>
                <a:gridCol w="5181600">
                  <a:extLst>
                    <a:ext uri="{9D8B030D-6E8A-4147-A177-3AD203B41FA5}">
                      <a16:colId xmlns:a16="http://schemas.microsoft.com/office/drawing/2014/main" val="499206229"/>
                    </a:ext>
                  </a:extLst>
                </a:gridCol>
              </a:tblGrid>
              <a:tr h="7921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Term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Meaning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4151789"/>
                  </a:ext>
                </a:extLst>
              </a:tr>
              <a:tr h="7921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Class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Blueprint/template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4418469"/>
                  </a:ext>
                </a:extLst>
              </a:tr>
              <a:tr h="7921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Object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Instance of class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1008386"/>
                  </a:ext>
                </a:extLst>
              </a:tr>
              <a:tr h="7921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Property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Variable inside class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6003024"/>
                  </a:ext>
                </a:extLst>
              </a:tr>
              <a:tr h="7921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Method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Function inside class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7505282"/>
                  </a:ext>
                </a:extLst>
              </a:tr>
              <a:tr h="7921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Constructor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Runs automatically when object is created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4481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99587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36F6D-CCC2-EDA7-9A2C-BFECD34FE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Class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5C480-47B0-9839-B053-9D755B30DF37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class in PHP</a:t>
            </a:r>
            <a:r>
              <a:rPr lang="en-US" dirty="0"/>
              <a:t> is a </a:t>
            </a:r>
            <a:r>
              <a:rPr lang="en-US" b="1" dirty="0"/>
              <a:t>blueprint (template)</a:t>
            </a:r>
            <a:r>
              <a:rPr lang="en-US" dirty="0"/>
              <a:t> used to create </a:t>
            </a:r>
            <a:r>
              <a:rPr lang="en-US" b="1" dirty="0"/>
              <a:t>objects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It defines </a:t>
            </a:r>
            <a:r>
              <a:rPr lang="en-US" b="1" dirty="0"/>
              <a:t>what data (properties)</a:t>
            </a:r>
            <a:r>
              <a:rPr lang="en-US" dirty="0"/>
              <a:t> and </a:t>
            </a:r>
            <a:r>
              <a:rPr lang="en-US" b="1" dirty="0"/>
              <a:t>what actions (methods)</a:t>
            </a:r>
            <a:r>
              <a:rPr lang="en-US" dirty="0"/>
              <a:t> an object will have.</a:t>
            </a:r>
          </a:p>
          <a:p>
            <a:r>
              <a:rPr lang="en-US" dirty="0"/>
              <a:t>👉 Simply:</a:t>
            </a:r>
          </a:p>
          <a:p>
            <a:r>
              <a:rPr lang="en-US" b="1" dirty="0"/>
              <a:t>Class = Design</a:t>
            </a:r>
            <a:br>
              <a:rPr lang="en-US" dirty="0"/>
            </a:br>
            <a:r>
              <a:rPr lang="en-US" b="1" dirty="0"/>
              <a:t>Object = Real implementation of that design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687484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6857F-A8A5-FFC0-80AF-8DDB82ECA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678DF1-2980-4ADD-6869-67A4E8C03913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Real-Life Example</a:t>
            </a:r>
          </a:p>
          <a:p>
            <a:r>
              <a:rPr lang="en-US" dirty="0"/>
              <a:t>Think about a </a:t>
            </a:r>
            <a:r>
              <a:rPr lang="en-US" b="1" dirty="0"/>
              <a:t>Student Form</a:t>
            </a:r>
            <a:r>
              <a:rPr lang="en-US" dirty="0"/>
              <a:t> 📄</a:t>
            </a:r>
          </a:p>
          <a:p>
            <a:r>
              <a:rPr lang="en-US" dirty="0"/>
              <a:t>Every student has:</a:t>
            </a:r>
          </a:p>
          <a:p>
            <a:pPr lvl="1"/>
            <a:r>
              <a:rPr lang="en-US" dirty="0"/>
              <a:t>Name</a:t>
            </a:r>
          </a:p>
          <a:p>
            <a:pPr lvl="1"/>
            <a:r>
              <a:rPr lang="en-US" dirty="0"/>
              <a:t>Roll number</a:t>
            </a:r>
          </a:p>
          <a:p>
            <a:pPr lvl="1"/>
            <a:r>
              <a:rPr lang="en-US" dirty="0"/>
              <a:t>Course</a:t>
            </a:r>
          </a:p>
          <a:p>
            <a:r>
              <a:rPr lang="en-US" dirty="0"/>
              <a:t>And can do:</a:t>
            </a:r>
          </a:p>
          <a:p>
            <a:pPr lvl="1"/>
            <a:r>
              <a:rPr lang="en-US" dirty="0"/>
              <a:t>Show details</a:t>
            </a:r>
          </a:p>
          <a:p>
            <a:pPr lvl="1"/>
            <a:r>
              <a:rPr lang="en-US" dirty="0"/>
              <a:t>Update data</a:t>
            </a:r>
          </a:p>
          <a:p>
            <a:r>
              <a:rPr lang="en-US" dirty="0"/>
              <a:t>So we create a </a:t>
            </a:r>
            <a:r>
              <a:rPr lang="en-US" b="1" dirty="0"/>
              <a:t>Student class</a:t>
            </a:r>
            <a:r>
              <a:rPr lang="en-US" dirty="0"/>
              <a:t> to define these features.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75279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BCD5F-258F-4ACF-71B8-2E7FC9A1B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Rules for Creating a Class in PHP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15E3F0-1DB0-86E7-A062-F61CCB65C740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/>
              <a:t>1️⃣ Class Must Use class Keyword</a:t>
            </a:r>
          </a:p>
          <a:p>
            <a:r>
              <a:rPr lang="en-US" dirty="0"/>
              <a:t>You must use the </a:t>
            </a:r>
            <a:r>
              <a:rPr lang="en-US" b="1" dirty="0"/>
              <a:t>class</a:t>
            </a:r>
            <a:r>
              <a:rPr lang="en-US" dirty="0"/>
              <a:t> keyword to create a class.</a:t>
            </a:r>
          </a:p>
          <a:p>
            <a:r>
              <a:rPr lang="en-US" b="1" dirty="0"/>
              <a:t>✔ Correct:</a:t>
            </a:r>
          </a:p>
          <a:p>
            <a:pPr lvl="1"/>
            <a:r>
              <a:rPr lang="en-US" dirty="0"/>
              <a:t>class Student {</a:t>
            </a:r>
          </a:p>
          <a:p>
            <a:pPr lvl="1"/>
            <a:r>
              <a:rPr lang="en-US" dirty="0"/>
              <a:t>}</a:t>
            </a:r>
          </a:p>
          <a:p>
            <a:r>
              <a:rPr lang="en-US" b="1" dirty="0"/>
              <a:t>❌ Wrong:</a:t>
            </a:r>
          </a:p>
          <a:p>
            <a:pPr lvl="1"/>
            <a:r>
              <a:rPr lang="en-US" dirty="0"/>
              <a:t>Student {</a:t>
            </a:r>
          </a:p>
          <a:p>
            <a:pPr lvl="1"/>
            <a:r>
              <a:rPr lang="en-US" dirty="0"/>
              <a:t>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24598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155DA-434F-2551-7683-B43BD8E3A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1B3DC-5495-2B65-444C-EB172D145F26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/>
              <a:t>2️⃣ Class Name Should Follow Naming Rules</a:t>
            </a:r>
          </a:p>
          <a:p>
            <a:r>
              <a:rPr lang="en-US" b="1" dirty="0"/>
              <a:t>Rules:</a:t>
            </a:r>
          </a:p>
          <a:p>
            <a:r>
              <a:rPr lang="en-US" dirty="0"/>
              <a:t>✔ Must start with </a:t>
            </a:r>
            <a:r>
              <a:rPr lang="en-US" b="1" dirty="0"/>
              <a:t>letter or underscore</a:t>
            </a:r>
            <a:br>
              <a:rPr lang="en-US" dirty="0"/>
            </a:br>
            <a:r>
              <a:rPr lang="en-US" dirty="0"/>
              <a:t>✔ Cannot start with a number</a:t>
            </a:r>
            <a:br>
              <a:rPr lang="en-US" dirty="0"/>
            </a:br>
            <a:r>
              <a:rPr lang="en-US" dirty="0"/>
              <a:t>✔ No spaces allowed</a:t>
            </a:r>
            <a:br>
              <a:rPr lang="en-US" dirty="0"/>
            </a:br>
            <a:r>
              <a:rPr lang="en-US" dirty="0"/>
              <a:t>✔ Should not use special characters</a:t>
            </a: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500797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184BC-1ECA-3360-B738-CF28D1A3D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2CCFE7-B926-7757-26B4-36F8191C4496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IN" b="1" dirty="0"/>
              <a:t>✔ Valid Names:</a:t>
            </a:r>
          </a:p>
          <a:p>
            <a:pPr lvl="1"/>
            <a:r>
              <a:rPr lang="en-IN" dirty="0"/>
              <a:t>class Student {}</a:t>
            </a:r>
          </a:p>
          <a:p>
            <a:pPr lvl="1"/>
            <a:r>
              <a:rPr lang="en-IN" dirty="0"/>
              <a:t>class </a:t>
            </a:r>
            <a:r>
              <a:rPr lang="en-IN" dirty="0" err="1"/>
              <a:t>StudentData</a:t>
            </a:r>
            <a:r>
              <a:rPr lang="en-IN" dirty="0"/>
              <a:t> {}</a:t>
            </a:r>
          </a:p>
          <a:p>
            <a:pPr lvl="1"/>
            <a:r>
              <a:rPr lang="en-IN" dirty="0"/>
              <a:t>class _Student {}</a:t>
            </a:r>
          </a:p>
          <a:p>
            <a:r>
              <a:rPr lang="en-IN" b="1" dirty="0"/>
              <a:t>❌ Invalid Names:</a:t>
            </a:r>
          </a:p>
          <a:p>
            <a:pPr lvl="1"/>
            <a:r>
              <a:rPr lang="en-IN" dirty="0"/>
              <a:t>class 123Student {}   // wrong</a:t>
            </a:r>
          </a:p>
          <a:p>
            <a:pPr lvl="1"/>
            <a:r>
              <a:rPr lang="en-IN" dirty="0"/>
              <a:t>class Student Data {} // wrong</a:t>
            </a:r>
          </a:p>
          <a:p>
            <a:pPr lvl="1"/>
            <a:r>
              <a:rPr lang="en-IN" dirty="0"/>
              <a:t>class Student@ {}     // wrong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316313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55947-F9EB-EB40-A48F-2A6047CAC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FCC940-C3EC-A14F-60FC-3BD42AD0142D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/>
              <a:t>3️⃣ Curly Braces { } Are Mandatory</a:t>
            </a:r>
          </a:p>
          <a:p>
            <a:r>
              <a:rPr lang="en-US" dirty="0"/>
              <a:t>Class body must be inside curly braces.</a:t>
            </a:r>
          </a:p>
          <a:p>
            <a:pPr marL="0" indent="361950">
              <a:buNone/>
            </a:pPr>
            <a:r>
              <a:rPr lang="en-US" b="1" dirty="0"/>
              <a:t>Example:</a:t>
            </a:r>
          </a:p>
          <a:p>
            <a:pPr marL="0" indent="361950">
              <a:buNone/>
            </a:pPr>
            <a:r>
              <a:rPr lang="en-US" dirty="0"/>
              <a:t>class Car {</a:t>
            </a:r>
          </a:p>
          <a:p>
            <a:pPr marL="0" indent="361950">
              <a:buNone/>
            </a:pPr>
            <a:r>
              <a:rPr lang="en-US" dirty="0"/>
              <a:t>    // properties and methods</a:t>
            </a:r>
          </a:p>
          <a:p>
            <a:pPr marL="0" indent="361950">
              <a:buNone/>
            </a:pPr>
            <a:r>
              <a:rPr lang="en-US" dirty="0"/>
              <a:t>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511342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0DA76-30C2-5E32-7F6D-84629A99B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2FF322-2390-BB7A-B510-00C78FF500BC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4️⃣ Properties Must Be Declared Using Access Modifiers</a:t>
            </a:r>
          </a:p>
          <a:p>
            <a:r>
              <a:rPr lang="en-US" dirty="0"/>
              <a:t>Properties should use:</a:t>
            </a:r>
          </a:p>
          <a:p>
            <a:pPr lvl="1"/>
            <a:r>
              <a:rPr lang="en-US" dirty="0"/>
              <a:t>public</a:t>
            </a:r>
          </a:p>
          <a:p>
            <a:pPr lvl="1"/>
            <a:r>
              <a:rPr lang="en-US" dirty="0"/>
              <a:t>private</a:t>
            </a:r>
          </a:p>
          <a:p>
            <a:pPr lvl="1"/>
            <a:r>
              <a:rPr lang="en-US" dirty="0"/>
              <a:t>protected</a:t>
            </a:r>
          </a:p>
          <a:p>
            <a:r>
              <a:rPr lang="en-US" b="1" dirty="0"/>
              <a:t>Example:</a:t>
            </a:r>
          </a:p>
          <a:p>
            <a:pPr marL="0" indent="447675">
              <a:buNone/>
            </a:pPr>
            <a:r>
              <a:rPr lang="en-US" dirty="0"/>
              <a:t>class Student {</a:t>
            </a:r>
          </a:p>
          <a:p>
            <a:pPr marL="0" indent="447675">
              <a:buNone/>
            </a:pPr>
            <a:r>
              <a:rPr lang="en-US" dirty="0"/>
              <a:t>    public $name;</a:t>
            </a:r>
          </a:p>
          <a:p>
            <a:pPr marL="0" indent="447675">
              <a:buNone/>
            </a:pPr>
            <a:r>
              <a:rPr lang="en-US" dirty="0"/>
              <a:t>    private $age;</a:t>
            </a:r>
          </a:p>
          <a:p>
            <a:pPr marL="0" indent="447675">
              <a:buNone/>
            </a:pPr>
            <a:r>
              <a:rPr lang="en-US" dirty="0"/>
              <a:t>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278144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B234A-8158-A8CB-1F13-69D9C223C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932AF4-30D4-1204-A22F-52AA19EEEDCF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5️⃣ Methods Are Created Using function Keyword</a:t>
            </a:r>
          </a:p>
          <a:p>
            <a:r>
              <a:rPr lang="en-US" dirty="0"/>
              <a:t>Functions inside a class are called </a:t>
            </a:r>
            <a:r>
              <a:rPr lang="en-US" b="1" dirty="0"/>
              <a:t>methods</a:t>
            </a:r>
            <a:r>
              <a:rPr lang="en-US" dirty="0"/>
              <a:t>.</a:t>
            </a:r>
          </a:p>
          <a:p>
            <a:r>
              <a:rPr lang="en-US" b="1" dirty="0"/>
              <a:t>Example:</a:t>
            </a:r>
          </a:p>
          <a:p>
            <a:pPr marL="0" indent="361950">
              <a:buNone/>
            </a:pPr>
            <a:r>
              <a:rPr lang="en-US" dirty="0"/>
              <a:t>class Student {</a:t>
            </a:r>
          </a:p>
          <a:p>
            <a:pPr marL="0" indent="361950">
              <a:buNone/>
            </a:pPr>
            <a:r>
              <a:rPr lang="en-US" dirty="0"/>
              <a:t>    function show() {</a:t>
            </a:r>
          </a:p>
          <a:p>
            <a:pPr marL="0" indent="361950">
              <a:buNone/>
            </a:pPr>
            <a:r>
              <a:rPr lang="en-US" dirty="0"/>
              <a:t>        echo "Hello";</a:t>
            </a:r>
          </a:p>
          <a:p>
            <a:pPr marL="0" indent="361950">
              <a:buNone/>
            </a:pPr>
            <a:r>
              <a:rPr lang="en-US" dirty="0"/>
              <a:t>    }</a:t>
            </a:r>
          </a:p>
          <a:p>
            <a:pPr marL="0" indent="361950">
              <a:buNone/>
            </a:pPr>
            <a:r>
              <a:rPr lang="en-US" dirty="0"/>
              <a:t>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969666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2CCDE-8B78-9ECD-DFE1-FE86CA131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2A5928-373F-9E04-9B87-8E2727B5062C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/>
              <a:t>6️⃣ Use $this to Access Properties Inside Methods</a:t>
            </a:r>
          </a:p>
          <a:p>
            <a:r>
              <a:rPr lang="en-US" dirty="0"/>
              <a:t>You </a:t>
            </a:r>
            <a:r>
              <a:rPr lang="en-US" b="1" dirty="0"/>
              <a:t>cannot directly use variable name</a:t>
            </a:r>
            <a:r>
              <a:rPr lang="en-US" dirty="0"/>
              <a:t>.</a:t>
            </a:r>
          </a:p>
          <a:p>
            <a:r>
              <a:rPr lang="en-US" b="1" dirty="0"/>
              <a:t>Correct:</a:t>
            </a:r>
          </a:p>
          <a:p>
            <a:pPr lvl="1"/>
            <a:r>
              <a:rPr lang="en-US" dirty="0"/>
              <a:t>$this-&gt;name;</a:t>
            </a:r>
          </a:p>
          <a:p>
            <a:r>
              <a:rPr lang="en-US" b="1" dirty="0"/>
              <a:t> Wrong:</a:t>
            </a:r>
          </a:p>
          <a:p>
            <a:pPr lvl="1"/>
            <a:r>
              <a:rPr lang="en-US" dirty="0"/>
              <a:t>$name;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45458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00D09-F816-0FA7-C31F-C82DA7B2C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49AA07-20DA-7971-2451-293951BEFEB3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/>
              <a:t>7️⃣ One Class Can Contain:</a:t>
            </a:r>
          </a:p>
          <a:p>
            <a:r>
              <a:rPr lang="en-US" dirty="0"/>
              <a:t>✔ Properties (Variables)</a:t>
            </a:r>
            <a:br>
              <a:rPr lang="en-US" dirty="0"/>
            </a:br>
            <a:r>
              <a:rPr lang="en-US" dirty="0"/>
              <a:t>✔ Methods (Functions)</a:t>
            </a:r>
            <a:br>
              <a:rPr lang="en-US" dirty="0"/>
            </a:br>
            <a:r>
              <a:rPr lang="en-US" dirty="0"/>
              <a:t>✔ Constructor</a:t>
            </a:r>
            <a:br>
              <a:rPr lang="en-US" dirty="0"/>
            </a:br>
            <a:r>
              <a:rPr lang="en-US" dirty="0"/>
              <a:t>✔ Static Members</a:t>
            </a:r>
            <a:br>
              <a:rPr lang="en-US" dirty="0"/>
            </a:br>
            <a:r>
              <a:rPr lang="en-US" dirty="0"/>
              <a:t>✔ Constants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70239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09B98-871C-AF89-177C-142EECEB4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D85C72-7FC1-A071-FA37-10E2137BA3CF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/>
              <a:t>8️⃣ Class Name Should Match File Name </a:t>
            </a:r>
            <a:r>
              <a:rPr lang="en-US" dirty="0"/>
              <a:t>(Not compulsory but recommended)</a:t>
            </a:r>
          </a:p>
          <a:p>
            <a:r>
              <a:rPr lang="en-US" dirty="0"/>
              <a:t>Example:</a:t>
            </a:r>
          </a:p>
          <a:p>
            <a:pPr lvl="1"/>
            <a:r>
              <a:rPr lang="en-US" dirty="0" err="1"/>
              <a:t>Student.php</a:t>
            </a:r>
            <a:r>
              <a:rPr lang="en-US" dirty="0"/>
              <a:t> → class Student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788107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29E96-945B-9E97-8F47-A0FC58F0A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8153C9-012A-F34C-6ED1-E5004D6EEE7E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/>
              <a:t>9️⃣ Class Can Be Created Without Any Property or Method</a:t>
            </a:r>
          </a:p>
          <a:p>
            <a:r>
              <a:rPr lang="en-US" dirty="0"/>
              <a:t>Empty class is allowed.</a:t>
            </a:r>
          </a:p>
          <a:p>
            <a:r>
              <a:rPr lang="en-US" b="1" dirty="0"/>
              <a:t>Example:</a:t>
            </a:r>
          </a:p>
          <a:p>
            <a:r>
              <a:rPr lang="en-US" dirty="0"/>
              <a:t>class Test {</a:t>
            </a:r>
          </a:p>
          <a:p>
            <a:r>
              <a:rPr lang="en-US" dirty="0"/>
              <a:t>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037078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EC109-AC03-41E7-2265-BE0360CDE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64FB58-2BC9-809E-98AA-F3DA1EE48C4B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In PHP, the </a:t>
            </a:r>
            <a:r>
              <a:rPr lang="en-US" b="1" dirty="0"/>
              <a:t>-&gt; symbol is called the Object Operator</a:t>
            </a:r>
            <a:r>
              <a:rPr lang="en-US" dirty="0"/>
              <a:t>.</a:t>
            </a:r>
          </a:p>
          <a:p>
            <a:r>
              <a:rPr lang="en-US" dirty="0"/>
              <a:t>It is used to </a:t>
            </a:r>
            <a:r>
              <a:rPr lang="en-US" b="1" dirty="0"/>
              <a:t>access properties and methods of an object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951861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82B5C-6671-A908-1C4F-431B53D6F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D112C4-EE7E-D831-988B-98026977FF96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/>
              <a:t>Creating a Class in PHP</a:t>
            </a:r>
          </a:p>
          <a:p>
            <a:r>
              <a:rPr lang="en-US" b="1" dirty="0"/>
              <a:t>Syntax:</a:t>
            </a:r>
          </a:p>
          <a:p>
            <a:pPr marL="0" indent="361950">
              <a:buNone/>
            </a:pPr>
            <a:r>
              <a:rPr lang="en-US" dirty="0"/>
              <a:t>class </a:t>
            </a:r>
            <a:r>
              <a:rPr lang="en-US" dirty="0" err="1"/>
              <a:t>ClassName</a:t>
            </a:r>
            <a:r>
              <a:rPr lang="en-US" dirty="0"/>
              <a:t> {</a:t>
            </a:r>
          </a:p>
          <a:p>
            <a:pPr marL="0" indent="361950">
              <a:buNone/>
            </a:pPr>
            <a:r>
              <a:rPr lang="en-US" dirty="0"/>
              <a:t>   // properties</a:t>
            </a:r>
          </a:p>
          <a:p>
            <a:pPr marL="0" indent="361950">
              <a:buNone/>
            </a:pPr>
            <a:r>
              <a:rPr lang="en-US" dirty="0"/>
              <a:t>   // methods</a:t>
            </a:r>
          </a:p>
          <a:p>
            <a:pPr marL="0" indent="361950">
              <a:buNone/>
            </a:pPr>
            <a:r>
              <a:rPr lang="en-US" dirty="0"/>
              <a:t>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016380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D0623-9AD2-60CD-66A0-1369D091C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953A7B-67F5-2A09-BE85-CBA31017EF10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Example:</a:t>
            </a:r>
          </a:p>
          <a:p>
            <a:pPr marL="0" indent="542925">
              <a:buNone/>
            </a:pPr>
            <a:r>
              <a:rPr lang="en-US" dirty="0"/>
              <a:t>class Student {</a:t>
            </a:r>
          </a:p>
          <a:p>
            <a:pPr marL="0" indent="542925">
              <a:buNone/>
            </a:pPr>
            <a:r>
              <a:rPr lang="en-US" dirty="0"/>
              <a:t>    public $name;</a:t>
            </a:r>
          </a:p>
          <a:p>
            <a:pPr marL="0" indent="542925">
              <a:buNone/>
            </a:pPr>
            <a:r>
              <a:rPr lang="en-US" dirty="0"/>
              <a:t>    function </a:t>
            </a:r>
            <a:r>
              <a:rPr lang="en-US" dirty="0" err="1"/>
              <a:t>showName</a:t>
            </a:r>
            <a:r>
              <a:rPr lang="en-US" dirty="0"/>
              <a:t>() {</a:t>
            </a:r>
          </a:p>
          <a:p>
            <a:pPr marL="0" indent="542925">
              <a:buNone/>
            </a:pPr>
            <a:r>
              <a:rPr lang="en-US" dirty="0"/>
              <a:t>        echo "Student Name: Ram ";</a:t>
            </a:r>
          </a:p>
          <a:p>
            <a:pPr marL="0" indent="542925">
              <a:buNone/>
            </a:pPr>
            <a:r>
              <a:rPr lang="en-US" dirty="0"/>
              <a:t>    }</a:t>
            </a:r>
          </a:p>
          <a:p>
            <a:pPr marL="0" indent="542925">
              <a:buNone/>
            </a:pPr>
            <a:r>
              <a:rPr lang="en-US" dirty="0"/>
              <a:t>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473455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1D7A8-682C-EED7-AE36-480BFBE48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3506A9-48A5-65FC-94F0-4CCE05D93BFC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Creating an Object</a:t>
            </a:r>
          </a:p>
          <a:p>
            <a:r>
              <a:rPr lang="en-US" dirty="0"/>
              <a:t>$obj = new Student();</a:t>
            </a:r>
          </a:p>
          <a:p>
            <a:r>
              <a:rPr lang="en-US" dirty="0"/>
              <a:t>$obj-&gt;</a:t>
            </a:r>
            <a:r>
              <a:rPr lang="en-US" dirty="0" err="1"/>
              <a:t>showName</a:t>
            </a:r>
            <a:r>
              <a:rPr lang="en-US" dirty="0"/>
              <a:t>();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Output:</a:t>
            </a:r>
          </a:p>
          <a:p>
            <a:pPr lvl="1"/>
            <a:r>
              <a:rPr lang="en-US" dirty="0"/>
              <a:t>Student Name: Ram</a:t>
            </a:r>
          </a:p>
          <a:p>
            <a:r>
              <a:rPr lang="en-US" b="1" dirty="0"/>
              <a:t>new Keyword</a:t>
            </a:r>
          </a:p>
          <a:p>
            <a:pPr lvl="1"/>
            <a:r>
              <a:rPr lang="en-US" dirty="0"/>
              <a:t>Creates an object</a:t>
            </a:r>
          </a:p>
          <a:p>
            <a:pPr lvl="1"/>
            <a:r>
              <a:rPr lang="en-US" dirty="0"/>
              <a:t>Allocates memory</a:t>
            </a:r>
          </a:p>
          <a:p>
            <a:pPr lvl="1"/>
            <a:r>
              <a:rPr lang="en-US" dirty="0"/>
              <a:t>Calls constructor automatically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591248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79408-1147-A94C-A932-76370A3D7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Example of Proper Class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89A7E1-E2D2-6C92-D6AB-DE1D644DF605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class Student {</a:t>
            </a:r>
          </a:p>
          <a:p>
            <a:pPr marL="0" indent="361950">
              <a:buNone/>
            </a:pPr>
            <a:r>
              <a:rPr lang="en-US" dirty="0"/>
              <a:t>    public $name = "Yogesh";</a:t>
            </a:r>
          </a:p>
          <a:p>
            <a:pPr marL="0" indent="361950">
              <a:buNone/>
            </a:pPr>
            <a:r>
              <a:rPr lang="en-US" dirty="0"/>
              <a:t>    function </a:t>
            </a:r>
            <a:r>
              <a:rPr lang="en-US" dirty="0" err="1"/>
              <a:t>showName</a:t>
            </a:r>
            <a:r>
              <a:rPr lang="en-US" dirty="0"/>
              <a:t>() {</a:t>
            </a:r>
          </a:p>
          <a:p>
            <a:pPr marL="0" indent="361950">
              <a:buNone/>
            </a:pPr>
            <a:r>
              <a:rPr lang="en-US" dirty="0"/>
              <a:t>        echo $this-&gt;name;</a:t>
            </a:r>
          </a:p>
          <a:p>
            <a:pPr marL="0" indent="361950">
              <a:buNone/>
            </a:pPr>
            <a:r>
              <a:rPr lang="en-US" dirty="0"/>
              <a:t>    }</a:t>
            </a:r>
          </a:p>
          <a:p>
            <a:pPr marL="0" indent="361950">
              <a:buNone/>
            </a:pPr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$obj = new Student();</a:t>
            </a:r>
          </a:p>
          <a:p>
            <a:r>
              <a:rPr lang="en-US" dirty="0"/>
              <a:t>$obj-&gt;</a:t>
            </a:r>
            <a:r>
              <a:rPr lang="en-US" dirty="0" err="1"/>
              <a:t>showName</a:t>
            </a:r>
            <a:r>
              <a:rPr lang="en-US" dirty="0"/>
              <a:t>();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737973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9E731-B84A-E5C4-AA48-96EB14A35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 in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1DA177-9800-07BD-AA63-25A081C0F32A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/>
              <a:t>1️⃣ When Object Is REQUIRED (Non-Static Members)</a:t>
            </a:r>
          </a:p>
          <a:p>
            <a:r>
              <a:rPr lang="en-US" dirty="0"/>
              <a:t>If a class contains </a:t>
            </a:r>
            <a:r>
              <a:rPr lang="en-US" b="1" dirty="0"/>
              <a:t>normal (non-static) properties or methods</a:t>
            </a:r>
            <a:r>
              <a:rPr lang="en-US" dirty="0"/>
              <a:t>, then you </a:t>
            </a:r>
            <a:r>
              <a:rPr lang="en-US" b="1" dirty="0"/>
              <a:t>must create an object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93750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503DF-C46F-3519-C773-60E2B797D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EFF134-B436-23B2-9070-D7B52722B2A7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219200" y="1447800"/>
            <a:ext cx="10363200" cy="5029200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Example:</a:t>
            </a:r>
          </a:p>
          <a:p>
            <a:pPr marL="0" indent="361950">
              <a:buNone/>
            </a:pPr>
            <a:r>
              <a:rPr lang="en-US" dirty="0"/>
              <a:t>class Car {</a:t>
            </a:r>
          </a:p>
          <a:p>
            <a:pPr marL="0" indent="361950">
              <a:buNone/>
            </a:pPr>
            <a:r>
              <a:rPr lang="en-US" dirty="0"/>
              <a:t>    public $brand = "Toyota";</a:t>
            </a:r>
          </a:p>
          <a:p>
            <a:pPr marL="0" indent="361950">
              <a:buNone/>
            </a:pPr>
            <a:endParaRPr lang="en-US" dirty="0"/>
          </a:p>
          <a:p>
            <a:pPr marL="0" indent="361950">
              <a:buNone/>
            </a:pPr>
            <a:r>
              <a:rPr lang="en-US" dirty="0"/>
              <a:t>    public function </a:t>
            </a:r>
            <a:r>
              <a:rPr lang="en-US" dirty="0" err="1"/>
              <a:t>showBrand</a:t>
            </a:r>
            <a:r>
              <a:rPr lang="en-US" dirty="0"/>
              <a:t>() {</a:t>
            </a:r>
          </a:p>
          <a:p>
            <a:pPr marL="0" indent="361950">
              <a:buNone/>
            </a:pPr>
            <a:r>
              <a:rPr lang="en-US" dirty="0"/>
              <a:t>        echo $this-&gt;brand;</a:t>
            </a:r>
          </a:p>
          <a:p>
            <a:pPr marL="0" indent="361950">
              <a:buNone/>
            </a:pPr>
            <a:r>
              <a:rPr lang="en-US" dirty="0"/>
              <a:t>    }</a:t>
            </a:r>
          </a:p>
          <a:p>
            <a:pPr marL="0" indent="361950">
              <a:buNone/>
            </a:pPr>
            <a:r>
              <a:rPr lang="en-US" dirty="0"/>
              <a:t>}</a:t>
            </a:r>
          </a:p>
          <a:p>
            <a:r>
              <a:rPr lang="en-US" dirty="0"/>
              <a:t>// Creating object</a:t>
            </a:r>
          </a:p>
          <a:p>
            <a:pPr lvl="1"/>
            <a:r>
              <a:rPr lang="en-US" dirty="0"/>
              <a:t>$car1 = new Car();</a:t>
            </a:r>
          </a:p>
          <a:p>
            <a:pPr lvl="1"/>
            <a:r>
              <a:rPr lang="en-US" dirty="0"/>
              <a:t>$car1-&gt;</a:t>
            </a:r>
            <a:r>
              <a:rPr lang="en-US" dirty="0" err="1"/>
              <a:t>showBrand</a:t>
            </a:r>
            <a:r>
              <a:rPr lang="en-US" dirty="0"/>
              <a:t>();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627071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F84DB-F220-D1DE-9F8C-1E5B453D4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2F878A-A00E-45CC-1AE2-C08377AB04AC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/>
              <a:t>Why object is needed?</a:t>
            </a:r>
          </a:p>
          <a:p>
            <a:r>
              <a:rPr lang="en-US" dirty="0"/>
              <a:t>$this refers to the </a:t>
            </a:r>
            <a:r>
              <a:rPr lang="en-US" b="1" dirty="0"/>
              <a:t>current object</a:t>
            </a:r>
            <a:endParaRPr lang="en-US" dirty="0"/>
          </a:p>
          <a:p>
            <a:r>
              <a:rPr lang="en-US" dirty="0"/>
              <a:t>Non-static members belong to </a:t>
            </a:r>
            <a:r>
              <a:rPr lang="en-US" b="1" dirty="0"/>
              <a:t>object instances</a:t>
            </a:r>
            <a:endParaRPr lang="en-US" dirty="0"/>
          </a:p>
          <a:p>
            <a:r>
              <a:rPr lang="en-US" dirty="0"/>
              <a:t>✔ Object is compulsory here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545637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94B5F-1F0D-7366-8954-59CB9C361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B573DB-C35B-6D6A-0AC4-5148E4038EA3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/>
              <a:t>2️⃣ When Object Is NOT REQUIRED (Static Members)</a:t>
            </a:r>
          </a:p>
          <a:p>
            <a:r>
              <a:rPr lang="en-US" dirty="0"/>
              <a:t>If a class contains </a:t>
            </a:r>
            <a:r>
              <a:rPr lang="en-US" b="1" dirty="0"/>
              <a:t>static properties or static methods</a:t>
            </a:r>
            <a:r>
              <a:rPr lang="en-US" dirty="0"/>
              <a:t>, you can access them </a:t>
            </a:r>
            <a:r>
              <a:rPr lang="en-US" b="1" dirty="0"/>
              <a:t>directly using class name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790589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0742C-F355-2C56-7713-6E6A4424B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FDAE64-D462-7840-08D2-B1C586F2FEC9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/>
              <a:t>Example:</a:t>
            </a:r>
          </a:p>
          <a:p>
            <a:pPr marL="266700" indent="0">
              <a:buNone/>
            </a:pPr>
            <a:r>
              <a:rPr lang="en-US" dirty="0"/>
              <a:t>class Math {</a:t>
            </a:r>
          </a:p>
          <a:p>
            <a:pPr marL="266700" indent="0">
              <a:buNone/>
            </a:pPr>
            <a:r>
              <a:rPr lang="en-US" dirty="0"/>
              <a:t>    public static function add($a, $b) {</a:t>
            </a:r>
          </a:p>
          <a:p>
            <a:pPr marL="266700" indent="0">
              <a:buNone/>
            </a:pPr>
            <a:r>
              <a:rPr lang="en-US" dirty="0"/>
              <a:t>        echo $a + $b;</a:t>
            </a:r>
          </a:p>
          <a:p>
            <a:pPr marL="266700" indent="0">
              <a:buNone/>
            </a:pPr>
            <a:r>
              <a:rPr lang="en-US" dirty="0"/>
              <a:t>    }</a:t>
            </a:r>
          </a:p>
          <a:p>
            <a:pPr marL="26670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// No object needed</a:t>
            </a:r>
          </a:p>
          <a:p>
            <a:r>
              <a:rPr lang="en-US" dirty="0"/>
              <a:t>Math::add(10, 20);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986738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0014D-C431-78BE-1F20-3AA6562A1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7003CE-DB63-A88F-4613-C8D7ABAE16C9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/>
              <a:t>Why no object?</a:t>
            </a:r>
          </a:p>
          <a:p>
            <a:r>
              <a:rPr lang="en-US" dirty="0"/>
              <a:t>Static members belong to </a:t>
            </a:r>
            <a:r>
              <a:rPr lang="en-US" b="1" dirty="0"/>
              <a:t>class itself</a:t>
            </a:r>
            <a:endParaRPr lang="en-US" dirty="0"/>
          </a:p>
          <a:p>
            <a:r>
              <a:rPr lang="en-US" dirty="0"/>
              <a:t>Shared across all objects</a:t>
            </a:r>
          </a:p>
          <a:p>
            <a:r>
              <a:rPr lang="en-US" dirty="0"/>
              <a:t>✔ Object NOT required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5270074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F9B87-C0BA-5268-BBD5-756A4F4DC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Properties (Variables in Class)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ADBEFA-6A1B-E6CF-C6A0-2F23FD468700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class Student {</a:t>
            </a:r>
          </a:p>
          <a:p>
            <a:r>
              <a:rPr lang="en-US" dirty="0"/>
              <a:t>    public $name = "Amit";</a:t>
            </a:r>
          </a:p>
          <a:p>
            <a:r>
              <a:rPr lang="en-US" dirty="0"/>
              <a:t>}</a:t>
            </a:r>
          </a:p>
          <a:p>
            <a:r>
              <a:rPr lang="en-US" dirty="0"/>
              <a:t>Accessing:</a:t>
            </a:r>
          </a:p>
          <a:p>
            <a:r>
              <a:rPr lang="en-US" dirty="0"/>
              <a:t>$obj = new Student();</a:t>
            </a:r>
          </a:p>
          <a:p>
            <a:r>
              <a:rPr lang="en-US" dirty="0"/>
              <a:t>echo $obj-&gt;name;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58135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EBF7F-B8D3-21CF-E5F8-8D28743F8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Methods (Functions in Class)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916717-476E-7F61-4B45-ED5ECF3F6CA6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class Student {</a:t>
            </a:r>
          </a:p>
          <a:p>
            <a:endParaRPr lang="en-US" dirty="0"/>
          </a:p>
          <a:p>
            <a:r>
              <a:rPr lang="en-US" dirty="0"/>
              <a:t>    function display() {</a:t>
            </a:r>
          </a:p>
          <a:p>
            <a:r>
              <a:rPr lang="en-US" dirty="0"/>
              <a:t>        echo "Welcome";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  <a:p>
            <a:r>
              <a:rPr lang="en-US" dirty="0"/>
              <a:t>Call:</a:t>
            </a:r>
          </a:p>
          <a:p>
            <a:pPr lvl="1"/>
            <a:r>
              <a:rPr lang="en-US" dirty="0"/>
              <a:t>$obj-&gt;display();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20416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AED14-0C02-2DD9-D239-18F2F4685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Constructor in PHP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587849-52B3-8552-7E94-BF30421DA36A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Constructor runs </a:t>
            </a:r>
            <a:r>
              <a:rPr lang="en-US" b="1" dirty="0"/>
              <a:t>automatically</a:t>
            </a:r>
            <a:r>
              <a:rPr lang="en-US" dirty="0"/>
              <a:t> when object is created.</a:t>
            </a:r>
          </a:p>
          <a:p>
            <a:r>
              <a:rPr lang="en-IN" b="1" dirty="0"/>
              <a:t>Syntax:</a:t>
            </a:r>
          </a:p>
          <a:p>
            <a:r>
              <a:rPr lang="en-IN" dirty="0"/>
              <a:t>function __construct() {</a:t>
            </a:r>
          </a:p>
          <a:p>
            <a:r>
              <a:rPr lang="en-IN" dirty="0"/>
              <a:t>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539527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CB053-7AB6-AE06-B2A3-35BFAE039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Example: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F11CC2-AF3B-C656-955D-9FC59FE43AE6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class Student {</a:t>
            </a:r>
          </a:p>
          <a:p>
            <a:pPr marL="0" indent="361950">
              <a:buNone/>
            </a:pPr>
            <a:r>
              <a:rPr lang="en-US" dirty="0"/>
              <a:t>    function __construct() {</a:t>
            </a:r>
          </a:p>
          <a:p>
            <a:pPr marL="0" indent="361950">
              <a:buNone/>
            </a:pPr>
            <a:r>
              <a:rPr lang="en-US" dirty="0"/>
              <a:t>        echo "Object Created";</a:t>
            </a:r>
          </a:p>
          <a:p>
            <a:pPr marL="0" indent="361950">
              <a:buNone/>
            </a:pPr>
            <a:r>
              <a:rPr lang="en-US" dirty="0"/>
              <a:t>    }</a:t>
            </a:r>
          </a:p>
          <a:p>
            <a:pPr marL="0" indent="361950">
              <a:buNone/>
            </a:pPr>
            <a:r>
              <a:rPr lang="en-US" dirty="0"/>
              <a:t>}</a:t>
            </a:r>
          </a:p>
          <a:p>
            <a:pPr marL="0" indent="361950">
              <a:buNone/>
            </a:pPr>
            <a:r>
              <a:rPr lang="en-US" dirty="0"/>
              <a:t>$obj = new Student();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Output:</a:t>
            </a:r>
          </a:p>
          <a:p>
            <a:pPr lvl="1"/>
            <a:r>
              <a:rPr lang="en-US" dirty="0"/>
              <a:t>Object Created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0792623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D5E3F-6AE5-C991-B285-3E20ABC16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Access Modifiers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E17B46-58A7-8C09-F99E-6EF7923C73F3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IN" dirty="0"/>
              <a:t>They control access level.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538EF60-E499-265B-4D8F-46EA016164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5717327"/>
              </p:ext>
            </p:extLst>
          </p:nvPr>
        </p:nvGraphicFramePr>
        <p:xfrm>
          <a:off x="1219200" y="2249486"/>
          <a:ext cx="10363200" cy="3800476"/>
        </p:xfrm>
        <a:graphic>
          <a:graphicData uri="http://schemas.openxmlformats.org/drawingml/2006/table">
            <a:tbl>
              <a:tblPr/>
              <a:tblGrid>
                <a:gridCol w="5181600">
                  <a:extLst>
                    <a:ext uri="{9D8B030D-6E8A-4147-A177-3AD203B41FA5}">
                      <a16:colId xmlns:a16="http://schemas.microsoft.com/office/drawing/2014/main" val="1298967360"/>
                    </a:ext>
                  </a:extLst>
                </a:gridCol>
                <a:gridCol w="5181600">
                  <a:extLst>
                    <a:ext uri="{9D8B030D-6E8A-4147-A177-3AD203B41FA5}">
                      <a16:colId xmlns:a16="http://schemas.microsoft.com/office/drawing/2014/main" val="2976888194"/>
                    </a:ext>
                  </a:extLst>
                </a:gridCol>
              </a:tblGrid>
              <a:tr h="9501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/>
                        <a:t>Modifier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/>
                        <a:t>Access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2063126"/>
                  </a:ext>
                </a:extLst>
              </a:tr>
              <a:tr h="9501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public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Accessible everywhere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5614790"/>
                  </a:ext>
                </a:extLst>
              </a:tr>
              <a:tr h="9501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private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Only inside class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980035"/>
                  </a:ext>
                </a:extLst>
              </a:tr>
              <a:tr h="9501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protected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Class + child class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1537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808275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3A3C0-2E75-3196-F75F-1D9D9F625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Destructor in PHP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90C144-53E2-B27D-15ED-89D6DC2EC79F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Destructor</a:t>
            </a:r>
            <a:r>
              <a:rPr lang="en-US" dirty="0"/>
              <a:t> is a </a:t>
            </a:r>
            <a:r>
              <a:rPr lang="en-US" b="1" dirty="0"/>
              <a:t>special method</a:t>
            </a:r>
            <a:r>
              <a:rPr lang="en-US" dirty="0"/>
              <a:t> in PHP that is </a:t>
            </a:r>
            <a:r>
              <a:rPr lang="en-US" b="1" dirty="0"/>
              <a:t>automatically called when an object is destroyed</a:t>
            </a:r>
            <a:r>
              <a:rPr lang="en-US" dirty="0"/>
              <a:t> or when the script execution ends.</a:t>
            </a:r>
          </a:p>
          <a:p>
            <a:pPr marL="0" indent="0">
              <a:buNone/>
            </a:pPr>
            <a:r>
              <a:rPr lang="en-US" dirty="0"/>
              <a:t>👉 It is mainly used to:</a:t>
            </a:r>
          </a:p>
          <a:p>
            <a:r>
              <a:rPr lang="en-US" dirty="0"/>
              <a:t>Free memory</a:t>
            </a:r>
          </a:p>
          <a:p>
            <a:r>
              <a:rPr lang="en-US" dirty="0"/>
              <a:t>Close database connections</a:t>
            </a:r>
          </a:p>
          <a:p>
            <a:r>
              <a:rPr lang="en-US" dirty="0"/>
              <a:t>Close files</a:t>
            </a:r>
          </a:p>
          <a:p>
            <a:r>
              <a:rPr lang="en-US" dirty="0"/>
              <a:t>Release resources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3449276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A77A2-8A27-9614-93C2-E7C6B7BF4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22CF2A-C513-4D5A-3BA7-1E3A5929809D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Destructor Method Name</a:t>
            </a:r>
          </a:p>
          <a:p>
            <a:r>
              <a:rPr lang="en-US" dirty="0"/>
              <a:t>In PHP, destructor is written as:</a:t>
            </a:r>
          </a:p>
          <a:p>
            <a:pPr lvl="1"/>
            <a:r>
              <a:rPr lang="en-US" dirty="0"/>
              <a:t>__destruct()</a:t>
            </a:r>
          </a:p>
          <a:p>
            <a:pPr marL="0" indent="0">
              <a:buNone/>
            </a:pPr>
            <a:r>
              <a:rPr lang="en-US" dirty="0"/>
              <a:t>⚠️ Double underscore is compulsory.</a:t>
            </a:r>
          </a:p>
          <a:p>
            <a:endParaRPr lang="en-IN" dirty="0"/>
          </a:p>
          <a:p>
            <a:r>
              <a:rPr lang="en-US" b="1" dirty="0"/>
              <a:t>Syntax of Destructor</a:t>
            </a:r>
          </a:p>
          <a:p>
            <a:r>
              <a:rPr lang="en-US" dirty="0"/>
              <a:t>class </a:t>
            </a:r>
            <a:r>
              <a:rPr lang="en-US" dirty="0" err="1"/>
              <a:t>ClassName</a:t>
            </a:r>
            <a:r>
              <a:rPr lang="en-US" dirty="0"/>
              <a:t> {</a:t>
            </a:r>
          </a:p>
          <a:p>
            <a:pPr marL="0" indent="361950">
              <a:buNone/>
            </a:pPr>
            <a:r>
              <a:rPr lang="en-US" dirty="0"/>
              <a:t>    function __destruct() {</a:t>
            </a:r>
          </a:p>
          <a:p>
            <a:pPr marL="0" indent="361950">
              <a:buNone/>
            </a:pPr>
            <a:r>
              <a:rPr lang="en-US" dirty="0"/>
              <a:t>        // cleanup code</a:t>
            </a:r>
          </a:p>
          <a:p>
            <a:pPr marL="0" indent="361950">
              <a:buNone/>
            </a:pPr>
            <a:r>
              <a:rPr lang="en-US" dirty="0"/>
              <a:t>    }</a:t>
            </a:r>
          </a:p>
          <a:p>
            <a:pPr marL="0" indent="361950">
              <a:buNone/>
            </a:pPr>
            <a:r>
              <a:rPr lang="en-US" dirty="0"/>
              <a:t>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1661534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2AE93-EC0D-17B0-61BC-B9B77DD4E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FCCF21-9EAA-54A3-D74D-F33E1EDD15CA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class Student {</a:t>
            </a:r>
          </a:p>
          <a:p>
            <a:pPr marL="0" indent="266700">
              <a:buNone/>
            </a:pPr>
            <a:r>
              <a:rPr lang="en-IN" dirty="0"/>
              <a:t>    function __construct() {</a:t>
            </a:r>
          </a:p>
          <a:p>
            <a:pPr marL="0" indent="266700">
              <a:buNone/>
            </a:pPr>
            <a:r>
              <a:rPr lang="en-IN" dirty="0"/>
              <a:t>        echo "Object Created&lt;</a:t>
            </a:r>
            <a:r>
              <a:rPr lang="en-IN" dirty="0" err="1"/>
              <a:t>br</a:t>
            </a:r>
            <a:r>
              <a:rPr lang="en-IN" dirty="0"/>
              <a:t>&gt;";</a:t>
            </a:r>
          </a:p>
          <a:p>
            <a:pPr marL="0" indent="266700">
              <a:buNone/>
            </a:pPr>
            <a:r>
              <a:rPr lang="en-IN" dirty="0"/>
              <a:t>    }</a:t>
            </a:r>
          </a:p>
          <a:p>
            <a:pPr marL="0" indent="266700">
              <a:buNone/>
            </a:pPr>
            <a:r>
              <a:rPr lang="en-IN" dirty="0"/>
              <a:t>    function __destruct() {</a:t>
            </a:r>
          </a:p>
          <a:p>
            <a:pPr marL="0" indent="266700">
              <a:buNone/>
            </a:pPr>
            <a:r>
              <a:rPr lang="en-IN" dirty="0"/>
              <a:t>        echo "Object Destroyed";</a:t>
            </a:r>
          </a:p>
          <a:p>
            <a:pPr marL="0" indent="266700">
              <a:buNone/>
            </a:pPr>
            <a:r>
              <a:rPr lang="en-IN" dirty="0"/>
              <a:t>    }</a:t>
            </a:r>
          </a:p>
          <a:p>
            <a:pPr marL="0" indent="266700">
              <a:buNone/>
            </a:pPr>
            <a:r>
              <a:rPr lang="en-IN" dirty="0"/>
              <a:t>}</a:t>
            </a:r>
          </a:p>
          <a:p>
            <a:r>
              <a:rPr lang="en-IN" dirty="0"/>
              <a:t>$</a:t>
            </a:r>
            <a:r>
              <a:rPr lang="en-IN" dirty="0" err="1"/>
              <a:t>obj</a:t>
            </a:r>
            <a:r>
              <a:rPr lang="en-IN" dirty="0"/>
              <a:t> = new Student();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50D15A-A0CC-76C1-622C-54612FED6530}"/>
              </a:ext>
            </a:extLst>
          </p:cNvPr>
          <p:cNvSpPr txBox="1"/>
          <p:nvPr/>
        </p:nvSpPr>
        <p:spPr>
          <a:xfrm>
            <a:off x="7038975" y="2233910"/>
            <a:ext cx="333375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Output </a:t>
            </a:r>
          </a:p>
          <a:p>
            <a:pPr>
              <a:buNone/>
            </a:pPr>
            <a:r>
              <a:rPr lang="en-US" sz="2400" dirty="0">
                <a:latin typeface="Courier New" panose="02070309020205020404" pitchFamily="49" charset="0"/>
              </a:rPr>
              <a:t>Object Created</a:t>
            </a:r>
          </a:p>
          <a:p>
            <a:pPr rtl="0">
              <a:buNone/>
            </a:pPr>
            <a:r>
              <a:rPr lang="en-US" sz="2400" dirty="0">
                <a:latin typeface="Courier New" panose="02070309020205020404" pitchFamily="49" charset="0"/>
              </a:rPr>
              <a:t>Object Destroyed</a:t>
            </a:r>
          </a:p>
        </p:txBody>
      </p:sp>
    </p:spTree>
    <p:extLst>
      <p:ext uri="{BB962C8B-B14F-4D97-AF65-F5344CB8AC3E}">
        <p14:creationId xmlns:p14="http://schemas.microsoft.com/office/powerpoint/2010/main" val="22416597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927B6-443A-850B-1221-AA452965C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Difference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12FEB8-6932-6E05-AFF3-2CAC67DDE484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219200" y="5057774"/>
            <a:ext cx="10363200" cy="962025"/>
          </a:xfrm>
        </p:spPr>
        <p:txBody>
          <a:bodyPr/>
          <a:lstStyle/>
          <a:p>
            <a:r>
              <a:rPr lang="en-US" dirty="0"/>
              <a:t>Object Created(Constructor Called) → Memory Allocated</a:t>
            </a:r>
          </a:p>
          <a:p>
            <a:r>
              <a:rPr lang="en-US" dirty="0"/>
              <a:t>Destructor Called → Memory Released</a:t>
            </a: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C9511DB-9A02-3E52-5632-A95A52F9CB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5533346"/>
              </p:ext>
            </p:extLst>
          </p:nvPr>
        </p:nvGraphicFramePr>
        <p:xfrm>
          <a:off x="1219200" y="1514475"/>
          <a:ext cx="10363200" cy="3133725"/>
        </p:xfrm>
        <a:graphic>
          <a:graphicData uri="http://schemas.openxmlformats.org/drawingml/2006/table">
            <a:tbl>
              <a:tblPr/>
              <a:tblGrid>
                <a:gridCol w="3454400">
                  <a:extLst>
                    <a:ext uri="{9D8B030D-6E8A-4147-A177-3AD203B41FA5}">
                      <a16:colId xmlns:a16="http://schemas.microsoft.com/office/drawing/2014/main" val="1717530419"/>
                    </a:ext>
                  </a:extLst>
                </a:gridCol>
                <a:gridCol w="3454400">
                  <a:extLst>
                    <a:ext uri="{9D8B030D-6E8A-4147-A177-3AD203B41FA5}">
                      <a16:colId xmlns:a16="http://schemas.microsoft.com/office/drawing/2014/main" val="2550235105"/>
                    </a:ext>
                  </a:extLst>
                </a:gridCol>
                <a:gridCol w="3454400">
                  <a:extLst>
                    <a:ext uri="{9D8B030D-6E8A-4147-A177-3AD203B41FA5}">
                      <a16:colId xmlns:a16="http://schemas.microsoft.com/office/drawing/2014/main" val="668686561"/>
                    </a:ext>
                  </a:extLst>
                </a:gridCol>
              </a:tblGrid>
              <a:tr h="6267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/>
                        <a:t>Constructor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/>
                        <a:t>Destructor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9612878"/>
                  </a:ext>
                </a:extLst>
              </a:tr>
              <a:tr h="6267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Method 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__construct()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__destruct()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254266"/>
                  </a:ext>
                </a:extLst>
              </a:tr>
              <a:tr h="6267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Called When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Object created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Object destroyed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9658438"/>
                  </a:ext>
                </a:extLst>
              </a:tr>
              <a:tr h="6267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Initialization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Cleanup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7289127"/>
                  </a:ext>
                </a:extLst>
              </a:tr>
              <a:tr h="6267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Automatic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✅ 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✅ 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23350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719910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45F52-6188-247C-A6D4-C60922651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Inheritance in PHP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C33FE-D293-DEA3-DD64-55A281596933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Inheritance means creating a new class from an existing class so that the new class can reuse the existing class features.</a:t>
            </a:r>
            <a:endParaRPr lang="en-US" b="1" dirty="0"/>
          </a:p>
          <a:p>
            <a:r>
              <a:rPr lang="en-US" dirty="0"/>
              <a:t>It allows </a:t>
            </a:r>
            <a:r>
              <a:rPr lang="en-US" b="1" dirty="0"/>
              <a:t>code reusability</a:t>
            </a:r>
            <a:r>
              <a:rPr lang="en-US" dirty="0"/>
              <a:t>, </a:t>
            </a:r>
            <a:r>
              <a:rPr lang="en-US" b="1" dirty="0"/>
              <a:t>method overriding</a:t>
            </a:r>
            <a:r>
              <a:rPr lang="en-US" dirty="0"/>
              <a:t>, and </a:t>
            </a:r>
            <a:r>
              <a:rPr lang="en-US" b="1" dirty="0"/>
              <a:t>hierarchical relationships</a:t>
            </a:r>
            <a:r>
              <a:rPr lang="en-US" dirty="0"/>
              <a:t>.</a:t>
            </a:r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Syntax:</a:t>
            </a:r>
          </a:p>
          <a:p>
            <a:r>
              <a:rPr lang="en-US" dirty="0"/>
              <a:t>class Child extends Parent {</a:t>
            </a:r>
          </a:p>
          <a:p>
            <a:r>
              <a:rPr lang="en-US" dirty="0"/>
              <a:t>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8595720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556D4-35E6-2B9E-7EC8-FC94B9DDE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6E12E9-33CC-D477-DEBC-136ADF2039C2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/>
              <a:t>Parent → Child Relationship</a:t>
            </a:r>
            <a:endParaRPr lang="en-US" dirty="0"/>
          </a:p>
          <a:p>
            <a:pPr lvl="1"/>
            <a:r>
              <a:rPr lang="en-US" dirty="0"/>
              <a:t>Vehicle → Car</a:t>
            </a:r>
          </a:p>
          <a:p>
            <a:pPr lvl="1"/>
            <a:r>
              <a:rPr lang="en-US" dirty="0"/>
              <a:t>Animal → Dog</a:t>
            </a:r>
          </a:p>
          <a:p>
            <a:pPr lvl="1"/>
            <a:r>
              <a:rPr lang="en-US" dirty="0"/>
              <a:t>Person → Student</a:t>
            </a:r>
          </a:p>
          <a:p>
            <a:r>
              <a:rPr lang="en-US" dirty="0"/>
              <a:t>A </a:t>
            </a:r>
            <a:r>
              <a:rPr lang="en-US" b="1" dirty="0"/>
              <a:t>Car</a:t>
            </a:r>
            <a:r>
              <a:rPr lang="en-US" dirty="0"/>
              <a:t> is a </a:t>
            </a:r>
            <a:r>
              <a:rPr lang="en-US" b="1" dirty="0"/>
              <a:t>Vehicle</a:t>
            </a:r>
            <a:br>
              <a:rPr lang="en-US" dirty="0"/>
            </a:br>
            <a:r>
              <a:rPr lang="en-US" dirty="0"/>
              <a:t>A </a:t>
            </a:r>
            <a:r>
              <a:rPr lang="en-US" b="1" dirty="0"/>
              <a:t>Student</a:t>
            </a:r>
            <a:r>
              <a:rPr lang="en-US" dirty="0"/>
              <a:t> is a </a:t>
            </a:r>
            <a:r>
              <a:rPr lang="en-US" b="1" dirty="0"/>
              <a:t>Person</a:t>
            </a:r>
            <a:endParaRPr lang="en-US" dirty="0"/>
          </a:p>
          <a:p>
            <a:r>
              <a:rPr lang="en-US" dirty="0"/>
              <a:t>So Student inherits Person properties.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2202197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A4784-2D29-D4BE-1485-3EE35E3DE1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2448B8-7AB6-C1ED-09E7-753986E080AF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/>
              <a:t>Syntax of Inheritance in PHP</a:t>
            </a:r>
          </a:p>
          <a:p>
            <a:pPr marL="0" indent="447675">
              <a:buNone/>
            </a:pPr>
            <a:r>
              <a:rPr lang="en-US" dirty="0"/>
              <a:t>PHP uses the </a:t>
            </a:r>
            <a:r>
              <a:rPr lang="en-US" b="1" dirty="0"/>
              <a:t>extends keyword</a:t>
            </a:r>
            <a:r>
              <a:rPr lang="en-US" dirty="0"/>
              <a:t>.</a:t>
            </a:r>
          </a:p>
          <a:p>
            <a:pPr marL="0" indent="447675">
              <a:buNone/>
            </a:pPr>
            <a:r>
              <a:rPr lang="en-US" dirty="0"/>
              <a:t>	class </a:t>
            </a:r>
            <a:r>
              <a:rPr lang="en-US" dirty="0" err="1"/>
              <a:t>ChildClass</a:t>
            </a:r>
            <a:r>
              <a:rPr lang="en-US" dirty="0"/>
              <a:t> extends </a:t>
            </a:r>
            <a:r>
              <a:rPr lang="en-US" dirty="0" err="1"/>
              <a:t>ParentClass</a:t>
            </a:r>
            <a:r>
              <a:rPr lang="en-US" dirty="0"/>
              <a:t> {</a:t>
            </a:r>
          </a:p>
          <a:p>
            <a:pPr marL="0" indent="447675">
              <a:buNone/>
            </a:pPr>
            <a:r>
              <a:rPr lang="en-US" dirty="0"/>
              <a:t>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1094159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94795-4EFF-3DFC-5DCC-56B440095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3FA3DD-5E13-280C-AC4E-15B1775392C7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219200" y="1447800"/>
            <a:ext cx="10363200" cy="4991100"/>
          </a:xfrm>
        </p:spPr>
        <p:txBody>
          <a:bodyPr>
            <a:normAutofit fontScale="85000" lnSpcReduction="20000"/>
          </a:bodyPr>
          <a:lstStyle/>
          <a:p>
            <a:r>
              <a:rPr lang="en-IN" dirty="0"/>
              <a:t>class Person {</a:t>
            </a:r>
          </a:p>
          <a:p>
            <a:pPr marL="0" indent="361950">
              <a:buNone/>
            </a:pPr>
            <a:r>
              <a:rPr lang="en-IN" dirty="0"/>
              <a:t>    public $name = “Ram";</a:t>
            </a:r>
          </a:p>
          <a:p>
            <a:pPr marL="0" indent="361950">
              <a:buNone/>
            </a:pPr>
            <a:r>
              <a:rPr lang="en-IN" dirty="0"/>
              <a:t>    function </a:t>
            </a:r>
            <a:r>
              <a:rPr lang="en-IN" dirty="0" err="1"/>
              <a:t>showName</a:t>
            </a:r>
            <a:r>
              <a:rPr lang="en-IN" dirty="0"/>
              <a:t>() {</a:t>
            </a:r>
          </a:p>
          <a:p>
            <a:pPr marL="0" indent="361950">
              <a:buNone/>
            </a:pPr>
            <a:r>
              <a:rPr lang="en-IN" dirty="0"/>
              <a:t>        echo $this-&gt;name;</a:t>
            </a:r>
          </a:p>
          <a:p>
            <a:pPr marL="0" indent="361950">
              <a:buNone/>
            </a:pPr>
            <a:r>
              <a:rPr lang="en-IN" dirty="0"/>
              <a:t>    }</a:t>
            </a:r>
          </a:p>
          <a:p>
            <a:pPr marL="0" indent="361950">
              <a:buNone/>
            </a:pPr>
            <a:r>
              <a:rPr lang="en-IN" dirty="0"/>
              <a:t>}</a:t>
            </a:r>
          </a:p>
          <a:p>
            <a:pPr marL="0" indent="361950">
              <a:buNone/>
            </a:pPr>
            <a:r>
              <a:rPr lang="en-IN" dirty="0"/>
              <a:t>class Student extends Person {</a:t>
            </a:r>
          </a:p>
          <a:p>
            <a:pPr marL="0" indent="361950">
              <a:buNone/>
            </a:pPr>
            <a:r>
              <a:rPr lang="en-IN" dirty="0"/>
              <a:t>    function </a:t>
            </a:r>
            <a:r>
              <a:rPr lang="en-IN" dirty="0" err="1"/>
              <a:t>showRole</a:t>
            </a:r>
            <a:r>
              <a:rPr lang="en-IN" dirty="0"/>
              <a:t>() {</a:t>
            </a:r>
          </a:p>
          <a:p>
            <a:pPr marL="0" indent="361950">
              <a:buNone/>
            </a:pPr>
            <a:r>
              <a:rPr lang="en-IN" dirty="0"/>
              <a:t>        echo "&lt;</a:t>
            </a:r>
            <a:r>
              <a:rPr lang="en-IN" dirty="0" err="1"/>
              <a:t>br</a:t>
            </a:r>
            <a:r>
              <a:rPr lang="en-IN" dirty="0"/>
              <a:t>&gt;I am a Student";</a:t>
            </a:r>
          </a:p>
          <a:p>
            <a:pPr marL="0" indent="361950">
              <a:buNone/>
            </a:pPr>
            <a:r>
              <a:rPr lang="en-IN" dirty="0"/>
              <a:t>    }</a:t>
            </a:r>
          </a:p>
          <a:p>
            <a:pPr marL="0" indent="361950">
              <a:buNone/>
            </a:pPr>
            <a:r>
              <a:rPr lang="en-IN" dirty="0"/>
              <a:t>}</a:t>
            </a:r>
          </a:p>
          <a:p>
            <a:r>
              <a:rPr lang="en-IN" dirty="0"/>
              <a:t>$</a:t>
            </a:r>
            <a:r>
              <a:rPr lang="en-IN" dirty="0" err="1"/>
              <a:t>obj</a:t>
            </a:r>
            <a:r>
              <a:rPr lang="en-IN" dirty="0"/>
              <a:t> = new Student();</a:t>
            </a:r>
          </a:p>
          <a:p>
            <a:r>
              <a:rPr lang="en-IN" dirty="0"/>
              <a:t>$</a:t>
            </a:r>
            <a:r>
              <a:rPr lang="en-IN" dirty="0" err="1"/>
              <a:t>obj</a:t>
            </a:r>
            <a:r>
              <a:rPr lang="en-IN" dirty="0"/>
              <a:t>-&gt;</a:t>
            </a:r>
            <a:r>
              <a:rPr lang="en-IN" dirty="0" err="1"/>
              <a:t>showName</a:t>
            </a:r>
            <a:r>
              <a:rPr lang="en-IN" dirty="0"/>
              <a:t>();</a:t>
            </a:r>
          </a:p>
          <a:p>
            <a:r>
              <a:rPr lang="en-IN" dirty="0"/>
              <a:t>$</a:t>
            </a:r>
            <a:r>
              <a:rPr lang="en-IN" dirty="0" err="1"/>
              <a:t>obj</a:t>
            </a:r>
            <a:r>
              <a:rPr lang="en-IN" dirty="0"/>
              <a:t>-&gt;</a:t>
            </a:r>
            <a:r>
              <a:rPr lang="en-IN" dirty="0" err="1"/>
              <a:t>showRole</a:t>
            </a:r>
            <a:r>
              <a:rPr lang="en-IN" dirty="0"/>
              <a:t>();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838F6F-72F5-53F3-24ED-1A938A1F9843}"/>
              </a:ext>
            </a:extLst>
          </p:cNvPr>
          <p:cNvSpPr txBox="1"/>
          <p:nvPr/>
        </p:nvSpPr>
        <p:spPr>
          <a:xfrm>
            <a:off x="6915150" y="1900535"/>
            <a:ext cx="277177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Output:</a:t>
            </a:r>
          </a:p>
          <a:p>
            <a:pPr rtl="0">
              <a:buNone/>
            </a:pPr>
            <a:r>
              <a:rPr lang="en-US" sz="2400" dirty="0">
                <a:latin typeface="Courier New" panose="02070309020205020404" pitchFamily="49" charset="0"/>
              </a:rPr>
              <a:t>Ram</a:t>
            </a:r>
          </a:p>
          <a:p>
            <a:pPr rtl="0">
              <a:buNone/>
            </a:pPr>
            <a:r>
              <a:rPr lang="en-US" sz="2400" dirty="0">
                <a:latin typeface="Courier New" panose="02070309020205020404" pitchFamily="49" charset="0"/>
              </a:rPr>
              <a:t>I am a Student</a:t>
            </a:r>
          </a:p>
        </p:txBody>
      </p:sp>
    </p:spTree>
    <p:extLst>
      <p:ext uri="{BB962C8B-B14F-4D97-AF65-F5344CB8AC3E}">
        <p14:creationId xmlns:p14="http://schemas.microsoft.com/office/powerpoint/2010/main" val="406945431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44339-FFE8-3159-B5A0-D2CAD606D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How It 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C8495C-F13A-57BB-582C-03D852C14B93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Step 1: Parent Class Created</a:t>
            </a:r>
          </a:p>
          <a:p>
            <a:pPr lvl="1"/>
            <a:r>
              <a:rPr lang="en-US" dirty="0"/>
              <a:t>class Person</a:t>
            </a:r>
          </a:p>
          <a:p>
            <a:r>
              <a:rPr lang="en-US" dirty="0"/>
              <a:t>Contains:</a:t>
            </a:r>
          </a:p>
          <a:p>
            <a:pPr lvl="1"/>
            <a:r>
              <a:rPr lang="en-US" dirty="0"/>
              <a:t>Property: $name</a:t>
            </a:r>
          </a:p>
          <a:p>
            <a:pPr lvl="1"/>
            <a:r>
              <a:rPr lang="en-US" dirty="0"/>
              <a:t>Method: </a:t>
            </a:r>
            <a:r>
              <a:rPr lang="en-US" dirty="0" err="1"/>
              <a:t>showName</a:t>
            </a:r>
            <a:r>
              <a:rPr lang="en-US" dirty="0"/>
              <a:t>()</a:t>
            </a:r>
          </a:p>
          <a:p>
            <a:r>
              <a:rPr lang="en-US" b="1" dirty="0"/>
              <a:t>Step 2: Child Class Created</a:t>
            </a:r>
          </a:p>
          <a:p>
            <a:pPr lvl="1"/>
            <a:r>
              <a:rPr lang="en-US" dirty="0"/>
              <a:t>class Student extends Person</a:t>
            </a:r>
          </a:p>
          <a:p>
            <a:r>
              <a:rPr lang="en-US" dirty="0"/>
              <a:t>Student now has:</a:t>
            </a:r>
          </a:p>
          <a:p>
            <a:pPr marL="0" indent="0">
              <a:buNone/>
            </a:pPr>
            <a:r>
              <a:rPr lang="en-US" dirty="0"/>
              <a:t>✔ Its own methods</a:t>
            </a:r>
            <a:br>
              <a:rPr lang="en-US" dirty="0"/>
            </a:br>
            <a:r>
              <a:rPr lang="en-US" dirty="0"/>
              <a:t>✔ Parent class methods</a:t>
            </a:r>
            <a:br>
              <a:rPr lang="en-US" dirty="0"/>
            </a:br>
            <a:r>
              <a:rPr lang="en-US" dirty="0"/>
              <a:t>✔ Parent class properties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6387614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D61F1-AACE-1DC0-D1B6-D8F27B8BE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31466F-47FB-3904-EFD6-294AE0823059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/>
              <a:t>Step 3: Object Created</a:t>
            </a:r>
          </a:p>
          <a:p>
            <a:r>
              <a:rPr lang="en-US" dirty="0"/>
              <a:t>$obj = new Student();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Step 4: Method Calls</a:t>
            </a:r>
          </a:p>
          <a:p>
            <a:r>
              <a:rPr lang="en-US" dirty="0"/>
              <a:t>$obj-&gt;</a:t>
            </a:r>
            <a:r>
              <a:rPr lang="en-US" dirty="0" err="1"/>
              <a:t>showName</a:t>
            </a:r>
            <a:r>
              <a:rPr lang="en-US" dirty="0"/>
              <a:t>();  // from Parent</a:t>
            </a:r>
          </a:p>
          <a:p>
            <a:r>
              <a:rPr lang="en-US" dirty="0"/>
              <a:t>$obj-&gt;</a:t>
            </a:r>
            <a:r>
              <a:rPr lang="en-US" dirty="0" err="1"/>
              <a:t>showRole</a:t>
            </a:r>
            <a:r>
              <a:rPr lang="en-US" dirty="0"/>
              <a:t>(); // from Child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6413771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D4F7F-A2B3-6266-AB60-7C8A1DC87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Inheritance Supported by PHP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FD3F1B-E66F-344C-5810-F7D2F39FC781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1️⃣ Single Inheritance</a:t>
            </a:r>
          </a:p>
          <a:p>
            <a:r>
              <a:rPr lang="en-US" dirty="0"/>
              <a:t>When a </a:t>
            </a:r>
            <a:r>
              <a:rPr lang="en-US" b="1" dirty="0"/>
              <a:t>child class inherits from only one parent class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One parent → one child</a:t>
            </a:r>
          </a:p>
          <a:p>
            <a:pPr marL="0" indent="361950">
              <a:buNone/>
            </a:pPr>
            <a:r>
              <a:rPr lang="en-US" dirty="0"/>
              <a:t>class A {}</a:t>
            </a:r>
          </a:p>
          <a:p>
            <a:pPr marL="0" indent="361950">
              <a:buNone/>
            </a:pPr>
            <a:r>
              <a:rPr lang="en-US" dirty="0"/>
              <a:t>class B extends A {}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6895859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D517E-9743-EB0C-195D-ACC7733A4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Example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269809-5E72-8C4B-59F3-5330C8DAD306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219200" y="1447800"/>
            <a:ext cx="10363200" cy="5135562"/>
          </a:xfrm>
        </p:spPr>
        <p:txBody>
          <a:bodyPr>
            <a:normAutofit fontScale="92500" lnSpcReduction="10000"/>
          </a:bodyPr>
          <a:lstStyle/>
          <a:p>
            <a:r>
              <a:rPr lang="en-IN" sz="2000" dirty="0"/>
              <a:t>&lt;?</a:t>
            </a:r>
            <a:r>
              <a:rPr lang="en-IN" sz="2000" dirty="0" err="1"/>
              <a:t>php</a:t>
            </a:r>
            <a:endParaRPr lang="en-IN" sz="2000" dirty="0"/>
          </a:p>
          <a:p>
            <a:r>
              <a:rPr lang="en-IN" sz="2000" dirty="0"/>
              <a:t>class Animal {</a:t>
            </a:r>
          </a:p>
          <a:p>
            <a:r>
              <a:rPr lang="en-IN" sz="2000" dirty="0"/>
              <a:t>    public function eat() {</a:t>
            </a:r>
          </a:p>
          <a:p>
            <a:r>
              <a:rPr lang="en-IN" sz="2000" dirty="0"/>
              <a:t>        echo "Animal is eating";</a:t>
            </a:r>
          </a:p>
          <a:p>
            <a:r>
              <a:rPr lang="en-IN" sz="2000" dirty="0"/>
              <a:t>    }</a:t>
            </a:r>
          </a:p>
          <a:p>
            <a:r>
              <a:rPr lang="en-IN" sz="2000" dirty="0"/>
              <a:t>}</a:t>
            </a:r>
          </a:p>
          <a:p>
            <a:r>
              <a:rPr lang="en-IN" sz="2000" dirty="0"/>
              <a:t>class Dog extends Animal {</a:t>
            </a:r>
          </a:p>
          <a:p>
            <a:r>
              <a:rPr lang="en-IN" sz="2000" dirty="0"/>
              <a:t>    public function bark() {</a:t>
            </a:r>
          </a:p>
          <a:p>
            <a:r>
              <a:rPr lang="en-IN" sz="2000" dirty="0"/>
              <a:t>        echo "Dog is barking";</a:t>
            </a:r>
          </a:p>
          <a:p>
            <a:r>
              <a:rPr lang="en-IN" sz="2000" dirty="0"/>
              <a:t>    }</a:t>
            </a:r>
          </a:p>
          <a:p>
            <a:r>
              <a:rPr lang="en-IN" sz="2000" dirty="0"/>
              <a:t>}</a:t>
            </a:r>
          </a:p>
          <a:p>
            <a:r>
              <a:rPr lang="en-IN" sz="2000" dirty="0"/>
              <a:t>$dog = new Dog();</a:t>
            </a:r>
          </a:p>
          <a:p>
            <a:r>
              <a:rPr lang="en-IN" sz="2000" dirty="0"/>
              <a:t>$dog-&gt;eat();   // Parent method</a:t>
            </a:r>
          </a:p>
          <a:p>
            <a:r>
              <a:rPr lang="en-IN" sz="2000" dirty="0"/>
              <a:t>$dog-&gt;bark();  // Child method</a:t>
            </a:r>
          </a:p>
          <a:p>
            <a:r>
              <a:rPr lang="en-IN" sz="2000" dirty="0"/>
              <a:t>?&gt;</a:t>
            </a:r>
          </a:p>
          <a:p>
            <a:endParaRPr lang="en-IN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85777E-FCD4-508B-B931-57C66953AF3C}"/>
              </a:ext>
            </a:extLst>
          </p:cNvPr>
          <p:cNvSpPr txBox="1"/>
          <p:nvPr/>
        </p:nvSpPr>
        <p:spPr>
          <a:xfrm>
            <a:off x="6296025" y="1800910"/>
            <a:ext cx="212407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Output</a:t>
            </a:r>
            <a:r>
              <a:rPr lang="en-IN" sz="2000" dirty="0"/>
              <a:t>:</a:t>
            </a:r>
            <a:endParaRPr lang="en-IN" sz="2000" b="1" dirty="0"/>
          </a:p>
          <a:p>
            <a:r>
              <a:rPr lang="en-IN" sz="2000" dirty="0"/>
              <a:t>Animal is eating</a:t>
            </a:r>
          </a:p>
          <a:p>
            <a:r>
              <a:rPr lang="en-IN" sz="2000" dirty="0"/>
              <a:t>Dog is barking</a:t>
            </a:r>
          </a:p>
        </p:txBody>
      </p:sp>
    </p:spTree>
    <p:extLst>
      <p:ext uri="{BB962C8B-B14F-4D97-AF65-F5344CB8AC3E}">
        <p14:creationId xmlns:p14="http://schemas.microsoft.com/office/powerpoint/2010/main" val="34173735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67770-8717-7A2A-FFB8-863B92F12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2. Multilevel Inheritance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04EF76-B115-6FFB-14DA-E2533EC2A4E9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When a class is derived from another </a:t>
            </a:r>
            <a:r>
              <a:rPr lang="en-US" b="1" dirty="0"/>
              <a:t>derived class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274946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C54AF-6723-2862-FDF3-8FEF255DD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Example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F46083-62C7-8F83-7C08-0C2260549D80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219200" y="1447799"/>
            <a:ext cx="10363200" cy="5229225"/>
          </a:xfrm>
        </p:spPr>
        <p:txBody>
          <a:bodyPr>
            <a:normAutofit fontScale="92500" lnSpcReduction="10000"/>
          </a:bodyPr>
          <a:lstStyle/>
          <a:p>
            <a:r>
              <a:rPr lang="en-IN" sz="1900" dirty="0"/>
              <a:t>&lt;?</a:t>
            </a:r>
            <a:r>
              <a:rPr lang="en-IN" sz="1900" dirty="0" err="1"/>
              <a:t>php</a:t>
            </a:r>
            <a:endParaRPr lang="en-IN" sz="1900" dirty="0"/>
          </a:p>
          <a:p>
            <a:pPr marL="0" indent="361950">
              <a:buNone/>
            </a:pPr>
            <a:r>
              <a:rPr lang="en-IN" sz="1900" dirty="0"/>
              <a:t>class Vehicle {</a:t>
            </a:r>
          </a:p>
          <a:p>
            <a:pPr marL="0" indent="361950">
              <a:buNone/>
            </a:pPr>
            <a:r>
              <a:rPr lang="en-IN" sz="1900" dirty="0"/>
              <a:t>    public function start() {</a:t>
            </a:r>
          </a:p>
          <a:p>
            <a:pPr marL="0" indent="361950">
              <a:buNone/>
            </a:pPr>
            <a:r>
              <a:rPr lang="en-IN" sz="1900" dirty="0"/>
              <a:t>        echo "Vehicle started";</a:t>
            </a:r>
          </a:p>
          <a:p>
            <a:pPr marL="0" indent="361950">
              <a:buNone/>
            </a:pPr>
            <a:r>
              <a:rPr lang="en-IN" sz="1900" dirty="0"/>
              <a:t>    }</a:t>
            </a:r>
          </a:p>
          <a:p>
            <a:pPr marL="0" indent="361950">
              <a:buNone/>
            </a:pPr>
            <a:r>
              <a:rPr lang="en-IN" sz="1900" dirty="0"/>
              <a:t>}</a:t>
            </a:r>
          </a:p>
          <a:p>
            <a:pPr marL="0" indent="361950">
              <a:buNone/>
            </a:pPr>
            <a:r>
              <a:rPr lang="en-IN" sz="1900" dirty="0"/>
              <a:t>class Car extends Vehicle {</a:t>
            </a:r>
          </a:p>
          <a:p>
            <a:pPr marL="0" indent="361950">
              <a:buNone/>
            </a:pPr>
            <a:r>
              <a:rPr lang="en-IN" sz="1900" dirty="0"/>
              <a:t>    public function drive() {</a:t>
            </a:r>
          </a:p>
          <a:p>
            <a:pPr marL="0" indent="361950">
              <a:buNone/>
            </a:pPr>
            <a:r>
              <a:rPr lang="en-IN" sz="1900" dirty="0"/>
              <a:t>        echo "Car is driving";</a:t>
            </a:r>
          </a:p>
          <a:p>
            <a:pPr marL="0" indent="361950">
              <a:buNone/>
            </a:pPr>
            <a:r>
              <a:rPr lang="en-IN" sz="1900" dirty="0"/>
              <a:t>    }</a:t>
            </a:r>
          </a:p>
          <a:p>
            <a:pPr marL="0" indent="361950">
              <a:buNone/>
            </a:pPr>
            <a:r>
              <a:rPr lang="en-IN" sz="1900" dirty="0"/>
              <a:t>}</a:t>
            </a:r>
          </a:p>
          <a:p>
            <a:pPr marL="0" indent="361950">
              <a:buNone/>
            </a:pPr>
            <a:r>
              <a:rPr lang="en-IN" sz="1900" dirty="0"/>
              <a:t>class </a:t>
            </a:r>
            <a:r>
              <a:rPr lang="en-IN" sz="1900" dirty="0" err="1"/>
              <a:t>SportsCar</a:t>
            </a:r>
            <a:r>
              <a:rPr lang="en-IN" sz="1900" dirty="0"/>
              <a:t> extends Car {</a:t>
            </a:r>
          </a:p>
          <a:p>
            <a:pPr marL="0" indent="361950">
              <a:buNone/>
            </a:pPr>
            <a:r>
              <a:rPr lang="en-IN" sz="1900" dirty="0"/>
              <a:t>    public function turbo() {</a:t>
            </a:r>
          </a:p>
          <a:p>
            <a:pPr marL="0" indent="361950">
              <a:buNone/>
            </a:pPr>
            <a:r>
              <a:rPr lang="en-IN" sz="1900" dirty="0"/>
              <a:t>        echo "Turbo mode ON";</a:t>
            </a:r>
          </a:p>
          <a:p>
            <a:pPr marL="0" indent="361950">
              <a:buNone/>
            </a:pPr>
            <a:r>
              <a:rPr lang="en-IN" sz="1900" dirty="0"/>
              <a:t>    }</a:t>
            </a:r>
          </a:p>
          <a:p>
            <a:pPr marL="0" indent="361950">
              <a:buNone/>
            </a:pPr>
            <a:r>
              <a:rPr lang="en-IN" sz="1900" dirty="0"/>
              <a:t>}</a:t>
            </a:r>
          </a:p>
          <a:p>
            <a:endParaRPr lang="en-IN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521ACA-B8E4-4A02-232B-DDEC5A396F1B}"/>
              </a:ext>
            </a:extLst>
          </p:cNvPr>
          <p:cNvSpPr txBox="1"/>
          <p:nvPr/>
        </p:nvSpPr>
        <p:spPr>
          <a:xfrm>
            <a:off x="7048500" y="1457323"/>
            <a:ext cx="27813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/>
              <a:t>$</a:t>
            </a:r>
            <a:r>
              <a:rPr lang="en-IN" sz="1800" dirty="0" err="1"/>
              <a:t>obj</a:t>
            </a:r>
            <a:r>
              <a:rPr lang="en-IN" sz="1800" dirty="0"/>
              <a:t> = new </a:t>
            </a:r>
            <a:r>
              <a:rPr lang="en-IN" sz="1800" dirty="0" err="1"/>
              <a:t>SportsCar</a:t>
            </a:r>
            <a:r>
              <a:rPr lang="en-IN" sz="1800" dirty="0"/>
              <a:t>();</a:t>
            </a:r>
          </a:p>
          <a:p>
            <a:r>
              <a:rPr lang="en-IN" sz="1800" dirty="0"/>
              <a:t>$</a:t>
            </a:r>
            <a:r>
              <a:rPr lang="en-IN" sz="1800" dirty="0" err="1"/>
              <a:t>obj</a:t>
            </a:r>
            <a:r>
              <a:rPr lang="en-IN" sz="1800" dirty="0"/>
              <a:t>-&gt;start();</a:t>
            </a:r>
          </a:p>
          <a:p>
            <a:r>
              <a:rPr lang="en-IN" sz="1800" dirty="0"/>
              <a:t>$</a:t>
            </a:r>
            <a:r>
              <a:rPr lang="en-IN" sz="1800" dirty="0" err="1"/>
              <a:t>obj</a:t>
            </a:r>
            <a:r>
              <a:rPr lang="en-IN" sz="1800" dirty="0"/>
              <a:t>-&gt;drive();</a:t>
            </a:r>
          </a:p>
          <a:p>
            <a:r>
              <a:rPr lang="en-IN" sz="1800" dirty="0"/>
              <a:t>$</a:t>
            </a:r>
            <a:r>
              <a:rPr lang="en-IN" sz="1800" dirty="0" err="1"/>
              <a:t>obj</a:t>
            </a:r>
            <a:r>
              <a:rPr lang="en-IN" sz="1800" dirty="0"/>
              <a:t>-&gt;turbo();</a:t>
            </a:r>
          </a:p>
          <a:p>
            <a:r>
              <a:rPr lang="en-IN" sz="1800" dirty="0"/>
              <a:t>?&gt;</a:t>
            </a:r>
          </a:p>
          <a:p>
            <a:endParaRPr lang="en-IN" dirty="0"/>
          </a:p>
          <a:p>
            <a:r>
              <a:rPr lang="en-IN" b="1" dirty="0"/>
              <a:t>Output:</a:t>
            </a:r>
          </a:p>
          <a:p>
            <a:r>
              <a:rPr lang="en-US" dirty="0"/>
              <a:t>Vehicle started</a:t>
            </a:r>
          </a:p>
          <a:p>
            <a:r>
              <a:rPr lang="en-US" dirty="0"/>
              <a:t>Car is driving</a:t>
            </a:r>
          </a:p>
          <a:p>
            <a:r>
              <a:rPr lang="en-US" dirty="0"/>
              <a:t>Turbo mode ON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294035613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66ADC-446B-056A-E7CA-107722F63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3. Hierarchical Inheritance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412B48-964F-1FF4-DE6E-BF4C337A9AC7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When </a:t>
            </a:r>
            <a:r>
              <a:rPr lang="en-US" b="1" dirty="0"/>
              <a:t>multiple child classes inherit from one parent class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5342312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6DFD2-A23B-5DFB-EF9E-D49DE1F2F1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ED06E0-30B6-91D1-CA86-39842B9D311B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/>
              <a:t>&lt;?</a:t>
            </a:r>
            <a:r>
              <a:rPr lang="en-IN" dirty="0" err="1"/>
              <a:t>php</a:t>
            </a:r>
            <a:endParaRPr lang="en-IN" dirty="0"/>
          </a:p>
          <a:p>
            <a:pPr marL="273050" indent="0">
              <a:buNone/>
            </a:pPr>
            <a:r>
              <a:rPr lang="en-IN" dirty="0"/>
              <a:t>class Shape {</a:t>
            </a:r>
          </a:p>
          <a:p>
            <a:pPr marL="273050" indent="0">
              <a:buNone/>
            </a:pPr>
            <a:r>
              <a:rPr lang="en-IN" dirty="0"/>
              <a:t>    public function draw() {</a:t>
            </a:r>
          </a:p>
          <a:p>
            <a:pPr marL="273050" indent="0">
              <a:buNone/>
            </a:pPr>
            <a:r>
              <a:rPr lang="en-IN" dirty="0"/>
              <a:t>        echo "Drawing shape";</a:t>
            </a:r>
          </a:p>
          <a:p>
            <a:pPr marL="273050" indent="0">
              <a:buNone/>
            </a:pPr>
            <a:r>
              <a:rPr lang="en-IN" dirty="0"/>
              <a:t>    }</a:t>
            </a:r>
          </a:p>
          <a:p>
            <a:pPr marL="273050" indent="0">
              <a:buNone/>
            </a:pPr>
            <a:r>
              <a:rPr lang="en-IN" dirty="0"/>
              <a:t>}</a:t>
            </a:r>
          </a:p>
          <a:p>
            <a:pPr marL="273050" indent="0">
              <a:buNone/>
            </a:pPr>
            <a:r>
              <a:rPr lang="en-IN" dirty="0"/>
              <a:t>class Circle extends Shape {</a:t>
            </a:r>
          </a:p>
          <a:p>
            <a:pPr marL="273050" indent="0">
              <a:buNone/>
            </a:pPr>
            <a:r>
              <a:rPr lang="en-IN" dirty="0"/>
              <a:t>    public function area() {</a:t>
            </a:r>
          </a:p>
          <a:p>
            <a:pPr marL="273050" indent="0">
              <a:buNone/>
            </a:pPr>
            <a:r>
              <a:rPr lang="en-IN" dirty="0"/>
              <a:t>        echo "Circle area";</a:t>
            </a:r>
          </a:p>
          <a:p>
            <a:pPr marL="273050" indent="0">
              <a:buNone/>
            </a:pPr>
            <a:r>
              <a:rPr lang="en-IN" dirty="0"/>
              <a:t>    }</a:t>
            </a:r>
          </a:p>
          <a:p>
            <a:pPr marL="273050" indent="0">
              <a:buNone/>
            </a:pPr>
            <a:r>
              <a:rPr lang="en-IN" dirty="0"/>
              <a:t>}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656DF0-0262-CEA0-CCD9-3D9CD62279EF}"/>
              </a:ext>
            </a:extLst>
          </p:cNvPr>
          <p:cNvSpPr txBox="1"/>
          <p:nvPr/>
        </p:nvSpPr>
        <p:spPr>
          <a:xfrm>
            <a:off x="5295900" y="1447799"/>
            <a:ext cx="56769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class Square extends Shape {</a:t>
            </a:r>
          </a:p>
          <a:p>
            <a:r>
              <a:rPr lang="en-IN" sz="2400" dirty="0"/>
              <a:t>    public function area() {</a:t>
            </a:r>
          </a:p>
          <a:p>
            <a:r>
              <a:rPr lang="en-IN" sz="2400" dirty="0"/>
              <a:t>        echo "Square area";</a:t>
            </a:r>
          </a:p>
          <a:p>
            <a:r>
              <a:rPr lang="en-IN" sz="2400" dirty="0"/>
              <a:t>    }</a:t>
            </a:r>
          </a:p>
          <a:p>
            <a:r>
              <a:rPr lang="en-IN" sz="2400" dirty="0"/>
              <a:t>}</a:t>
            </a:r>
          </a:p>
          <a:p>
            <a:endParaRPr lang="en-IN" sz="2400" dirty="0"/>
          </a:p>
          <a:p>
            <a:r>
              <a:rPr lang="en-IN" sz="2400" dirty="0"/>
              <a:t>$c = new Circle();</a:t>
            </a:r>
          </a:p>
          <a:p>
            <a:r>
              <a:rPr lang="en-IN" sz="2400" dirty="0"/>
              <a:t>$s = new Square();</a:t>
            </a:r>
          </a:p>
          <a:p>
            <a:endParaRPr lang="en-IN" sz="2400" dirty="0"/>
          </a:p>
          <a:p>
            <a:r>
              <a:rPr lang="en-IN" sz="2400" dirty="0"/>
              <a:t>$c-&gt;draw();</a:t>
            </a:r>
          </a:p>
          <a:p>
            <a:r>
              <a:rPr lang="en-IN" sz="2400" dirty="0"/>
              <a:t>$s-&gt;draw();</a:t>
            </a:r>
          </a:p>
          <a:p>
            <a:r>
              <a:rPr lang="en-IN" sz="2400" dirty="0"/>
              <a:t>?&gt;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C28CC0-5911-E1E0-D073-5277AAC02085}"/>
              </a:ext>
            </a:extLst>
          </p:cNvPr>
          <p:cNvSpPr txBox="1"/>
          <p:nvPr/>
        </p:nvSpPr>
        <p:spPr>
          <a:xfrm>
            <a:off x="8647043" y="3000036"/>
            <a:ext cx="2604052" cy="10374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en-IN" sz="2400" b="1" dirty="0"/>
              <a:t>Output:</a:t>
            </a:r>
          </a:p>
          <a:p>
            <a:pPr>
              <a:lnSpc>
                <a:spcPts val="1425"/>
              </a:lnSpc>
            </a:pPr>
            <a:endParaRPr lang="en-IN" sz="2400" dirty="0"/>
          </a:p>
          <a:p>
            <a:pPr>
              <a:lnSpc>
                <a:spcPts val="1425"/>
              </a:lnSpc>
            </a:pPr>
            <a:r>
              <a:rPr lang="en-IN" sz="2400" dirty="0"/>
              <a:t>Drawing shape</a:t>
            </a:r>
          </a:p>
          <a:p>
            <a:pPr>
              <a:lnSpc>
                <a:spcPts val="1425"/>
              </a:lnSpc>
            </a:pPr>
            <a:endParaRPr lang="en-IN" sz="2400" dirty="0"/>
          </a:p>
          <a:p>
            <a:pPr>
              <a:lnSpc>
                <a:spcPts val="1425"/>
              </a:lnSpc>
            </a:pPr>
            <a:r>
              <a:rPr lang="en-IN" sz="2400" dirty="0"/>
              <a:t>Drawing shape</a:t>
            </a:r>
          </a:p>
        </p:txBody>
      </p:sp>
    </p:spTree>
    <p:extLst>
      <p:ext uri="{BB962C8B-B14F-4D97-AF65-F5344CB8AC3E}">
        <p14:creationId xmlns:p14="http://schemas.microsoft.com/office/powerpoint/2010/main" val="24131856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CAE58-7846-DAFB-033C-35DC9DCE3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4. Multiple Inheritance (Using Traits)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80478-7B4B-1FD3-A8B7-0E9D215C4D53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❗ PHP does NOT support multiple inheritance using classes</a:t>
            </a:r>
            <a:br>
              <a:rPr lang="en-US" dirty="0"/>
            </a:br>
            <a:r>
              <a:rPr lang="en-US" dirty="0"/>
              <a:t>✔ But PHP provides </a:t>
            </a:r>
            <a:r>
              <a:rPr lang="en-US" b="1" dirty="0"/>
              <a:t>Traits</a:t>
            </a:r>
            <a:r>
              <a:rPr lang="en-US" dirty="0"/>
              <a:t> to achieve multiple inheritance behavior.</a:t>
            </a:r>
          </a:p>
          <a:p>
            <a:r>
              <a:rPr lang="en-US" dirty="0"/>
              <a:t>A class can use </a:t>
            </a:r>
            <a:r>
              <a:rPr lang="en-US" b="1" dirty="0"/>
              <a:t>multiple traits</a:t>
            </a:r>
            <a:r>
              <a:rPr lang="en-US" dirty="0"/>
              <a:t> to reuse code from different sources.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7748732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69506-727E-6253-4037-2F258DAC6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E5C61C-5CCA-346F-F2CE-4CBE4E8177C5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/>
          </a:bodyPr>
          <a:lstStyle/>
          <a:p>
            <a:r>
              <a:rPr lang="en-US" b="1" dirty="0"/>
              <a:t>Traits</a:t>
            </a:r>
            <a:r>
              <a:rPr lang="en-US" dirty="0"/>
              <a:t> are a PHP feature used to </a:t>
            </a:r>
            <a:r>
              <a:rPr lang="en-US" b="1" dirty="0"/>
              <a:t>reuse code across multiple classes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They help solve the problem of </a:t>
            </a:r>
            <a:r>
              <a:rPr lang="en-US" b="1" dirty="0"/>
              <a:t>multiple inheritance</a:t>
            </a:r>
            <a:r>
              <a:rPr lang="en-US" dirty="0"/>
              <a:t>, which PHP does NOT support with classes.</a:t>
            </a:r>
          </a:p>
          <a:p>
            <a:pPr marL="0" indent="0">
              <a:buNone/>
            </a:pPr>
            <a:r>
              <a:rPr lang="en-US" dirty="0"/>
              <a:t>👉 Introduced in </a:t>
            </a:r>
            <a:r>
              <a:rPr lang="en-US" b="1" dirty="0"/>
              <a:t>PHP 5.4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A </a:t>
            </a:r>
            <a:r>
              <a:rPr lang="en-US" b="1" dirty="0"/>
              <a:t>Trait</a:t>
            </a:r>
            <a:r>
              <a:rPr lang="en-US" dirty="0"/>
              <a:t> is a group of methods that can be included inside a class using the </a:t>
            </a:r>
            <a:r>
              <a:rPr lang="en-US" b="1" dirty="0"/>
              <a:t>use</a:t>
            </a:r>
            <a:r>
              <a:rPr lang="en-US" dirty="0"/>
              <a:t> keyword.</a:t>
            </a:r>
          </a:p>
          <a:p>
            <a:r>
              <a:rPr lang="en-US" dirty="0"/>
              <a:t>You can think of a trait as:</a:t>
            </a:r>
          </a:p>
          <a:p>
            <a:r>
              <a:rPr lang="en-US" dirty="0"/>
              <a:t>✔ A </a:t>
            </a:r>
            <a:r>
              <a:rPr lang="en-US" b="1" dirty="0"/>
              <a:t>code container</a:t>
            </a:r>
            <a:br>
              <a:rPr lang="en-US" dirty="0"/>
            </a:br>
            <a:r>
              <a:rPr lang="en-US" dirty="0"/>
              <a:t>✔ A </a:t>
            </a:r>
            <a:r>
              <a:rPr lang="en-US" b="1" dirty="0"/>
              <a:t>shared functionality provider</a:t>
            </a:r>
            <a:br>
              <a:rPr lang="en-US" dirty="0"/>
            </a:br>
            <a:r>
              <a:rPr lang="en-US" dirty="0"/>
              <a:t>✔ Not a class</a:t>
            </a:r>
            <a:br>
              <a:rPr lang="en-US" dirty="0"/>
            </a:br>
            <a:r>
              <a:rPr lang="en-US" dirty="0"/>
              <a:t>✔ Cannot create objects</a:t>
            </a:r>
            <a:br>
              <a:rPr lang="en-US" dirty="0"/>
            </a:br>
            <a:r>
              <a:rPr lang="en-US" dirty="0"/>
              <a:t>✔ Used only inside classes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222501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17249-D484-1AE7-E0BB-B8685A31D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Example Using Traits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E255B6-BC7E-2633-D24E-F33B3B8494FC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219200" y="1447800"/>
            <a:ext cx="10363200" cy="5135562"/>
          </a:xfrm>
        </p:spPr>
        <p:txBody>
          <a:bodyPr>
            <a:normAutofit fontScale="92500" lnSpcReduction="20000"/>
          </a:bodyPr>
          <a:lstStyle/>
          <a:p>
            <a:r>
              <a:rPr lang="en-IN" sz="2400" dirty="0"/>
              <a:t>&lt;?</a:t>
            </a:r>
            <a:r>
              <a:rPr lang="en-IN" sz="2400" dirty="0" err="1"/>
              <a:t>php</a:t>
            </a:r>
            <a:endParaRPr lang="en-IN" sz="2400" dirty="0"/>
          </a:p>
          <a:p>
            <a:pPr marL="0" indent="266700">
              <a:buNone/>
            </a:pPr>
            <a:r>
              <a:rPr lang="en-IN" sz="2400" dirty="0"/>
              <a:t>trait A {</a:t>
            </a:r>
          </a:p>
          <a:p>
            <a:pPr marL="0" indent="266700">
              <a:buNone/>
            </a:pPr>
            <a:r>
              <a:rPr lang="en-IN" sz="2400" dirty="0"/>
              <a:t>    public function </a:t>
            </a:r>
            <a:r>
              <a:rPr lang="en-IN" sz="2400" dirty="0" err="1"/>
              <a:t>showA</a:t>
            </a:r>
            <a:r>
              <a:rPr lang="en-IN" sz="2400" dirty="0"/>
              <a:t>() {</a:t>
            </a:r>
          </a:p>
          <a:p>
            <a:pPr marL="0" indent="266700">
              <a:buNone/>
            </a:pPr>
            <a:r>
              <a:rPr lang="en-IN" sz="2400" dirty="0"/>
              <a:t>        echo "Trait A";</a:t>
            </a:r>
          </a:p>
          <a:p>
            <a:pPr marL="0" indent="266700">
              <a:buNone/>
            </a:pPr>
            <a:r>
              <a:rPr lang="en-IN" sz="2400" dirty="0"/>
              <a:t>    }</a:t>
            </a:r>
          </a:p>
          <a:p>
            <a:pPr marL="0" indent="266700">
              <a:buNone/>
            </a:pPr>
            <a:r>
              <a:rPr lang="en-IN" sz="2400" dirty="0"/>
              <a:t>}</a:t>
            </a:r>
          </a:p>
          <a:p>
            <a:pPr marL="0" indent="266700">
              <a:buNone/>
            </a:pPr>
            <a:r>
              <a:rPr lang="en-IN" sz="2400" dirty="0"/>
              <a:t>trait B {</a:t>
            </a:r>
          </a:p>
          <a:p>
            <a:pPr marL="0" indent="266700">
              <a:buNone/>
            </a:pPr>
            <a:r>
              <a:rPr lang="en-IN" sz="2400" dirty="0"/>
              <a:t>    public function </a:t>
            </a:r>
            <a:r>
              <a:rPr lang="en-IN" sz="2400" dirty="0" err="1"/>
              <a:t>showB</a:t>
            </a:r>
            <a:r>
              <a:rPr lang="en-IN" sz="2400" dirty="0"/>
              <a:t>() {</a:t>
            </a:r>
          </a:p>
          <a:p>
            <a:pPr marL="0" indent="266700">
              <a:buNone/>
            </a:pPr>
            <a:r>
              <a:rPr lang="en-IN" sz="2400" dirty="0"/>
              <a:t>        echo "Trait B";</a:t>
            </a:r>
          </a:p>
          <a:p>
            <a:pPr marL="0" indent="266700">
              <a:buNone/>
            </a:pPr>
            <a:r>
              <a:rPr lang="en-IN" sz="2400" dirty="0"/>
              <a:t>    }</a:t>
            </a:r>
          </a:p>
          <a:p>
            <a:pPr marL="0" indent="266700">
              <a:buNone/>
            </a:pPr>
            <a:r>
              <a:rPr lang="en-IN" sz="2400" dirty="0"/>
              <a:t>}</a:t>
            </a:r>
          </a:p>
          <a:p>
            <a:pPr marL="0" indent="266700">
              <a:buNone/>
            </a:pPr>
            <a:r>
              <a:rPr lang="en-IN" sz="2400" dirty="0"/>
              <a:t>class </a:t>
            </a:r>
            <a:r>
              <a:rPr lang="en-IN" sz="2400" dirty="0" err="1"/>
              <a:t>MyClass</a:t>
            </a:r>
            <a:r>
              <a:rPr lang="en-IN" sz="2400" dirty="0"/>
              <a:t> {</a:t>
            </a:r>
          </a:p>
          <a:p>
            <a:pPr marL="0" indent="266700">
              <a:buNone/>
            </a:pPr>
            <a:r>
              <a:rPr lang="en-IN" sz="2400" dirty="0"/>
              <a:t>    </a:t>
            </a:r>
            <a:r>
              <a:rPr lang="en-IN" sz="2400" b="1" dirty="0"/>
              <a:t>use</a:t>
            </a:r>
            <a:r>
              <a:rPr lang="en-IN" sz="2400" dirty="0"/>
              <a:t> A, B;</a:t>
            </a:r>
          </a:p>
          <a:p>
            <a:pPr marL="0" indent="266700">
              <a:buNone/>
            </a:pPr>
            <a:r>
              <a:rPr lang="en-IN" sz="2400" dirty="0"/>
              <a:t>}</a:t>
            </a:r>
          </a:p>
          <a:p>
            <a:endParaRPr lang="en-IN" sz="2400" dirty="0"/>
          </a:p>
          <a:p>
            <a:endParaRPr lang="en-IN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EC9649-76E2-6575-8258-0DD72C74F703}"/>
              </a:ext>
            </a:extLst>
          </p:cNvPr>
          <p:cNvSpPr txBox="1"/>
          <p:nvPr/>
        </p:nvSpPr>
        <p:spPr>
          <a:xfrm>
            <a:off x="6562725" y="1447800"/>
            <a:ext cx="2609850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/>
              <a:t>$</a:t>
            </a:r>
            <a:r>
              <a:rPr lang="en-IN" sz="2000" dirty="0" err="1"/>
              <a:t>obj</a:t>
            </a:r>
            <a:r>
              <a:rPr lang="en-IN" sz="2000" dirty="0"/>
              <a:t> = new </a:t>
            </a:r>
            <a:r>
              <a:rPr lang="en-IN" sz="2000" dirty="0" err="1"/>
              <a:t>MyClass</a:t>
            </a:r>
            <a:r>
              <a:rPr lang="en-IN" sz="2000" dirty="0"/>
              <a:t>();</a:t>
            </a:r>
          </a:p>
          <a:p>
            <a:r>
              <a:rPr lang="en-IN" sz="2000" dirty="0"/>
              <a:t>$</a:t>
            </a:r>
            <a:r>
              <a:rPr lang="en-IN" sz="2000" dirty="0" err="1"/>
              <a:t>obj</a:t>
            </a:r>
            <a:r>
              <a:rPr lang="en-IN" sz="2000" dirty="0"/>
              <a:t>-&gt;</a:t>
            </a:r>
            <a:r>
              <a:rPr lang="en-IN" sz="2000" dirty="0" err="1"/>
              <a:t>showA</a:t>
            </a:r>
            <a:r>
              <a:rPr lang="en-IN" sz="2000" dirty="0"/>
              <a:t>();</a:t>
            </a:r>
          </a:p>
          <a:p>
            <a:r>
              <a:rPr lang="en-IN" sz="2000" dirty="0"/>
              <a:t>$</a:t>
            </a:r>
            <a:r>
              <a:rPr lang="en-IN" sz="2000" dirty="0" err="1"/>
              <a:t>obj</a:t>
            </a:r>
            <a:r>
              <a:rPr lang="en-IN" sz="2000" dirty="0"/>
              <a:t>-&gt;</a:t>
            </a:r>
            <a:r>
              <a:rPr lang="en-IN" sz="2000" dirty="0" err="1"/>
              <a:t>showB</a:t>
            </a:r>
            <a:r>
              <a:rPr lang="en-IN" sz="2000" dirty="0"/>
              <a:t>();</a:t>
            </a:r>
          </a:p>
          <a:p>
            <a:r>
              <a:rPr lang="en-IN" sz="2000" dirty="0"/>
              <a:t>?&gt;</a:t>
            </a:r>
          </a:p>
          <a:p>
            <a:endParaRPr lang="en-IN" sz="2000" dirty="0"/>
          </a:p>
          <a:p>
            <a:r>
              <a:rPr lang="fr-FR" sz="2000" b="1" dirty="0"/>
              <a:t>Output:</a:t>
            </a:r>
          </a:p>
          <a:p>
            <a:r>
              <a:rPr lang="fr-FR" dirty="0"/>
              <a:t>Trait A</a:t>
            </a:r>
          </a:p>
          <a:p>
            <a:r>
              <a:rPr lang="fr-FR" dirty="0"/>
              <a:t>Trait B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58734614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7E668-7166-CE83-26B3-5F4410A6D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7166A7E-CCD0-CD5D-3D6D-D8ECD66D282B}"/>
              </a:ext>
            </a:extLst>
          </p:cNvPr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258159734"/>
              </p:ext>
            </p:extLst>
          </p:nvPr>
        </p:nvGraphicFramePr>
        <p:xfrm>
          <a:off x="1219200" y="1417638"/>
          <a:ext cx="10134600" cy="4183062"/>
        </p:xfrm>
        <a:graphic>
          <a:graphicData uri="http://schemas.openxmlformats.org/drawingml/2006/table">
            <a:tbl>
              <a:tblPr/>
              <a:tblGrid>
                <a:gridCol w="5067300">
                  <a:extLst>
                    <a:ext uri="{9D8B030D-6E8A-4147-A177-3AD203B41FA5}">
                      <a16:colId xmlns:a16="http://schemas.microsoft.com/office/drawing/2014/main" val="2306001651"/>
                    </a:ext>
                  </a:extLst>
                </a:gridCol>
                <a:gridCol w="5067300">
                  <a:extLst>
                    <a:ext uri="{9D8B030D-6E8A-4147-A177-3AD203B41FA5}">
                      <a16:colId xmlns:a16="http://schemas.microsoft.com/office/drawing/2014/main" val="2566583200"/>
                    </a:ext>
                  </a:extLst>
                </a:gridCol>
              </a:tblGrid>
              <a:tr h="6971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Inheritance 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Supported in PHP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719522"/>
                  </a:ext>
                </a:extLst>
              </a:tr>
              <a:tr h="6971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Single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✅ 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5877805"/>
                  </a:ext>
                </a:extLst>
              </a:tr>
              <a:tr h="6971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Multilevel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✅ 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3357153"/>
                  </a:ext>
                </a:extLst>
              </a:tr>
              <a:tr h="6971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Hierarchical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✅ 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6655878"/>
                  </a:ext>
                </a:extLst>
              </a:tr>
              <a:tr h="6971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Multiple (Class)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❌ 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9058824"/>
                  </a:ext>
                </a:extLst>
              </a:tr>
              <a:tr h="6971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Multiple (Trait)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✅ 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14721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9297829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68367-B7F3-7A7F-1A9C-828FDC446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Method Overriding in Inheritance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4A87C8-07D5-A87D-F9B1-5E9B81E1CD3D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/>
              <a:t>Method Overriding</a:t>
            </a:r>
            <a:r>
              <a:rPr lang="en-US" dirty="0"/>
              <a:t> occurs when a </a:t>
            </a:r>
            <a:r>
              <a:rPr lang="en-US" b="1" dirty="0"/>
              <a:t>child class provides its own implementation of a method that already exists in the parent class</a:t>
            </a:r>
            <a:r>
              <a:rPr lang="en-US" dirty="0"/>
              <a:t>.</a:t>
            </a:r>
          </a:p>
          <a:p>
            <a:r>
              <a:rPr lang="en-US" dirty="0"/>
              <a:t>👉 The child method </a:t>
            </a:r>
            <a:r>
              <a:rPr lang="en-US" b="1" dirty="0"/>
              <a:t>replaces</a:t>
            </a:r>
            <a:r>
              <a:rPr lang="en-US" dirty="0"/>
              <a:t> the parent method behavior.</a:t>
            </a:r>
          </a:p>
          <a:p>
            <a:endParaRPr lang="en-IN" dirty="0"/>
          </a:p>
          <a:p>
            <a:r>
              <a:rPr lang="en-US" dirty="0"/>
              <a:t>When a subclass redefines a parent class method with the </a:t>
            </a:r>
            <a:r>
              <a:rPr lang="en-US" b="1" dirty="0"/>
              <a:t>same name and same parameters</a:t>
            </a:r>
            <a:r>
              <a:rPr lang="en-US" dirty="0"/>
              <a:t>, it is called </a:t>
            </a:r>
            <a:r>
              <a:rPr lang="en-US" b="1" dirty="0"/>
              <a:t>Method Overriding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7704415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8B074-F5E1-65BC-44BE-2626CD44D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3B0902-8751-8422-6380-A21BDE043B7E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77500" lnSpcReduction="20000"/>
          </a:bodyPr>
          <a:lstStyle/>
          <a:p>
            <a:pPr marL="0" indent="180975">
              <a:buNone/>
            </a:pPr>
            <a:r>
              <a:rPr lang="en-IN" dirty="0"/>
              <a:t>class </a:t>
            </a:r>
            <a:r>
              <a:rPr lang="en-IN" dirty="0" err="1"/>
              <a:t>ParentClass</a:t>
            </a:r>
            <a:r>
              <a:rPr lang="en-IN" dirty="0"/>
              <a:t> {</a:t>
            </a:r>
          </a:p>
          <a:p>
            <a:pPr marL="0" indent="180975">
              <a:buNone/>
            </a:pPr>
            <a:r>
              <a:rPr lang="en-IN" dirty="0"/>
              <a:t>    function show() {</a:t>
            </a:r>
          </a:p>
          <a:p>
            <a:pPr marL="0" indent="180975">
              <a:buNone/>
            </a:pPr>
            <a:r>
              <a:rPr lang="en-IN" dirty="0"/>
              <a:t>        echo "Parent Method";</a:t>
            </a:r>
          </a:p>
          <a:p>
            <a:pPr marL="0" indent="180975">
              <a:buNone/>
            </a:pPr>
            <a:r>
              <a:rPr lang="en-IN" dirty="0"/>
              <a:t>    }</a:t>
            </a:r>
          </a:p>
          <a:p>
            <a:pPr marL="0" indent="180975">
              <a:buNone/>
            </a:pPr>
            <a:r>
              <a:rPr lang="en-IN" dirty="0"/>
              <a:t>}</a:t>
            </a:r>
          </a:p>
          <a:p>
            <a:pPr marL="0" indent="180975">
              <a:buNone/>
            </a:pPr>
            <a:endParaRPr lang="en-IN" dirty="0"/>
          </a:p>
          <a:p>
            <a:pPr marL="0" indent="180975">
              <a:buNone/>
            </a:pPr>
            <a:r>
              <a:rPr lang="en-IN" dirty="0"/>
              <a:t>class </a:t>
            </a:r>
            <a:r>
              <a:rPr lang="en-IN" dirty="0" err="1"/>
              <a:t>ChildClass</a:t>
            </a:r>
            <a:r>
              <a:rPr lang="en-IN" dirty="0"/>
              <a:t> extends </a:t>
            </a:r>
            <a:r>
              <a:rPr lang="en-IN" dirty="0" err="1"/>
              <a:t>ParentClass</a:t>
            </a:r>
            <a:r>
              <a:rPr lang="en-IN" dirty="0"/>
              <a:t> {</a:t>
            </a:r>
          </a:p>
          <a:p>
            <a:pPr marL="0" indent="180975">
              <a:buNone/>
            </a:pPr>
            <a:r>
              <a:rPr lang="en-IN" dirty="0"/>
              <a:t>    function show() {</a:t>
            </a:r>
          </a:p>
          <a:p>
            <a:pPr marL="0" indent="180975">
              <a:buNone/>
            </a:pPr>
            <a:r>
              <a:rPr lang="en-IN" dirty="0"/>
              <a:t>        echo "Child Method";</a:t>
            </a:r>
          </a:p>
          <a:p>
            <a:pPr marL="0" indent="180975">
              <a:buNone/>
            </a:pPr>
            <a:r>
              <a:rPr lang="en-IN" dirty="0"/>
              <a:t>    }</a:t>
            </a:r>
          </a:p>
          <a:p>
            <a:pPr marL="0" indent="180975">
              <a:buNone/>
            </a:pPr>
            <a:r>
              <a:rPr lang="en-IN" dirty="0"/>
              <a:t>}</a:t>
            </a:r>
          </a:p>
          <a:p>
            <a:pPr marL="0" indent="180975">
              <a:buNone/>
            </a:pPr>
            <a:endParaRPr lang="en-IN" dirty="0"/>
          </a:p>
          <a:p>
            <a:pPr marL="0" indent="180975">
              <a:buNone/>
            </a:pPr>
            <a:r>
              <a:rPr lang="en-IN" dirty="0"/>
              <a:t>$</a:t>
            </a:r>
            <a:r>
              <a:rPr lang="en-IN" dirty="0" err="1"/>
              <a:t>obj</a:t>
            </a:r>
            <a:r>
              <a:rPr lang="en-IN" dirty="0"/>
              <a:t> = new </a:t>
            </a:r>
            <a:r>
              <a:rPr lang="en-IN" dirty="0" err="1"/>
              <a:t>ChildClass</a:t>
            </a:r>
            <a:r>
              <a:rPr lang="en-IN" dirty="0"/>
              <a:t>();</a:t>
            </a:r>
          </a:p>
          <a:p>
            <a:pPr marL="0" indent="180975">
              <a:buNone/>
            </a:pPr>
            <a:r>
              <a:rPr lang="en-IN" dirty="0"/>
              <a:t>$</a:t>
            </a:r>
            <a:r>
              <a:rPr lang="en-IN" dirty="0" err="1"/>
              <a:t>obj</a:t>
            </a:r>
            <a:r>
              <a:rPr lang="en-IN" dirty="0"/>
              <a:t>-&gt;show();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555D08-C5A2-240F-2B84-BA27A3A7C7EB}"/>
              </a:ext>
            </a:extLst>
          </p:cNvPr>
          <p:cNvSpPr txBox="1"/>
          <p:nvPr/>
        </p:nvSpPr>
        <p:spPr>
          <a:xfrm>
            <a:off x="6096000" y="1447800"/>
            <a:ext cx="404812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Output:</a:t>
            </a:r>
          </a:p>
          <a:p>
            <a:r>
              <a:rPr lang="en-IN" sz="2000" dirty="0"/>
              <a:t>Child Method</a:t>
            </a:r>
          </a:p>
        </p:txBody>
      </p:sp>
    </p:spTree>
    <p:extLst>
      <p:ext uri="{BB962C8B-B14F-4D97-AF65-F5344CB8AC3E}">
        <p14:creationId xmlns:p14="http://schemas.microsoft.com/office/powerpoint/2010/main" val="408015224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AE24D-62A7-2B31-2D68-8A9E1958A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5C8239-F24B-7F70-CD6A-6595F834F137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/>
              <a:t>Using parent:: Keyword</a:t>
            </a:r>
          </a:p>
          <a:p>
            <a:r>
              <a:rPr lang="en-US" dirty="0"/>
              <a:t>To call parent class method:</a:t>
            </a:r>
          </a:p>
          <a:p>
            <a:r>
              <a:rPr lang="en-US" dirty="0"/>
              <a:t>parent::</a:t>
            </a:r>
            <a:r>
              <a:rPr lang="en-US" dirty="0" err="1"/>
              <a:t>methodName</a:t>
            </a:r>
            <a:r>
              <a:rPr lang="en-US" dirty="0"/>
              <a:t>();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9043047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02351-89BB-B8EB-19EC-9916486D6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Example: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7BB003-8F59-8D45-8CBA-DC96864A7687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dirty="0"/>
              <a:t>class </a:t>
            </a:r>
            <a:r>
              <a:rPr lang="en-IN" dirty="0" err="1"/>
              <a:t>ParentClass</a:t>
            </a:r>
            <a:r>
              <a:rPr lang="en-IN" dirty="0"/>
              <a:t> {</a:t>
            </a:r>
          </a:p>
          <a:p>
            <a:r>
              <a:rPr lang="en-IN" dirty="0"/>
              <a:t>    function show() {</a:t>
            </a:r>
          </a:p>
          <a:p>
            <a:r>
              <a:rPr lang="en-IN" dirty="0"/>
              <a:t>        echo "Parent Show&lt;</a:t>
            </a:r>
            <a:r>
              <a:rPr lang="en-IN" dirty="0" err="1"/>
              <a:t>br</a:t>
            </a:r>
            <a:r>
              <a:rPr lang="en-IN" dirty="0"/>
              <a:t>&gt;";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}</a:t>
            </a:r>
          </a:p>
          <a:p>
            <a:r>
              <a:rPr lang="en-IN" dirty="0"/>
              <a:t>class </a:t>
            </a:r>
            <a:r>
              <a:rPr lang="en-IN" dirty="0" err="1"/>
              <a:t>ChildClass</a:t>
            </a:r>
            <a:r>
              <a:rPr lang="en-IN" dirty="0"/>
              <a:t> extends </a:t>
            </a:r>
            <a:r>
              <a:rPr lang="en-IN" dirty="0" err="1"/>
              <a:t>ParentClass</a:t>
            </a:r>
            <a:r>
              <a:rPr lang="en-IN" dirty="0"/>
              <a:t> {</a:t>
            </a:r>
          </a:p>
          <a:p>
            <a:r>
              <a:rPr lang="en-IN" dirty="0"/>
              <a:t>    function show() {</a:t>
            </a:r>
          </a:p>
          <a:p>
            <a:r>
              <a:rPr lang="en-IN" dirty="0"/>
              <a:t>        parent::show();</a:t>
            </a:r>
          </a:p>
          <a:p>
            <a:r>
              <a:rPr lang="en-IN" dirty="0"/>
              <a:t>        echo "Child Show";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}</a:t>
            </a:r>
          </a:p>
          <a:p>
            <a:r>
              <a:rPr lang="en-IN" dirty="0"/>
              <a:t>$</a:t>
            </a:r>
            <a:r>
              <a:rPr lang="en-IN" dirty="0" err="1"/>
              <a:t>obj</a:t>
            </a:r>
            <a:r>
              <a:rPr lang="en-IN" dirty="0"/>
              <a:t> = new </a:t>
            </a:r>
            <a:r>
              <a:rPr lang="en-IN" dirty="0" err="1"/>
              <a:t>ChildClass</a:t>
            </a:r>
            <a:r>
              <a:rPr lang="en-IN" dirty="0"/>
              <a:t>();</a:t>
            </a:r>
          </a:p>
          <a:p>
            <a:r>
              <a:rPr lang="en-IN" dirty="0"/>
              <a:t>$</a:t>
            </a:r>
            <a:r>
              <a:rPr lang="en-IN" dirty="0" err="1"/>
              <a:t>obj</a:t>
            </a:r>
            <a:r>
              <a:rPr lang="en-IN" dirty="0"/>
              <a:t>-&gt;show();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69B8BF-AB48-D429-5CA8-BBD4FF4F1397}"/>
              </a:ext>
            </a:extLst>
          </p:cNvPr>
          <p:cNvSpPr txBox="1"/>
          <p:nvPr/>
        </p:nvSpPr>
        <p:spPr>
          <a:xfrm>
            <a:off x="6600825" y="1538585"/>
            <a:ext cx="33528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Output:</a:t>
            </a:r>
          </a:p>
          <a:p>
            <a:pPr rtl="0">
              <a:buNone/>
            </a:pPr>
            <a:r>
              <a:rPr lang="en-US" sz="2000" dirty="0">
                <a:latin typeface="Courier New" panose="02070309020205020404" pitchFamily="49" charset="0"/>
              </a:rPr>
              <a:t>Parent Show</a:t>
            </a:r>
          </a:p>
          <a:p>
            <a:pPr rtl="0">
              <a:buNone/>
            </a:pPr>
            <a:r>
              <a:rPr lang="en-US" sz="2000" dirty="0">
                <a:latin typeface="Courier New" panose="02070309020205020404" pitchFamily="49" charset="0"/>
              </a:rPr>
              <a:t>Child Show</a:t>
            </a:r>
          </a:p>
        </p:txBody>
      </p:sp>
    </p:spTree>
    <p:extLst>
      <p:ext uri="{BB962C8B-B14F-4D97-AF65-F5344CB8AC3E}">
        <p14:creationId xmlns:p14="http://schemas.microsoft.com/office/powerpoint/2010/main" val="233611242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heme1_LPU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_LPU" id="{BB28679B-D966-4CFA-8E30-8E5ED8F581FF}" vid="{CA0C32D0-A588-4E4D-8E93-996DA3C803B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Theme1_LPU</Template>
  <TotalTime>3201</TotalTime>
  <Words>2102</Words>
  <Application>Microsoft Office PowerPoint</Application>
  <PresentationFormat>Widescreen</PresentationFormat>
  <Paragraphs>472</Paragraphs>
  <Slides>55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60" baseType="lpstr">
      <vt:lpstr>Courier New</vt:lpstr>
      <vt:lpstr>Franklin Gothic Book</vt:lpstr>
      <vt:lpstr>Perpetua</vt:lpstr>
      <vt:lpstr>Wingdings 2</vt:lpstr>
      <vt:lpstr>Theme1_LPU</vt:lpstr>
      <vt:lpstr>Unit-1 Basics of PHP</vt:lpstr>
      <vt:lpstr>OOP (Object-Oriented Programming) in PHP</vt:lpstr>
      <vt:lpstr>Basic OOP Terms in PHP</vt:lpstr>
      <vt:lpstr>Class</vt:lpstr>
      <vt:lpstr>PowerPoint Presentation</vt:lpstr>
      <vt:lpstr>Rules for Creating a Class in PHP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Example of Proper Class</vt:lpstr>
      <vt:lpstr>Object in Class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Properties (Variables in Class)</vt:lpstr>
      <vt:lpstr>Methods (Functions in Class)</vt:lpstr>
      <vt:lpstr>Constructor in PHP</vt:lpstr>
      <vt:lpstr>Example:</vt:lpstr>
      <vt:lpstr>Access Modifiers</vt:lpstr>
      <vt:lpstr>Destructor in PHP</vt:lpstr>
      <vt:lpstr>PowerPoint Presentation</vt:lpstr>
      <vt:lpstr>PowerPoint Presentation</vt:lpstr>
      <vt:lpstr>Difference</vt:lpstr>
      <vt:lpstr>Inheritance in PHP</vt:lpstr>
      <vt:lpstr>PowerPoint Presentation</vt:lpstr>
      <vt:lpstr>PowerPoint Presentation</vt:lpstr>
      <vt:lpstr>Example</vt:lpstr>
      <vt:lpstr>How It Works</vt:lpstr>
      <vt:lpstr>PowerPoint Presentation</vt:lpstr>
      <vt:lpstr>Types of Inheritance Supported by PHP</vt:lpstr>
      <vt:lpstr>Example</vt:lpstr>
      <vt:lpstr>2. Multilevel Inheritance</vt:lpstr>
      <vt:lpstr>Example</vt:lpstr>
      <vt:lpstr>3. Hierarchical Inheritance</vt:lpstr>
      <vt:lpstr>Example</vt:lpstr>
      <vt:lpstr>4. Multiple Inheritance (Using Traits)</vt:lpstr>
      <vt:lpstr>PowerPoint Presentation</vt:lpstr>
      <vt:lpstr>Example Using Traits</vt:lpstr>
      <vt:lpstr>PowerPoint Presentation</vt:lpstr>
      <vt:lpstr>Method Overriding in Inheritance</vt:lpstr>
      <vt:lpstr>PowerPoint Presentation</vt:lpstr>
      <vt:lpstr>PowerPoint Presentation</vt:lpstr>
      <vt:lpstr>Example: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Yogesh choudhary</dc:creator>
  <cp:lastModifiedBy>Yogesh choudhary</cp:lastModifiedBy>
  <cp:revision>18</cp:revision>
  <dcterms:created xsi:type="dcterms:W3CDTF">2026-01-26T15:36:14Z</dcterms:created>
  <dcterms:modified xsi:type="dcterms:W3CDTF">2026-01-29T10:17:39Z</dcterms:modified>
</cp:coreProperties>
</file>