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Image result for lovely professional university transparent">
            <a:extLst>
              <a:ext uri="{FF2B5EF4-FFF2-40B4-BE49-F238E27FC236}">
                <a16:creationId xmlns:a16="http://schemas.microsoft.com/office/drawing/2014/main" id="{E442297E-3734-47C6-9586-4D065939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934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47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114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96854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4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49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7105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5621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9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3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48D01E0-7F0B-4A62-BBF4-D673CF822D1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4F2DBC0-AF89-4C56-B478-9E67CA2CC026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Image result for lovely professional university transparent">
            <a:extLst>
              <a:ext uri="{FF2B5EF4-FFF2-40B4-BE49-F238E27FC236}">
                <a16:creationId xmlns:a16="http://schemas.microsoft.com/office/drawing/2014/main" id="{21BE8278-7A7D-4DD7-ACA8-176AE482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16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732A3E-E8CD-AE6F-548A-709CF4A401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675BE-3FFD-5E15-186B-C1633B133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Basic of PHP</a:t>
            </a:r>
          </a:p>
        </p:txBody>
      </p:sp>
    </p:spTree>
    <p:extLst>
      <p:ext uri="{BB962C8B-B14F-4D97-AF65-F5344CB8AC3E}">
        <p14:creationId xmlns:p14="http://schemas.microsoft.com/office/powerpoint/2010/main" val="122965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2353-99A4-541A-D5C6-12F68EFB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Constants in PHP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F3E83-016E-F099-9A8B-3A4ADCB979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constant</a:t>
            </a:r>
            <a:r>
              <a:rPr lang="en-US" dirty="0"/>
              <a:t> in PHP is a name or identifier for a </a:t>
            </a:r>
            <a:r>
              <a:rPr lang="en-US" b="1" dirty="0"/>
              <a:t>fixed value</a:t>
            </a:r>
            <a:r>
              <a:rPr lang="en-US" dirty="0"/>
              <a:t> that </a:t>
            </a:r>
            <a:r>
              <a:rPr lang="en-US" b="1" dirty="0"/>
              <a:t>cannot be changed during program execution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is a Constant?</a:t>
            </a:r>
          </a:p>
          <a:p>
            <a:r>
              <a:rPr lang="en-US" dirty="0"/>
              <a:t>👉 A constant stores data that </a:t>
            </a:r>
            <a:r>
              <a:rPr lang="en-US" b="1" dirty="0"/>
              <a:t>remains the same</a:t>
            </a:r>
            <a:r>
              <a:rPr lang="en-US" dirty="0"/>
              <a:t> throughout the script.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define("PI", 3.14);</a:t>
            </a:r>
          </a:p>
          <a:p>
            <a:r>
              <a:rPr lang="en-US" dirty="0"/>
              <a:t>Here:</a:t>
            </a:r>
          </a:p>
          <a:p>
            <a:pPr lvl="1"/>
            <a:r>
              <a:rPr lang="en-US" dirty="0"/>
              <a:t>PI → Constant name</a:t>
            </a:r>
          </a:p>
          <a:p>
            <a:pPr lvl="1"/>
            <a:r>
              <a:rPr lang="en-US" dirty="0"/>
              <a:t>3.14 → Constant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374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8152-F607-47F3-1111-111A7C6B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D5E1-5AAE-467B-1268-B68C529C53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Rules for PHP Constants</a:t>
            </a:r>
          </a:p>
          <a:p>
            <a:pPr marL="0" indent="0">
              <a:buNone/>
            </a:pPr>
            <a:r>
              <a:rPr lang="en-US" dirty="0"/>
              <a:t>✔ Do NOT use $ symbol</a:t>
            </a:r>
            <a:br>
              <a:rPr lang="en-US" dirty="0"/>
            </a:br>
            <a:r>
              <a:rPr lang="en-US" dirty="0"/>
              <a:t>✔ Must start with letter or underscore</a:t>
            </a:r>
            <a:br>
              <a:rPr lang="en-US" dirty="0"/>
            </a:br>
            <a:r>
              <a:rPr lang="en-US" dirty="0"/>
              <a:t>✔ Cannot start with number</a:t>
            </a:r>
            <a:br>
              <a:rPr lang="en-US" dirty="0"/>
            </a:br>
            <a:r>
              <a:rPr lang="en-US" dirty="0"/>
              <a:t>✔ No spaces allowed</a:t>
            </a:r>
            <a:br>
              <a:rPr lang="en-US" dirty="0"/>
            </a:br>
            <a:r>
              <a:rPr lang="en-US" dirty="0"/>
              <a:t>✔ Case-sensitive (default)</a:t>
            </a:r>
            <a:br>
              <a:rPr lang="en-US" dirty="0"/>
            </a:br>
            <a:r>
              <a:rPr lang="en-US" dirty="0"/>
              <a:t>✔ Value cannot be changed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52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FCBC-7F2E-843F-5528-3ABB6BD4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Declare Constants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394C-EDEB-97F0-A31F-1024D3AFC3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</a:t>
            </a:r>
            <a:r>
              <a:rPr lang="en-US" b="1" dirty="0"/>
              <a:t>two ways</a:t>
            </a:r>
            <a:r>
              <a:rPr lang="en-US" dirty="0"/>
              <a:t> to create constants: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✅ Method 1: Using define() Function (Most Common)</a:t>
            </a:r>
          </a:p>
          <a:p>
            <a:r>
              <a:rPr lang="en-US" b="1" dirty="0"/>
              <a:t>Syntax:</a:t>
            </a:r>
          </a:p>
          <a:p>
            <a:pPr lvl="1"/>
            <a:r>
              <a:rPr lang="en-US" dirty="0"/>
              <a:t>define("CONSTANT_NAME", value);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define("SITE_NAME", "</a:t>
            </a:r>
            <a:r>
              <a:rPr lang="en-US" dirty="0" err="1"/>
              <a:t>MyWebsite</a:t>
            </a:r>
            <a:r>
              <a:rPr lang="en-US" dirty="0"/>
              <a:t>");</a:t>
            </a:r>
          </a:p>
          <a:p>
            <a:pPr lvl="1"/>
            <a:r>
              <a:rPr lang="en-US" dirty="0"/>
              <a:t>echo SITE_NAME;</a:t>
            </a:r>
          </a:p>
          <a:p>
            <a:r>
              <a:rPr lang="en-IN" b="1" dirty="0"/>
              <a:t>Output:</a:t>
            </a:r>
          </a:p>
          <a:p>
            <a:pPr lvl="1"/>
            <a:r>
              <a:rPr lang="en-IN" dirty="0" err="1"/>
              <a:t>MyWebsite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169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C6FD-2EF2-4376-D8D7-4DDCA86F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FCEB-A2CB-73D5-FA8C-4E74501422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Method 2: Using const Keyword</a:t>
            </a:r>
          </a:p>
          <a:p>
            <a:r>
              <a:rPr lang="en-US" dirty="0"/>
              <a:t>Used mostly inside classes.</a:t>
            </a:r>
          </a:p>
          <a:p>
            <a:r>
              <a:rPr lang="en-US" b="1" dirty="0"/>
              <a:t>Syntax:</a:t>
            </a:r>
          </a:p>
          <a:p>
            <a:r>
              <a:rPr lang="en-US" dirty="0"/>
              <a:t>const COMPANY = "Google";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Example:</a:t>
            </a:r>
          </a:p>
          <a:p>
            <a:r>
              <a:rPr lang="en-US" dirty="0"/>
              <a:t>const CITY = "Delhi";</a:t>
            </a:r>
          </a:p>
          <a:p>
            <a:r>
              <a:rPr lang="en-US" dirty="0"/>
              <a:t>echo CITY;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58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2043-816B-1D36-B901-D5059FDF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89835-0BE2-7E71-C7CF-92E1C1FF29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Constant Scope</a:t>
            </a:r>
          </a:p>
          <a:p>
            <a:r>
              <a:rPr lang="en-US" dirty="0"/>
              <a:t>Constants are </a:t>
            </a:r>
            <a:r>
              <a:rPr lang="en-US" b="1" dirty="0"/>
              <a:t>automatically global</a:t>
            </a:r>
            <a:r>
              <a:rPr lang="en-US" dirty="0"/>
              <a:t>.</a:t>
            </a:r>
          </a:p>
          <a:p>
            <a:r>
              <a:rPr lang="en-US" dirty="0"/>
              <a:t>They can be used anywhere:</a:t>
            </a:r>
          </a:p>
          <a:p>
            <a:pPr marL="0" indent="0">
              <a:buNone/>
            </a:pPr>
            <a:r>
              <a:rPr lang="en-US" dirty="0"/>
              <a:t>✔ Inside function</a:t>
            </a:r>
            <a:br>
              <a:rPr lang="en-US" dirty="0"/>
            </a:br>
            <a:r>
              <a:rPr lang="en-US" dirty="0"/>
              <a:t>✔ Outside function</a:t>
            </a:r>
            <a:br>
              <a:rPr lang="en-US" dirty="0"/>
            </a:br>
            <a:r>
              <a:rPr lang="en-US" dirty="0"/>
              <a:t>✔ Across script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7297AE-8CC2-A94C-18F1-15F6ECE76624}"/>
              </a:ext>
            </a:extLst>
          </p:cNvPr>
          <p:cNvSpPr txBox="1">
            <a:spLocks/>
          </p:cNvSpPr>
          <p:nvPr/>
        </p:nvSpPr>
        <p:spPr>
          <a:xfrm>
            <a:off x="6315074" y="1447800"/>
            <a:ext cx="5419725" cy="4724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define("COLLEGE", "ABC College");</a:t>
            </a:r>
          </a:p>
          <a:p>
            <a:pPr lvl="1"/>
            <a:r>
              <a:rPr lang="en-US" dirty="0"/>
              <a:t>function show() {</a:t>
            </a:r>
          </a:p>
          <a:p>
            <a:pPr lvl="1"/>
            <a:r>
              <a:rPr lang="en-US" dirty="0"/>
              <a:t>    echo COLLEGE;</a:t>
            </a:r>
          </a:p>
          <a:p>
            <a:pPr lvl="1"/>
            <a:r>
              <a:rPr lang="en-US" dirty="0"/>
              <a:t>}</a:t>
            </a:r>
          </a:p>
          <a:p>
            <a:pPr lvl="1"/>
            <a:r>
              <a:rPr lang="en-US" dirty="0"/>
              <a:t>show();</a:t>
            </a:r>
          </a:p>
          <a:p>
            <a:pPr marL="320040" lvl="1" indent="0">
              <a:buNone/>
            </a:pPr>
            <a:endParaRPr lang="en-US" dirty="0"/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ABC College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17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9C39-D643-57A4-A535-FF4B48AD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Predefined PHP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8D7DA-F24B-4615-5705-BA1FC74801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PHP provides many built-in constants.</a:t>
            </a:r>
          </a:p>
          <a:p>
            <a:r>
              <a:rPr lang="en-US" b="1" dirty="0"/>
              <a:t>Common Examples: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PHP Version</a:t>
            </a:r>
          </a:p>
          <a:p>
            <a:r>
              <a:rPr lang="en-US" dirty="0"/>
              <a:t>echo PHP_VERSION;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File Name</a:t>
            </a:r>
          </a:p>
          <a:p>
            <a:r>
              <a:rPr lang="en-US" dirty="0"/>
              <a:t>echo __FILE__;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Line Number</a:t>
            </a:r>
          </a:p>
          <a:p>
            <a:r>
              <a:rPr lang="en-US" dirty="0"/>
              <a:t>echo __LINE__;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Directory Path</a:t>
            </a:r>
          </a:p>
          <a:p>
            <a:r>
              <a:rPr lang="en-US" dirty="0"/>
              <a:t>echo __DIR__;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2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A216-7AB4-8220-D4F3-19826936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Magic Constants (Special Constants)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F55E7F-6992-3145-4DAA-8A446DB5EFD7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31186322"/>
              </p:ext>
            </p:extLst>
          </p:nvPr>
        </p:nvGraphicFramePr>
        <p:xfrm>
          <a:off x="1352550" y="1556384"/>
          <a:ext cx="10363200" cy="4615818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378158151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578342373"/>
                    </a:ext>
                  </a:extLst>
                </a:gridCol>
              </a:tblGrid>
              <a:tr h="769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Magic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579957"/>
                  </a:ext>
                </a:extLst>
              </a:tr>
              <a:tr h="769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FILE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Current file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815824"/>
                  </a:ext>
                </a:extLst>
              </a:tr>
              <a:tr h="769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LINE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Line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78901"/>
                  </a:ext>
                </a:extLst>
              </a:tr>
              <a:tr h="769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DIR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Directory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237863"/>
                  </a:ext>
                </a:extLst>
              </a:tr>
              <a:tr h="769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FUNCTION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Function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29260"/>
                  </a:ext>
                </a:extLst>
              </a:tr>
              <a:tr h="769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CLASS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Class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862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495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B63B-1B35-172A-F446-41053EE3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Statements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D94D-B336-8782-11EF-4A8A3140FCC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Control flow statements</a:t>
            </a:r>
            <a:r>
              <a:rPr lang="en-US" dirty="0"/>
              <a:t> decide </a:t>
            </a:r>
            <a:r>
              <a:rPr lang="en-US" b="1" dirty="0"/>
              <a:t>how a program runs</a:t>
            </a:r>
            <a:r>
              <a:rPr lang="en-US" dirty="0"/>
              <a:t>, </a:t>
            </a:r>
            <a:r>
              <a:rPr lang="en-US" b="1" dirty="0"/>
              <a:t>which code executes</a:t>
            </a:r>
            <a:r>
              <a:rPr lang="en-US" dirty="0"/>
              <a:t>, and </a:t>
            </a:r>
            <a:r>
              <a:rPr lang="en-US" b="1" dirty="0"/>
              <a:t>how many times it repeats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👉 They control the </a:t>
            </a:r>
            <a:r>
              <a:rPr lang="en-US" b="1" dirty="0"/>
              <a:t>flow of execution</a:t>
            </a:r>
            <a:r>
              <a:rPr lang="en-US" dirty="0"/>
              <a:t> of a program.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08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9928-7684-7093-7542-7A11D554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Control Flow Statements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CAE5A-3481-DC3B-9818-665B7086D2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PHP control flow statements are mainly divided into </a:t>
            </a:r>
            <a:r>
              <a:rPr lang="en-US" b="1" dirty="0"/>
              <a:t>3 categories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 Decision Making Statements</a:t>
            </a:r>
          </a:p>
          <a:p>
            <a:pPr marL="0" indent="0">
              <a:buNone/>
            </a:pPr>
            <a:r>
              <a:rPr lang="en-US" b="1" dirty="0"/>
              <a:t> Looping Statements</a:t>
            </a:r>
          </a:p>
          <a:p>
            <a:pPr marL="0" indent="0">
              <a:buNone/>
            </a:pPr>
            <a:r>
              <a:rPr lang="en-US" b="1" dirty="0"/>
              <a:t> Jump/</a:t>
            </a:r>
            <a:r>
              <a:rPr lang="en-IN" b="1" dirty="0"/>
              <a:t>Loop Control </a:t>
            </a:r>
            <a:r>
              <a:rPr lang="en-US" b="1" dirty="0"/>
              <a:t>Statements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33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8388-C90B-1972-1CC4-437669A3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Decision Making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520D7-2F3A-EB63-D4B6-B3E2DB6B673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Decision-making statements allow a PHP program to </a:t>
            </a:r>
            <a:r>
              <a:rPr lang="en-US" b="1" dirty="0"/>
              <a:t>take decisions based on conditions</a:t>
            </a:r>
            <a:r>
              <a:rPr lang="en-US" dirty="0"/>
              <a:t>. They help control the </a:t>
            </a:r>
            <a:r>
              <a:rPr lang="en-US" b="1" dirty="0"/>
              <a:t>flow of execution</a:t>
            </a:r>
            <a:r>
              <a:rPr lang="en-US" dirty="0"/>
              <a:t> by running different blocks of code depending on whether a condition is </a:t>
            </a:r>
            <a:r>
              <a:rPr lang="en-US" b="1" dirty="0"/>
              <a:t>true or false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14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0BDF-D39A-1216-BD1E-F2352272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PHP supports the following decision-making statements: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72A60-114B-1707-9D69-FD8911C564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If</a:t>
            </a:r>
          </a:p>
          <a:p>
            <a:r>
              <a:rPr lang="en-IN" dirty="0"/>
              <a:t>if-else</a:t>
            </a:r>
          </a:p>
          <a:p>
            <a:r>
              <a:rPr lang="en-IN" dirty="0"/>
              <a:t>if-elseif-else </a:t>
            </a:r>
          </a:p>
          <a:p>
            <a:r>
              <a:rPr lang="en-IN" dirty="0"/>
              <a:t>nested if</a:t>
            </a:r>
          </a:p>
          <a:p>
            <a:r>
              <a:rPr lang="en-IN" dirty="0"/>
              <a:t>Switch</a:t>
            </a:r>
          </a:p>
          <a:p>
            <a:r>
              <a:rPr lang="en-IN" dirty="0"/>
              <a:t>ternary operator</a:t>
            </a:r>
          </a:p>
        </p:txBody>
      </p:sp>
    </p:spTree>
    <p:extLst>
      <p:ext uri="{BB962C8B-B14F-4D97-AF65-F5344CB8AC3E}">
        <p14:creationId xmlns:p14="http://schemas.microsoft.com/office/powerpoint/2010/main" val="1559667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D209-A5D1-7098-013C-D79A7B30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if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E336-3279-4C55-C110-DA0572409AF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if statement executes code </a:t>
            </a:r>
            <a:r>
              <a:rPr lang="en-US" b="1" dirty="0"/>
              <a:t>only when the condition is true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pPr lvl="1"/>
            <a:r>
              <a:rPr lang="en-US" dirty="0"/>
              <a:t>if (condition) {</a:t>
            </a:r>
          </a:p>
          <a:p>
            <a:pPr lvl="1"/>
            <a:r>
              <a:rPr lang="en-US" dirty="0"/>
              <a:t>    // code to execute if condition is true</a:t>
            </a:r>
          </a:p>
          <a:p>
            <a:pPr lvl="1"/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21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F791-F6DB-C066-3C6E-086F0B8B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378E-E911-EE54-64F4-FEF423B87E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lvl="1"/>
            <a:r>
              <a:rPr lang="en-US" dirty="0"/>
              <a:t>$age = 18;</a:t>
            </a:r>
          </a:p>
          <a:p>
            <a:pPr lvl="1"/>
            <a:r>
              <a:rPr lang="en-US" dirty="0"/>
              <a:t>if ($age &gt;= 18) {</a:t>
            </a:r>
          </a:p>
          <a:p>
            <a:pPr lvl="1"/>
            <a:r>
              <a:rPr lang="en-US" dirty="0"/>
              <a:t>    echo "You are eligible to vote.";</a:t>
            </a:r>
          </a:p>
          <a:p>
            <a:pPr lvl="1"/>
            <a:r>
              <a:rPr lang="en-US" dirty="0"/>
              <a:t>}</a:t>
            </a:r>
          </a:p>
          <a:p>
            <a:pPr lvl="1"/>
            <a:r>
              <a:rPr lang="en-US" dirty="0"/>
              <a:t>?&gt;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You are eligible to vote.</a:t>
            </a:r>
          </a:p>
          <a:p>
            <a:pPr marL="0" indent="0">
              <a:buNone/>
            </a:pPr>
            <a:r>
              <a:rPr lang="en-US" dirty="0"/>
              <a:t>👉 If the condition is false, the code inside if will not run.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29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5A16-D625-B02E-E019-612CABD7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163F-6E51-FE26-1E17-6F4F46985B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if-else Statement</a:t>
            </a:r>
          </a:p>
          <a:p>
            <a:r>
              <a:rPr lang="en-US" dirty="0"/>
              <a:t>The if-else statement executes </a:t>
            </a:r>
            <a:r>
              <a:rPr lang="en-US" b="1" dirty="0"/>
              <a:t>one block when the condition is true</a:t>
            </a:r>
            <a:r>
              <a:rPr lang="en-US" dirty="0"/>
              <a:t> and </a:t>
            </a:r>
            <a:r>
              <a:rPr lang="en-US" b="1" dirty="0"/>
              <a:t>another block when it is false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pPr lvl="1"/>
            <a:r>
              <a:rPr lang="en-US" dirty="0"/>
              <a:t>if (condition) {</a:t>
            </a:r>
          </a:p>
          <a:p>
            <a:pPr marL="0" indent="0">
              <a:buNone/>
            </a:pPr>
            <a:r>
              <a:rPr lang="en-US" dirty="0"/>
              <a:t>	// true block</a:t>
            </a:r>
          </a:p>
          <a:p>
            <a:pPr marL="320040" lvl="1" indent="0">
              <a:buNone/>
            </a:pPr>
            <a:r>
              <a:rPr lang="en-US" dirty="0"/>
              <a:t>    } else {</a:t>
            </a:r>
          </a:p>
          <a:p>
            <a:pPr marL="0" indent="0">
              <a:buNone/>
            </a:pPr>
            <a:r>
              <a:rPr lang="en-US" dirty="0"/>
              <a:t>    	// false block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813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6634-816B-03B6-2DFA-AFAAAD78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02D10-1E1F-188B-0232-66D1D7A04C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320040" lvl="1" indent="0">
              <a:buNone/>
            </a:pPr>
            <a:r>
              <a:rPr lang="en-US" dirty="0"/>
              <a:t>$marks = 40;</a:t>
            </a:r>
          </a:p>
          <a:p>
            <a:pPr marL="320040" lvl="1" indent="0">
              <a:buNone/>
            </a:pPr>
            <a:r>
              <a:rPr lang="en-US" dirty="0"/>
              <a:t>if ($marks &gt;= 50) {</a:t>
            </a:r>
          </a:p>
          <a:p>
            <a:pPr marL="320040" lvl="1" indent="0">
              <a:buNone/>
            </a:pPr>
            <a:r>
              <a:rPr lang="en-US" dirty="0"/>
              <a:t>    echo "Pass";</a:t>
            </a:r>
          </a:p>
          <a:p>
            <a:pPr marL="320040" lvl="1" indent="0">
              <a:buNone/>
            </a:pPr>
            <a:r>
              <a:rPr lang="en-US" dirty="0"/>
              <a:t>} else {</a:t>
            </a:r>
          </a:p>
          <a:p>
            <a:pPr marL="320040" lvl="1" indent="0">
              <a:buNone/>
            </a:pPr>
            <a:r>
              <a:rPr lang="en-US" dirty="0"/>
              <a:t>    echo "Fail";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  <a:p>
            <a:pPr marL="320040" lvl="1" indent="0">
              <a:buNone/>
            </a:pPr>
            <a:r>
              <a:rPr lang="en-US" dirty="0"/>
              <a:t>?&gt;</a:t>
            </a:r>
          </a:p>
          <a:p>
            <a:r>
              <a:rPr lang="en-IN" dirty="0"/>
              <a:t> </a:t>
            </a:r>
            <a:r>
              <a:rPr lang="en-IN" b="1" dirty="0"/>
              <a:t>Output</a:t>
            </a:r>
          </a:p>
          <a:p>
            <a:pPr lvl="1"/>
            <a:r>
              <a:rPr lang="en-IN" dirty="0"/>
              <a:t>Fail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949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AFF9-B412-D2B4-EDAC-BC3A0F62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if-elseif-else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E602-438E-E831-647C-47808C3B8A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when </a:t>
            </a:r>
            <a:r>
              <a:rPr lang="en-US" b="1" dirty="0"/>
              <a:t>multiple conditions</a:t>
            </a:r>
            <a:r>
              <a:rPr lang="en-US" dirty="0"/>
              <a:t> need to be checked.</a:t>
            </a:r>
          </a:p>
          <a:p>
            <a:r>
              <a:rPr lang="en-US" b="1" dirty="0"/>
              <a:t>Syntax</a:t>
            </a:r>
          </a:p>
          <a:p>
            <a:pPr marL="320040" lvl="1" indent="0">
              <a:buNone/>
            </a:pPr>
            <a:r>
              <a:rPr lang="en-US" dirty="0"/>
              <a:t>if (condition1) {</a:t>
            </a:r>
          </a:p>
          <a:p>
            <a:pPr marL="320040" lvl="1" indent="0">
              <a:buNone/>
            </a:pPr>
            <a:r>
              <a:rPr lang="en-US" dirty="0"/>
              <a:t>    // block 1</a:t>
            </a:r>
          </a:p>
          <a:p>
            <a:pPr marL="320040" lvl="1" indent="0">
              <a:buNone/>
            </a:pPr>
            <a:r>
              <a:rPr lang="en-US" dirty="0"/>
              <a:t>} elseif (condition2) {</a:t>
            </a:r>
          </a:p>
          <a:p>
            <a:pPr marL="320040" lvl="1" indent="0">
              <a:buNone/>
            </a:pPr>
            <a:r>
              <a:rPr lang="en-US" dirty="0"/>
              <a:t>    // block 2</a:t>
            </a:r>
          </a:p>
          <a:p>
            <a:pPr marL="320040" lvl="1" indent="0">
              <a:buNone/>
            </a:pPr>
            <a:r>
              <a:rPr lang="en-US" dirty="0"/>
              <a:t>} else {</a:t>
            </a:r>
          </a:p>
          <a:p>
            <a:pPr marL="320040" lvl="1" indent="0">
              <a:buNone/>
            </a:pPr>
            <a:r>
              <a:rPr lang="en-US" dirty="0"/>
              <a:t>    // default block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4062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5AE7-931E-115D-16DB-4E88381E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 (Grade System)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C3CB-8615-952E-421F-5906154940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799"/>
            <a:ext cx="10363200" cy="484822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pPr marL="266700" indent="0">
              <a:buNone/>
            </a:pPr>
            <a:r>
              <a:rPr lang="en-IN" dirty="0"/>
              <a:t>$marks = 85;</a:t>
            </a:r>
          </a:p>
          <a:p>
            <a:pPr marL="266700" indent="0">
              <a:buNone/>
            </a:pPr>
            <a:r>
              <a:rPr lang="en-IN" dirty="0"/>
              <a:t>if ($marks &gt;= 90) {</a:t>
            </a:r>
          </a:p>
          <a:p>
            <a:pPr marL="266700" indent="0">
              <a:buNone/>
            </a:pPr>
            <a:r>
              <a:rPr lang="en-IN" dirty="0"/>
              <a:t>    echo "Grade A";</a:t>
            </a:r>
          </a:p>
          <a:p>
            <a:pPr marL="266700" indent="0">
              <a:buNone/>
            </a:pPr>
            <a:r>
              <a:rPr lang="en-IN" dirty="0"/>
              <a:t>} elseif ($marks &gt;= 75) {</a:t>
            </a:r>
          </a:p>
          <a:p>
            <a:pPr marL="266700" indent="0">
              <a:buNone/>
            </a:pPr>
            <a:r>
              <a:rPr lang="en-IN" dirty="0"/>
              <a:t>    echo "Grade B";</a:t>
            </a:r>
          </a:p>
          <a:p>
            <a:pPr marL="266700" indent="0">
              <a:buNone/>
            </a:pPr>
            <a:r>
              <a:rPr lang="en-IN" dirty="0"/>
              <a:t>} elseif ($marks &gt;= 60) {</a:t>
            </a:r>
          </a:p>
          <a:p>
            <a:pPr marL="266700" indent="0">
              <a:buNone/>
            </a:pPr>
            <a:r>
              <a:rPr lang="en-IN" dirty="0"/>
              <a:t>    echo "Grade C";</a:t>
            </a:r>
          </a:p>
          <a:p>
            <a:pPr marL="266700" indent="0">
              <a:buNone/>
            </a:pPr>
            <a:r>
              <a:rPr lang="en-IN" dirty="0"/>
              <a:t>} else {</a:t>
            </a:r>
          </a:p>
          <a:p>
            <a:pPr marL="266700" indent="0">
              <a:buNone/>
            </a:pPr>
            <a:r>
              <a:rPr lang="en-IN" dirty="0"/>
              <a:t>    echo "Fail";</a:t>
            </a:r>
          </a:p>
          <a:p>
            <a:pPr marL="266700" indent="0">
              <a:buNone/>
            </a:pPr>
            <a:r>
              <a:rPr lang="en-IN" dirty="0"/>
              <a:t>}</a:t>
            </a:r>
          </a:p>
          <a:p>
            <a:pPr marL="266700" indent="0">
              <a:buNone/>
            </a:pPr>
            <a:r>
              <a:rPr lang="en-IN" dirty="0"/>
              <a:t>?&gt;</a:t>
            </a:r>
          </a:p>
          <a:p>
            <a:r>
              <a:rPr lang="en-IN" b="1" dirty="0"/>
              <a:t>Output</a:t>
            </a:r>
          </a:p>
          <a:p>
            <a:pPr lvl="1"/>
            <a:r>
              <a:rPr lang="en-IN" dirty="0"/>
              <a:t>Grade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886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64BD-A51C-2854-39C4-30DD6541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80975"/>
            <a:ext cx="10363200" cy="7318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4. Nested if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7283-922B-7175-1C7A-F79579E4D17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81050" y="912813"/>
            <a:ext cx="10801350" cy="55737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if statement inside another if statement is called </a:t>
            </a:r>
            <a:r>
              <a:rPr lang="en-US" b="1" dirty="0"/>
              <a:t>Nested if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sz="2900" dirty="0"/>
              <a:t>&lt;?</a:t>
            </a:r>
            <a:r>
              <a:rPr lang="en-US" sz="2900" dirty="0" err="1"/>
              <a:t>php</a:t>
            </a:r>
            <a:endParaRPr lang="en-US" sz="2900" dirty="0"/>
          </a:p>
          <a:p>
            <a:r>
              <a:rPr lang="en-US" sz="2900" dirty="0"/>
              <a:t>$age = 20;</a:t>
            </a:r>
          </a:p>
          <a:p>
            <a:r>
              <a:rPr lang="en-US" sz="2900" dirty="0"/>
              <a:t>$</a:t>
            </a:r>
            <a:r>
              <a:rPr lang="en-US" sz="2900" dirty="0" err="1"/>
              <a:t>hasVoterID</a:t>
            </a:r>
            <a:r>
              <a:rPr lang="en-US" sz="2900" dirty="0"/>
              <a:t> = true;</a:t>
            </a:r>
          </a:p>
          <a:p>
            <a:r>
              <a:rPr lang="en-US" sz="2900" dirty="0"/>
              <a:t>if ($age &gt;= 18) {</a:t>
            </a:r>
          </a:p>
          <a:p>
            <a:r>
              <a:rPr lang="en-US" sz="2900" dirty="0"/>
              <a:t>    if ($</a:t>
            </a:r>
            <a:r>
              <a:rPr lang="en-US" sz="2900" dirty="0" err="1"/>
              <a:t>hasVoterID</a:t>
            </a:r>
            <a:r>
              <a:rPr lang="en-US" sz="2900" dirty="0"/>
              <a:t> == true) {</a:t>
            </a:r>
          </a:p>
          <a:p>
            <a:r>
              <a:rPr lang="en-US" sz="2900" dirty="0"/>
              <a:t>        echo "You can vote.";</a:t>
            </a:r>
          </a:p>
          <a:p>
            <a:r>
              <a:rPr lang="en-US" sz="2900" dirty="0"/>
              <a:t>    } else {</a:t>
            </a:r>
          </a:p>
          <a:p>
            <a:r>
              <a:rPr lang="en-US" sz="2900" dirty="0"/>
              <a:t>        echo "Voter ID required.";</a:t>
            </a:r>
          </a:p>
          <a:p>
            <a:r>
              <a:rPr lang="en-US" sz="2900" dirty="0"/>
              <a:t>    }</a:t>
            </a:r>
          </a:p>
          <a:p>
            <a:r>
              <a:rPr lang="en-US" sz="2900" dirty="0"/>
              <a:t>} else {</a:t>
            </a:r>
          </a:p>
          <a:p>
            <a:r>
              <a:rPr lang="en-US" sz="2900" dirty="0"/>
              <a:t>    echo "You are underage.";</a:t>
            </a:r>
          </a:p>
          <a:p>
            <a:r>
              <a:rPr lang="en-US" sz="2900" dirty="0"/>
              <a:t>}</a:t>
            </a:r>
          </a:p>
          <a:p>
            <a:r>
              <a:rPr lang="en-US" sz="2900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7C38BC-7423-606B-B7AF-6C0B3E6C7855}"/>
              </a:ext>
            </a:extLst>
          </p:cNvPr>
          <p:cNvSpPr txBox="1">
            <a:spLocks/>
          </p:cNvSpPr>
          <p:nvPr/>
        </p:nvSpPr>
        <p:spPr>
          <a:xfrm>
            <a:off x="7534275" y="2318544"/>
            <a:ext cx="3733800" cy="34480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Output</a:t>
            </a:r>
          </a:p>
          <a:p>
            <a:pPr lvl="1"/>
            <a:r>
              <a:rPr lang="en-IN" dirty="0"/>
              <a:t>You can vote.</a:t>
            </a:r>
          </a:p>
        </p:txBody>
      </p:sp>
    </p:spTree>
    <p:extLst>
      <p:ext uri="{BB962C8B-B14F-4D97-AF65-F5344CB8AC3E}">
        <p14:creationId xmlns:p14="http://schemas.microsoft.com/office/powerpoint/2010/main" val="4145259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99AB-4761-8590-4CF4-728B0D01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switch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B739-CD17-6B69-FD20-1F1CD316A0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switch statement is used when we need to compare </a:t>
            </a:r>
            <a:r>
              <a:rPr lang="en-US" b="1" dirty="0"/>
              <a:t>one variable with multiple values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pPr marL="361950" indent="0">
              <a:buNone/>
            </a:pPr>
            <a:r>
              <a:rPr lang="en-US" dirty="0"/>
              <a:t>switch (expression) {</a:t>
            </a:r>
          </a:p>
          <a:p>
            <a:pPr marL="361950" indent="0">
              <a:buNone/>
            </a:pPr>
            <a:r>
              <a:rPr lang="en-US" dirty="0"/>
              <a:t>    case value1:</a:t>
            </a:r>
          </a:p>
          <a:p>
            <a:pPr marL="361950" indent="0">
              <a:buNone/>
            </a:pPr>
            <a:r>
              <a:rPr lang="en-US" dirty="0"/>
              <a:t>        // code</a:t>
            </a:r>
          </a:p>
          <a:p>
            <a:pPr marL="361950" indent="0">
              <a:buNone/>
            </a:pPr>
            <a:r>
              <a:rPr lang="en-US" dirty="0"/>
              <a:t>        break;</a:t>
            </a:r>
          </a:p>
          <a:p>
            <a:pPr marL="361950" indent="0">
              <a:buNone/>
            </a:pPr>
            <a:r>
              <a:rPr lang="en-US" dirty="0"/>
              <a:t>    case value2:</a:t>
            </a:r>
          </a:p>
          <a:p>
            <a:pPr marL="361950" indent="0">
              <a:buNone/>
            </a:pPr>
            <a:r>
              <a:rPr lang="en-US" dirty="0"/>
              <a:t>        // code</a:t>
            </a:r>
          </a:p>
          <a:p>
            <a:pPr marL="361950" indent="0">
              <a:buNone/>
            </a:pPr>
            <a:r>
              <a:rPr lang="en-US" dirty="0"/>
              <a:t>        break;</a:t>
            </a:r>
          </a:p>
          <a:p>
            <a:pPr marL="361950" indent="0">
              <a:buNone/>
            </a:pPr>
            <a:r>
              <a:rPr lang="en-US" dirty="0"/>
              <a:t>    default:</a:t>
            </a:r>
          </a:p>
          <a:p>
            <a:pPr marL="361950" indent="0">
              <a:buNone/>
            </a:pPr>
            <a:r>
              <a:rPr lang="en-US" dirty="0"/>
              <a:t>        // code</a:t>
            </a:r>
          </a:p>
          <a:p>
            <a:pPr marL="36195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16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C589-99AF-89CC-98D2-A4F7CE86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08325-FF64-54E3-47BC-71DAB325D7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799"/>
            <a:ext cx="10363200" cy="50387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361950" indent="-85725">
              <a:buNone/>
            </a:pPr>
            <a:r>
              <a:rPr lang="en-US" dirty="0"/>
              <a:t>$day = 3;</a:t>
            </a:r>
          </a:p>
          <a:p>
            <a:pPr marL="361950" indent="-85725">
              <a:buNone/>
            </a:pPr>
            <a:r>
              <a:rPr lang="en-US" dirty="0"/>
              <a:t>switch ($day) {</a:t>
            </a:r>
          </a:p>
          <a:p>
            <a:pPr marL="361950" indent="-85725">
              <a:buNone/>
            </a:pPr>
            <a:r>
              <a:rPr lang="en-US" dirty="0"/>
              <a:t>    case 1:</a:t>
            </a:r>
          </a:p>
          <a:p>
            <a:pPr marL="361950" indent="-85725">
              <a:buNone/>
            </a:pPr>
            <a:r>
              <a:rPr lang="en-US" dirty="0"/>
              <a:t>        echo "Monday";</a:t>
            </a:r>
          </a:p>
          <a:p>
            <a:pPr marL="361950" indent="-85725">
              <a:buNone/>
            </a:pPr>
            <a:r>
              <a:rPr lang="en-US" dirty="0"/>
              <a:t>        break;</a:t>
            </a:r>
          </a:p>
          <a:p>
            <a:pPr marL="361950" indent="-85725">
              <a:buNone/>
            </a:pPr>
            <a:r>
              <a:rPr lang="en-US" dirty="0"/>
              <a:t>    case 2:</a:t>
            </a:r>
          </a:p>
          <a:p>
            <a:pPr marL="361950" indent="-85725">
              <a:buNone/>
            </a:pPr>
            <a:r>
              <a:rPr lang="en-US" dirty="0"/>
              <a:t>        echo "Tuesday";</a:t>
            </a:r>
          </a:p>
          <a:p>
            <a:pPr marL="361950" indent="-85725">
              <a:buNone/>
            </a:pPr>
            <a:r>
              <a:rPr lang="en-US" dirty="0"/>
              <a:t>        break;</a:t>
            </a:r>
          </a:p>
          <a:p>
            <a:pPr marL="361950" indent="-85725">
              <a:buNone/>
            </a:pPr>
            <a:r>
              <a:rPr lang="en-US" dirty="0"/>
              <a:t>    case 3:</a:t>
            </a:r>
          </a:p>
          <a:p>
            <a:pPr marL="361950" indent="-85725">
              <a:buNone/>
            </a:pPr>
            <a:r>
              <a:rPr lang="en-US" dirty="0"/>
              <a:t>        echo "Wednesday";</a:t>
            </a:r>
          </a:p>
          <a:p>
            <a:pPr marL="361950" indent="-85725">
              <a:buNone/>
            </a:pPr>
            <a:r>
              <a:rPr lang="en-US" dirty="0"/>
              <a:t>        break;</a:t>
            </a:r>
          </a:p>
          <a:p>
            <a:pPr marL="361950" indent="-85725">
              <a:buNone/>
            </a:pPr>
            <a:r>
              <a:rPr lang="en-US" dirty="0"/>
              <a:t>    default:</a:t>
            </a:r>
          </a:p>
          <a:p>
            <a:pPr marL="361950" indent="-85725">
              <a:buNone/>
            </a:pPr>
            <a:r>
              <a:rPr lang="en-US" dirty="0"/>
              <a:t>        echo "Invalid Day";</a:t>
            </a:r>
          </a:p>
          <a:p>
            <a:pPr marL="361950" indent="-85725">
              <a:buNone/>
            </a:pPr>
            <a:r>
              <a:rPr lang="en-US" dirty="0"/>
              <a:t>}</a:t>
            </a:r>
          </a:p>
          <a:p>
            <a:pPr marL="361950" indent="-85725">
              <a:buNone/>
            </a:pPr>
            <a:r>
              <a:rPr lang="en-US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6B2650-EA55-9121-976C-CF17353DD13C}"/>
              </a:ext>
            </a:extLst>
          </p:cNvPr>
          <p:cNvSpPr txBox="1">
            <a:spLocks/>
          </p:cNvSpPr>
          <p:nvPr/>
        </p:nvSpPr>
        <p:spPr>
          <a:xfrm>
            <a:off x="5715000" y="1543050"/>
            <a:ext cx="5648325" cy="336232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Output</a:t>
            </a:r>
          </a:p>
          <a:p>
            <a:pPr lvl="1"/>
            <a:r>
              <a:rPr lang="en-US" sz="1800" dirty="0"/>
              <a:t>Wednesday</a:t>
            </a:r>
          </a:p>
          <a:p>
            <a:pPr marL="0" indent="0">
              <a:buNone/>
            </a:pPr>
            <a:r>
              <a:rPr lang="en-US" sz="2000" dirty="0"/>
              <a:t>👉 break stops execution after matching case.</a:t>
            </a:r>
            <a:br>
              <a:rPr lang="en-US" sz="2000" dirty="0"/>
            </a:br>
            <a:r>
              <a:rPr lang="en-US" sz="2000" dirty="0"/>
              <a:t>👉 default runs if no case matches.</a:t>
            </a:r>
          </a:p>
        </p:txBody>
      </p:sp>
    </p:spTree>
    <p:extLst>
      <p:ext uri="{BB962C8B-B14F-4D97-AF65-F5344CB8AC3E}">
        <p14:creationId xmlns:p14="http://schemas.microsoft.com/office/powerpoint/2010/main" val="1858224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9D59-C3A4-7965-0E5D-B9EEFBA1D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 Ternary Operator (Conditional Operator)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53D95-8089-4CC0-73EC-570D88A872C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short form of if-else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r>
              <a:rPr lang="en-US" dirty="0"/>
              <a:t>(condition) ? </a:t>
            </a:r>
            <a:r>
              <a:rPr lang="en-US" dirty="0" err="1"/>
              <a:t>true_value</a:t>
            </a:r>
            <a:r>
              <a:rPr lang="en-US" dirty="0"/>
              <a:t> : </a:t>
            </a:r>
            <a:r>
              <a:rPr lang="en-US" dirty="0" err="1"/>
              <a:t>false_value</a:t>
            </a:r>
            <a:r>
              <a:rPr lang="en-US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940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C667D-0E35-D645-31C7-AB3A41B2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DD61-2FEA-A4A9-116C-9FDA767878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266700" indent="0">
              <a:buNone/>
            </a:pPr>
            <a:r>
              <a:rPr lang="en-US" dirty="0"/>
              <a:t>$age = 16;</a:t>
            </a:r>
          </a:p>
          <a:p>
            <a:pPr marL="266700" indent="0">
              <a:buNone/>
            </a:pPr>
            <a:r>
              <a:rPr lang="en-US" dirty="0"/>
              <a:t>$result = ($age &gt;= 18) ? “Eligible to vote" : “Not Eligible to vote";</a:t>
            </a:r>
          </a:p>
          <a:p>
            <a:pPr marL="266700" indent="0">
              <a:buNone/>
            </a:pPr>
            <a:r>
              <a:rPr lang="en-US" dirty="0"/>
              <a:t>echo $result;</a:t>
            </a:r>
          </a:p>
          <a:p>
            <a:r>
              <a:rPr lang="en-US" dirty="0"/>
              <a:t>?&gt;</a:t>
            </a:r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Not Eligible to vote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607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09DB-7D52-B631-87E8-6C567635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 Statements in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A4112-82F1-7EBC-AEE6-8551E073DD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Looping statements are used to </a:t>
            </a:r>
            <a:r>
              <a:rPr lang="en-US" b="1" dirty="0"/>
              <a:t>execute a block of code repeatedly</a:t>
            </a:r>
            <a:r>
              <a:rPr lang="en-US" dirty="0"/>
              <a:t> as long as a given condition is true. They help reduce code repetition and make programs efficient.</a:t>
            </a:r>
          </a:p>
          <a:p>
            <a:r>
              <a:rPr lang="en-US" dirty="0"/>
              <a:t>PHP provides the following looping statements: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438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DC90-A5DA-11ED-D948-B8DE927F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Loops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8E74-447B-0708-3BC8-2DF9DE2DFEC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  <a:p>
            <a:r>
              <a:rPr lang="en-US" dirty="0"/>
              <a:t>while loop</a:t>
            </a:r>
          </a:p>
          <a:p>
            <a:r>
              <a:rPr lang="en-US" dirty="0"/>
              <a:t>do-while loop</a:t>
            </a:r>
          </a:p>
          <a:p>
            <a:r>
              <a:rPr lang="en-US" dirty="0"/>
              <a:t>foreach loop</a:t>
            </a:r>
          </a:p>
          <a:p>
            <a:r>
              <a:rPr lang="en-US" dirty="0"/>
              <a:t>Nested loops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841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B366-1CD7-5BE5-2EA7-6CF2D1B4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for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4E381-A2AC-7C4D-81CF-5792D8A921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for loop is used when the </a:t>
            </a:r>
            <a:r>
              <a:rPr lang="en-US" b="1" dirty="0"/>
              <a:t>number of iterations is known.</a:t>
            </a:r>
          </a:p>
          <a:p>
            <a:r>
              <a:rPr lang="en-US" b="1" dirty="0"/>
              <a:t>Syntax</a:t>
            </a:r>
          </a:p>
          <a:p>
            <a:pPr marL="320040" lvl="1" indent="0">
              <a:buNone/>
            </a:pPr>
            <a:r>
              <a:rPr lang="en-US" dirty="0"/>
              <a:t>for (initialization; condition; increment/decrement) {</a:t>
            </a:r>
          </a:p>
          <a:p>
            <a:pPr marL="320040" lvl="1" indent="0">
              <a:buNone/>
            </a:pPr>
            <a:r>
              <a:rPr lang="en-US" dirty="0"/>
              <a:t>    // code to be executed</a:t>
            </a:r>
          </a:p>
          <a:p>
            <a:pPr marL="320040" lvl="1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503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ABD7-9BF2-E506-73C7-A07E4438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DA6D-D769-50E9-AA5E-291EB446A0A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n-NO" b="1" dirty="0"/>
              <a:t>Example</a:t>
            </a:r>
          </a:p>
          <a:p>
            <a:pPr marL="0" indent="266700">
              <a:buNone/>
            </a:pPr>
            <a:r>
              <a:rPr lang="nn-NO" dirty="0"/>
              <a:t>&lt;?php</a:t>
            </a:r>
          </a:p>
          <a:p>
            <a:pPr marL="0" indent="266700">
              <a:buNone/>
            </a:pPr>
            <a:r>
              <a:rPr lang="nn-NO" dirty="0"/>
              <a:t>for ($i = 1; $i &lt;= 5; $i++) {</a:t>
            </a:r>
          </a:p>
          <a:p>
            <a:pPr marL="0" indent="266700">
              <a:buNone/>
            </a:pPr>
            <a:r>
              <a:rPr lang="nn-NO" dirty="0"/>
              <a:t>    echo $i . "&lt;br&gt;";</a:t>
            </a:r>
          </a:p>
          <a:p>
            <a:pPr marL="0" indent="266700">
              <a:buNone/>
            </a:pPr>
            <a:r>
              <a:rPr lang="nn-NO" dirty="0"/>
              <a:t>}</a:t>
            </a:r>
          </a:p>
          <a:p>
            <a:pPr marL="0" indent="266700">
              <a:buNone/>
            </a:pPr>
            <a:r>
              <a:rPr lang="nn-NO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18FB69-9F6B-67D6-104C-01371BE064CD}"/>
              </a:ext>
            </a:extLst>
          </p:cNvPr>
          <p:cNvSpPr txBox="1">
            <a:spLocks/>
          </p:cNvSpPr>
          <p:nvPr/>
        </p:nvSpPr>
        <p:spPr>
          <a:xfrm>
            <a:off x="5781675" y="1427163"/>
            <a:ext cx="5286375" cy="4754562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Output</a:t>
            </a:r>
          </a:p>
          <a:p>
            <a:pPr marL="85725" indent="180975">
              <a:buNone/>
            </a:pPr>
            <a:r>
              <a:rPr lang="en-US" dirty="0"/>
              <a:t>1</a:t>
            </a:r>
          </a:p>
          <a:p>
            <a:pPr marL="85725" indent="180975">
              <a:buNone/>
            </a:pPr>
            <a:r>
              <a:rPr lang="en-US" dirty="0"/>
              <a:t>2</a:t>
            </a:r>
          </a:p>
          <a:p>
            <a:pPr marL="85725" indent="180975">
              <a:buNone/>
            </a:pPr>
            <a:r>
              <a:rPr lang="en-US" dirty="0"/>
              <a:t>3</a:t>
            </a:r>
          </a:p>
          <a:p>
            <a:pPr marL="85725" indent="180975">
              <a:buNone/>
            </a:pPr>
            <a:r>
              <a:rPr lang="en-US" dirty="0"/>
              <a:t>4</a:t>
            </a:r>
          </a:p>
          <a:p>
            <a:pPr marL="85725" indent="180975">
              <a:buNone/>
            </a:pPr>
            <a:r>
              <a:rPr lang="en-US" dirty="0"/>
              <a:t>5</a:t>
            </a:r>
          </a:p>
          <a:p>
            <a:r>
              <a:rPr lang="en-US" b="1" dirty="0"/>
              <a:t>Working</a:t>
            </a:r>
          </a:p>
          <a:p>
            <a:pPr lvl="1"/>
            <a:r>
              <a:rPr lang="en-US" dirty="0"/>
              <a:t>Initialization → $</a:t>
            </a:r>
            <a:r>
              <a:rPr lang="en-US" dirty="0" err="1"/>
              <a:t>i</a:t>
            </a:r>
            <a:r>
              <a:rPr lang="en-US" dirty="0"/>
              <a:t> = 1 (runs once)</a:t>
            </a:r>
          </a:p>
          <a:p>
            <a:pPr lvl="1"/>
            <a:r>
              <a:rPr lang="en-US" dirty="0"/>
              <a:t>Condition → $</a:t>
            </a:r>
            <a:r>
              <a:rPr lang="en-US" dirty="0" err="1"/>
              <a:t>i</a:t>
            </a:r>
            <a:r>
              <a:rPr lang="en-US" dirty="0"/>
              <a:t> &lt;= 5 (checked every time)</a:t>
            </a:r>
          </a:p>
          <a:p>
            <a:pPr lvl="1"/>
            <a:r>
              <a:rPr lang="en-US" dirty="0"/>
              <a:t>Increment → $</a:t>
            </a:r>
            <a:r>
              <a:rPr lang="en-US" dirty="0" err="1"/>
              <a:t>i</a:t>
            </a:r>
            <a:r>
              <a:rPr lang="en-US" dirty="0"/>
              <a:t>++ (increases value by 1)</a:t>
            </a:r>
          </a:p>
          <a:p>
            <a:pPr marL="85725" indent="180975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1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9596-26C1-CB93-9B89-FC012B9A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while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084D3-2B8F-8842-65DF-DA415D97E2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while loop executes the code </a:t>
            </a:r>
            <a:r>
              <a:rPr lang="en-US" b="1" dirty="0"/>
              <a:t>as long as the condition is true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r>
              <a:rPr lang="en-US" dirty="0"/>
              <a:t>while (condition) {</a:t>
            </a:r>
          </a:p>
          <a:p>
            <a:r>
              <a:rPr lang="en-US" dirty="0"/>
              <a:t>    // code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172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F000-36FD-BC06-50C8-D41C7120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753E5-9DD2-70CA-70C6-24A7971E06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36195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361950">
              <a:buNone/>
            </a:pPr>
            <a:r>
              <a:rPr lang="en-US" dirty="0"/>
              <a:t>$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marL="0" indent="361950">
              <a:buNone/>
            </a:pPr>
            <a:r>
              <a:rPr lang="en-US" dirty="0"/>
              <a:t>while ($</a:t>
            </a:r>
            <a:r>
              <a:rPr lang="en-US" dirty="0" err="1"/>
              <a:t>i</a:t>
            </a:r>
            <a:r>
              <a:rPr lang="en-US" dirty="0"/>
              <a:t> &lt;= 5) {</a:t>
            </a:r>
          </a:p>
          <a:p>
            <a:pPr marL="0" indent="361950">
              <a:buNone/>
            </a:pPr>
            <a:r>
              <a:rPr lang="en-US" dirty="0"/>
              <a:t>    echo $</a:t>
            </a:r>
            <a:r>
              <a:rPr lang="en-US" dirty="0" err="1"/>
              <a:t>i</a:t>
            </a:r>
            <a:r>
              <a:rPr lang="en-US" dirty="0"/>
              <a:t>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361950">
              <a:buNone/>
            </a:pPr>
            <a:r>
              <a:rPr lang="en-US" dirty="0"/>
              <a:t>    $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pPr marL="0" indent="361950">
              <a:buNone/>
            </a:pPr>
            <a:r>
              <a:rPr lang="en-US" dirty="0"/>
              <a:t>?&gt;</a:t>
            </a:r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CEECB-FD10-22E2-4A30-4DFDAF5D216F}"/>
              </a:ext>
            </a:extLst>
          </p:cNvPr>
          <p:cNvSpPr txBox="1">
            <a:spLocks/>
          </p:cNvSpPr>
          <p:nvPr/>
        </p:nvSpPr>
        <p:spPr>
          <a:xfrm>
            <a:off x="5781675" y="1356519"/>
            <a:ext cx="5286375" cy="475456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Output</a:t>
            </a:r>
          </a:p>
          <a:p>
            <a:pPr marL="266700" indent="0">
              <a:buNone/>
            </a:pPr>
            <a:r>
              <a:rPr lang="en-US" dirty="0"/>
              <a:t>1</a:t>
            </a:r>
          </a:p>
          <a:p>
            <a:pPr marL="266700" indent="0">
              <a:buNone/>
            </a:pPr>
            <a:r>
              <a:rPr lang="en-US" dirty="0"/>
              <a:t>2</a:t>
            </a:r>
          </a:p>
          <a:p>
            <a:pPr marL="266700" indent="0">
              <a:buNone/>
            </a:pPr>
            <a:r>
              <a:rPr lang="en-US" dirty="0"/>
              <a:t>3</a:t>
            </a:r>
          </a:p>
          <a:p>
            <a:pPr marL="266700" indent="0">
              <a:buNone/>
            </a:pPr>
            <a:r>
              <a:rPr lang="en-US" dirty="0"/>
              <a:t>4</a:t>
            </a:r>
          </a:p>
          <a:p>
            <a:pPr marL="266700" indent="0">
              <a:buNone/>
            </a:pPr>
            <a:r>
              <a:rPr lang="en-US" dirty="0"/>
              <a:t>5</a:t>
            </a:r>
          </a:p>
          <a:p>
            <a:r>
              <a:rPr lang="en-US" dirty="0"/>
              <a:t>👉 If the condition is false initially, the loop </a:t>
            </a:r>
            <a:r>
              <a:rPr lang="en-US" b="1" dirty="0"/>
              <a:t>will not run at all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9208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AF0E-3F6E-5DB6-7463-CFEA639C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do-while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2231-0A15-E3D0-0FB3-EDA9EDE52F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do-while loop executes the code </a:t>
            </a:r>
            <a:r>
              <a:rPr lang="en-US" b="1" dirty="0"/>
              <a:t>at least once</a:t>
            </a:r>
            <a:r>
              <a:rPr lang="en-US" dirty="0"/>
              <a:t>, even if the condition is false.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do {</a:t>
            </a:r>
          </a:p>
          <a:p>
            <a:r>
              <a:rPr lang="en-IN" dirty="0"/>
              <a:t>    // code</a:t>
            </a:r>
          </a:p>
          <a:p>
            <a:r>
              <a:rPr lang="en-IN" dirty="0"/>
              <a:t>} while (condition);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757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D073-6F23-585D-5AF2-7F86359C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D886-7978-64E7-DCDC-60A46A303E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66700" indent="0">
              <a:buNone/>
            </a:pPr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pPr marL="266700" indent="0">
              <a:buNone/>
            </a:pPr>
            <a:r>
              <a:rPr lang="en-IN" dirty="0"/>
              <a:t>$</a:t>
            </a:r>
            <a:r>
              <a:rPr lang="en-IN" dirty="0" err="1"/>
              <a:t>i</a:t>
            </a:r>
            <a:r>
              <a:rPr lang="en-IN" dirty="0"/>
              <a:t> = 6;</a:t>
            </a:r>
          </a:p>
          <a:p>
            <a:pPr marL="266700" indent="0">
              <a:buNone/>
            </a:pPr>
            <a:r>
              <a:rPr lang="en-IN" dirty="0"/>
              <a:t>do {</a:t>
            </a:r>
          </a:p>
          <a:p>
            <a:pPr marL="266700" indent="0">
              <a:buNone/>
            </a:pPr>
            <a:r>
              <a:rPr lang="en-IN" dirty="0"/>
              <a:t>    echo $</a:t>
            </a:r>
            <a:r>
              <a:rPr lang="en-IN" dirty="0" err="1"/>
              <a:t>i</a:t>
            </a:r>
            <a:r>
              <a:rPr lang="en-IN" dirty="0"/>
              <a:t> .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266700" indent="0">
              <a:buNone/>
            </a:pPr>
            <a:r>
              <a:rPr lang="en-IN" dirty="0"/>
              <a:t>    $</a:t>
            </a:r>
            <a:r>
              <a:rPr lang="en-IN" dirty="0" err="1"/>
              <a:t>i</a:t>
            </a:r>
            <a:r>
              <a:rPr lang="en-IN" dirty="0"/>
              <a:t>++;</a:t>
            </a:r>
          </a:p>
          <a:p>
            <a:pPr marL="266700" indent="0">
              <a:buNone/>
            </a:pPr>
            <a:r>
              <a:rPr lang="en-IN" dirty="0"/>
              <a:t>} while ($</a:t>
            </a:r>
            <a:r>
              <a:rPr lang="en-IN" dirty="0" err="1"/>
              <a:t>i</a:t>
            </a:r>
            <a:r>
              <a:rPr lang="en-IN" dirty="0"/>
              <a:t> &lt;= 5);</a:t>
            </a:r>
          </a:p>
          <a:p>
            <a:pPr marL="266700" indent="0">
              <a:buNone/>
            </a:pPr>
            <a:r>
              <a:rPr lang="en-IN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FB67AB-F027-13B1-B06B-F64CFE60F68B}"/>
              </a:ext>
            </a:extLst>
          </p:cNvPr>
          <p:cNvSpPr txBox="1">
            <a:spLocks/>
          </p:cNvSpPr>
          <p:nvPr/>
        </p:nvSpPr>
        <p:spPr>
          <a:xfrm>
            <a:off x="5781675" y="1265238"/>
            <a:ext cx="5286375" cy="475456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Output</a:t>
            </a:r>
          </a:p>
          <a:p>
            <a:pPr marL="320040" lvl="1" indent="0">
              <a:buNone/>
            </a:pPr>
            <a:r>
              <a:rPr lang="en-US" dirty="0"/>
              <a:t>6</a:t>
            </a:r>
          </a:p>
          <a:p>
            <a:pPr marL="0" indent="0">
              <a:buNone/>
            </a:pPr>
            <a:r>
              <a:rPr lang="en-US" dirty="0"/>
              <a:t>👉 Condition is false, but the loop still runs once.</a:t>
            </a:r>
          </a:p>
        </p:txBody>
      </p:sp>
    </p:spTree>
    <p:extLst>
      <p:ext uri="{BB962C8B-B14F-4D97-AF65-F5344CB8AC3E}">
        <p14:creationId xmlns:p14="http://schemas.microsoft.com/office/powerpoint/2010/main" val="4034695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DAB6-B605-4BDC-A228-796430FF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foreach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49A2-1185-7D94-2628-01E5251723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foreach loop is used to </a:t>
            </a:r>
            <a:r>
              <a:rPr lang="en-US" b="1" dirty="0"/>
              <a:t>iterate through arrays</a:t>
            </a:r>
            <a:r>
              <a:rPr lang="en-US" dirty="0"/>
              <a:t>.</a:t>
            </a:r>
          </a:p>
          <a:p>
            <a:r>
              <a:rPr lang="en-US" b="1" dirty="0"/>
              <a:t>Syntax</a:t>
            </a:r>
          </a:p>
          <a:p>
            <a:pPr marL="0" indent="266700">
              <a:buNone/>
            </a:pPr>
            <a:r>
              <a:rPr lang="en-US" dirty="0"/>
              <a:t>foreach ($array as $value) {</a:t>
            </a:r>
          </a:p>
          <a:p>
            <a:pPr marL="0" indent="266700">
              <a:buNone/>
            </a:pPr>
            <a:r>
              <a:rPr lang="en-US" dirty="0"/>
              <a:t>    // code</a:t>
            </a:r>
          </a:p>
          <a:p>
            <a:pPr marL="0" indent="266700">
              <a:buNone/>
            </a:pPr>
            <a:r>
              <a:rPr lang="en-US" dirty="0"/>
              <a:t>}</a:t>
            </a:r>
          </a:p>
          <a:p>
            <a:r>
              <a:rPr lang="en-US" dirty="0"/>
              <a:t>OR</a:t>
            </a:r>
          </a:p>
          <a:p>
            <a:pPr marL="0" indent="266700">
              <a:buNone/>
            </a:pPr>
            <a:r>
              <a:rPr lang="en-US" dirty="0"/>
              <a:t>foreach ($array as $key =&gt; $value) {</a:t>
            </a:r>
          </a:p>
          <a:p>
            <a:pPr marL="0" indent="266700">
              <a:buNone/>
            </a:pPr>
            <a:r>
              <a:rPr lang="en-US" dirty="0"/>
              <a:t>    // code</a:t>
            </a:r>
          </a:p>
          <a:p>
            <a:pPr marL="0" indent="26670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440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9772-EE04-CD9D-5BC6-8077796E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(Indexed Array)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150A3-EBB4-4257-EDA1-78347207B51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5953125" cy="4572000"/>
          </a:xfrm>
        </p:spPr>
        <p:txBody>
          <a:bodyPr/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266700">
              <a:buNone/>
            </a:pPr>
            <a:r>
              <a:rPr lang="en-US" dirty="0"/>
              <a:t>$colors = array("Red", "Green", "Blue");</a:t>
            </a:r>
          </a:p>
          <a:p>
            <a:pPr marL="0" indent="266700">
              <a:buNone/>
            </a:pPr>
            <a:r>
              <a:rPr lang="en-US" dirty="0"/>
              <a:t>foreach ($colors as $color) {</a:t>
            </a:r>
          </a:p>
          <a:p>
            <a:pPr marL="0" indent="266700">
              <a:buNone/>
            </a:pPr>
            <a:r>
              <a:rPr lang="en-US" dirty="0"/>
              <a:t>    echo $color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266700">
              <a:buNone/>
            </a:pPr>
            <a:r>
              <a:rPr lang="en-US" dirty="0"/>
              <a:t>}</a:t>
            </a:r>
          </a:p>
          <a:p>
            <a:pPr marL="0" indent="266700">
              <a:buNone/>
            </a:pPr>
            <a:r>
              <a:rPr lang="en-US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95C6EC-34C7-6F57-3892-19F98A128C89}"/>
              </a:ext>
            </a:extLst>
          </p:cNvPr>
          <p:cNvSpPr txBox="1">
            <a:spLocks/>
          </p:cNvSpPr>
          <p:nvPr/>
        </p:nvSpPr>
        <p:spPr>
          <a:xfrm>
            <a:off x="6772276" y="1406526"/>
            <a:ext cx="4438650" cy="475456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Output</a:t>
            </a:r>
          </a:p>
          <a:p>
            <a:pPr marL="0" indent="266700">
              <a:buNone/>
            </a:pPr>
            <a:r>
              <a:rPr lang="en-IN" dirty="0"/>
              <a:t>Red</a:t>
            </a:r>
          </a:p>
          <a:p>
            <a:pPr marL="0" indent="266700">
              <a:buNone/>
            </a:pPr>
            <a:r>
              <a:rPr lang="en-IN" dirty="0"/>
              <a:t>Green</a:t>
            </a:r>
          </a:p>
          <a:p>
            <a:pPr marL="0" indent="266700">
              <a:buNone/>
            </a:pPr>
            <a:r>
              <a:rPr lang="en-IN" dirty="0"/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428898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3A44-313D-83B1-B480-ADC1D1FA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(Associative Array)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74C7-8496-C0DA-061F-F2116F5BA5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361950">
              <a:buNone/>
            </a:pPr>
            <a:r>
              <a:rPr lang="en-US" dirty="0"/>
              <a:t>$student = array(</a:t>
            </a:r>
          </a:p>
          <a:p>
            <a:pPr marL="0" indent="361950">
              <a:buNone/>
            </a:pPr>
            <a:r>
              <a:rPr lang="en-US" dirty="0"/>
              <a:t>    "name" =&gt; "Rahul",</a:t>
            </a:r>
          </a:p>
          <a:p>
            <a:pPr marL="0" indent="361950">
              <a:buNone/>
            </a:pPr>
            <a:r>
              <a:rPr lang="en-US" dirty="0"/>
              <a:t>    "age" =&gt; 20,</a:t>
            </a:r>
          </a:p>
          <a:p>
            <a:pPr marL="0" indent="361950">
              <a:buNone/>
            </a:pPr>
            <a:r>
              <a:rPr lang="en-US" dirty="0"/>
              <a:t>    "course" =&gt; "PHP"</a:t>
            </a:r>
          </a:p>
          <a:p>
            <a:pPr marL="0" indent="361950">
              <a:buNone/>
            </a:pPr>
            <a:r>
              <a:rPr lang="en-US" dirty="0"/>
              <a:t>);</a:t>
            </a:r>
          </a:p>
          <a:p>
            <a:pPr marL="0" indent="361950">
              <a:buNone/>
            </a:pPr>
            <a:r>
              <a:rPr lang="en-US" dirty="0"/>
              <a:t>foreach ($student as $key =&gt; $value) {</a:t>
            </a:r>
          </a:p>
          <a:p>
            <a:pPr marL="0" indent="361950">
              <a:buNone/>
            </a:pPr>
            <a:r>
              <a:rPr lang="en-US" dirty="0"/>
              <a:t>    echo $key . " : " . $value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07B80E-7AF1-2D17-18D6-BEFDA5364A49}"/>
              </a:ext>
            </a:extLst>
          </p:cNvPr>
          <p:cNvSpPr txBox="1">
            <a:spLocks/>
          </p:cNvSpPr>
          <p:nvPr/>
        </p:nvSpPr>
        <p:spPr>
          <a:xfrm>
            <a:off x="6924676" y="1447800"/>
            <a:ext cx="4438650" cy="475456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Output</a:t>
            </a:r>
          </a:p>
          <a:p>
            <a:pPr marL="0" indent="180975">
              <a:buNone/>
            </a:pPr>
            <a:r>
              <a:rPr lang="en-US" dirty="0"/>
              <a:t>name : Rahul</a:t>
            </a:r>
          </a:p>
          <a:p>
            <a:pPr marL="0" indent="180975">
              <a:buNone/>
            </a:pPr>
            <a:r>
              <a:rPr lang="en-US" dirty="0"/>
              <a:t>age : 20</a:t>
            </a:r>
          </a:p>
          <a:p>
            <a:pPr marL="0" indent="180975">
              <a:buNone/>
            </a:pPr>
            <a:r>
              <a:rPr lang="en-US" dirty="0"/>
              <a:t>course : PHP</a:t>
            </a:r>
          </a:p>
        </p:txBody>
      </p:sp>
    </p:spTree>
    <p:extLst>
      <p:ext uri="{BB962C8B-B14F-4D97-AF65-F5344CB8AC3E}">
        <p14:creationId xmlns:p14="http://schemas.microsoft.com/office/powerpoint/2010/main" val="3850430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1B63-5E8C-3587-2642-BCE0210A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5. Nested Loops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4E11-0830-0D6F-1E90-47EA443766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loop inside another loop is called </a:t>
            </a:r>
            <a:r>
              <a:rPr lang="en-IN" b="1" dirty="0"/>
              <a:t>Nested Loop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Example (Pattern Printing)</a:t>
            </a:r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pPr marL="0" indent="266700">
              <a:buNone/>
            </a:pPr>
            <a:r>
              <a:rPr lang="en-IN" dirty="0"/>
              <a:t>for ($</a:t>
            </a:r>
            <a:r>
              <a:rPr lang="en-IN" dirty="0" err="1"/>
              <a:t>i</a:t>
            </a:r>
            <a:r>
              <a:rPr lang="en-IN" dirty="0"/>
              <a:t> = 1; $</a:t>
            </a:r>
            <a:r>
              <a:rPr lang="en-IN" dirty="0" err="1"/>
              <a:t>i</a:t>
            </a:r>
            <a:r>
              <a:rPr lang="en-IN" dirty="0"/>
              <a:t> &lt;= 3; $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266700">
              <a:buNone/>
            </a:pPr>
            <a:r>
              <a:rPr lang="en-IN" dirty="0"/>
              <a:t>    for ($j = 1; $j &lt;= 3; $</a:t>
            </a:r>
            <a:r>
              <a:rPr lang="en-IN" dirty="0" err="1"/>
              <a:t>j++</a:t>
            </a:r>
            <a:r>
              <a:rPr lang="en-IN" dirty="0"/>
              <a:t>) {</a:t>
            </a:r>
          </a:p>
          <a:p>
            <a:pPr marL="0" indent="266700">
              <a:buNone/>
            </a:pPr>
            <a:r>
              <a:rPr lang="en-IN" dirty="0"/>
              <a:t>        echo "* ";</a:t>
            </a:r>
          </a:p>
          <a:p>
            <a:pPr marL="0" indent="266700">
              <a:buNone/>
            </a:pPr>
            <a:r>
              <a:rPr lang="en-IN" dirty="0"/>
              <a:t>    }</a:t>
            </a:r>
          </a:p>
          <a:p>
            <a:pPr marL="0" indent="266700">
              <a:buNone/>
            </a:pPr>
            <a:r>
              <a:rPr lang="en-IN" dirty="0"/>
              <a:t>    echo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0" indent="266700">
              <a:buNone/>
            </a:pPr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BEFC9-CCCB-2845-7B76-77AF07F6B170}"/>
              </a:ext>
            </a:extLst>
          </p:cNvPr>
          <p:cNvSpPr txBox="1"/>
          <p:nvPr/>
        </p:nvSpPr>
        <p:spPr>
          <a:xfrm>
            <a:off x="7562850" y="2971711"/>
            <a:ext cx="2667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Output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* * * 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* * * 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* * * </a:t>
            </a:r>
          </a:p>
        </p:txBody>
      </p:sp>
    </p:spTree>
    <p:extLst>
      <p:ext uri="{BB962C8B-B14F-4D97-AF65-F5344CB8AC3E}">
        <p14:creationId xmlns:p14="http://schemas.microsoft.com/office/powerpoint/2010/main" val="2871786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20ED-673E-CD0A-18DC-E0BE09C7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 Control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04D9B-AC07-CE21-A37F-104BEACDD4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These statements control loop execution:</a:t>
            </a:r>
          </a:p>
          <a:p>
            <a:pPr marL="0" indent="0">
              <a:buNone/>
            </a:pPr>
            <a:r>
              <a:rPr lang="en-IN" b="1" dirty="0"/>
              <a:t>1. Break Statement</a:t>
            </a:r>
          </a:p>
          <a:p>
            <a:pPr marL="0" indent="0">
              <a:buNone/>
            </a:pPr>
            <a:r>
              <a:rPr lang="en-IN" b="1" dirty="0"/>
              <a:t>2. Continue Statement</a:t>
            </a:r>
          </a:p>
        </p:txBody>
      </p:sp>
    </p:spTree>
    <p:extLst>
      <p:ext uri="{BB962C8B-B14F-4D97-AF65-F5344CB8AC3E}">
        <p14:creationId xmlns:p14="http://schemas.microsoft.com/office/powerpoint/2010/main" val="1079806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AC3D-5BF8-6BA3-2EE3-0314D83C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1. Break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AE257-F286-A09D-AF30-A9199E9C51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Used to </a:t>
            </a:r>
            <a:r>
              <a:rPr lang="en-US" b="1" dirty="0"/>
              <a:t>terminate the loop immediately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266700">
              <a:buNone/>
            </a:pPr>
            <a:r>
              <a:rPr lang="en-US" dirty="0"/>
              <a:t>for ($</a:t>
            </a:r>
            <a:r>
              <a:rPr lang="en-US" dirty="0" err="1"/>
              <a:t>i</a:t>
            </a:r>
            <a:r>
              <a:rPr lang="en-US" dirty="0"/>
              <a:t> = 1; $</a:t>
            </a:r>
            <a:r>
              <a:rPr lang="en-US" dirty="0" err="1"/>
              <a:t>i</a:t>
            </a:r>
            <a:r>
              <a:rPr lang="en-US" dirty="0"/>
              <a:t> &lt;= 10; $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266700">
              <a:buNone/>
            </a:pPr>
            <a:r>
              <a:rPr lang="en-US" dirty="0"/>
              <a:t>    if ($</a:t>
            </a:r>
            <a:r>
              <a:rPr lang="en-US" dirty="0" err="1"/>
              <a:t>i</a:t>
            </a:r>
            <a:r>
              <a:rPr lang="en-US" dirty="0"/>
              <a:t> == 5) {</a:t>
            </a:r>
          </a:p>
          <a:p>
            <a:pPr marL="0" indent="266700">
              <a:buNone/>
            </a:pPr>
            <a:r>
              <a:rPr lang="en-US" dirty="0"/>
              <a:t>        break;</a:t>
            </a:r>
          </a:p>
          <a:p>
            <a:pPr marL="0" indent="266700">
              <a:buNone/>
            </a:pPr>
            <a:r>
              <a:rPr lang="en-US" dirty="0"/>
              <a:t>    }</a:t>
            </a:r>
          </a:p>
          <a:p>
            <a:pPr marL="0" indent="266700">
              <a:buNone/>
            </a:pPr>
            <a:r>
              <a:rPr lang="en-US" dirty="0"/>
              <a:t>    echo $</a:t>
            </a:r>
            <a:r>
              <a:rPr lang="en-US" dirty="0" err="1"/>
              <a:t>i</a:t>
            </a:r>
            <a:r>
              <a:rPr lang="en-US" dirty="0"/>
              <a:t>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266700">
              <a:buNone/>
            </a:pPr>
            <a:r>
              <a:rPr lang="en-US" dirty="0"/>
              <a:t>}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079C-FEAE-E429-EDFF-836A377C4075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Output</a:t>
            </a:r>
          </a:p>
          <a:p>
            <a:pPr marL="0" indent="266700">
              <a:buNone/>
            </a:pPr>
            <a:r>
              <a:rPr lang="en-US" dirty="0"/>
              <a:t>1</a:t>
            </a:r>
          </a:p>
          <a:p>
            <a:pPr marL="0" indent="266700">
              <a:buNone/>
            </a:pPr>
            <a:r>
              <a:rPr lang="en-US" dirty="0"/>
              <a:t>2</a:t>
            </a:r>
          </a:p>
          <a:p>
            <a:pPr marL="0" indent="266700">
              <a:buNone/>
            </a:pPr>
            <a:r>
              <a:rPr lang="en-US" dirty="0"/>
              <a:t>3</a:t>
            </a:r>
          </a:p>
          <a:p>
            <a:pPr marL="0" indent="266700">
              <a:buNone/>
            </a:pPr>
            <a:r>
              <a:rPr lang="en-US" dirty="0"/>
              <a:t>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990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4ADA-30D1-4BD2-5B98-FDABDFC4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E149B-16EA-497C-A06C-AD3DB050F8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Used to </a:t>
            </a:r>
            <a:r>
              <a:rPr lang="en-US" b="1" dirty="0"/>
              <a:t>skip the current iteration</a:t>
            </a:r>
            <a:r>
              <a:rPr lang="en-US" dirty="0"/>
              <a:t> and move to the next loop cycle.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266700">
              <a:buNone/>
            </a:pPr>
            <a:r>
              <a:rPr lang="en-US" dirty="0"/>
              <a:t>for ($</a:t>
            </a:r>
            <a:r>
              <a:rPr lang="en-US" dirty="0" err="1"/>
              <a:t>i</a:t>
            </a:r>
            <a:r>
              <a:rPr lang="en-US" dirty="0"/>
              <a:t> = 1; $</a:t>
            </a:r>
            <a:r>
              <a:rPr lang="en-US" dirty="0" err="1"/>
              <a:t>i</a:t>
            </a:r>
            <a:r>
              <a:rPr lang="en-US" dirty="0"/>
              <a:t> &lt;= 5; $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266700">
              <a:buNone/>
            </a:pPr>
            <a:r>
              <a:rPr lang="en-US" dirty="0"/>
              <a:t>    if ($</a:t>
            </a:r>
            <a:r>
              <a:rPr lang="en-US" dirty="0" err="1"/>
              <a:t>i</a:t>
            </a:r>
            <a:r>
              <a:rPr lang="en-US" dirty="0"/>
              <a:t> == 3) {</a:t>
            </a:r>
          </a:p>
          <a:p>
            <a:pPr marL="0" indent="266700">
              <a:buNone/>
            </a:pPr>
            <a:r>
              <a:rPr lang="en-US" dirty="0"/>
              <a:t>        continue;</a:t>
            </a:r>
          </a:p>
          <a:p>
            <a:pPr marL="0" indent="266700">
              <a:buNone/>
            </a:pPr>
            <a:r>
              <a:rPr lang="en-US" dirty="0"/>
              <a:t>    }</a:t>
            </a:r>
          </a:p>
          <a:p>
            <a:pPr marL="0" indent="266700">
              <a:buNone/>
            </a:pPr>
            <a:r>
              <a:rPr lang="en-US" dirty="0"/>
              <a:t>    echo $</a:t>
            </a:r>
            <a:r>
              <a:rPr lang="en-US" dirty="0" err="1"/>
              <a:t>i</a:t>
            </a:r>
            <a:r>
              <a:rPr lang="en-US" dirty="0"/>
              <a:t>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266700">
              <a:buNone/>
            </a:pPr>
            <a:r>
              <a:rPr lang="en-US" dirty="0"/>
              <a:t>}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59C6D-C9B1-4286-C169-E111B9071934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Output</a:t>
            </a:r>
          </a:p>
          <a:p>
            <a:pPr marL="0" indent="266700">
              <a:buNone/>
            </a:pPr>
            <a:r>
              <a:rPr lang="en-US" dirty="0"/>
              <a:t>1</a:t>
            </a:r>
          </a:p>
          <a:p>
            <a:pPr marL="0" indent="266700">
              <a:buNone/>
            </a:pPr>
            <a:r>
              <a:rPr lang="en-US" dirty="0"/>
              <a:t>2</a:t>
            </a:r>
          </a:p>
          <a:p>
            <a:pPr marL="0" indent="266700">
              <a:buNone/>
            </a:pPr>
            <a:r>
              <a:rPr lang="en-US" dirty="0"/>
              <a:t>4</a:t>
            </a:r>
          </a:p>
          <a:p>
            <a:pPr marL="0" indent="266700">
              <a:buNone/>
            </a:pPr>
            <a:r>
              <a:rPr lang="en-US" dirty="0"/>
              <a:t>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985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534E-7F0A-5185-2241-9012C20D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Loops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5B227B-3F57-D772-7584-3A4BC1748B1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32541643"/>
              </p:ext>
            </p:extLst>
          </p:nvPr>
        </p:nvGraphicFramePr>
        <p:xfrm>
          <a:off x="1219200" y="1417638"/>
          <a:ext cx="10363200" cy="4335464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86061707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915026335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890388696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80676828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576469411"/>
                    </a:ext>
                  </a:extLst>
                </a:gridCol>
              </a:tblGrid>
              <a:tr h="10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while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do-while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foreach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31588"/>
                  </a:ext>
                </a:extLst>
              </a:tr>
              <a:tr h="10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Runs at least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68592"/>
                  </a:ext>
                </a:extLst>
              </a:tr>
              <a:tr h="10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Used for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977374"/>
                  </a:ext>
                </a:extLst>
              </a:tr>
              <a:tr h="108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Known iterations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68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917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_LPU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_LPU" id="{BB28679B-D966-4CFA-8E30-8E5ED8F581FF}" vid="{CA0C32D0-A588-4E4D-8E93-996DA3C803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Theme1_LPU</Template>
  <TotalTime>1957</TotalTime>
  <Words>1692</Words>
  <Application>Microsoft Office PowerPoint</Application>
  <PresentationFormat>Widescreen</PresentationFormat>
  <Paragraphs>383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Courier New</vt:lpstr>
      <vt:lpstr>Franklin Gothic Book</vt:lpstr>
      <vt:lpstr>Perpetua</vt:lpstr>
      <vt:lpstr>Wingdings 2</vt:lpstr>
      <vt:lpstr>Theme1_LPU</vt:lpstr>
      <vt:lpstr>Basic of PHP</vt:lpstr>
      <vt:lpstr>Constants in PHP</vt:lpstr>
      <vt:lpstr>PowerPoint Presentation</vt:lpstr>
      <vt:lpstr>How to Declare Constants in PHP</vt:lpstr>
      <vt:lpstr>PowerPoint Presentation</vt:lpstr>
      <vt:lpstr>PowerPoint Presentation</vt:lpstr>
      <vt:lpstr>Predefined PHP Constants</vt:lpstr>
      <vt:lpstr>Magic Constants (Special Constants)</vt:lpstr>
      <vt:lpstr>Control Flow Statements in PHP</vt:lpstr>
      <vt:lpstr>Types of Control Flow Statements in PHP</vt:lpstr>
      <vt:lpstr>Decision Making Statements</vt:lpstr>
      <vt:lpstr>PHP supports the following decision-making statements:</vt:lpstr>
      <vt:lpstr>1. if Statement</vt:lpstr>
      <vt:lpstr>Example</vt:lpstr>
      <vt:lpstr>PowerPoint Presentation</vt:lpstr>
      <vt:lpstr>Example</vt:lpstr>
      <vt:lpstr>3. if-elseif-else Statement</vt:lpstr>
      <vt:lpstr>Example (Grade System)</vt:lpstr>
      <vt:lpstr>4. Nested if Statement</vt:lpstr>
      <vt:lpstr>5. switch Statement</vt:lpstr>
      <vt:lpstr>Example</vt:lpstr>
      <vt:lpstr>6. Ternary Operator (Conditional Operator)</vt:lpstr>
      <vt:lpstr>Example</vt:lpstr>
      <vt:lpstr>Looping Statements in PHP</vt:lpstr>
      <vt:lpstr>Types of Loops in PHP</vt:lpstr>
      <vt:lpstr>1. for Loop</vt:lpstr>
      <vt:lpstr>PowerPoint Presentation</vt:lpstr>
      <vt:lpstr>2. while Loop</vt:lpstr>
      <vt:lpstr>Example</vt:lpstr>
      <vt:lpstr>3. do-while Loop</vt:lpstr>
      <vt:lpstr>Example</vt:lpstr>
      <vt:lpstr>4. foreach Loop</vt:lpstr>
      <vt:lpstr>Example (Indexed Array)</vt:lpstr>
      <vt:lpstr>Example (Associative Array)</vt:lpstr>
      <vt:lpstr>5. Nested Loops</vt:lpstr>
      <vt:lpstr>Loop Control Statements</vt:lpstr>
      <vt:lpstr>1. Break Statement</vt:lpstr>
      <vt:lpstr>2. Continue Statement</vt:lpstr>
      <vt:lpstr>Difference Between 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choudhary</dc:creator>
  <cp:lastModifiedBy>Yogesh choudhary</cp:lastModifiedBy>
  <cp:revision>8</cp:revision>
  <dcterms:created xsi:type="dcterms:W3CDTF">2026-01-20T16:40:12Z</dcterms:created>
  <dcterms:modified xsi:type="dcterms:W3CDTF">2026-01-22T09:48:47Z</dcterms:modified>
</cp:coreProperties>
</file>