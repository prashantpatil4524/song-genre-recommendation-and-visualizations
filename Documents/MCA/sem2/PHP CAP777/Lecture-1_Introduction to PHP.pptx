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4" name="Picture 13" descr="Image result for lovely professional university transparent">
            <a:extLst>
              <a:ext uri="{FF2B5EF4-FFF2-40B4-BE49-F238E27FC236}">
                <a16:creationId xmlns:a16="http://schemas.microsoft.com/office/drawing/2014/main" id="{E442297E-3734-47C6-9586-4D0659394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3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28654"/>
            <a:ext cx="1972856" cy="63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604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8869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333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3180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1245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3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16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595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80650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784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18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503D362-3098-4389-9F6B-391E2D99920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28F178B4-22AC-4FCB-8451-E90CDF3269FE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 descr="Image result for lovely professional university transparent">
            <a:extLst>
              <a:ext uri="{FF2B5EF4-FFF2-40B4-BE49-F238E27FC236}">
                <a16:creationId xmlns:a16="http://schemas.microsoft.com/office/drawing/2014/main" id="{21BE8278-7A7D-4DD7-ACA8-176AE482D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11500"/>
                    </a14:imgEffect>
                    <a14:imgEffect>
                      <a14:saturation sat="3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28654"/>
            <a:ext cx="1972856" cy="63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327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692C27-F345-8838-9077-B84399F7B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E65C7-FB08-3E76-A6E3-7992A39A4D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Basics of PHP </a:t>
            </a:r>
          </a:p>
        </p:txBody>
      </p:sp>
    </p:spTree>
    <p:extLst>
      <p:ext uri="{BB962C8B-B14F-4D97-AF65-F5344CB8AC3E}">
        <p14:creationId xmlns:p14="http://schemas.microsoft.com/office/powerpoint/2010/main" val="923951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22F17-CFCD-3DFF-D0A9-4BFDD0149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27A48-0D8C-8824-6CD4-541F81002A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PHP (Hypertext Preprocessor)</a:t>
            </a:r>
            <a:r>
              <a:rPr lang="en-US" dirty="0"/>
              <a:t> is a </a:t>
            </a:r>
            <a:r>
              <a:rPr lang="en-US" b="1" dirty="0"/>
              <a:t>server-side scripting language</a:t>
            </a:r>
            <a:r>
              <a:rPr lang="en-US" dirty="0"/>
              <a:t> mainly used to create </a:t>
            </a:r>
            <a:r>
              <a:rPr lang="en-US" b="1" dirty="0"/>
              <a:t>dynamic and interactive web applications</a:t>
            </a:r>
            <a:r>
              <a:rPr lang="en-US" dirty="0"/>
              <a:t>.</a:t>
            </a:r>
          </a:p>
          <a:p>
            <a:r>
              <a:rPr lang="en-US" dirty="0"/>
              <a:t>It is embedded inside HTML and executed on the </a:t>
            </a:r>
            <a:r>
              <a:rPr lang="en-US" b="1" dirty="0"/>
              <a:t>web server</a:t>
            </a:r>
            <a:r>
              <a:rPr lang="en-US" dirty="0"/>
              <a:t>, not in the user's browser.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96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0C60-7422-2A28-D1A1-9F1EE30F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87928-04A3-0F5C-0A5F-A43FF6960B9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👉 PHP helps websites perform </a:t>
            </a:r>
            <a:r>
              <a:rPr lang="en-IN" b="1" dirty="0"/>
              <a:t>backend operations</a:t>
            </a:r>
            <a:r>
              <a:rPr lang="en-IN" dirty="0"/>
              <a:t> such as:</a:t>
            </a:r>
          </a:p>
          <a:p>
            <a:r>
              <a:rPr lang="en-IN" dirty="0"/>
              <a:t>Processing forms</a:t>
            </a:r>
          </a:p>
          <a:p>
            <a:r>
              <a:rPr lang="en-IN" dirty="0"/>
              <a:t>Storing and retrieving data</a:t>
            </a:r>
          </a:p>
          <a:p>
            <a:r>
              <a:rPr lang="en-IN" dirty="0"/>
              <a:t>Creating login systems</a:t>
            </a:r>
          </a:p>
          <a:p>
            <a:r>
              <a:rPr lang="en-IN" dirty="0"/>
              <a:t>Connecting to databases</a:t>
            </a:r>
          </a:p>
          <a:p>
            <a:r>
              <a:rPr lang="en-IN" dirty="0"/>
              <a:t>Managing sessions</a:t>
            </a:r>
          </a:p>
          <a:p>
            <a:r>
              <a:rPr lang="en-IN" dirty="0"/>
              <a:t>Generating dynamic content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9868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4012-485C-FCE1-90C2-60BA26A65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PHP is Called Server-Side Language?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BD33B-3CEB-CF14-999A-B8E78F1D86A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Because:</a:t>
            </a:r>
          </a:p>
          <a:p>
            <a:pPr marL="0" indent="0">
              <a:buNone/>
            </a:pPr>
            <a:r>
              <a:rPr lang="en-US" dirty="0"/>
              <a:t>✔ PHP code runs on the server</a:t>
            </a:r>
            <a:br>
              <a:rPr lang="en-US" dirty="0"/>
            </a:br>
            <a:r>
              <a:rPr lang="en-US" dirty="0"/>
              <a:t>✔ Only output is sent to browser</a:t>
            </a:r>
            <a:br>
              <a:rPr lang="en-US" dirty="0"/>
            </a:br>
            <a:r>
              <a:rPr lang="en-US" dirty="0"/>
              <a:t>✔ Original PHP code is hidden</a:t>
            </a:r>
            <a:br>
              <a:rPr lang="en-US" dirty="0"/>
            </a:br>
            <a:r>
              <a:rPr lang="en-US" dirty="0"/>
              <a:t>✔ More secure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860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042C-4104-96CB-0F7C-EAD0636E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622D1-B938-0A95-E63E-4330B927DD5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B733C-88E0-2F91-68AB-932685FEB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23" y="1038224"/>
            <a:ext cx="10676044" cy="476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45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15A0-88C4-79C0-C539-A3EC6C1A2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PHP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617C3-EE4B-29FE-26A0-BB7099ED46C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PHP Code: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Output: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US" dirty="0"/>
              <a:t>👉 Browser receives only the output, not PHP code.</a:t>
            </a:r>
            <a:endParaRPr lang="en-IN" b="1" dirty="0"/>
          </a:p>
          <a:p>
            <a:endParaRPr lang="en-IN" b="1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8692C-4302-2690-8394-D7E3FEABF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884" y="1949432"/>
            <a:ext cx="4540915" cy="1203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39B6DA-3189-000C-291E-BC730AD10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884" y="3921115"/>
            <a:ext cx="4540915" cy="81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55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957A-C41F-AF73-4C67-E08175401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History of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25969-5738-371B-756D-AF6DD7E892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PHP was created by </a:t>
            </a:r>
            <a:r>
              <a:rPr lang="en-US" b="1" dirty="0"/>
              <a:t>Rasmus Lerdorf</a:t>
            </a:r>
            <a:r>
              <a:rPr lang="en-US" dirty="0"/>
              <a:t> in </a:t>
            </a:r>
            <a:r>
              <a:rPr lang="en-US" b="1" dirty="0"/>
              <a:t>1994</a:t>
            </a:r>
            <a:r>
              <a:rPr lang="en-US" dirty="0"/>
              <a:t>.</a:t>
            </a:r>
          </a:p>
          <a:p>
            <a:r>
              <a:rPr lang="en-US" dirty="0"/>
              <a:t>At first, PHP was not a programming language. It was a </a:t>
            </a:r>
            <a:r>
              <a:rPr lang="en-US" b="1" dirty="0"/>
              <a:t>set of small tools</a:t>
            </a:r>
            <a:r>
              <a:rPr lang="en-US" dirty="0"/>
              <a:t> used to track visits to Rasmus’s personal website.</a:t>
            </a:r>
          </a:p>
          <a:p>
            <a:endParaRPr lang="en-IN" dirty="0"/>
          </a:p>
          <a:p>
            <a:r>
              <a:rPr lang="en-US" dirty="0"/>
              <a:t>Initially PHP stood for:</a:t>
            </a:r>
          </a:p>
          <a:p>
            <a:r>
              <a:rPr lang="en-US" b="1" dirty="0"/>
              <a:t>Personal Home Page</a:t>
            </a:r>
            <a:endParaRPr lang="en-US" dirty="0"/>
          </a:p>
          <a:p>
            <a:r>
              <a:rPr lang="en-US" dirty="0"/>
              <a:t>Later, it was renamed to:</a:t>
            </a:r>
          </a:p>
          <a:p>
            <a:r>
              <a:rPr lang="en-US" b="1" dirty="0"/>
              <a:t>PHP: Hypertext Preprocessor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708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79D80-1772-72CD-DB62-532841B60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client site script vs server site script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566B9-6A14-E272-B3A7-3C8243D829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web development, scripts are divided into </a:t>
            </a:r>
            <a:r>
              <a:rPr lang="en-US" b="1" dirty="0"/>
              <a:t>two main categories</a:t>
            </a:r>
            <a:r>
              <a:rPr lang="en-US" dirty="0"/>
              <a:t>:</a:t>
            </a:r>
          </a:p>
          <a:p>
            <a:r>
              <a:rPr lang="en-US" dirty="0"/>
              <a:t>👉 </a:t>
            </a:r>
            <a:r>
              <a:rPr lang="en-US" b="1" dirty="0"/>
              <a:t>Client-Side Script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Server-Side Script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13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E314C-6C3D-91CF-1EE3-571C0A0C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1) Client-Side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C8651-EF5F-2EE3-7B33-1C677A8CB38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Client-Side Script?</a:t>
            </a:r>
          </a:p>
          <a:p>
            <a:r>
              <a:rPr lang="en-US" b="1" dirty="0"/>
              <a:t>Client-side scripting</a:t>
            </a:r>
            <a:r>
              <a:rPr lang="en-US" dirty="0"/>
              <a:t> means the code runs on the </a:t>
            </a:r>
            <a:r>
              <a:rPr lang="en-US" b="1" dirty="0"/>
              <a:t>user’s browser (client computer)</a:t>
            </a:r>
            <a:r>
              <a:rPr lang="en-US" dirty="0"/>
              <a:t>.</a:t>
            </a:r>
          </a:p>
          <a:p>
            <a:r>
              <a:rPr lang="en-US" dirty="0"/>
              <a:t>The browser downloads the script and executes it locally.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✅ Common Client-Side Languages</a:t>
            </a:r>
          </a:p>
          <a:p>
            <a:pPr marL="0" indent="0">
              <a:buNone/>
            </a:pPr>
            <a:r>
              <a:rPr lang="en-US" dirty="0"/>
              <a:t>✔ JavaScript</a:t>
            </a:r>
            <a:br>
              <a:rPr lang="en-US" dirty="0"/>
            </a:br>
            <a:r>
              <a:rPr lang="en-US" dirty="0"/>
              <a:t>✔ HTML</a:t>
            </a:r>
            <a:br>
              <a:rPr lang="en-US" dirty="0"/>
            </a:br>
            <a:r>
              <a:rPr lang="en-US" dirty="0"/>
              <a:t>✔ CSS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879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FAD81-3CAB-ECFA-94DA-EC5EB8E0A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Client-Side Script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FE983-B7AD-18B5-A497-551642F56D7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Workflow Diagram:</a:t>
            </a:r>
          </a:p>
          <a:p>
            <a:pPr marL="0" indent="0">
              <a:buNone/>
            </a:pPr>
            <a:r>
              <a:rPr lang="en-US" dirty="0"/>
              <a:t>        Server</a:t>
            </a:r>
          </a:p>
          <a:p>
            <a:pPr marL="0" indent="0">
              <a:buNone/>
            </a:pPr>
            <a:r>
              <a:rPr lang="en-US" dirty="0"/>
              <a:t>  	↓ (Sends Code)</a:t>
            </a:r>
          </a:p>
          <a:p>
            <a:pPr marL="0" indent="0">
              <a:buNone/>
            </a:pPr>
            <a:r>
              <a:rPr lang="en-US" dirty="0"/>
              <a:t>  Browser (Client)</a:t>
            </a:r>
          </a:p>
          <a:p>
            <a:pPr marL="0" indent="0">
              <a:buNone/>
            </a:pPr>
            <a:r>
              <a:rPr lang="en-US" dirty="0"/>
              <a:t>     	↓</a:t>
            </a:r>
          </a:p>
          <a:p>
            <a:pPr marL="0" indent="0">
              <a:buNone/>
            </a:pPr>
            <a:r>
              <a:rPr lang="en-US" dirty="0"/>
              <a:t>  Script Executes</a:t>
            </a:r>
          </a:p>
          <a:p>
            <a:pPr marL="0" indent="0">
              <a:buNone/>
            </a:pPr>
            <a:r>
              <a:rPr lang="en-US" dirty="0"/>
              <a:t>     	↓</a:t>
            </a:r>
          </a:p>
          <a:p>
            <a:pPr marL="0" indent="0">
              <a:buNone/>
            </a:pPr>
            <a:r>
              <a:rPr lang="en-US" dirty="0"/>
              <a:t>  Result Displayed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187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539E-3EA0-BC92-7040-B454E94A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732D1-F0E7-0A56-84ED-087BC50AB6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Example (JavaScript)</a:t>
            </a:r>
          </a:p>
          <a:p>
            <a:r>
              <a:rPr lang="en-IN" dirty="0"/>
              <a:t>&lt;script&gt;</a:t>
            </a:r>
          </a:p>
          <a:p>
            <a:r>
              <a:rPr lang="en-IN" dirty="0"/>
              <a:t>alert("Welcome User!");</a:t>
            </a:r>
          </a:p>
          <a:p>
            <a:r>
              <a:rPr lang="en-IN" dirty="0"/>
              <a:t>&lt;/script&gt;</a:t>
            </a:r>
          </a:p>
          <a:p>
            <a:r>
              <a:rPr lang="en-IN" dirty="0"/>
              <a:t>👉 Runs inside browser</a:t>
            </a:r>
            <a:br>
              <a:rPr lang="en-IN" dirty="0"/>
            </a:br>
            <a:r>
              <a:rPr lang="en-IN" dirty="0"/>
              <a:t>👉 User can see source code</a:t>
            </a:r>
            <a:br>
              <a:rPr lang="en-IN" dirty="0"/>
            </a:br>
            <a:r>
              <a:rPr lang="en-IN" dirty="0"/>
              <a:t>👉 Fast response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281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F738-BEA2-1670-5D18-DE234902D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6C9C1-5B22-DC08-5AD8-A81ED592E4C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✅ Uses of Client-Side Script</a:t>
            </a:r>
          </a:p>
          <a:p>
            <a:pPr marL="0" indent="0">
              <a:buNone/>
            </a:pPr>
            <a:r>
              <a:rPr lang="en-IN" dirty="0"/>
              <a:t>✔ Form validation</a:t>
            </a:r>
            <a:br>
              <a:rPr lang="en-IN" dirty="0"/>
            </a:br>
            <a:r>
              <a:rPr lang="en-IN" dirty="0"/>
              <a:t>✔ Button click events</a:t>
            </a:r>
            <a:br>
              <a:rPr lang="en-IN" dirty="0"/>
            </a:br>
            <a:r>
              <a:rPr lang="en-IN" dirty="0"/>
              <a:t>✔ Animations</a:t>
            </a:r>
            <a:br>
              <a:rPr lang="en-IN" dirty="0"/>
            </a:br>
            <a:r>
              <a:rPr lang="en-IN" dirty="0"/>
              <a:t>✔ Interactive UI</a:t>
            </a:r>
            <a:br>
              <a:rPr lang="en-IN" dirty="0"/>
            </a:br>
            <a:r>
              <a:rPr lang="en-IN" dirty="0"/>
              <a:t>✔ Dynamic page effects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097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B27B-3D87-D1C2-A26B-C5255209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B7358-987F-8546-60CE-3E69B19D639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Limitations of Client-Side Script</a:t>
            </a:r>
          </a:p>
          <a:p>
            <a:r>
              <a:rPr lang="en-US" dirty="0"/>
              <a:t> Less secure</a:t>
            </a:r>
          </a:p>
          <a:p>
            <a:r>
              <a:rPr lang="en-US" dirty="0"/>
              <a:t>No direct database access</a:t>
            </a:r>
          </a:p>
          <a:p>
            <a:r>
              <a:rPr lang="en-US" dirty="0"/>
              <a:t>Code visible to users</a:t>
            </a:r>
          </a:p>
          <a:p>
            <a:r>
              <a:rPr lang="en-US" dirty="0"/>
              <a:t> Browser dependent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745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F689-8858-BA4D-57B7-949436E6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2) Server-Side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E2197-8B0F-4413-E2E9-15634C33F1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is Server-Side Script?</a:t>
            </a:r>
          </a:p>
          <a:p>
            <a:r>
              <a:rPr lang="en-IN" b="1" dirty="0"/>
              <a:t>Server-side scripting</a:t>
            </a:r>
            <a:r>
              <a:rPr lang="en-IN" dirty="0"/>
              <a:t> means code runs on the </a:t>
            </a:r>
            <a:r>
              <a:rPr lang="en-IN" b="1" dirty="0"/>
              <a:t>web server</a:t>
            </a:r>
            <a:r>
              <a:rPr lang="en-IN" dirty="0"/>
              <a:t>.</a:t>
            </a:r>
          </a:p>
          <a:p>
            <a:r>
              <a:rPr lang="en-IN" dirty="0"/>
              <a:t>Only the result is sent to the browser.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✅ Common Server-Side Languages</a:t>
            </a:r>
          </a:p>
          <a:p>
            <a:pPr marL="0" indent="0">
              <a:buNone/>
            </a:pPr>
            <a:r>
              <a:rPr lang="en-IN" dirty="0"/>
              <a:t>✔ PHP</a:t>
            </a:r>
            <a:br>
              <a:rPr lang="en-IN" dirty="0"/>
            </a:br>
            <a:r>
              <a:rPr lang="en-IN" dirty="0"/>
              <a:t>✔ Python</a:t>
            </a:r>
            <a:br>
              <a:rPr lang="en-IN" dirty="0"/>
            </a:br>
            <a:r>
              <a:rPr lang="en-IN" dirty="0"/>
              <a:t>✔ Java</a:t>
            </a:r>
            <a:br>
              <a:rPr lang="en-IN" dirty="0"/>
            </a:br>
            <a:r>
              <a:rPr lang="en-IN" dirty="0"/>
              <a:t>✔ ASP.NET</a:t>
            </a:r>
            <a:br>
              <a:rPr lang="en-IN" dirty="0"/>
            </a:br>
            <a:r>
              <a:rPr lang="en-IN" dirty="0"/>
              <a:t>✔ Node.js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035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E5C9-BAF4-1DCA-6507-D06762EA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Server-Side Script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95A64-FD0E-A991-081E-F72723FB567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Workflow Diagram:</a:t>
            </a:r>
          </a:p>
          <a:p>
            <a:pPr marL="0" indent="0">
              <a:buNone/>
            </a:pPr>
            <a:r>
              <a:rPr lang="en-IN" dirty="0"/>
              <a:t>Browser Request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Web Server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Script Executes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HTML Output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Browser Display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1160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C407-8A73-F71F-EB1B-270DDE3E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C3EA5-8291-DB93-C408-0030BD7F944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Example (PHP)</a:t>
            </a:r>
          </a:p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echo "Welcome Server Side!";</a:t>
            </a:r>
          </a:p>
          <a:p>
            <a:r>
              <a:rPr lang="en-IN" dirty="0"/>
              <a:t>?&gt;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👉 Runs on server</a:t>
            </a:r>
            <a:br>
              <a:rPr lang="en-IN" dirty="0"/>
            </a:br>
            <a:r>
              <a:rPr lang="en-IN" dirty="0"/>
              <a:t>👉 Secure</a:t>
            </a:r>
            <a:br>
              <a:rPr lang="en-IN" dirty="0"/>
            </a:br>
            <a:r>
              <a:rPr lang="en-IN" dirty="0"/>
              <a:t>👉 Hidden logic</a:t>
            </a:r>
            <a:br>
              <a:rPr lang="en-IN" dirty="0"/>
            </a:br>
            <a:r>
              <a:rPr lang="en-IN" dirty="0"/>
              <a:t>👉 Can access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9327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79A6-E3AC-71DD-F22E-21B3F41EF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057A0-0C18-6792-D9C0-A45435B24A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✅ Uses of Server-Side Script</a:t>
            </a:r>
          </a:p>
          <a:p>
            <a:r>
              <a:rPr lang="en-US" dirty="0"/>
              <a:t>✔ Login systems</a:t>
            </a:r>
            <a:br>
              <a:rPr lang="en-US" dirty="0"/>
            </a:br>
            <a:r>
              <a:rPr lang="en-US" dirty="0"/>
              <a:t>✔ Database operations</a:t>
            </a:r>
            <a:br>
              <a:rPr lang="en-US" dirty="0"/>
            </a:br>
            <a:r>
              <a:rPr lang="en-US" dirty="0"/>
              <a:t>✔ Payment processing</a:t>
            </a:r>
            <a:br>
              <a:rPr lang="en-US" dirty="0"/>
            </a:br>
            <a:r>
              <a:rPr lang="en-US" dirty="0"/>
              <a:t>✔ Authentication</a:t>
            </a:r>
            <a:br>
              <a:rPr lang="en-US" dirty="0"/>
            </a:br>
            <a:r>
              <a:rPr lang="en-US" dirty="0"/>
              <a:t>✔ File uploads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522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BE84D-FBD4-0721-B759-E8139259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Client-Side vs Server-Side (Comparison Table)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676593-FAB2-1368-8A0C-098F44C1903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012785518"/>
              </p:ext>
            </p:extLst>
          </p:nvPr>
        </p:nvGraphicFramePr>
        <p:xfrm>
          <a:off x="1219200" y="1417637"/>
          <a:ext cx="9925050" cy="4859337"/>
        </p:xfrm>
        <a:graphic>
          <a:graphicData uri="http://schemas.openxmlformats.org/drawingml/2006/table">
            <a:tbl>
              <a:tblPr/>
              <a:tblGrid>
                <a:gridCol w="3308350">
                  <a:extLst>
                    <a:ext uri="{9D8B030D-6E8A-4147-A177-3AD203B41FA5}">
                      <a16:colId xmlns:a16="http://schemas.microsoft.com/office/drawing/2014/main" val="3979536543"/>
                    </a:ext>
                  </a:extLst>
                </a:gridCol>
                <a:gridCol w="3308350">
                  <a:extLst>
                    <a:ext uri="{9D8B030D-6E8A-4147-A177-3AD203B41FA5}">
                      <a16:colId xmlns:a16="http://schemas.microsoft.com/office/drawing/2014/main" val="1187969115"/>
                    </a:ext>
                  </a:extLst>
                </a:gridCol>
                <a:gridCol w="3308350">
                  <a:extLst>
                    <a:ext uri="{9D8B030D-6E8A-4147-A177-3AD203B41FA5}">
                      <a16:colId xmlns:a16="http://schemas.microsoft.com/office/drawing/2014/main" val="4012872822"/>
                    </a:ext>
                  </a:extLst>
                </a:gridCol>
              </a:tblGrid>
              <a:tr h="694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Client-Side 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Server-Side 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415189"/>
                  </a:ext>
                </a:extLst>
              </a:tr>
              <a:tr h="694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Execution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Browser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388639"/>
                  </a:ext>
                </a:extLst>
              </a:tr>
              <a:tr h="694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007568"/>
                  </a:ext>
                </a:extLst>
              </a:tr>
              <a:tr h="694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Database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879555"/>
                  </a:ext>
                </a:extLst>
              </a:tr>
              <a:tr h="694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Slower than client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887460"/>
                  </a:ext>
                </a:extLst>
              </a:tr>
              <a:tr h="694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Code Visibility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Visible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Hidden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928899"/>
                  </a:ext>
                </a:extLst>
              </a:tr>
              <a:tr h="694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User 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UI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Business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622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271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1B94-4580-830F-9969-B96FC7296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Example: Login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63DE0-7AC4-685C-5558-C2E1357F702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Client-Side Work (HTML + JS)</a:t>
            </a:r>
          </a:p>
          <a:p>
            <a:pPr marL="0" indent="0">
              <a:buNone/>
            </a:pPr>
            <a:r>
              <a:rPr lang="en-IN" dirty="0"/>
              <a:t>✔ Display login form</a:t>
            </a:r>
            <a:br>
              <a:rPr lang="en-IN" dirty="0"/>
            </a:br>
            <a:r>
              <a:rPr lang="en-IN" dirty="0"/>
              <a:t>✔ Validate empty fields</a:t>
            </a:r>
            <a:br>
              <a:rPr lang="en-IN" dirty="0"/>
            </a:br>
            <a:r>
              <a:rPr lang="en-IN" dirty="0"/>
              <a:t>✔ Show error message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Server-Side Work (PHP)</a:t>
            </a:r>
          </a:p>
          <a:p>
            <a:pPr marL="0" indent="0">
              <a:buNone/>
            </a:pPr>
            <a:r>
              <a:rPr lang="en-IN" dirty="0"/>
              <a:t>✔ Check username</a:t>
            </a:r>
            <a:br>
              <a:rPr lang="en-IN" dirty="0"/>
            </a:br>
            <a:r>
              <a:rPr lang="en-IN" dirty="0"/>
              <a:t>✔ Verify password</a:t>
            </a:r>
            <a:br>
              <a:rPr lang="en-IN" dirty="0"/>
            </a:br>
            <a:r>
              <a:rPr lang="en-IN" dirty="0"/>
              <a:t>✔ Connect database</a:t>
            </a:r>
            <a:br>
              <a:rPr lang="en-IN" dirty="0"/>
            </a:br>
            <a:r>
              <a:rPr lang="en-IN" dirty="0"/>
              <a:t>✔ Create session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493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863F7-C244-CBF0-AF74-64D523A9C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 in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0C2C2-4324-A7B8-8D97-1FBBFD875B7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variable</a:t>
            </a:r>
            <a:r>
              <a:rPr lang="en-US" dirty="0"/>
              <a:t> in PHP is used to </a:t>
            </a:r>
            <a:r>
              <a:rPr lang="en-US" b="1" dirty="0"/>
              <a:t>store data</a:t>
            </a:r>
            <a:r>
              <a:rPr lang="en-US" dirty="0"/>
              <a:t> that can be used and changed during program execution.</a:t>
            </a:r>
          </a:p>
          <a:p>
            <a:r>
              <a:rPr lang="en-US" b="1" dirty="0"/>
              <a:t>What is a Variable?</a:t>
            </a:r>
          </a:p>
          <a:p>
            <a:pPr marL="0" indent="0">
              <a:buNone/>
            </a:pPr>
            <a:r>
              <a:rPr lang="en-US" dirty="0"/>
              <a:t>👉 A variable is a </a:t>
            </a:r>
            <a:r>
              <a:rPr lang="en-US" b="1" dirty="0"/>
              <a:t>named container</a:t>
            </a:r>
            <a:r>
              <a:rPr lang="en-US" dirty="0"/>
              <a:t> that holds a value.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$name = “</a:t>
            </a:r>
            <a:r>
              <a:rPr lang="en-US" dirty="0" err="1"/>
              <a:t>sam</a:t>
            </a:r>
            <a:r>
              <a:rPr lang="en-US" dirty="0"/>
              <a:t>";</a:t>
            </a:r>
          </a:p>
          <a:p>
            <a:r>
              <a:rPr lang="en-US" dirty="0"/>
              <a:t>Here:</a:t>
            </a:r>
          </a:p>
          <a:p>
            <a:r>
              <a:rPr lang="en-US" dirty="0"/>
              <a:t>$name → Variable name</a:t>
            </a:r>
          </a:p>
          <a:p>
            <a:r>
              <a:rPr lang="en-US" dirty="0"/>
              <a:t>“</a:t>
            </a:r>
            <a:r>
              <a:rPr lang="en-US" dirty="0" err="1"/>
              <a:t>sam</a:t>
            </a:r>
            <a:r>
              <a:rPr lang="en-US" dirty="0"/>
              <a:t>" → Value stored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6922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1252-2550-FC6D-54AB-616C005BC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Declaring Variables in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C2DA5-7AB4-1469-C1CC-6F4C1A1D4E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Syntax:</a:t>
            </a:r>
          </a:p>
          <a:p>
            <a:r>
              <a:rPr lang="en-US" dirty="0"/>
              <a:t>$</a:t>
            </a:r>
            <a:r>
              <a:rPr lang="en-US" dirty="0" err="1"/>
              <a:t>variable_name</a:t>
            </a:r>
            <a:r>
              <a:rPr lang="en-US" dirty="0"/>
              <a:t> = value;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Example:</a:t>
            </a:r>
          </a:p>
          <a:p>
            <a:r>
              <a:rPr lang="en-US" dirty="0"/>
              <a:t>$age = 18;</a:t>
            </a:r>
          </a:p>
          <a:p>
            <a:r>
              <a:rPr lang="en-US" dirty="0"/>
              <a:t>$price = 99.50;</a:t>
            </a:r>
          </a:p>
          <a:p>
            <a:r>
              <a:rPr lang="en-US" dirty="0"/>
              <a:t>$</a:t>
            </a:r>
            <a:r>
              <a:rPr lang="en-US" dirty="0" err="1"/>
              <a:t>isStudent</a:t>
            </a:r>
            <a:r>
              <a:rPr lang="en-US" dirty="0"/>
              <a:t> = true;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075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A822B-ECF1-2EBB-2E62-547C51BD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Rules for PHP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323E2-93A2-9170-5138-FF66ADABC6B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PHP variables must follow these rules:</a:t>
            </a:r>
          </a:p>
          <a:p>
            <a:pPr marL="0" indent="0">
              <a:buNone/>
            </a:pPr>
            <a:r>
              <a:rPr lang="en-US" dirty="0"/>
              <a:t>✔ Must start with $ symbol</a:t>
            </a:r>
            <a:br>
              <a:rPr lang="en-US" dirty="0"/>
            </a:br>
            <a:r>
              <a:rPr lang="en-US" dirty="0"/>
              <a:t>✔ Must start with a letter or underscore _</a:t>
            </a:r>
            <a:br>
              <a:rPr lang="en-US" dirty="0"/>
            </a:br>
            <a:r>
              <a:rPr lang="en-US" dirty="0"/>
              <a:t>✔ Cannot start with number</a:t>
            </a:r>
            <a:br>
              <a:rPr lang="en-US" dirty="0"/>
            </a:br>
            <a:r>
              <a:rPr lang="en-US" dirty="0"/>
              <a:t>✔ No spaces allowed</a:t>
            </a:r>
            <a:br>
              <a:rPr lang="en-US" dirty="0"/>
            </a:br>
            <a:r>
              <a:rPr lang="en-US" dirty="0"/>
              <a:t>✔ Case-sensitive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934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F697D-6085-1741-6FBA-6796B3782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CB77E-9952-0B29-F95B-DB4840F1B5F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Valid Variables</a:t>
            </a:r>
          </a:p>
          <a:p>
            <a:r>
              <a:rPr lang="en-US" dirty="0"/>
              <a:t>$name = "Amit";</a:t>
            </a:r>
          </a:p>
          <a:p>
            <a:r>
              <a:rPr lang="en-US" dirty="0"/>
              <a:t>$_age = 20;</a:t>
            </a:r>
          </a:p>
          <a:p>
            <a:r>
              <a:rPr lang="en-US" dirty="0"/>
              <a:t>$</a:t>
            </a:r>
            <a:r>
              <a:rPr lang="en-US" dirty="0" err="1"/>
              <a:t>totalMarks</a:t>
            </a:r>
            <a:r>
              <a:rPr lang="en-US" dirty="0"/>
              <a:t> = 450;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783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A6BA-290A-E4A4-2F0A-A49055E0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DF448-C8FD-9AE8-F912-3CEF7FD5D21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Invalid Variables</a:t>
            </a:r>
          </a:p>
          <a:p>
            <a:r>
              <a:rPr lang="en-US" dirty="0"/>
              <a:t>$1name = "Ram";    // Wrong (starts with number)</a:t>
            </a:r>
          </a:p>
          <a:p>
            <a:r>
              <a:rPr lang="en-US" dirty="0"/>
              <a:t>$first name = ""; // Wrong (space not allowed)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996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7AA44-419A-23B5-7AB5-3918663D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B2DB9-0039-6360-752B-D10C423C950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Displaying Variables</a:t>
            </a:r>
          </a:p>
          <a:p>
            <a:r>
              <a:rPr lang="en-US" dirty="0"/>
              <a:t>Use </a:t>
            </a:r>
            <a:r>
              <a:rPr lang="en-US" b="1" dirty="0"/>
              <a:t>echo</a:t>
            </a:r>
            <a:r>
              <a:rPr lang="en-US" dirty="0"/>
              <a:t> or </a:t>
            </a:r>
            <a:r>
              <a:rPr lang="en-US" b="1" dirty="0"/>
              <a:t>print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$name = "Student";</a:t>
            </a:r>
          </a:p>
          <a:p>
            <a:pPr lvl="1"/>
            <a:r>
              <a:rPr lang="en-US" dirty="0"/>
              <a:t>echo $name;</a:t>
            </a:r>
          </a:p>
          <a:p>
            <a:r>
              <a:rPr lang="en-US" b="1" dirty="0"/>
              <a:t>Output:</a:t>
            </a:r>
          </a:p>
          <a:p>
            <a:pPr lvl="1"/>
            <a:r>
              <a:rPr lang="en-US" dirty="0"/>
              <a:t>Student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487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8188-5BCD-7D91-B49E-ECF7E3B85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15FD2-24AD-749B-3EF2-C3C68F7F1E6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PHP automatically detects data type.</a:t>
            </a:r>
          </a:p>
          <a:p>
            <a:pPr marL="0" indent="0">
              <a:buNone/>
            </a:pPr>
            <a:r>
              <a:rPr lang="en-US" b="1" dirty="0"/>
              <a:t>✅ String</a:t>
            </a:r>
          </a:p>
          <a:p>
            <a:r>
              <a:rPr lang="en-US" dirty="0"/>
              <a:t>$name = "Ravi";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✅ Integer</a:t>
            </a:r>
          </a:p>
          <a:p>
            <a:r>
              <a:rPr lang="en-US" dirty="0"/>
              <a:t>$age = 21;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✅ Float</a:t>
            </a:r>
          </a:p>
          <a:p>
            <a:r>
              <a:rPr lang="en-US" dirty="0"/>
              <a:t>$marks = 85.5;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✅ Boolean</a:t>
            </a:r>
          </a:p>
          <a:p>
            <a:r>
              <a:rPr lang="en-US" dirty="0"/>
              <a:t>$status = true;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132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8DD4-3F81-F673-6D17-1E8CEB0C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Concatenation (Joining Variables)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4CD78-9DE5-BA24-876E-0C06E7018B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Use dot (.) operator: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Example:</a:t>
            </a:r>
          </a:p>
          <a:p>
            <a:r>
              <a:rPr lang="en-IN" dirty="0"/>
              <a:t>$</a:t>
            </a:r>
            <a:r>
              <a:rPr lang="en-IN" dirty="0" err="1"/>
              <a:t>fname</a:t>
            </a:r>
            <a:r>
              <a:rPr lang="en-IN" dirty="0"/>
              <a:t> = "Ram";</a:t>
            </a:r>
          </a:p>
          <a:p>
            <a:r>
              <a:rPr lang="en-IN" dirty="0"/>
              <a:t>$</a:t>
            </a:r>
            <a:r>
              <a:rPr lang="en-IN" dirty="0" err="1"/>
              <a:t>lname</a:t>
            </a:r>
            <a:r>
              <a:rPr lang="en-IN" dirty="0"/>
              <a:t> = "Kumar";</a:t>
            </a:r>
          </a:p>
          <a:p>
            <a:endParaRPr lang="en-IN" dirty="0"/>
          </a:p>
          <a:p>
            <a:r>
              <a:rPr lang="en-IN" dirty="0"/>
              <a:t>echo $</a:t>
            </a:r>
            <a:r>
              <a:rPr lang="en-IN" dirty="0" err="1"/>
              <a:t>fname</a:t>
            </a:r>
            <a:r>
              <a:rPr lang="en-IN" dirty="0"/>
              <a:t> . " " . $</a:t>
            </a:r>
            <a:r>
              <a:rPr lang="en-IN" dirty="0" err="1"/>
              <a:t>lname</a:t>
            </a:r>
            <a:r>
              <a:rPr lang="en-IN" dirty="0"/>
              <a:t>;</a:t>
            </a:r>
          </a:p>
          <a:p>
            <a:r>
              <a:rPr lang="en-IN" dirty="0"/>
              <a:t>Output:</a:t>
            </a:r>
          </a:p>
          <a:p>
            <a:r>
              <a:rPr lang="en-IN" dirty="0"/>
              <a:t>Ram Kumar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041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3D7D-A54C-E400-4ACC-C0F92CBF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D3E7E-546B-3A72-3546-13C80D1C74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Scope defines where variable can be used.</a:t>
            </a:r>
          </a:p>
          <a:p>
            <a:pPr marL="0" indent="0">
              <a:buNone/>
            </a:pPr>
            <a:r>
              <a:rPr lang="en-US" b="1" dirty="0"/>
              <a:t>🔹 Local Variable</a:t>
            </a:r>
          </a:p>
          <a:p>
            <a:r>
              <a:rPr lang="en-US" dirty="0"/>
              <a:t>Declared inside function:</a:t>
            </a:r>
          </a:p>
          <a:p>
            <a:r>
              <a:rPr lang="en-US" dirty="0"/>
              <a:t>function test() {</a:t>
            </a:r>
          </a:p>
          <a:p>
            <a:r>
              <a:rPr lang="en-US" dirty="0"/>
              <a:t>  $x = 10;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Only usable inside function.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0808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A7A5-76D9-C76C-867C-9E6FA922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8B73-93FD-CE3E-29ED-CD077DFFD7E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🔹 Global Variable</a:t>
            </a:r>
          </a:p>
          <a:p>
            <a:r>
              <a:rPr lang="en-US" dirty="0"/>
              <a:t>Declared outside function:</a:t>
            </a:r>
          </a:p>
          <a:p>
            <a:pPr lvl="1"/>
            <a:r>
              <a:rPr lang="en-US" dirty="0"/>
              <a:t>$x = 20;</a:t>
            </a:r>
          </a:p>
          <a:p>
            <a:r>
              <a:rPr lang="en-US" dirty="0"/>
              <a:t>Use inside function using global keyword:</a:t>
            </a:r>
          </a:p>
          <a:p>
            <a:pPr lvl="1"/>
            <a:r>
              <a:rPr lang="en-US" dirty="0"/>
              <a:t>function show() {</a:t>
            </a:r>
          </a:p>
          <a:p>
            <a:pPr lvl="1"/>
            <a:r>
              <a:rPr lang="en-US" dirty="0"/>
              <a:t>global $x;</a:t>
            </a:r>
          </a:p>
          <a:p>
            <a:pPr lvl="1"/>
            <a:r>
              <a:rPr lang="en-US" dirty="0"/>
              <a:t>echo $x;</a:t>
            </a:r>
          </a:p>
          <a:p>
            <a:pPr lvl="1"/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0875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B20E3-5E6D-A937-470D-757A3E46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B8A0-33B5-EFE8-C712-B525BF110D7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🔹 Static Variable</a:t>
            </a:r>
          </a:p>
          <a:p>
            <a:r>
              <a:rPr lang="en-US" dirty="0"/>
              <a:t>Preserves value between function calls:</a:t>
            </a:r>
          </a:p>
          <a:p>
            <a:r>
              <a:rPr lang="en-US" dirty="0"/>
              <a:t>function counter() {</a:t>
            </a:r>
          </a:p>
          <a:p>
            <a:r>
              <a:rPr lang="en-US" dirty="0"/>
              <a:t>  static $count = 0;</a:t>
            </a:r>
          </a:p>
          <a:p>
            <a:r>
              <a:rPr lang="en-US" dirty="0"/>
              <a:t>  $count++;</a:t>
            </a:r>
          </a:p>
          <a:p>
            <a:r>
              <a:rPr lang="en-US" dirty="0"/>
              <a:t>  echo $count;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7623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EAC8-C6F4-240B-C2C7-538F4C0D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Checking Variable Type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F3143-861F-7581-678C-3995D85CF8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Using </a:t>
            </a:r>
            <a:r>
              <a:rPr lang="en-US" b="1" dirty="0" err="1"/>
              <a:t>var_dump</a:t>
            </a:r>
            <a:r>
              <a:rPr lang="en-US" b="1" dirty="0"/>
              <a:t>():</a:t>
            </a:r>
          </a:p>
          <a:p>
            <a:pPr lvl="1"/>
            <a:r>
              <a:rPr lang="en-US" dirty="0"/>
              <a:t>$age = 25;</a:t>
            </a:r>
          </a:p>
          <a:p>
            <a:pPr lvl="1"/>
            <a:r>
              <a:rPr lang="en-US" dirty="0" err="1"/>
              <a:t>var_dump</a:t>
            </a:r>
            <a:r>
              <a:rPr lang="en-US" dirty="0"/>
              <a:t>($age);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dirty="0"/>
              <a:t>int(25)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44045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3C88-C3C7-0396-D1D8-467F3212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95FA6-9BAE-D8C8-5CA4-F765AE63C8C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195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_LPU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_LPU" id="{BB28679B-D966-4CFA-8E30-8E5ED8F581FF}" vid="{CA0C32D0-A588-4E4D-8E93-996DA3C803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Theme1_LPU</Template>
  <TotalTime>177</TotalTime>
  <Words>975</Words>
  <Application>Microsoft Office PowerPoint</Application>
  <PresentationFormat>Widescreen</PresentationFormat>
  <Paragraphs>195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Franklin Gothic Book</vt:lpstr>
      <vt:lpstr>Perpetua</vt:lpstr>
      <vt:lpstr>Wingdings 2</vt:lpstr>
      <vt:lpstr>Theme1_LPU</vt:lpstr>
      <vt:lpstr>Basics of PHP </vt:lpstr>
      <vt:lpstr>PHP</vt:lpstr>
      <vt:lpstr>PowerPoint Presentation</vt:lpstr>
      <vt:lpstr>Why PHP is Called Server-Side Language?</vt:lpstr>
      <vt:lpstr>PowerPoint Presentation</vt:lpstr>
      <vt:lpstr>Example of PHP Program</vt:lpstr>
      <vt:lpstr>History of PHP</vt:lpstr>
      <vt:lpstr>client site script vs server site script</vt:lpstr>
      <vt:lpstr>1) Client-Side Script</vt:lpstr>
      <vt:lpstr>How Client-Side Script Works</vt:lpstr>
      <vt:lpstr>PowerPoint Presentation</vt:lpstr>
      <vt:lpstr>PowerPoint Presentation</vt:lpstr>
      <vt:lpstr>PowerPoint Presentation</vt:lpstr>
      <vt:lpstr>2) Server-Side Script</vt:lpstr>
      <vt:lpstr>How Server-Side Script Works</vt:lpstr>
      <vt:lpstr>PowerPoint Presentation</vt:lpstr>
      <vt:lpstr>PowerPoint Presentation</vt:lpstr>
      <vt:lpstr>Client-Side vs Server-Side (Comparison Table)</vt:lpstr>
      <vt:lpstr>Real Example: Login Page</vt:lpstr>
      <vt:lpstr>Variables in PHP</vt:lpstr>
      <vt:lpstr>Declaring Variables in PHP</vt:lpstr>
      <vt:lpstr>Rules for PHP Variables</vt:lpstr>
      <vt:lpstr>PowerPoint Presentation</vt:lpstr>
      <vt:lpstr>PowerPoint Presentation</vt:lpstr>
      <vt:lpstr>PowerPoint Presentation</vt:lpstr>
      <vt:lpstr>Variable Data Types</vt:lpstr>
      <vt:lpstr>Concatenation (Joining Variables)</vt:lpstr>
      <vt:lpstr>Variable Scope</vt:lpstr>
      <vt:lpstr>PowerPoint Presentation</vt:lpstr>
      <vt:lpstr>PowerPoint Presentation</vt:lpstr>
      <vt:lpstr>Checking Variable Type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choudhary</dc:creator>
  <cp:lastModifiedBy>Yogesh choudhary</cp:lastModifiedBy>
  <cp:revision>5</cp:revision>
  <dcterms:created xsi:type="dcterms:W3CDTF">2026-01-19T16:32:45Z</dcterms:created>
  <dcterms:modified xsi:type="dcterms:W3CDTF">2026-01-20T09:12:29Z</dcterms:modified>
</cp:coreProperties>
</file>